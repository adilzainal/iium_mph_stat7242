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0"/>
            <a:ext cx="54864" cy="514350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457200" cy="0"/>
          </a:xfrm>
          <a:prstGeom prst="line">
            <a:avLst/>
          </a:prstGeom>
          <a:noFill/>
          <a:ln w="31750">
            <a:solidFill>
              <a:srgbClr val="0E9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457200" cy="0"/>
          </a:xfrm>
          <a:prstGeom prst="line">
            <a:avLst/>
          </a:prstGeom>
          <a:noFill/>
          <a:ln w="31750">
            <a:solidFill>
              <a:srgbClr val="0E9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99248" y="1664208"/>
            <a:ext cx="146304" cy="146304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56448" y="932688"/>
            <a:ext cx="146304" cy="146304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13648" y="109728"/>
            <a:ext cx="146304" cy="146304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0" y="1920240"/>
            <a:ext cx="457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1828800"/>
            <a:ext cx="457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457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42048" y="184708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99248" y="17556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56448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13648" y="166420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1097280"/>
            <a:ext cx="457200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0" y="731520"/>
            <a:ext cx="457200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182880"/>
            <a:ext cx="457200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42048" y="1024128"/>
            <a:ext cx="146304" cy="146304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99248" y="658368"/>
            <a:ext cx="146304" cy="146304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56448" y="109728"/>
            <a:ext cx="146304" cy="146304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13648" y="-438912"/>
            <a:ext cx="146304" cy="146304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040" y="20574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35240" y="20574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92440" y="20574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49640" y="20574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Measures ANOVA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57200" y="157276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 ·  Interaction  ·  Assumption Testing  ·  Model Fit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2148840"/>
            <a:ext cx="3840480" cy="4572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3042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RStudio  •  ez  •  nlme  •  lme4  •  emmeans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Muhammad Adil Zainal Abidin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Repeated Measures ANOVA?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within-subject changes across multiple time points or conditions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5303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participants measured ≥2 times → subjects are their own control → individual differences removed from error term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60520" cy="3127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160520" cy="3474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393192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groups (between-subjects design)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assigned to ONE group only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between-group + within-group variance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term → lower statistical power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Drug A vs Drug B vs Placebo (different patients)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160520" cy="3127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160520" cy="347472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Measures ANOVA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231136"/>
            <a:ext cx="393192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subjects across all conditions or time points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 design removes individual differences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term = within-subject residual only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power, fewer subjects needed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BP at Baseline, 1 month, 3 months (same patients)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designs:  One-factor RM-ANOVA  |  Two-factor Mixed ANOVA (between + within)  |  Split-plot  |  MANOVA approach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Confounders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RM-ANOVA automatically removes time-invariant confounders; between-subject confounders need explicit adjustment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Within-Subject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609344"/>
            <a:ext cx="256032" cy="25603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609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62763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individual differences (genetics, baseline physiology)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84048" y="2084832"/>
            <a:ext cx="256032" cy="25603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10312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demographic factors (sex, ethnicity, blood type)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256032" cy="25603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57860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lifestyle factors (socioeconomic status)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256032" cy="25603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05409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time-invariant characteristic of the subject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84048" y="3547872"/>
            <a:ext cx="3840480" cy="12618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584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Subject-level variance is partitioned from the error term. Each person serves as their own control, eliminating the effect of any variable that does not change over time within a subject.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170432"/>
            <a:ext cx="402336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Between-Subject Confounders — Must Adjust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64608" y="1609344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1609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162763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between-subjects factor in ezANOVA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864608" y="2084832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210312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as fixed effect in LMM (nlme/lme4)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864608" y="2560320"/>
            <a:ext cx="25603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93792" y="257860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outcome as covariate (ANCOVA approach)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864608" y="3035808"/>
            <a:ext cx="25603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64608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305409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covariates in LMM only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864608" y="2816352"/>
            <a:ext cx="3886200" cy="2057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74336" y="2907792"/>
            <a:ext cx="366674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Between-subject confounder as factor (ez)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library(ez)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ezANOVA(data=df, dv=score, wid=id,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within  = time,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between = group,    # confounder/treatment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3)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ANCOVA style: baseline as covariate (nlme)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library(nlme)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lme(score ~ time * group + baseline,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 = ~1|id, data = df)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Interaction Effects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× Group interaction: do different groups change at different rates over time?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Time × Group Interaction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4572000"/>
            <a:ext cx="3383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0" cy="29992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4389120"/>
            <a:ext cx="1124712" cy="0"/>
          </a:xfrm>
          <a:prstGeom prst="line">
            <a:avLst/>
          </a:prstGeom>
          <a:noFill/>
          <a:ln w="31750">
            <a:solidFill>
              <a:srgbClr val="0E9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10512" y="3749040"/>
            <a:ext cx="1124712" cy="0"/>
          </a:xfrm>
          <a:prstGeom prst="line">
            <a:avLst/>
          </a:prstGeom>
          <a:noFill/>
          <a:ln w="31750">
            <a:solidFill>
              <a:srgbClr val="0E9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35224" y="2926080"/>
            <a:ext cx="1124712" cy="0"/>
          </a:xfrm>
          <a:prstGeom prst="line">
            <a:avLst/>
          </a:prstGeom>
          <a:noFill/>
          <a:ln w="31750">
            <a:solidFill>
              <a:srgbClr val="0E9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" y="4306824"/>
            <a:ext cx="164592" cy="16459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28216" y="3666744"/>
            <a:ext cx="164592" cy="16459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52928" y="2843784"/>
            <a:ext cx="164592" cy="16459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77640" y="1837944"/>
            <a:ext cx="164592" cy="164592"/>
          </a:xfrm>
          <a:prstGeom prst="ellipse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33088" y="1801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11247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247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35224" y="4023360"/>
            <a:ext cx="11247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" y="4123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728216" y="403250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52928" y="394106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77640" y="38496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33088" y="3813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4617720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45920" y="4617720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70632" y="4617720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95344" y="4617720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4592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09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diverge over time → interaction p &lt; .05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170432"/>
            <a:ext cx="416052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Interaction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1554480"/>
            <a:ext cx="3931920" cy="58521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36592" y="1554480"/>
            <a:ext cx="64008" cy="585216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1581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× Group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64608" y="17830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interaction: does treatment effect change over time? Central to RCTs and longitudinal studies.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2212848"/>
            <a:ext cx="3931920" cy="58521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36592" y="2212848"/>
            <a:ext cx="64008" cy="58521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× Covariate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244144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continuous variable (age, baseline) modify the time trajectory? Tests effect modification.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2871216"/>
            <a:ext cx="3931920" cy="58521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36592" y="2871216"/>
            <a:ext cx="6400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2898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Interaction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64608" y="30998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Time × Group × Sex. Requires large n; interpret cautiously and report cautiously.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3456432"/>
            <a:ext cx="4041648" cy="15956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534156"/>
            <a:ext cx="382219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× Group interaction (ez)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&lt;- ezANOVA(data=df, dv=score, wid=id,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within=time, between=group, type=3)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fit$ANOVA          # F, df, p, ges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Post-hoc: simple effects per time point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library(emmeans)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lme_fit &lt;- lme(score ~ time*group,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random=~1|id, data=df)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 &lt;- emmeans(lme_fit, ~ group | time)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pairs(emm, adjust="bonferroni")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Analytical 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— choose based on design complexity, missing data, and distributional assumptions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011680" cy="45720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RM-ANOVA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4081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(ez  /  car)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856232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widely understood output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Mauchly sphericity test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ε corrections (G-G, H-F)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4747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7249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 (no missing data)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Sphericity may be violated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covariance structures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47472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Balanced, complete data; ≤4 time points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1920240" cy="10241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931920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library(ez)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ezANOVA(data=df, dv=y,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wid=id, within=time,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between=group, type=3)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50592" y="1170432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50592" y="1170432"/>
            <a:ext cx="20116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23744" y="11704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Mixed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23744" y="14081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(nlme  /  lme4)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23744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3744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 (REML)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covariance structures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covariates allowed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52374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23744" y="27249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specify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choice critical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post-hoc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523744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23744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Unbalanced/missing data; complex designs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496312" y="3913632"/>
            <a:ext cx="1920240" cy="10241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0" y="3931920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library(nlme)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lme(y ~ time*group,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random=~1|id,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corr=corAR1(),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data=df, method="REML")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6864" y="1170432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6864" y="1170432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0016" y="11704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MANOVA Approach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00016" y="14081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R  /  car)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0016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sphericity assumption needed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FWER across time points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small number of time points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0001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0016" y="27249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 &gt;&gt; p (subjects &gt; time pts)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with many time points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normality needed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700016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0016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Sphericity violated; few time points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672584" y="3913632"/>
            <a:ext cx="1920240" cy="10241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6592" y="3931920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&lt;- lm(cbind(t1,t2,t3,t4)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~ group, data=df_wide)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Anova(model, type="III")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03136" y="1170432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03136" y="1170432"/>
            <a:ext cx="201168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76288" y="11704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76288" y="14081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(geepack)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876288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76288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Population-average interpretation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correlation mispecification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non-normal outcomes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8762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76288" y="27249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inference not valid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efficient than LMM if correct</a:t>
            </a:r>
            <a:endParaRPr lang="en-US" sz="82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sample size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876288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76288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outcomes; population inference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848856" y="3913632"/>
            <a:ext cx="1920240" cy="10241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12864" y="3931920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library(geepack)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geeglm(y ~ time*group,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id=id, data=df,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corstr="exchangeable")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4992624"/>
            <a:ext cx="8595360" cy="1554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99262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sphericity violated: prefer LMM (nlme) with appropriate covariance structure over epsilon-corrected classical RM-ANOVA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Comparison 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design requirements to the appropriate analytical 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73736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170432"/>
            <a:ext cx="1737360" cy="38404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RM-ANOVA (ez)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170432"/>
            <a:ext cx="173736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Mixed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170432"/>
            <a:ext cx="150876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32120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1170432"/>
            <a:ext cx="150876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54480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" y="155448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011680" y="1554480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66544" y="155448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Listwise deletion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749040" y="1554480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03904" y="155448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Handles MAR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486400" y="1554480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41264" y="1554480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Complete cases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995160" y="1554480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0024" y="1554480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Handles MAR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2039112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" y="203911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Sphericity needed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011680" y="2039112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66544" y="203911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Tests &amp; corrects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749040" y="2039112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03904" y="203911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required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0" y="2039112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41264" y="2039112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required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995160" y="2039112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50024" y="2039112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required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74320" y="2523744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" y="252374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structure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011680" y="2523744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66544" y="252374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symmetry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3749040" y="2523744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03904" y="252374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AR1, UN, CS, Toep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486400" y="2523744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41264" y="2523744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995160" y="2523744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50024" y="2523744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Exch., AR1, Indep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74320" y="3008376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" y="30083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effects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011680" y="3008376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066544" y="30083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as block only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749040" y="3008376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803904" y="30083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Slopes + intercepts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486400" y="3008376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41264" y="3008376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995160" y="3008376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50024" y="3008376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274320" y="3493008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9184" y="349300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test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2011680" y="3493008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066544" y="349300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Standard F-test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3749040" y="3493008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03904" y="349300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Wald / LRT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5486400" y="3493008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541264" y="3493008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Pillai / Wilks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6995160" y="3493008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050024" y="3493008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Score test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274320" y="3977640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9184" y="397764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2011680" y="3977640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066544" y="397764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 effect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3749040" y="3977640"/>
            <a:ext cx="17373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03904" y="397764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5486400" y="3977640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541264" y="3977640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995160" y="3977640"/>
            <a:ext cx="15087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050024" y="3977640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Population-average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274320" y="4462272"/>
            <a:ext cx="1737360" cy="4846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9184" y="446227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2011680" y="4462272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066544" y="446227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balanced RCTs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3749040" y="4462272"/>
            <a:ext cx="17373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803904" y="446227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/ LDA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5486400" y="4462272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541264" y="4462272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sphericity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6995160" y="4462272"/>
            <a:ext cx="1508760" cy="4846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050024" y="4462272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Non-normal, large n</a:t>
            </a:r>
            <a:endParaRPr lang="en-US" sz="880" dirty="0"/>
          </a:p>
        </p:txBody>
      </p:sp>
      <p:sp>
        <p:nvSpPr>
          <p:cNvPr id="86" name="Shape 84"/>
          <p:cNvSpPr/>
          <p:nvPr/>
        </p:nvSpPr>
        <p:spPr>
          <a:xfrm>
            <a:off x="274320" y="4791456"/>
            <a:ext cx="859536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Assumptions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four before interpreting results — violations require specific remedies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60520" cy="32004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21615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2161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1704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 of differences between all pairs of time points must be equal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755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Mauchly's test (W statistic). Auto-reported by ezANOVA.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975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975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p&lt;.05: use Greenhouse-Geisser (ε&lt;0.75) or Huynh-Feldt (ε≥0.75) corrected p-value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340864"/>
            <a:ext cx="4005072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2359152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library(ez)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&lt;- ezANOVA(data=df, dv=y, wid=id,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within=time, type=3, return_aov=T)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170432"/>
            <a:ext cx="41605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2312" y="121615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82312" y="12161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11704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of Residuals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5361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 residuals (or differences between time points) are normally distributed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755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test (n&lt;50), Q-Q plot, histogram of residuals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1975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1975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Log/square-root transform; use LMM or GEE for markedly non-normal outcomes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82312" y="2340864"/>
            <a:ext cx="4005072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55464" y="2359152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residuals(lme_model)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shapiro.test(res)       # p &gt; .05 = OK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qqnorm(res); qqline(res)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74320" y="3090672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090672"/>
            <a:ext cx="41605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7472" y="313639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1363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" y="30906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Outliers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4564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observations that disproportionately influence the group means at any time point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675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per time point; standardised residuals |z|&gt;3.29; Cook's distance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8953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each outlier; run sensitivity analysis with and without; document decision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4261104"/>
            <a:ext cx="4005072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0624" y="4279392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 per time point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boxplot(score ~ time, data=df)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Cook's distance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709160" y="3090672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09160" y="3090672"/>
            <a:ext cx="41605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82312" y="3136392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82312" y="31363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93208" y="30906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Between Subjects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34564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12080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from different participants are independent (within-subject correlation is modelled)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12080" y="3675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study design; ACF plot checks residual autocorrelation beyond modelled structure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38953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1208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 clustering exists, add nested random effects: random=~1|cluster/id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82312" y="4261104"/>
            <a:ext cx="4005072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55464" y="4279392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residual autocorrelation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acf(residuals(lme_model))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Bars within blue lines = OK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RStudio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preparation to post-hoc tests — step by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34924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33554"/>
            <a:ext cx="5129784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1. RESHAPE TO LONG FORMAT ─────────────────────────────────────────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df_long &lt;- df_wide %&gt;%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pivot_longer(cols=c(t0,t1,t2,t3),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names_to="time", values_to="score") %&gt;%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mutate(time=factor(time), id=factor(id), group=factor(group))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2. ASSUMPTION CHECKS ──────────────────────────────────────────────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df_long %&gt;% group_by(time) %&gt;%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summarise(sw_p = shapiro.test(score)$p.value)  # normality per tp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boxplot(score ~ time, data=df_long)               # outliers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3. FIT RM-ANOVA (ez) ──────────────────────────────────────────────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library(ez)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&lt;- ezANOVA(data=df_long, dv=score, wid=id,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within=time, between=group,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type=3, return_aov=TRUE)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fit$ANOVA                             # F, df, p, ges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fit$"Mauchly's Test for Sphericity"   # W,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fit$"Sphericity Corrections"          # GGe, HFe corrected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4. FIT LINEAR MIXED MODEL (nlme) ─────────────────────────────────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library(nlme)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lme_fit &lt;- lme(score ~ time * group,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random = ~1|id,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correlation = corAR1(form=~1|id),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data = df_long, method="REML")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summary(lme_fit)      # fixed effects + variance components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intervals(lme_fit)    # 95% CI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5. POST-HOC COMPARISONS ──────────────────────────────────────────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</a:t>
            </a:r>
            <a:r>
              <a:rPr lang="en-US" sz="8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emmeans</a:t>
            </a: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 &lt;- emmeans(lme_fit, ~ time | group)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pairs(emm, adjust="bonferroni")       # pairwise tests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contrast(emm, method="pairwise")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12070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Reference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880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54864" cy="50292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62472" y="158191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df, p (ANOVA)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62472" y="176479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effect size ges; note if GG/HF correction applied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2880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62472" y="21305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Mauchly W &amp; 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62472" y="231343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p&lt;.05 = sphericity violated; state which correction used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43600" y="2651760"/>
            <a:ext cx="2880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265176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62472" y="267919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 β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62472" y="286207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Coefficient, SE, t, p and 95% CI for each term in LMM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43600" y="3200400"/>
            <a:ext cx="2880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320040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62472" y="322783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effects σ²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62472" y="341071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Between-subject variance; compute ICC = σ²_subj / σ²_total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943600" y="3749040"/>
            <a:ext cx="2880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62472" y="377647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emmeans pairs()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395935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Bonferroni-adjusted pairwise p-values with Cohen's d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943600" y="4297680"/>
            <a:ext cx="2880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4297680"/>
            <a:ext cx="54864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62472" y="432511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62472" y="450799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covariance structures; ΔAIC &gt; 2 = meaningfully better fit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943600" y="4873752"/>
            <a:ext cx="288036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487375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in LONG format for all packages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Model Fit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criteria together — no single metric tells the whole story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987552" cy="1188720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987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η²/ges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0744" y="12618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(ges)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0744" y="149961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eta-squared (ges) from ezANOVA: Small=0.01, Medium=0.06, Large=0.14. Prefer ges over partial η² in RM designs.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80744" y="2020824"/>
            <a:ext cx="3035808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35608" y="2020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fit$ANOVA$ges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987552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987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0744" y="25420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 (LMM)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80744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covariance structures and random effects. Lower = better. ΔAIC &gt; 2 indicates a meaningfully better fitting model.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80744" y="3300984"/>
            <a:ext cx="3035808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35608" y="3300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AIC(m_cs, m_ar1, m_un)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73075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9875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730752"/>
            <a:ext cx="987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0744" y="382219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Intraclass Correlation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80744" y="405993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= σ²_subject / (σ²_subject + σ²_residual). High ICC (&gt;0.5) confirms RM design is more efficient than independent groups ANOVA.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80744" y="4581144"/>
            <a:ext cx="3035808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35608" y="4581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library(performance)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117043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92040" y="1170432"/>
            <a:ext cx="9875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170432"/>
            <a:ext cx="987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R²m/c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52744" y="12618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&amp; Conditional R²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52744" y="149961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R²marginal = variance from fixed effects only. R²conditional = fixed + random. Use MuMIn package for LMM R² values.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52744" y="2020824"/>
            <a:ext cx="3035808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07608" y="2020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library(MuMIn)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92040" y="245059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2450592"/>
            <a:ext cx="987552" cy="1188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987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52744" y="25420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52744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 (homoscedasticity), Q-Q plot (normality), ACF plot (autocorrelation). Run plot(lme_fit) for all-in-one check.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52744" y="3300984"/>
            <a:ext cx="3035808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07608" y="3300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plot(lme_fit)          # resid vs fitted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Checklist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 in Methods and Results sections — based on APA and CONSORT guidelines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60520" cy="338328"/>
          </a:xfrm>
          <a:prstGeom prst="rect">
            <a:avLst/>
          </a:prstGeom>
          <a:solidFill>
            <a:srgbClr val="0E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17043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Software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design: one-factor RM, mixed ANOVA, split-plot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version and package versions (ez, nlme, emmeans)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method: classical RM-ANOVA or LMM; justify choice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structure chosen and how (AIC comparison)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60520" cy="3383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17043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572768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Mauchly's W statistic and p-value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violated: state ε value and correction applied (G-G / H-F)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W and p for residual normality per group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extreme outliers or justify their retention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416052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160520" cy="3383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309067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493008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F(df1, df2), p-value for each main effect and interaction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 ges for RM-ANOVA; R²m and R²c for LMM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value with 95% CI (justifies random effects structure)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plot: estimated marginal means ± SE across time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709160" y="3090672"/>
            <a:ext cx="416052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090672"/>
            <a:ext cx="4160520" cy="3383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309067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&amp; Contrasts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493008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method: Bonferroni, Holm, or FDR — state which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comparisons: emmeans estimate, 95% CI, adjusted p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for each pairwise comparison (effect size)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effects: group differences at each time point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pivot_longer → ezANOVA (sphericity) → lme if needed → emmeans (post-hoc) → r.squaredGLMM + icc (model fit)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2276</Words>
  <Application>Microsoft Macintosh PowerPoint</Application>
  <PresentationFormat>On-screen Show (16:9)</PresentationFormat>
  <Paragraphs>344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'ADIL BIN ZAINAL ABIDIN</cp:lastModifiedBy>
  <cp:revision>2</cp:revision>
  <dcterms:created xsi:type="dcterms:W3CDTF">2026-03-11T02:54:33Z</dcterms:created>
  <dcterms:modified xsi:type="dcterms:W3CDTF">2026-03-11T03:40:13Z</dcterms:modified>
</cp:coreProperties>
</file>