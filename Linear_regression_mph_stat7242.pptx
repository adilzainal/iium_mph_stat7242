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7" r:id="rId9"/>
    <p:sldId id="269" r:id="rId10"/>
    <p:sldId id="270" r:id="rId11"/>
    <p:sldId id="271" r:id="rId12"/>
    <p:sldId id="268" r:id="rId13"/>
    <p:sldId id="272" r:id="rId14"/>
    <p:sldId id="278" r:id="rId15"/>
    <p:sldId id="279" r:id="rId16"/>
    <p:sldId id="280" r:id="rId17"/>
    <p:sldId id="276" r:id="rId18"/>
    <p:sldId id="277" r:id="rId19"/>
    <p:sldId id="273" r:id="rId20"/>
    <p:sldId id="274" r:id="rId21"/>
    <p:sldId id="275" r:id="rId22"/>
    <p:sldId id="263" r:id="rId23"/>
    <p:sldId id="265" r:id="rId24"/>
    <p:sldId id="266" r:id="rId25"/>
    <p:sldId id="264"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167" d="100"/>
          <a:sy n="167"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566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F4C55-ECD6-3075-CADD-575231513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13949-F4B1-84B6-4772-E0C8A9909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2B3-4EB8-36CF-607F-7CA3ABEC2D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EFD51-6FB0-B9E6-C8FE-142DE23335C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54301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EB415-2409-BD46-E004-9D37E6845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41356-E973-2ACC-1F17-DD7643993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B1EF1-4F8F-4786-025E-CD2A6C7B30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D97A1C-6E07-8C0B-75F1-20CC8396B10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56954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E11D7-7948-BBAA-E5E7-4BE0CBC04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BC081-EBEB-99A8-421C-4F2535B911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BF599-329F-4AED-32F2-3DEE49FFAD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18EF07-4C45-BD1F-249A-0AB9FD9B2EB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55764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7F3B-0BE8-345E-33E8-29F0825F8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EDF66-13BB-C8B9-8ACD-D6107C3B8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9A330-4149-747F-5531-5BCC5100B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F1A86B-8D69-8B44-A4AF-1A6CFDB45BA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33593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23B5E-57A4-8037-DEAF-8109C653A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398BD-4D40-FB98-2C83-5C13EC38E2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ACCBE-526B-FA4F-F217-06525CE2BF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819A7-7EB2-3B98-5E7B-4AE666A4A1D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83568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7242-3760-7F4A-72AE-8EA3B40FC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C6D5E-76CD-D6FE-7C21-B43F26AE5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5E0BE-6528-8D74-4FA8-0D8FFA1C6E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A8F7E-5DD2-E89C-3038-1F3A638F1CC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5481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F4DA-B90E-1377-F7A4-2CFE21737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63F42-2197-E3BE-B0A7-7C3EEE3E4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9F9CF-6307-5023-A55C-32A57B8DB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222D82-DFF0-270F-1480-4A97963F338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08881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7B75-26A3-D231-D1B5-B20CD283A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0100A-EF98-A15E-97BA-3E7CBC694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5AFCC-C7C1-2E61-6E2C-BFFB43DC0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DAB625-CF98-AAF6-1A22-8AB20551909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587178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FD412-2FCE-0F08-9515-EAF5F4CA2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9963D-6412-B384-B01A-258D1D67A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CF327-1450-6E0A-B5A6-CFC9289001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915EE-243D-98C7-CCC0-A3A8ABE02A5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3031405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D8663-828D-FF11-9232-86716136E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DE984-209A-3B3E-93F5-928E6F8D9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CE8A08-0797-5B60-A9FE-B10F75E659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C4D557-9A88-FE60-C116-A6EE65A3D1AC}"/>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835515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9FC84-4C91-7912-B06F-8B8B93EAE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13D57-CFF7-ABA2-CC18-C5E46BF58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1FC5A-C872-582F-9857-D0C7F3FAB4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395356-A6E4-F2EF-79BC-9D4AB5D6DB0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74032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5943600" y="0"/>
            <a:ext cx="3200400" cy="5143500"/>
          </a:xfrm>
          <a:prstGeom prst="rect">
            <a:avLst/>
          </a:prstGeom>
          <a:solidFill>
            <a:srgbClr val="162035"/>
          </a:solidFill>
          <a:ln w="12700">
            <a:solidFill>
              <a:srgbClr val="162035"/>
            </a:solidFill>
            <a:prstDash val="solid"/>
          </a:ln>
        </p:spPr>
        <p:txBody>
          <a:bodyPr/>
          <a:lstStyle/>
          <a:p>
            <a:endParaRPr lang="en-US"/>
          </a:p>
        </p:txBody>
      </p:sp>
      <p:sp>
        <p:nvSpPr>
          <p:cNvPr id="4" name="Shape 2"/>
          <p:cNvSpPr/>
          <p:nvPr/>
        </p:nvSpPr>
        <p:spPr>
          <a:xfrm>
            <a:off x="6492240" y="109728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5" name="Shape 3"/>
          <p:cNvSpPr/>
          <p:nvPr/>
        </p:nvSpPr>
        <p:spPr>
          <a:xfrm>
            <a:off x="6949440" y="164592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6" name="Shape 4"/>
          <p:cNvSpPr/>
          <p:nvPr/>
        </p:nvSpPr>
        <p:spPr>
          <a:xfrm>
            <a:off x="7406640" y="201168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7" name="Shape 5"/>
          <p:cNvSpPr/>
          <p:nvPr/>
        </p:nvSpPr>
        <p:spPr>
          <a:xfrm>
            <a:off x="7863840" y="237744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8" name="Shape 6"/>
          <p:cNvSpPr/>
          <p:nvPr/>
        </p:nvSpPr>
        <p:spPr>
          <a:xfrm>
            <a:off x="8229600" y="274320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9" name="Shape 7"/>
          <p:cNvSpPr/>
          <p:nvPr/>
        </p:nvSpPr>
        <p:spPr>
          <a:xfrm>
            <a:off x="6675120" y="219456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0" name="Shape 8"/>
          <p:cNvSpPr/>
          <p:nvPr/>
        </p:nvSpPr>
        <p:spPr>
          <a:xfrm>
            <a:off x="7223760" y="283464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1" name="Shape 9"/>
          <p:cNvSpPr/>
          <p:nvPr/>
        </p:nvSpPr>
        <p:spPr>
          <a:xfrm>
            <a:off x="7680960" y="146304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2" name="Shape 10"/>
          <p:cNvSpPr/>
          <p:nvPr/>
        </p:nvSpPr>
        <p:spPr>
          <a:xfrm>
            <a:off x="8138160" y="182880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3" name="Shape 11"/>
          <p:cNvSpPr/>
          <p:nvPr/>
        </p:nvSpPr>
        <p:spPr>
          <a:xfrm>
            <a:off x="6858000" y="320040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4" name="Shape 12"/>
          <p:cNvSpPr/>
          <p:nvPr/>
        </p:nvSpPr>
        <p:spPr>
          <a:xfrm>
            <a:off x="7498080" y="347472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5" name="Shape 13"/>
          <p:cNvSpPr/>
          <p:nvPr/>
        </p:nvSpPr>
        <p:spPr>
          <a:xfrm>
            <a:off x="8321040" y="1280160"/>
            <a:ext cx="118872" cy="118872"/>
          </a:xfrm>
          <a:prstGeom prst="ellipse">
            <a:avLst/>
          </a:prstGeom>
          <a:solidFill>
            <a:srgbClr val="0D9488">
              <a:alpha val="70000"/>
            </a:srgbClr>
          </a:solidFill>
          <a:ln w="12700">
            <a:solidFill>
              <a:srgbClr val="0D9488"/>
            </a:solidFill>
            <a:prstDash val="solid"/>
          </a:ln>
        </p:spPr>
        <p:txBody>
          <a:bodyPr/>
          <a:lstStyle/>
          <a:p>
            <a:endParaRPr lang="en-US"/>
          </a:p>
        </p:txBody>
      </p:sp>
      <p:sp>
        <p:nvSpPr>
          <p:cNvPr id="16" name="Shape 14"/>
          <p:cNvSpPr/>
          <p:nvPr/>
        </p:nvSpPr>
        <p:spPr>
          <a:xfrm>
            <a:off x="6309360" y="3474720"/>
            <a:ext cx="2103120" cy="0"/>
          </a:xfrm>
          <a:prstGeom prst="line">
            <a:avLst/>
          </a:prstGeom>
          <a:noFill/>
          <a:ln w="25400">
            <a:solidFill>
              <a:srgbClr val="F59E0B"/>
            </a:solidFill>
            <a:prstDash val="solid"/>
          </a:ln>
        </p:spPr>
        <p:txBody>
          <a:bodyPr/>
          <a:lstStyle/>
          <a:p>
            <a:endParaRPr lang="en-US"/>
          </a:p>
        </p:txBody>
      </p:sp>
      <p:sp>
        <p:nvSpPr>
          <p:cNvPr id="17" name="Text 15"/>
          <p:cNvSpPr/>
          <p:nvPr/>
        </p:nvSpPr>
        <p:spPr>
          <a:xfrm>
            <a:off x="365760" y="914400"/>
            <a:ext cx="530352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Linear Regression</a:t>
            </a:r>
            <a:endParaRPr lang="en-US" sz="4000" dirty="0"/>
          </a:p>
        </p:txBody>
      </p:sp>
      <p:sp>
        <p:nvSpPr>
          <p:cNvPr id="18" name="Text 16"/>
          <p:cNvSpPr/>
          <p:nvPr/>
        </p:nvSpPr>
        <p:spPr>
          <a:xfrm>
            <a:off x="365760" y="1920240"/>
            <a:ext cx="5303520" cy="502920"/>
          </a:xfrm>
          <a:prstGeom prst="rect">
            <a:avLst/>
          </a:prstGeom>
          <a:noFill/>
          <a:ln/>
        </p:spPr>
        <p:txBody>
          <a:bodyPr wrap="square" lIns="0" tIns="0" rIns="0" bIns="0" rtlCol="0" anchor="ctr"/>
          <a:lstStyle/>
          <a:p>
            <a:pPr marL="0" indent="0">
              <a:buNone/>
            </a:pPr>
            <a:r>
              <a:rPr lang="en-US" sz="2000" dirty="0">
                <a:solidFill>
                  <a:srgbClr val="BFDBFE"/>
                </a:solidFill>
                <a:latin typeface="Calibri" pitchFamily="34" charset="0"/>
                <a:ea typeface="Calibri" pitchFamily="34" charset="-122"/>
                <a:cs typeface="Calibri" pitchFamily="34" charset="-120"/>
              </a:rPr>
              <a:t>Theory, Assumptions &amp; RStudio</a:t>
            </a:r>
            <a:endParaRPr lang="en-US" sz="2000" dirty="0"/>
          </a:p>
        </p:txBody>
      </p:sp>
      <p:sp>
        <p:nvSpPr>
          <p:cNvPr id="19" name="Shape 17"/>
          <p:cNvSpPr/>
          <p:nvPr/>
        </p:nvSpPr>
        <p:spPr>
          <a:xfrm>
            <a:off x="365760" y="2514600"/>
            <a:ext cx="3200400" cy="41148"/>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365760" y="2697480"/>
            <a:ext cx="5303520" cy="36576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Based on Andy Field – Discovering Statistics Using R</a:t>
            </a:r>
            <a:endParaRPr lang="en-US" sz="1300" dirty="0"/>
          </a:p>
        </p:txBody>
      </p:sp>
      <p:sp>
        <p:nvSpPr>
          <p:cNvPr id="21" name="Text 19"/>
          <p:cNvSpPr/>
          <p:nvPr/>
        </p:nvSpPr>
        <p:spPr>
          <a:xfrm>
            <a:off x="365760" y="4206240"/>
            <a:ext cx="502920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Muhammad </a:t>
            </a:r>
            <a:r>
              <a:rPr lang="en-US" sz="1100" dirty="0" err="1">
                <a:solidFill>
                  <a:srgbClr val="64748B"/>
                </a:solidFill>
                <a:latin typeface="Calibri" pitchFamily="34" charset="0"/>
                <a:ea typeface="Calibri" pitchFamily="34" charset="-122"/>
                <a:cs typeface="Calibri" pitchFamily="34" charset="-120"/>
              </a:rPr>
              <a:t>adil</a:t>
            </a:r>
            <a:r>
              <a:rPr lang="en-US" sz="1100" dirty="0">
                <a:solidFill>
                  <a:srgbClr val="64748B"/>
                </a:solidFill>
                <a:latin typeface="Calibri" pitchFamily="34" charset="0"/>
                <a:ea typeface="Calibri" pitchFamily="34" charset="-122"/>
                <a:cs typeface="Calibri" pitchFamily="34" charset="-120"/>
              </a:rPr>
              <a:t> </a:t>
            </a:r>
            <a:r>
              <a:rPr lang="en-US" sz="1100" dirty="0" err="1">
                <a:solidFill>
                  <a:srgbClr val="64748B"/>
                </a:solidFill>
                <a:latin typeface="Calibri" pitchFamily="34" charset="0"/>
                <a:ea typeface="Calibri" pitchFamily="34" charset="-122"/>
                <a:cs typeface="Calibri" pitchFamily="34" charset="-120"/>
              </a:rPr>
              <a:t>zainal</a:t>
            </a:r>
            <a:r>
              <a:rPr lang="en-US" sz="1100" dirty="0">
                <a:solidFill>
                  <a:srgbClr val="64748B"/>
                </a:solidFill>
                <a:latin typeface="Calibri" pitchFamily="34" charset="0"/>
                <a:ea typeface="Calibri" pitchFamily="34" charset="-122"/>
                <a:cs typeface="Calibri" pitchFamily="34" charset="-120"/>
              </a:rPr>
              <a:t> </a:t>
            </a:r>
            <a:r>
              <a:rPr lang="en-US" sz="1100" dirty="0" err="1">
                <a:solidFill>
                  <a:srgbClr val="64748B"/>
                </a:solidFill>
                <a:latin typeface="Calibri" pitchFamily="34" charset="0"/>
                <a:ea typeface="Calibri" pitchFamily="34" charset="-122"/>
                <a:cs typeface="Calibri" pitchFamily="34" charset="-120"/>
              </a:rPr>
              <a:t>abidin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Linear Regression?</a:t>
            </a:r>
            <a:endParaRPr lang="en-US" sz="2400" dirty="0"/>
          </a:p>
        </p:txBody>
      </p:sp>
      <p:sp>
        <p:nvSpPr>
          <p:cNvPr id="4" name="Shape 2"/>
          <p:cNvSpPr/>
          <p:nvPr/>
        </p:nvSpPr>
        <p:spPr>
          <a:xfrm>
            <a:off x="0" y="685800"/>
            <a:ext cx="9144000" cy="64008"/>
          </a:xfrm>
          <a:prstGeom prst="rect">
            <a:avLst/>
          </a:prstGeom>
          <a:solidFill>
            <a:srgbClr val="0D9488"/>
          </a:solidFill>
          <a:ln w="12700">
            <a:solidFill>
              <a:srgbClr val="0D9488"/>
            </a:solidFill>
            <a:prstDash val="solid"/>
          </a:ln>
        </p:spPr>
        <p:txBody>
          <a:bodyPr/>
          <a:lstStyle/>
          <a:p>
            <a:endParaRPr lang="en-US"/>
          </a:p>
        </p:txBody>
      </p:sp>
      <p:sp>
        <p:nvSpPr>
          <p:cNvPr id="5" name="Shape 3"/>
          <p:cNvSpPr/>
          <p:nvPr/>
        </p:nvSpPr>
        <p:spPr>
          <a:xfrm>
            <a:off x="274320" y="960120"/>
            <a:ext cx="8595360" cy="1005840"/>
          </a:xfrm>
          <a:prstGeom prst="rect">
            <a:avLst/>
          </a:prstGeom>
          <a:solidFill>
            <a:srgbClr val="CCFBF1"/>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74320" y="960120"/>
            <a:ext cx="64008" cy="1005840"/>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02920" y="1024128"/>
            <a:ext cx="8138160" cy="822960"/>
          </a:xfrm>
          <a:prstGeom prst="rect">
            <a:avLst/>
          </a:prstGeom>
          <a:noFill/>
          <a:ln/>
        </p:spPr>
        <p:txBody>
          <a:bodyPr wrap="square" lIns="0" tIns="0" rIns="0" bIns="0" rtlCol="0" anchor="ctr"/>
          <a:lstStyle/>
          <a:p>
            <a:pPr marL="0" indent="0">
              <a:buNone/>
            </a:pPr>
            <a:r>
              <a:rPr lang="en-US" sz="1400" i="1" dirty="0">
                <a:solidFill>
                  <a:srgbClr val="1B2A4A"/>
                </a:solidFill>
                <a:latin typeface="Calibri" pitchFamily="34" charset="0"/>
                <a:ea typeface="Calibri" pitchFamily="34" charset="-122"/>
                <a:cs typeface="Calibri" pitchFamily="34" charset="-120"/>
              </a:rPr>
              <a:t>"A statistical method that models the relationship between one or more predictor variables and a continuous outcome variable by fitting a straight line.”</a:t>
            </a:r>
          </a:p>
          <a:p>
            <a:pPr marL="0" indent="0">
              <a:buNone/>
            </a:pPr>
            <a:endParaRPr lang="en-US" sz="1400" i="1" dirty="0">
              <a:solidFill>
                <a:srgbClr val="1B2A4A"/>
              </a:solidFill>
              <a:latin typeface="Calibri" pitchFamily="34" charset="0"/>
              <a:cs typeface="Calibri" pitchFamily="34" charset="-120"/>
            </a:endParaRPr>
          </a:p>
          <a:p>
            <a:pPr marL="0" indent="0">
              <a:buNone/>
            </a:pPr>
            <a:r>
              <a:rPr lang="en-US" sz="1400" i="1" dirty="0">
                <a:solidFill>
                  <a:srgbClr val="1B2A4A"/>
                </a:solidFill>
                <a:latin typeface="Calibri" pitchFamily="34" charset="0"/>
                <a:cs typeface="Calibri" pitchFamily="34" charset="-120"/>
              </a:rPr>
              <a:t>For prediction and control for confounder , quantifying the relationship -Simple and multiple (crude and adjusted)</a:t>
            </a:r>
          </a:p>
        </p:txBody>
      </p:sp>
      <p:sp>
        <p:nvSpPr>
          <p:cNvPr id="8" name="Shape 6"/>
          <p:cNvSpPr/>
          <p:nvPr/>
        </p:nvSpPr>
        <p:spPr>
          <a:xfrm>
            <a:off x="27432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274320" y="2148840"/>
            <a:ext cx="2743200" cy="411480"/>
          </a:xfrm>
          <a:prstGeom prst="rect">
            <a:avLst/>
          </a:prstGeom>
          <a:solidFill>
            <a:srgbClr val="2563EB"/>
          </a:solidFill>
          <a:ln w="12700">
            <a:solidFill>
              <a:srgbClr val="2563EB"/>
            </a:solidFill>
            <a:prstDash val="solid"/>
          </a:ln>
        </p:spPr>
        <p:txBody>
          <a:bodyPr/>
          <a:lstStyle/>
          <a:p>
            <a:endParaRPr lang="en-US"/>
          </a:p>
        </p:txBody>
      </p:sp>
      <p:sp>
        <p:nvSpPr>
          <p:cNvPr id="10" name="Text 8"/>
          <p:cNvSpPr/>
          <p:nvPr/>
        </p:nvSpPr>
        <p:spPr>
          <a:xfrm>
            <a:off x="365760" y="2176272"/>
            <a:ext cx="25603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Outcome (Y)</a:t>
            </a:r>
            <a:endParaRPr lang="en-US" sz="1400" dirty="0"/>
          </a:p>
        </p:txBody>
      </p:sp>
      <p:sp>
        <p:nvSpPr>
          <p:cNvPr id="11" name="Text 9"/>
          <p:cNvSpPr/>
          <p:nvPr/>
        </p:nvSpPr>
        <p:spPr>
          <a:xfrm>
            <a:off x="384048" y="2633472"/>
            <a:ext cx="2523744" cy="11887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The variable we want to predict or explain (dependent variable)</a:t>
            </a:r>
            <a:endParaRPr lang="en-US" sz="1200" dirty="0"/>
          </a:p>
        </p:txBody>
      </p:sp>
      <p:sp>
        <p:nvSpPr>
          <p:cNvPr id="12" name="Shape 10"/>
          <p:cNvSpPr/>
          <p:nvPr/>
        </p:nvSpPr>
        <p:spPr>
          <a:xfrm>
            <a:off x="320040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3200400" y="2148840"/>
            <a:ext cx="2743200" cy="411480"/>
          </a:xfrm>
          <a:prstGeom prst="rect">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3291840" y="2176272"/>
            <a:ext cx="25603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Predictor (X)</a:t>
            </a:r>
            <a:endParaRPr lang="en-US" sz="1400" dirty="0"/>
          </a:p>
        </p:txBody>
      </p:sp>
      <p:sp>
        <p:nvSpPr>
          <p:cNvPr id="15" name="Text 13"/>
          <p:cNvSpPr/>
          <p:nvPr/>
        </p:nvSpPr>
        <p:spPr>
          <a:xfrm>
            <a:off x="3310128" y="2633472"/>
            <a:ext cx="2523744" cy="11887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The variable(s) used to predict the outcome (independent variable)</a:t>
            </a:r>
            <a:endParaRPr lang="en-US" sz="1200" dirty="0"/>
          </a:p>
        </p:txBody>
      </p:sp>
      <p:sp>
        <p:nvSpPr>
          <p:cNvPr id="16" name="Shape 14"/>
          <p:cNvSpPr/>
          <p:nvPr/>
        </p:nvSpPr>
        <p:spPr>
          <a:xfrm>
            <a:off x="612648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6126480" y="2148840"/>
            <a:ext cx="2743200" cy="411480"/>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6217920" y="2176272"/>
            <a:ext cx="25603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The Line</a:t>
            </a:r>
            <a:endParaRPr lang="en-US" sz="1400" dirty="0"/>
          </a:p>
        </p:txBody>
      </p:sp>
      <p:sp>
        <p:nvSpPr>
          <p:cNvPr id="19" name="Text 17"/>
          <p:cNvSpPr/>
          <p:nvPr/>
        </p:nvSpPr>
        <p:spPr>
          <a:xfrm>
            <a:off x="6236208" y="2633472"/>
            <a:ext cx="2523744" cy="11887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Best-fit line minimising the sum of squared residuals (OLS method)</a:t>
            </a:r>
          </a:p>
          <a:p>
            <a:pPr marL="0" indent="0">
              <a:buNone/>
            </a:pPr>
            <a:endParaRPr lang="en-US" sz="1200" dirty="0">
              <a:solidFill>
                <a:srgbClr val="475569"/>
              </a:solidFill>
              <a:latin typeface="Calibri" pitchFamily="34" charset="0"/>
              <a:cs typeface="Calibri" pitchFamily="34" charset="-120"/>
            </a:endParaRPr>
          </a:p>
          <a:p>
            <a:pPr marL="0" indent="0">
              <a:buNone/>
            </a:pPr>
            <a:r>
              <a:rPr lang="en-US" sz="1200" dirty="0">
                <a:solidFill>
                  <a:srgbClr val="475569"/>
                </a:solidFill>
                <a:latin typeface="Calibri" pitchFamily="34" charset="0"/>
                <a:cs typeface="Calibri" pitchFamily="34" charset="-120"/>
              </a:rPr>
              <a:t>Other method </a:t>
            </a:r>
          </a:p>
          <a:p>
            <a:pPr marL="0" indent="0">
              <a:buNone/>
            </a:pPr>
            <a:r>
              <a:rPr lang="en-US" sz="1200" dirty="0">
                <a:solidFill>
                  <a:srgbClr val="475569"/>
                </a:solidFill>
                <a:latin typeface="Calibri" pitchFamily="34" charset="0"/>
                <a:cs typeface="Calibri" pitchFamily="34" charset="-120"/>
              </a:rPr>
              <a:t>Maximum Likelihood Estimation (MLE) for logistic regression</a:t>
            </a:r>
          </a:p>
          <a:p>
            <a:pPr marL="0" indent="0">
              <a:buNone/>
            </a:pPr>
            <a:endParaRPr lang="en-US" sz="1200" dirty="0"/>
          </a:p>
        </p:txBody>
      </p:sp>
      <p:sp>
        <p:nvSpPr>
          <p:cNvPr id="20" name="Shape 18"/>
          <p:cNvSpPr/>
          <p:nvPr/>
        </p:nvSpPr>
        <p:spPr>
          <a:xfrm>
            <a:off x="274320" y="4023360"/>
            <a:ext cx="8595360" cy="822960"/>
          </a:xfrm>
          <a:prstGeom prst="rect">
            <a:avLst/>
          </a:prstGeom>
          <a:solidFill>
            <a:srgbClr val="EFF6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1" name="Text 19"/>
          <p:cNvSpPr/>
          <p:nvPr/>
        </p:nvSpPr>
        <p:spPr>
          <a:xfrm>
            <a:off x="457200" y="4069080"/>
            <a:ext cx="2377440" cy="32004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The Regression Equation:</a:t>
            </a:r>
            <a:endParaRPr lang="en-US" sz="1200" dirty="0"/>
          </a:p>
        </p:txBody>
      </p:sp>
      <p:sp>
        <p:nvSpPr>
          <p:cNvPr id="22" name="Text 20"/>
          <p:cNvSpPr/>
          <p:nvPr/>
        </p:nvSpPr>
        <p:spPr>
          <a:xfrm>
            <a:off x="2926080" y="4059936"/>
            <a:ext cx="4114800" cy="365760"/>
          </a:xfrm>
          <a:prstGeom prst="rect">
            <a:avLst/>
          </a:prstGeom>
          <a:noFill/>
          <a:ln/>
        </p:spPr>
        <p:txBody>
          <a:bodyPr wrap="square" lIns="0" tIns="0" rIns="0" bIns="0" rtlCol="0" anchor="ctr"/>
          <a:lstStyle/>
          <a:p>
            <a:pPr marL="0" indent="0">
              <a:buNone/>
            </a:pPr>
            <a:r>
              <a:rPr lang="en-US" sz="1800" b="1" dirty="0">
                <a:solidFill>
                  <a:srgbClr val="2563EB"/>
                </a:solidFill>
                <a:latin typeface="Calibri" pitchFamily="34" charset="0"/>
                <a:ea typeface="Calibri" pitchFamily="34" charset="-122"/>
                <a:cs typeface="Calibri" pitchFamily="34" charset="-120"/>
              </a:rPr>
              <a:t>Ŷᵢ  =  b₀  +  b₁Xᵢ  +  εᵢ</a:t>
            </a:r>
            <a:endParaRPr lang="en-US" sz="1800" dirty="0"/>
          </a:p>
        </p:txBody>
      </p:sp>
      <p:sp>
        <p:nvSpPr>
          <p:cNvPr id="23" name="Text 21"/>
          <p:cNvSpPr/>
          <p:nvPr/>
        </p:nvSpPr>
        <p:spPr>
          <a:xfrm>
            <a:off x="457200" y="4462272"/>
            <a:ext cx="8046720" cy="27432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b₀ = intercept   b₁ = slope/coefficient   εᵢ = error/residual</a:t>
            </a:r>
            <a:endParaRPr lang="en-US" sz="1000" dirty="0"/>
          </a:p>
        </p:txBody>
      </p:sp>
      <p:sp>
        <p:nvSpPr>
          <p:cNvPr id="24" name="Text 22"/>
          <p:cNvSpPr/>
          <p:nvPr/>
        </p:nvSpPr>
        <p:spPr>
          <a:xfrm>
            <a:off x="274320" y="4919472"/>
            <a:ext cx="859536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Discovering Statistics Using R, p. 183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Theory: How OLS Works</a:t>
            </a:r>
            <a:endParaRPr lang="en-US" sz="2400" dirty="0"/>
          </a:p>
        </p:txBody>
      </p:sp>
      <p:sp>
        <p:nvSpPr>
          <p:cNvPr id="4" name="Shape 2"/>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274320" y="914400"/>
            <a:ext cx="4114800" cy="3931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74320" y="914400"/>
            <a:ext cx="64008" cy="3931920"/>
          </a:xfrm>
          <a:prstGeom prst="rect">
            <a:avLst/>
          </a:prstGeom>
          <a:solidFill>
            <a:srgbClr val="2563EB"/>
          </a:solidFill>
          <a:ln w="12700">
            <a:solidFill>
              <a:srgbClr val="2563EB"/>
            </a:solidFill>
            <a:prstDash val="solid"/>
          </a:ln>
        </p:spPr>
        <p:txBody>
          <a:bodyPr/>
          <a:lstStyle/>
          <a:p>
            <a:endParaRPr lang="en-US"/>
          </a:p>
        </p:txBody>
      </p:sp>
      <p:sp>
        <p:nvSpPr>
          <p:cNvPr id="7" name="Text 5"/>
          <p:cNvSpPr/>
          <p:nvPr/>
        </p:nvSpPr>
        <p:spPr>
          <a:xfrm>
            <a:off x="502920" y="987552"/>
            <a:ext cx="3749040" cy="36576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Ordinary Least Squares (OLS)</a:t>
            </a:r>
            <a:endParaRPr lang="en-US" sz="1500" dirty="0"/>
          </a:p>
        </p:txBody>
      </p:sp>
      <p:sp>
        <p:nvSpPr>
          <p:cNvPr id="8" name="Text 6"/>
          <p:cNvSpPr/>
          <p:nvPr/>
        </p:nvSpPr>
        <p:spPr>
          <a:xfrm>
            <a:off x="502920" y="1444752"/>
            <a:ext cx="3794760" cy="548640"/>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  </a:t>
            </a:r>
            <a:r>
              <a:rPr lang="en-US" sz="1200" dirty="0">
                <a:solidFill>
                  <a:srgbClr val="475569"/>
                </a:solidFill>
                <a:latin typeface="Calibri" pitchFamily="34" charset="0"/>
                <a:ea typeface="Calibri" pitchFamily="34" charset="-122"/>
                <a:cs typeface="Calibri" pitchFamily="34" charset="-120"/>
              </a:rPr>
              <a:t>Each data point has a residual: the vertical distance between the observed (Y) and predicted (Ŷ) value</a:t>
            </a:r>
            <a:endParaRPr lang="en-US" sz="1200" dirty="0"/>
          </a:p>
        </p:txBody>
      </p:sp>
      <p:sp>
        <p:nvSpPr>
          <p:cNvPr id="9" name="Text 7"/>
          <p:cNvSpPr/>
          <p:nvPr/>
        </p:nvSpPr>
        <p:spPr>
          <a:xfrm>
            <a:off x="502920" y="2057400"/>
            <a:ext cx="3794760" cy="548640"/>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  </a:t>
            </a:r>
            <a:r>
              <a:rPr lang="en-US" sz="1200" dirty="0">
                <a:solidFill>
                  <a:srgbClr val="475569"/>
                </a:solidFill>
                <a:latin typeface="Calibri" pitchFamily="34" charset="0"/>
                <a:ea typeface="Calibri" pitchFamily="34" charset="-122"/>
                <a:cs typeface="Calibri" pitchFamily="34" charset="-120"/>
              </a:rPr>
              <a:t>OLS finds the line that minimises the Sum of Squared Residuals (SSR)</a:t>
            </a:r>
            <a:endParaRPr lang="en-US" sz="1200" dirty="0"/>
          </a:p>
        </p:txBody>
      </p:sp>
      <p:sp>
        <p:nvSpPr>
          <p:cNvPr id="10" name="Text 8"/>
          <p:cNvSpPr/>
          <p:nvPr/>
        </p:nvSpPr>
        <p:spPr>
          <a:xfrm>
            <a:off x="502920" y="2670048"/>
            <a:ext cx="3794760" cy="548640"/>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  </a:t>
            </a:r>
            <a:r>
              <a:rPr lang="en-US" sz="1200" dirty="0">
                <a:solidFill>
                  <a:srgbClr val="475569"/>
                </a:solidFill>
                <a:latin typeface="Calibri" pitchFamily="34" charset="0"/>
                <a:ea typeface="Calibri" pitchFamily="34" charset="-122"/>
                <a:cs typeface="Calibri" pitchFamily="34" charset="-120"/>
              </a:rPr>
              <a:t>SSR = Σ(Yᵢ – Ŷᵢ)²  →  minimised</a:t>
            </a:r>
            <a:endParaRPr lang="en-US" sz="1200" dirty="0"/>
          </a:p>
        </p:txBody>
      </p:sp>
      <p:sp>
        <p:nvSpPr>
          <p:cNvPr id="11" name="Text 9"/>
          <p:cNvSpPr/>
          <p:nvPr/>
        </p:nvSpPr>
        <p:spPr>
          <a:xfrm>
            <a:off x="502920" y="3282696"/>
            <a:ext cx="3794760" cy="548640"/>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  </a:t>
            </a:r>
            <a:r>
              <a:rPr lang="en-US" sz="1200" dirty="0">
                <a:solidFill>
                  <a:srgbClr val="475569"/>
                </a:solidFill>
                <a:latin typeface="Calibri" pitchFamily="34" charset="0"/>
                <a:ea typeface="Calibri" pitchFamily="34" charset="-122"/>
                <a:cs typeface="Calibri" pitchFamily="34" charset="-120"/>
              </a:rPr>
              <a:t>Squaring ensures negative and positive errors don't cancel out</a:t>
            </a:r>
            <a:endParaRPr lang="en-US" sz="1200" dirty="0"/>
          </a:p>
        </p:txBody>
      </p:sp>
      <p:sp>
        <p:nvSpPr>
          <p:cNvPr id="12" name="Text 10"/>
          <p:cNvSpPr/>
          <p:nvPr/>
        </p:nvSpPr>
        <p:spPr>
          <a:xfrm>
            <a:off x="502920" y="3895344"/>
            <a:ext cx="3794760" cy="548640"/>
          </a:xfrm>
          <a:prstGeom prst="rect">
            <a:avLst/>
          </a:prstGeom>
          <a:noFill/>
          <a:ln/>
        </p:spPr>
        <p:txBody>
          <a:bodyPr wrap="square" lIns="0" tIns="0" rIns="0" bIns="0"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  </a:t>
            </a:r>
            <a:r>
              <a:rPr lang="en-US" sz="1200" dirty="0">
                <a:solidFill>
                  <a:srgbClr val="475569"/>
                </a:solidFill>
                <a:latin typeface="Calibri" pitchFamily="34" charset="0"/>
                <a:ea typeface="Calibri" pitchFamily="34" charset="-122"/>
                <a:cs typeface="Calibri" pitchFamily="34" charset="-120"/>
              </a:rPr>
              <a:t>The resulting b₀ and b₁ are the 'best' linear estimates</a:t>
            </a:r>
            <a:endParaRPr lang="en-US" sz="1200" dirty="0"/>
          </a:p>
        </p:txBody>
      </p:sp>
      <p:sp>
        <p:nvSpPr>
          <p:cNvPr id="13" name="Shape 11"/>
          <p:cNvSpPr/>
          <p:nvPr/>
        </p:nvSpPr>
        <p:spPr>
          <a:xfrm>
            <a:off x="4663440" y="914400"/>
            <a:ext cx="4206240" cy="3931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4663440" y="914400"/>
            <a:ext cx="64008" cy="3931920"/>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4892040" y="987552"/>
            <a:ext cx="3840480" cy="36576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Model Fit: R²  &amp;  F-ratio</a:t>
            </a:r>
            <a:endParaRPr lang="en-US" sz="1500" dirty="0"/>
          </a:p>
        </p:txBody>
      </p:sp>
      <p:sp>
        <p:nvSpPr>
          <p:cNvPr id="16" name="Shape 14"/>
          <p:cNvSpPr/>
          <p:nvPr/>
        </p:nvSpPr>
        <p:spPr>
          <a:xfrm>
            <a:off x="4800600" y="1463040"/>
            <a:ext cx="3886200" cy="713232"/>
          </a:xfrm>
          <a:prstGeom prst="rect">
            <a:avLst/>
          </a:prstGeom>
          <a:solidFill>
            <a:srgbClr val="F0FDFA"/>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7" name="Text 15"/>
          <p:cNvSpPr/>
          <p:nvPr/>
        </p:nvSpPr>
        <p:spPr>
          <a:xfrm>
            <a:off x="4919472" y="1490472"/>
            <a:ext cx="91440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R²</a:t>
            </a:r>
            <a:endParaRPr lang="en-US" sz="1300" dirty="0"/>
          </a:p>
        </p:txBody>
      </p:sp>
      <p:sp>
        <p:nvSpPr>
          <p:cNvPr id="18" name="Text 16"/>
          <p:cNvSpPr/>
          <p:nvPr/>
        </p:nvSpPr>
        <p:spPr>
          <a:xfrm>
            <a:off x="4919472" y="1783080"/>
            <a:ext cx="365760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Proportion of variance in Y explained by the model. R² = 0.60 → model explains 60% of variance in Y.</a:t>
            </a:r>
            <a:endParaRPr lang="en-US" sz="1050" dirty="0"/>
          </a:p>
        </p:txBody>
      </p:sp>
      <p:sp>
        <p:nvSpPr>
          <p:cNvPr id="19" name="Shape 17"/>
          <p:cNvSpPr/>
          <p:nvPr/>
        </p:nvSpPr>
        <p:spPr>
          <a:xfrm>
            <a:off x="4800600" y="2267712"/>
            <a:ext cx="3886200" cy="713232"/>
          </a:xfrm>
          <a:prstGeom prst="rect">
            <a:avLst/>
          </a:prstGeom>
          <a:solidFill>
            <a:srgbClr val="F0FDFA"/>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0" name="Text 18"/>
          <p:cNvSpPr/>
          <p:nvPr/>
        </p:nvSpPr>
        <p:spPr>
          <a:xfrm>
            <a:off x="4919472" y="2295144"/>
            <a:ext cx="91440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Adjusted R²</a:t>
            </a:r>
            <a:endParaRPr lang="en-US" sz="1300" dirty="0"/>
          </a:p>
        </p:txBody>
      </p:sp>
      <p:sp>
        <p:nvSpPr>
          <p:cNvPr id="21" name="Text 19"/>
          <p:cNvSpPr/>
          <p:nvPr/>
        </p:nvSpPr>
        <p:spPr>
          <a:xfrm>
            <a:off x="4919472" y="2587752"/>
            <a:ext cx="365760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Penalises for extra predictors. Preferred when comparing models (Field, 2013).</a:t>
            </a:r>
            <a:endParaRPr lang="en-US" sz="1050" dirty="0"/>
          </a:p>
        </p:txBody>
      </p:sp>
      <p:sp>
        <p:nvSpPr>
          <p:cNvPr id="22" name="Shape 20"/>
          <p:cNvSpPr/>
          <p:nvPr/>
        </p:nvSpPr>
        <p:spPr>
          <a:xfrm>
            <a:off x="4800600" y="3072384"/>
            <a:ext cx="3886200" cy="713232"/>
          </a:xfrm>
          <a:prstGeom prst="rect">
            <a:avLst/>
          </a:prstGeom>
          <a:solidFill>
            <a:srgbClr val="F0FDFA"/>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3" name="Text 21"/>
          <p:cNvSpPr/>
          <p:nvPr/>
        </p:nvSpPr>
        <p:spPr>
          <a:xfrm>
            <a:off x="4919472" y="3099816"/>
            <a:ext cx="91440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F-ratio</a:t>
            </a:r>
            <a:endParaRPr lang="en-US" sz="1300" dirty="0"/>
          </a:p>
        </p:txBody>
      </p:sp>
      <p:sp>
        <p:nvSpPr>
          <p:cNvPr id="24" name="Text 22"/>
          <p:cNvSpPr/>
          <p:nvPr/>
        </p:nvSpPr>
        <p:spPr>
          <a:xfrm>
            <a:off x="4919472" y="3392424"/>
            <a:ext cx="365760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Tests whether the model significantly improves prediction over the mean alone. F = MSₘ / MSᵣ</a:t>
            </a:r>
            <a:endParaRPr lang="en-US" sz="1050" dirty="0"/>
          </a:p>
        </p:txBody>
      </p:sp>
      <p:sp>
        <p:nvSpPr>
          <p:cNvPr id="25" name="Shape 23"/>
          <p:cNvSpPr/>
          <p:nvPr/>
        </p:nvSpPr>
        <p:spPr>
          <a:xfrm>
            <a:off x="4800600" y="3877056"/>
            <a:ext cx="3886200" cy="713232"/>
          </a:xfrm>
          <a:prstGeom prst="rect">
            <a:avLst/>
          </a:prstGeom>
          <a:solidFill>
            <a:srgbClr val="F0FDFA"/>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6" name="Text 24"/>
          <p:cNvSpPr/>
          <p:nvPr/>
        </p:nvSpPr>
        <p:spPr>
          <a:xfrm>
            <a:off x="4919472" y="3904488"/>
            <a:ext cx="91440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β (Beta)</a:t>
            </a:r>
            <a:endParaRPr lang="en-US" sz="1300" dirty="0"/>
          </a:p>
        </p:txBody>
      </p:sp>
      <p:sp>
        <p:nvSpPr>
          <p:cNvPr id="27" name="Text 25"/>
          <p:cNvSpPr/>
          <p:nvPr/>
        </p:nvSpPr>
        <p:spPr>
          <a:xfrm>
            <a:off x="4919472" y="4197096"/>
            <a:ext cx="365760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Standardised coefficients allow comparison of predictor importance across different scales.</a:t>
            </a:r>
            <a:endParaRPr lang="en-US" sz="1050" dirty="0"/>
          </a:p>
        </p:txBody>
      </p:sp>
      <p:sp>
        <p:nvSpPr>
          <p:cNvPr id="28" name="Text 26"/>
          <p:cNvSpPr/>
          <p:nvPr/>
        </p:nvSpPr>
        <p:spPr>
          <a:xfrm>
            <a:off x="274320" y="4919472"/>
            <a:ext cx="859536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184–205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Assumptions of Linear Regression</a:t>
            </a:r>
            <a:endParaRPr lang="en-US" sz="2400" dirty="0"/>
          </a:p>
        </p:txBody>
      </p:sp>
      <p:sp>
        <p:nvSpPr>
          <p:cNvPr id="4" name="Shape 2"/>
          <p:cNvSpPr/>
          <p:nvPr/>
        </p:nvSpPr>
        <p:spPr>
          <a:xfrm>
            <a:off x="0" y="685800"/>
            <a:ext cx="9144000" cy="64008"/>
          </a:xfrm>
          <a:prstGeom prst="rect">
            <a:avLst/>
          </a:prstGeom>
          <a:solidFill>
            <a:srgbClr val="DC2626"/>
          </a:solidFill>
          <a:ln w="12700">
            <a:solidFill>
              <a:srgbClr val="DC2626"/>
            </a:solidFill>
            <a:prstDash val="solid"/>
          </a:ln>
        </p:spPr>
        <p:txBody>
          <a:bodyPr/>
          <a:lstStyle/>
          <a:p>
            <a:endParaRPr lang="en-US"/>
          </a:p>
        </p:txBody>
      </p:sp>
      <p:sp>
        <p:nvSpPr>
          <p:cNvPr id="5" name="Shape 3"/>
          <p:cNvSpPr/>
          <p:nvPr/>
        </p:nvSpPr>
        <p:spPr>
          <a:xfrm>
            <a:off x="228600" y="914400"/>
            <a:ext cx="4297680" cy="11887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65760" y="1234440"/>
            <a:ext cx="457200" cy="457200"/>
          </a:xfrm>
          <a:prstGeom prst="ellipse">
            <a:avLst/>
          </a:prstGeom>
          <a:solidFill>
            <a:srgbClr val="2563EB"/>
          </a:solidFill>
          <a:ln w="12700">
            <a:solidFill>
              <a:srgbClr val="2563EB"/>
            </a:solidFill>
            <a:prstDash val="solid"/>
          </a:ln>
        </p:spPr>
        <p:txBody>
          <a:bodyPr/>
          <a:lstStyle/>
          <a:p>
            <a:endParaRPr lang="en-US"/>
          </a:p>
        </p:txBody>
      </p:sp>
      <p:sp>
        <p:nvSpPr>
          <p:cNvPr id="7" name="Text 5"/>
          <p:cNvSpPr/>
          <p:nvPr/>
        </p:nvSpPr>
        <p:spPr>
          <a:xfrm>
            <a:off x="365760" y="1234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941832" y="987552"/>
            <a:ext cx="3429000" cy="320040"/>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Linearity</a:t>
            </a:r>
            <a:endParaRPr lang="en-US" sz="1300" dirty="0"/>
          </a:p>
        </p:txBody>
      </p:sp>
      <p:sp>
        <p:nvSpPr>
          <p:cNvPr id="9" name="Text 7"/>
          <p:cNvSpPr/>
          <p:nvPr/>
        </p:nvSpPr>
        <p:spPr>
          <a:xfrm>
            <a:off x="941832" y="1325880"/>
            <a:ext cx="3429000" cy="71323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Relationship between X and Y must be linear. Check: scatterplot of X vs Y; residuals vs fitted plot.</a:t>
            </a:r>
            <a:endParaRPr lang="en-US" sz="1050" dirty="0"/>
          </a:p>
        </p:txBody>
      </p:sp>
      <p:sp>
        <p:nvSpPr>
          <p:cNvPr id="10" name="Shape 8"/>
          <p:cNvSpPr/>
          <p:nvPr/>
        </p:nvSpPr>
        <p:spPr>
          <a:xfrm>
            <a:off x="4709160" y="914400"/>
            <a:ext cx="4297680" cy="11887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4846320" y="1234440"/>
            <a:ext cx="457200" cy="457200"/>
          </a:xfrm>
          <a:prstGeom prst="ellipse">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4846320" y="1234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5422392" y="987552"/>
            <a:ext cx="3429000" cy="32004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Independence</a:t>
            </a:r>
            <a:endParaRPr lang="en-US" sz="1300" dirty="0"/>
          </a:p>
        </p:txBody>
      </p:sp>
      <p:sp>
        <p:nvSpPr>
          <p:cNvPr id="14" name="Text 12"/>
          <p:cNvSpPr/>
          <p:nvPr/>
        </p:nvSpPr>
        <p:spPr>
          <a:xfrm>
            <a:off x="5422392" y="1325880"/>
            <a:ext cx="3429000" cy="71323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Observations must be independent of each other. Check: study design; Durbin-Watson test (≈2 = no autocorrelation).</a:t>
            </a:r>
            <a:endParaRPr lang="en-US" sz="1050" dirty="0"/>
          </a:p>
        </p:txBody>
      </p:sp>
      <p:sp>
        <p:nvSpPr>
          <p:cNvPr id="15" name="Shape 13"/>
          <p:cNvSpPr/>
          <p:nvPr/>
        </p:nvSpPr>
        <p:spPr>
          <a:xfrm>
            <a:off x="228600" y="2286000"/>
            <a:ext cx="4297680" cy="11887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365760" y="2606040"/>
            <a:ext cx="457200" cy="457200"/>
          </a:xfrm>
          <a:prstGeom prst="ellipse">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36576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941832" y="2359152"/>
            <a:ext cx="3429000" cy="32004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Homoscedasticity</a:t>
            </a:r>
            <a:endParaRPr lang="en-US" sz="1300" dirty="0"/>
          </a:p>
        </p:txBody>
      </p:sp>
      <p:sp>
        <p:nvSpPr>
          <p:cNvPr id="19" name="Text 17"/>
          <p:cNvSpPr/>
          <p:nvPr/>
        </p:nvSpPr>
        <p:spPr>
          <a:xfrm>
            <a:off x="941832" y="2697480"/>
            <a:ext cx="3429000" cy="71323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Residuals should have constant variance across levels of X. Check: residuals vs fitted plot — no funnel shape.</a:t>
            </a:r>
            <a:endParaRPr lang="en-US" sz="1050" dirty="0"/>
          </a:p>
        </p:txBody>
      </p:sp>
      <p:sp>
        <p:nvSpPr>
          <p:cNvPr id="20" name="Shape 18"/>
          <p:cNvSpPr/>
          <p:nvPr/>
        </p:nvSpPr>
        <p:spPr>
          <a:xfrm>
            <a:off x="4709160" y="2286000"/>
            <a:ext cx="4297680" cy="11887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4846320" y="2606040"/>
            <a:ext cx="457200" cy="457200"/>
          </a:xfrm>
          <a:prstGeom prst="ellipse">
            <a:avLst/>
          </a:prstGeom>
          <a:solidFill>
            <a:srgbClr val="16A34A"/>
          </a:solidFill>
          <a:ln w="12700">
            <a:solidFill>
              <a:srgbClr val="16A34A"/>
            </a:solidFill>
            <a:prstDash val="solid"/>
          </a:ln>
        </p:spPr>
        <p:txBody>
          <a:bodyPr/>
          <a:lstStyle/>
          <a:p>
            <a:endParaRPr lang="en-US"/>
          </a:p>
        </p:txBody>
      </p:sp>
      <p:sp>
        <p:nvSpPr>
          <p:cNvPr id="22" name="Text 20"/>
          <p:cNvSpPr/>
          <p:nvPr/>
        </p:nvSpPr>
        <p:spPr>
          <a:xfrm>
            <a:off x="484632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5422392" y="2359152"/>
            <a:ext cx="3429000" cy="320040"/>
          </a:xfrm>
          <a:prstGeom prst="rect">
            <a:avLst/>
          </a:prstGeom>
          <a:noFill/>
          <a:ln/>
        </p:spPr>
        <p:txBody>
          <a:bodyPr wrap="square" lIns="0" tIns="0" rIns="0" bIns="0"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Normality of Residuals</a:t>
            </a:r>
            <a:endParaRPr lang="en-US" sz="1300" dirty="0"/>
          </a:p>
        </p:txBody>
      </p:sp>
      <p:sp>
        <p:nvSpPr>
          <p:cNvPr id="24" name="Text 22"/>
          <p:cNvSpPr/>
          <p:nvPr/>
        </p:nvSpPr>
        <p:spPr>
          <a:xfrm>
            <a:off x="5422392" y="2697480"/>
            <a:ext cx="3429000" cy="71323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Residuals should be normally distributed. Check: Q-Q plot, histogram of residuals, Shapiro-Wilk test.</a:t>
            </a:r>
            <a:endParaRPr lang="en-US" sz="1050" dirty="0"/>
          </a:p>
        </p:txBody>
      </p:sp>
      <p:sp>
        <p:nvSpPr>
          <p:cNvPr id="25" name="Shape 23"/>
          <p:cNvSpPr/>
          <p:nvPr/>
        </p:nvSpPr>
        <p:spPr>
          <a:xfrm>
            <a:off x="228600" y="3657600"/>
            <a:ext cx="4297680" cy="11887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365760" y="3977640"/>
            <a:ext cx="457200" cy="457200"/>
          </a:xfrm>
          <a:prstGeom prst="ellipse">
            <a:avLst/>
          </a:prstGeom>
          <a:solidFill>
            <a:srgbClr val="DC2626"/>
          </a:solidFill>
          <a:ln w="12700">
            <a:solidFill>
              <a:srgbClr val="DC2626"/>
            </a:solidFill>
            <a:prstDash val="solid"/>
          </a:ln>
        </p:spPr>
        <p:txBody>
          <a:bodyPr/>
          <a:lstStyle/>
          <a:p>
            <a:endParaRPr lang="en-US"/>
          </a:p>
        </p:txBody>
      </p:sp>
      <p:sp>
        <p:nvSpPr>
          <p:cNvPr id="27" name="Text 25"/>
          <p:cNvSpPr/>
          <p:nvPr/>
        </p:nvSpPr>
        <p:spPr>
          <a:xfrm>
            <a:off x="365760" y="3977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941832" y="3730752"/>
            <a:ext cx="342900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No Multicollinearity</a:t>
            </a:r>
            <a:endParaRPr lang="en-US" sz="1300" dirty="0"/>
          </a:p>
        </p:txBody>
      </p:sp>
      <p:sp>
        <p:nvSpPr>
          <p:cNvPr id="29" name="Text 27"/>
          <p:cNvSpPr/>
          <p:nvPr/>
        </p:nvSpPr>
        <p:spPr>
          <a:xfrm>
            <a:off x="941832" y="4069080"/>
            <a:ext cx="3429000" cy="71323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Predictors should not be too highly correlated (multiple regression). Check: VIF &lt; 10; Tolerance &gt; 0.1 (Field, 2013).</a:t>
            </a:r>
            <a:endParaRPr lang="en-US" sz="1050" dirty="0"/>
          </a:p>
        </p:txBody>
      </p:sp>
      <p:sp>
        <p:nvSpPr>
          <p:cNvPr id="30" name="Shape 28"/>
          <p:cNvSpPr/>
          <p:nvPr/>
        </p:nvSpPr>
        <p:spPr>
          <a:xfrm>
            <a:off x="4709160" y="3657600"/>
            <a:ext cx="4297680" cy="11887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31" name="Shape 29"/>
          <p:cNvSpPr/>
          <p:nvPr/>
        </p:nvSpPr>
        <p:spPr>
          <a:xfrm>
            <a:off x="4846320" y="3977640"/>
            <a:ext cx="457200" cy="457200"/>
          </a:xfrm>
          <a:prstGeom prst="ellipse">
            <a:avLst/>
          </a:prstGeom>
          <a:solidFill>
            <a:srgbClr val="7C3AED"/>
          </a:solidFill>
          <a:ln w="12700">
            <a:solidFill>
              <a:srgbClr val="7C3AED"/>
            </a:solidFill>
            <a:prstDash val="solid"/>
          </a:ln>
        </p:spPr>
        <p:txBody>
          <a:bodyPr/>
          <a:lstStyle/>
          <a:p>
            <a:endParaRPr lang="en-US"/>
          </a:p>
        </p:txBody>
      </p:sp>
      <p:sp>
        <p:nvSpPr>
          <p:cNvPr id="32" name="Text 30"/>
          <p:cNvSpPr/>
          <p:nvPr/>
        </p:nvSpPr>
        <p:spPr>
          <a:xfrm>
            <a:off x="4846320" y="3977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p:nvPr/>
        </p:nvSpPr>
        <p:spPr>
          <a:xfrm>
            <a:off x="5422392" y="3730752"/>
            <a:ext cx="3429000" cy="32004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No Influential Outliers</a:t>
            </a:r>
            <a:endParaRPr lang="en-US" sz="1300" dirty="0"/>
          </a:p>
        </p:txBody>
      </p:sp>
      <p:sp>
        <p:nvSpPr>
          <p:cNvPr id="34" name="Text 32"/>
          <p:cNvSpPr/>
          <p:nvPr/>
        </p:nvSpPr>
        <p:spPr>
          <a:xfrm>
            <a:off x="5422392" y="4069080"/>
            <a:ext cx="3429000" cy="71323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Extreme cases unduly influence the model. Check: Cook's Distance &gt; 1 suggests influential cases (Field, 2013).</a:t>
            </a:r>
            <a:endParaRPr lang="en-US" sz="1050" dirty="0"/>
          </a:p>
        </p:txBody>
      </p:sp>
      <p:sp>
        <p:nvSpPr>
          <p:cNvPr id="35" name="Text 33"/>
          <p:cNvSpPr/>
          <p:nvPr/>
        </p:nvSpPr>
        <p:spPr>
          <a:xfrm>
            <a:off x="228600" y="4892040"/>
            <a:ext cx="8686800" cy="201168"/>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Chapter 7 – All assumptions must be met for valid inference.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Running Linear Regression in RStudio  (Step 1–3)</a:t>
            </a:r>
            <a:endParaRPr lang="en-US" sz="2200" dirty="0"/>
          </a:p>
        </p:txBody>
      </p:sp>
      <p:sp>
        <p:nvSpPr>
          <p:cNvPr id="4" name="Shape 2"/>
          <p:cNvSpPr/>
          <p:nvPr/>
        </p:nvSpPr>
        <p:spPr>
          <a:xfrm>
            <a:off x="0" y="685800"/>
            <a:ext cx="9144000" cy="64008"/>
          </a:xfrm>
          <a:prstGeom prst="rect">
            <a:avLst/>
          </a:prstGeom>
          <a:solidFill>
            <a:srgbClr val="16A34A"/>
          </a:solidFill>
          <a:ln w="12700">
            <a:solidFill>
              <a:srgbClr val="16A34A"/>
            </a:solidFill>
            <a:prstDash val="solid"/>
          </a:ln>
        </p:spPr>
        <p:txBody>
          <a:bodyPr/>
          <a:lstStyle/>
          <a:p>
            <a:endParaRPr lang="en-US"/>
          </a:p>
        </p:txBody>
      </p:sp>
      <p:sp>
        <p:nvSpPr>
          <p:cNvPr id="5" name="Shape 3"/>
          <p:cNvSpPr/>
          <p:nvPr/>
        </p:nvSpPr>
        <p:spPr>
          <a:xfrm>
            <a:off x="228600" y="914400"/>
            <a:ext cx="2788920" cy="397764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28600" y="914400"/>
            <a:ext cx="2788920" cy="384048"/>
          </a:xfrm>
          <a:prstGeom prst="rect">
            <a:avLst/>
          </a:prstGeom>
          <a:solidFill>
            <a:srgbClr val="1B2A4A"/>
          </a:solidFill>
          <a:ln w="12700">
            <a:solidFill>
              <a:srgbClr val="1B2A4A"/>
            </a:solidFill>
            <a:prstDash val="solid"/>
          </a:ln>
        </p:spPr>
        <p:txBody>
          <a:bodyPr/>
          <a:lstStyle/>
          <a:p>
            <a:endParaRPr lang="en-US"/>
          </a:p>
        </p:txBody>
      </p:sp>
      <p:sp>
        <p:nvSpPr>
          <p:cNvPr id="7" name="Text 5"/>
          <p:cNvSpPr/>
          <p:nvPr/>
        </p:nvSpPr>
        <p:spPr>
          <a:xfrm>
            <a:off x="320040" y="932688"/>
            <a:ext cx="2606040" cy="347472"/>
          </a:xfrm>
          <a:prstGeom prst="rect">
            <a:avLst/>
          </a:prstGeom>
          <a:noFill/>
          <a:ln/>
        </p:spPr>
        <p:txBody>
          <a:bodyPr wrap="square" lIns="0" tIns="0" rIns="0" bIns="0" rtlCol="0" anchor="ctr"/>
          <a:lstStyle/>
          <a:p>
            <a:pPr marL="0" indent="0" algn="ctr">
              <a:buNone/>
            </a:pPr>
            <a:r>
              <a:rPr lang="en-US" sz="1200" b="1" dirty="0">
                <a:solidFill>
                  <a:srgbClr val="0D9488"/>
                </a:solidFill>
                <a:latin typeface="Calibri" pitchFamily="34" charset="0"/>
                <a:ea typeface="Calibri" pitchFamily="34" charset="-122"/>
                <a:cs typeface="Calibri" pitchFamily="34" charset="-120"/>
              </a:rPr>
              <a:t>STEP 01</a:t>
            </a:r>
            <a:endParaRPr lang="en-US" sz="1200" dirty="0"/>
          </a:p>
        </p:txBody>
      </p:sp>
      <p:sp>
        <p:nvSpPr>
          <p:cNvPr id="8" name="Text 6"/>
          <p:cNvSpPr/>
          <p:nvPr/>
        </p:nvSpPr>
        <p:spPr>
          <a:xfrm>
            <a:off x="320040" y="1371600"/>
            <a:ext cx="2606040" cy="38404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Load &amp; Inspect Your Data</a:t>
            </a:r>
            <a:endParaRPr lang="en-US" sz="1200" dirty="0"/>
          </a:p>
        </p:txBody>
      </p:sp>
      <p:sp>
        <p:nvSpPr>
          <p:cNvPr id="9" name="Shape 7"/>
          <p:cNvSpPr/>
          <p:nvPr/>
        </p:nvSpPr>
        <p:spPr>
          <a:xfrm>
            <a:off x="320040" y="1783080"/>
            <a:ext cx="2606040" cy="1783080"/>
          </a:xfrm>
          <a:prstGeom prst="rect">
            <a:avLst/>
          </a:prstGeom>
          <a:solidFill>
            <a:srgbClr val="1E293B"/>
          </a:solidFill>
          <a:ln w="6350">
            <a:solidFill>
              <a:srgbClr val="334155"/>
            </a:solidFill>
            <a:prstDash val="solid"/>
          </a:ln>
        </p:spPr>
        <p:txBody>
          <a:bodyPr/>
          <a:lstStyle/>
          <a:p>
            <a:endParaRPr lang="en-US"/>
          </a:p>
        </p:txBody>
      </p:sp>
      <p:sp>
        <p:nvSpPr>
          <p:cNvPr id="10" name="Text 8"/>
          <p:cNvSpPr/>
          <p:nvPr/>
        </p:nvSpPr>
        <p:spPr>
          <a:xfrm>
            <a:off x="374904" y="1828800"/>
            <a:ext cx="2496312" cy="1691640"/>
          </a:xfrm>
          <a:prstGeom prst="rect">
            <a:avLst/>
          </a:prstGeom>
          <a:noFill/>
          <a:ln/>
        </p:spPr>
        <p:txBody>
          <a:bodyPr wrap="square" lIns="0" tIns="0" rIns="0" bIns="0" rtlCol="0" anchor="ctr"/>
          <a:lstStyle/>
          <a:p>
            <a:pPr marL="0" indent="0">
              <a:buNone/>
            </a:pPr>
            <a:r>
              <a:rPr lang="en-US" sz="900" dirty="0">
                <a:solidFill>
                  <a:srgbClr val="7DD3FC"/>
                </a:solidFill>
                <a:latin typeface="Consolas" pitchFamily="34" charset="0"/>
                <a:ea typeface="Consolas" pitchFamily="34" charset="-122"/>
                <a:cs typeface="Consolas" pitchFamily="34" charset="-120"/>
              </a:rPr>
              <a:t># Load data</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library(tidyverse)</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data &lt;- read.csv("mydata.csv")</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Inspect</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head(data)</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str(data)</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summary(data)</a:t>
            </a:r>
            <a:endParaRPr lang="en-US" sz="900" dirty="0"/>
          </a:p>
        </p:txBody>
      </p:sp>
      <p:sp>
        <p:nvSpPr>
          <p:cNvPr id="11" name="Shape 9"/>
          <p:cNvSpPr/>
          <p:nvPr/>
        </p:nvSpPr>
        <p:spPr>
          <a:xfrm>
            <a:off x="320040" y="3657600"/>
            <a:ext cx="2606040" cy="256032"/>
          </a:xfrm>
          <a:prstGeom prst="rect">
            <a:avLst/>
          </a:prstGeom>
          <a:solidFill>
            <a:srgbClr val="CCFBF1"/>
          </a:solidFill>
          <a:ln w="12700">
            <a:solidFill>
              <a:srgbClr val="CCFBF1"/>
            </a:solidFill>
            <a:prstDash val="solid"/>
          </a:ln>
        </p:spPr>
        <p:txBody>
          <a:bodyPr/>
          <a:lstStyle/>
          <a:p>
            <a:endParaRPr lang="en-US"/>
          </a:p>
        </p:txBody>
      </p:sp>
      <p:sp>
        <p:nvSpPr>
          <p:cNvPr id="12" name="Text 10"/>
          <p:cNvSpPr/>
          <p:nvPr/>
        </p:nvSpPr>
        <p:spPr>
          <a:xfrm>
            <a:off x="338328" y="3675888"/>
            <a:ext cx="2569464" cy="228600"/>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 Ensure outcome is continuous and predictors are correctly coded.</a:t>
            </a:r>
            <a:endParaRPr lang="en-US" sz="900" dirty="0"/>
          </a:p>
        </p:txBody>
      </p:sp>
      <p:sp>
        <p:nvSpPr>
          <p:cNvPr id="13" name="Shape 11"/>
          <p:cNvSpPr/>
          <p:nvPr/>
        </p:nvSpPr>
        <p:spPr>
          <a:xfrm>
            <a:off x="3200400" y="914400"/>
            <a:ext cx="2788920" cy="397764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200400" y="914400"/>
            <a:ext cx="2788920" cy="384048"/>
          </a:xfrm>
          <a:prstGeom prst="rect">
            <a:avLst/>
          </a:prstGeom>
          <a:solidFill>
            <a:srgbClr val="1B2A4A"/>
          </a:solidFill>
          <a:ln w="12700">
            <a:solidFill>
              <a:srgbClr val="1B2A4A"/>
            </a:solidFill>
            <a:prstDash val="solid"/>
          </a:ln>
        </p:spPr>
        <p:txBody>
          <a:bodyPr/>
          <a:lstStyle/>
          <a:p>
            <a:endParaRPr lang="en-US"/>
          </a:p>
        </p:txBody>
      </p:sp>
      <p:sp>
        <p:nvSpPr>
          <p:cNvPr id="15" name="Text 13"/>
          <p:cNvSpPr/>
          <p:nvPr/>
        </p:nvSpPr>
        <p:spPr>
          <a:xfrm>
            <a:off x="3291840" y="932688"/>
            <a:ext cx="2606040" cy="347472"/>
          </a:xfrm>
          <a:prstGeom prst="rect">
            <a:avLst/>
          </a:prstGeom>
          <a:noFill/>
          <a:ln/>
        </p:spPr>
        <p:txBody>
          <a:bodyPr wrap="square" lIns="0" tIns="0" rIns="0" bIns="0" rtlCol="0" anchor="ctr"/>
          <a:lstStyle/>
          <a:p>
            <a:pPr marL="0" indent="0" algn="ctr">
              <a:buNone/>
            </a:pPr>
            <a:r>
              <a:rPr lang="en-US" sz="1200" b="1" dirty="0">
                <a:solidFill>
                  <a:srgbClr val="0D9488"/>
                </a:solidFill>
                <a:latin typeface="Calibri" pitchFamily="34" charset="0"/>
                <a:ea typeface="Calibri" pitchFamily="34" charset="-122"/>
                <a:cs typeface="Calibri" pitchFamily="34" charset="-120"/>
              </a:rPr>
              <a:t>STEP 02</a:t>
            </a:r>
            <a:endParaRPr lang="en-US" sz="1200" dirty="0"/>
          </a:p>
        </p:txBody>
      </p:sp>
      <p:sp>
        <p:nvSpPr>
          <p:cNvPr id="16" name="Text 14"/>
          <p:cNvSpPr/>
          <p:nvPr/>
        </p:nvSpPr>
        <p:spPr>
          <a:xfrm>
            <a:off x="3291840" y="1371600"/>
            <a:ext cx="2606040" cy="38404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Visualise the Relationship</a:t>
            </a:r>
            <a:endParaRPr lang="en-US" sz="1200" dirty="0"/>
          </a:p>
        </p:txBody>
      </p:sp>
      <p:sp>
        <p:nvSpPr>
          <p:cNvPr id="17" name="Shape 15"/>
          <p:cNvSpPr/>
          <p:nvPr/>
        </p:nvSpPr>
        <p:spPr>
          <a:xfrm>
            <a:off x="3291840" y="1783080"/>
            <a:ext cx="2606040" cy="1783080"/>
          </a:xfrm>
          <a:prstGeom prst="rect">
            <a:avLst/>
          </a:prstGeom>
          <a:solidFill>
            <a:srgbClr val="1E293B"/>
          </a:solidFill>
          <a:ln w="6350">
            <a:solidFill>
              <a:srgbClr val="334155"/>
            </a:solidFill>
            <a:prstDash val="solid"/>
          </a:ln>
        </p:spPr>
        <p:txBody>
          <a:bodyPr/>
          <a:lstStyle/>
          <a:p>
            <a:endParaRPr lang="en-US"/>
          </a:p>
        </p:txBody>
      </p:sp>
      <p:sp>
        <p:nvSpPr>
          <p:cNvPr id="18" name="Text 16"/>
          <p:cNvSpPr/>
          <p:nvPr/>
        </p:nvSpPr>
        <p:spPr>
          <a:xfrm>
            <a:off x="3346704" y="1828800"/>
            <a:ext cx="2496312" cy="1691640"/>
          </a:xfrm>
          <a:prstGeom prst="rect">
            <a:avLst/>
          </a:prstGeom>
          <a:noFill/>
          <a:ln/>
        </p:spPr>
        <p:txBody>
          <a:bodyPr wrap="square" lIns="0" tIns="0" rIns="0" bIns="0" rtlCol="0" anchor="ctr"/>
          <a:lstStyle/>
          <a:p>
            <a:pPr marL="0" indent="0">
              <a:buNone/>
            </a:pPr>
            <a:r>
              <a:rPr lang="en-US" sz="900" dirty="0">
                <a:solidFill>
                  <a:srgbClr val="7DD3FC"/>
                </a:solidFill>
                <a:latin typeface="Consolas" pitchFamily="34" charset="0"/>
                <a:ea typeface="Consolas" pitchFamily="34" charset="-122"/>
                <a:cs typeface="Consolas" pitchFamily="34" charset="-120"/>
              </a:rPr>
              <a:t># Scatterplot</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ggplot(data, aes(x = predictor,</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y = outcome))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geom_point(colour = "steelblue")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geom_smooth(method = "lm",</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se = TRUE)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theme_minimal()</a:t>
            </a:r>
            <a:endParaRPr lang="en-US" sz="900" dirty="0"/>
          </a:p>
        </p:txBody>
      </p:sp>
      <p:sp>
        <p:nvSpPr>
          <p:cNvPr id="19" name="Shape 17"/>
          <p:cNvSpPr/>
          <p:nvPr/>
        </p:nvSpPr>
        <p:spPr>
          <a:xfrm>
            <a:off x="3291840" y="3657600"/>
            <a:ext cx="2606040" cy="256032"/>
          </a:xfrm>
          <a:prstGeom prst="rect">
            <a:avLst/>
          </a:prstGeom>
          <a:solidFill>
            <a:srgbClr val="CCFBF1"/>
          </a:solidFill>
          <a:ln w="12700">
            <a:solidFill>
              <a:srgbClr val="CCFBF1"/>
            </a:solidFill>
            <a:prstDash val="solid"/>
          </a:ln>
        </p:spPr>
        <p:txBody>
          <a:bodyPr/>
          <a:lstStyle/>
          <a:p>
            <a:endParaRPr lang="en-US" dirty="0"/>
          </a:p>
        </p:txBody>
      </p:sp>
      <p:sp>
        <p:nvSpPr>
          <p:cNvPr id="20" name="Text 18"/>
          <p:cNvSpPr/>
          <p:nvPr/>
        </p:nvSpPr>
        <p:spPr>
          <a:xfrm>
            <a:off x="3310128" y="3675888"/>
            <a:ext cx="2569464" cy="228600"/>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 Look for linear trend before fitting the model.</a:t>
            </a:r>
            <a:endParaRPr lang="en-US" sz="900" dirty="0"/>
          </a:p>
        </p:txBody>
      </p:sp>
      <p:sp>
        <p:nvSpPr>
          <p:cNvPr id="21" name="Shape 19"/>
          <p:cNvSpPr/>
          <p:nvPr/>
        </p:nvSpPr>
        <p:spPr>
          <a:xfrm>
            <a:off x="6172200" y="914400"/>
            <a:ext cx="2788920" cy="397764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2" name="Shape 20"/>
          <p:cNvSpPr/>
          <p:nvPr/>
        </p:nvSpPr>
        <p:spPr>
          <a:xfrm>
            <a:off x="6172200" y="914400"/>
            <a:ext cx="2788920" cy="384048"/>
          </a:xfrm>
          <a:prstGeom prst="rect">
            <a:avLst/>
          </a:prstGeom>
          <a:solidFill>
            <a:srgbClr val="1B2A4A"/>
          </a:solidFill>
          <a:ln w="12700">
            <a:solidFill>
              <a:srgbClr val="1B2A4A"/>
            </a:solidFill>
            <a:prstDash val="solid"/>
          </a:ln>
        </p:spPr>
        <p:txBody>
          <a:bodyPr/>
          <a:lstStyle/>
          <a:p>
            <a:endParaRPr lang="en-US"/>
          </a:p>
        </p:txBody>
      </p:sp>
      <p:sp>
        <p:nvSpPr>
          <p:cNvPr id="23" name="Text 21"/>
          <p:cNvSpPr/>
          <p:nvPr/>
        </p:nvSpPr>
        <p:spPr>
          <a:xfrm>
            <a:off x="6263640" y="932688"/>
            <a:ext cx="2606040" cy="347472"/>
          </a:xfrm>
          <a:prstGeom prst="rect">
            <a:avLst/>
          </a:prstGeom>
          <a:noFill/>
          <a:ln/>
        </p:spPr>
        <p:txBody>
          <a:bodyPr wrap="square" lIns="0" tIns="0" rIns="0" bIns="0" rtlCol="0" anchor="ctr"/>
          <a:lstStyle/>
          <a:p>
            <a:pPr marL="0" indent="0" algn="ctr">
              <a:buNone/>
            </a:pPr>
            <a:r>
              <a:rPr lang="en-US" sz="1200" b="1" dirty="0">
                <a:solidFill>
                  <a:srgbClr val="0D9488"/>
                </a:solidFill>
                <a:latin typeface="Calibri" pitchFamily="34" charset="0"/>
                <a:ea typeface="Calibri" pitchFamily="34" charset="-122"/>
                <a:cs typeface="Calibri" pitchFamily="34" charset="-120"/>
              </a:rPr>
              <a:t>STEP 03</a:t>
            </a:r>
            <a:endParaRPr lang="en-US" sz="1200" dirty="0"/>
          </a:p>
        </p:txBody>
      </p:sp>
      <p:sp>
        <p:nvSpPr>
          <p:cNvPr id="24" name="Text 22"/>
          <p:cNvSpPr/>
          <p:nvPr/>
        </p:nvSpPr>
        <p:spPr>
          <a:xfrm>
            <a:off x="6263640" y="1371600"/>
            <a:ext cx="2606040" cy="38404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Fit the Regression Model</a:t>
            </a:r>
            <a:endParaRPr lang="en-US" sz="1200" dirty="0"/>
          </a:p>
        </p:txBody>
      </p:sp>
      <p:sp>
        <p:nvSpPr>
          <p:cNvPr id="25" name="Shape 23"/>
          <p:cNvSpPr/>
          <p:nvPr/>
        </p:nvSpPr>
        <p:spPr>
          <a:xfrm>
            <a:off x="6263640" y="1783080"/>
            <a:ext cx="2606040" cy="1783080"/>
          </a:xfrm>
          <a:prstGeom prst="rect">
            <a:avLst/>
          </a:prstGeom>
          <a:solidFill>
            <a:srgbClr val="1E293B"/>
          </a:solidFill>
          <a:ln w="6350">
            <a:solidFill>
              <a:srgbClr val="334155"/>
            </a:solidFill>
            <a:prstDash val="solid"/>
          </a:ln>
        </p:spPr>
        <p:txBody>
          <a:bodyPr/>
          <a:lstStyle/>
          <a:p>
            <a:endParaRPr lang="en-US"/>
          </a:p>
        </p:txBody>
      </p:sp>
      <p:sp>
        <p:nvSpPr>
          <p:cNvPr id="26" name="Text 24"/>
          <p:cNvSpPr/>
          <p:nvPr/>
        </p:nvSpPr>
        <p:spPr>
          <a:xfrm>
            <a:off x="6318504" y="1828800"/>
            <a:ext cx="2496312" cy="1691640"/>
          </a:xfrm>
          <a:prstGeom prst="rect">
            <a:avLst/>
          </a:prstGeom>
          <a:noFill/>
          <a:ln/>
        </p:spPr>
        <p:txBody>
          <a:bodyPr wrap="square" lIns="0" tIns="0" rIns="0" bIns="0" rtlCol="0" anchor="ctr"/>
          <a:lstStyle/>
          <a:p>
            <a:pPr marL="0" indent="0">
              <a:buNone/>
            </a:pPr>
            <a:r>
              <a:rPr lang="en-US" sz="900" dirty="0">
                <a:solidFill>
                  <a:srgbClr val="7DD3FC"/>
                </a:solidFill>
                <a:latin typeface="Consolas" pitchFamily="34" charset="0"/>
                <a:ea typeface="Consolas" pitchFamily="34" charset="-122"/>
                <a:cs typeface="Consolas" pitchFamily="34" charset="-120"/>
              </a:rPr>
              <a:t># Simple linear regression</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model &lt;- lm(outcome ~ predictor,</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data = data)</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View full output</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summary(model)</a:t>
            </a:r>
            <a:endParaRPr lang="en-US" sz="900" dirty="0"/>
          </a:p>
        </p:txBody>
      </p:sp>
      <p:sp>
        <p:nvSpPr>
          <p:cNvPr id="27" name="Shape 25"/>
          <p:cNvSpPr/>
          <p:nvPr/>
        </p:nvSpPr>
        <p:spPr>
          <a:xfrm>
            <a:off x="6263640" y="3657600"/>
            <a:ext cx="2606040" cy="256032"/>
          </a:xfrm>
          <a:prstGeom prst="rect">
            <a:avLst/>
          </a:prstGeom>
          <a:solidFill>
            <a:srgbClr val="CCFBF1"/>
          </a:solidFill>
          <a:ln w="12700">
            <a:solidFill>
              <a:srgbClr val="CCFBF1"/>
            </a:solidFill>
            <a:prstDash val="solid"/>
          </a:ln>
        </p:spPr>
        <p:txBody>
          <a:bodyPr/>
          <a:lstStyle/>
          <a:p>
            <a:endParaRPr lang="en-US"/>
          </a:p>
        </p:txBody>
      </p:sp>
      <p:sp>
        <p:nvSpPr>
          <p:cNvPr id="28" name="Text 26"/>
          <p:cNvSpPr/>
          <p:nvPr/>
        </p:nvSpPr>
        <p:spPr>
          <a:xfrm>
            <a:off x="6281928" y="3675888"/>
            <a:ext cx="2569464" cy="228600"/>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 lm() = linear model. Outcome ~ Predictor syntax follows R formula notation.</a:t>
            </a:r>
            <a:endParaRPr lang="en-US" sz="900" dirty="0"/>
          </a:p>
        </p:txBody>
      </p:sp>
      <p:sp>
        <p:nvSpPr>
          <p:cNvPr id="29" name="Text 27"/>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211–220  |  Code adapted for R / tidyverse</a:t>
            </a:r>
            <a:endParaRPr lang="en-US" sz="900" dirty="0"/>
          </a:p>
        </p:txBody>
      </p:sp>
      <p:sp>
        <p:nvSpPr>
          <p:cNvPr id="31" name="TextBox 30">
            <a:extLst>
              <a:ext uri="{FF2B5EF4-FFF2-40B4-BE49-F238E27FC236}">
                <a16:creationId xmlns:a16="http://schemas.microsoft.com/office/drawing/2014/main" id="{5A64B852-04ED-B172-FEA2-2A786F47323D}"/>
              </a:ext>
            </a:extLst>
          </p:cNvPr>
          <p:cNvSpPr txBox="1"/>
          <p:nvPr/>
        </p:nvSpPr>
        <p:spPr>
          <a:xfrm>
            <a:off x="3608102" y="4001500"/>
            <a:ext cx="1825399" cy="646331"/>
          </a:xfrm>
          <a:prstGeom prst="rect">
            <a:avLst/>
          </a:prstGeom>
          <a:noFill/>
        </p:spPr>
        <p:txBody>
          <a:bodyPr wrap="square">
            <a:spAutoFit/>
          </a:bodyPr>
          <a:lstStyle/>
          <a:p>
            <a:pPr marL="0" indent="0">
              <a:buNone/>
            </a:pPr>
            <a:r>
              <a:rPr lang="en-US" sz="1800" b="1" dirty="0">
                <a:solidFill>
                  <a:srgbClr val="2563EB"/>
                </a:solidFill>
                <a:latin typeface="Calibri" pitchFamily="34" charset="0"/>
                <a:ea typeface="Calibri" pitchFamily="34" charset="-122"/>
                <a:cs typeface="Calibri" pitchFamily="34" charset="-120"/>
              </a:rPr>
              <a:t>Assumption 1 </a:t>
            </a:r>
          </a:p>
          <a:p>
            <a:pPr marL="0" indent="0">
              <a:buNone/>
            </a:pPr>
            <a:r>
              <a:rPr lang="en-US" sz="1800" b="1" dirty="0">
                <a:solidFill>
                  <a:srgbClr val="2563EB"/>
                </a:solidFill>
                <a:latin typeface="Calibri" pitchFamily="34" charset="0"/>
                <a:ea typeface="Calibri" pitchFamily="34" charset="-122"/>
                <a:cs typeface="Calibri" pitchFamily="34" charset="-120"/>
              </a:rPr>
              <a:t>Linearity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Interpreting the summary() Output</a:t>
            </a:r>
            <a:endParaRPr lang="en-US" sz="2200" dirty="0"/>
          </a:p>
        </p:txBody>
      </p:sp>
      <p:sp>
        <p:nvSpPr>
          <p:cNvPr id="4" name="Shape 2"/>
          <p:cNvSpPr/>
          <p:nvPr/>
        </p:nvSpPr>
        <p:spPr>
          <a:xfrm>
            <a:off x="0" y="685800"/>
            <a:ext cx="9144000" cy="64008"/>
          </a:xfrm>
          <a:prstGeom prst="rect">
            <a:avLst/>
          </a:prstGeom>
          <a:solidFill>
            <a:srgbClr val="2563EB"/>
          </a:solidFill>
          <a:ln w="12700">
            <a:solidFill>
              <a:srgbClr val="2563EB"/>
            </a:solidFill>
            <a:prstDash val="solid"/>
          </a:ln>
        </p:spPr>
        <p:txBody>
          <a:bodyPr/>
          <a:lstStyle/>
          <a:p>
            <a:endParaRPr lang="en-US"/>
          </a:p>
        </p:txBody>
      </p:sp>
      <p:sp>
        <p:nvSpPr>
          <p:cNvPr id="5" name="Shape 3"/>
          <p:cNvSpPr/>
          <p:nvPr/>
        </p:nvSpPr>
        <p:spPr>
          <a:xfrm>
            <a:off x="228600" y="914400"/>
            <a:ext cx="4114800" cy="4023360"/>
          </a:xfrm>
          <a:prstGeom prst="rect">
            <a:avLst/>
          </a:prstGeom>
          <a:solidFill>
            <a:srgbClr val="0F172A"/>
          </a:solidFill>
          <a:ln w="6350">
            <a:solidFill>
              <a:srgbClr val="334155"/>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47472" y="987552"/>
            <a:ext cx="3840480" cy="274320"/>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Coefficients:</a:t>
            </a:r>
            <a:endParaRPr lang="en-US" sz="1000" dirty="0"/>
          </a:p>
        </p:txBody>
      </p:sp>
      <p:sp>
        <p:nvSpPr>
          <p:cNvPr id="7" name="Text 5"/>
          <p:cNvSpPr/>
          <p:nvPr/>
        </p:nvSpPr>
        <p:spPr>
          <a:xfrm>
            <a:off x="347472" y="1298448"/>
            <a:ext cx="3840480" cy="2651760"/>
          </a:xfrm>
          <a:prstGeom prst="rect">
            <a:avLst/>
          </a:prstGeom>
          <a:noFill/>
          <a:ln/>
        </p:spPr>
        <p:txBody>
          <a:bodyPr wrap="square" lIns="0" tIns="0" rIns="0" bIns="0" rtlCol="0" anchor="ctr"/>
          <a:lstStyle/>
          <a:p>
            <a:pPr marL="0" indent="0">
              <a:buNone/>
            </a:pPr>
            <a:r>
              <a:rPr lang="en-US" sz="850" dirty="0">
                <a:solidFill>
                  <a:srgbClr val="7DD3FC"/>
                </a:solidFill>
                <a:latin typeface="Consolas" pitchFamily="34" charset="0"/>
                <a:ea typeface="Consolas" pitchFamily="34" charset="-122"/>
                <a:cs typeface="Consolas" pitchFamily="34" charset="-120"/>
              </a:rPr>
              <a:t>            Estimate  Std.Error  t value   Pr(&gt;|t|)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(Intercept)  10.543     1.234     8.543    &lt;0.001 ***</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predictor     0.621     0.087     7.138    &lt;0.001 ***</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Signif. codes: 0 '***' 0.001 '**' 0.01 '*' 0.05</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Residual standard error: 3.21 on 98 df</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Multiple R-squared:  0.612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Adjusted R-squared:  0.608</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F-statistic: 51.95 on 1 and 98 DF</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p-value: &lt; 2.2e-16</a:t>
            </a:r>
            <a:endParaRPr lang="en-US" sz="850" dirty="0"/>
          </a:p>
        </p:txBody>
      </p:sp>
      <p:sp>
        <p:nvSpPr>
          <p:cNvPr id="8" name="Shape 6"/>
          <p:cNvSpPr/>
          <p:nvPr/>
        </p:nvSpPr>
        <p:spPr>
          <a:xfrm>
            <a:off x="4343400" y="1554480"/>
            <a:ext cx="457200" cy="0"/>
          </a:xfrm>
          <a:prstGeom prst="line">
            <a:avLst/>
          </a:prstGeom>
          <a:noFill/>
          <a:ln w="15240">
            <a:solidFill>
              <a:srgbClr val="F59E0B"/>
            </a:solidFill>
            <a:prstDash val="dash"/>
          </a:ln>
        </p:spPr>
        <p:txBody>
          <a:bodyPr/>
          <a:lstStyle/>
          <a:p>
            <a:endParaRPr lang="en-US"/>
          </a:p>
        </p:txBody>
      </p:sp>
      <p:sp>
        <p:nvSpPr>
          <p:cNvPr id="9" name="Shape 7"/>
          <p:cNvSpPr/>
          <p:nvPr/>
        </p:nvSpPr>
        <p:spPr>
          <a:xfrm>
            <a:off x="4800600" y="1444752"/>
            <a:ext cx="3977640" cy="502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4800600" y="1444752"/>
            <a:ext cx="64008" cy="502920"/>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5010912" y="1481328"/>
            <a:ext cx="3611880" cy="21031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Intercept (b₀)</a:t>
            </a:r>
            <a:endParaRPr lang="en-US" sz="1100" dirty="0"/>
          </a:p>
        </p:txBody>
      </p:sp>
      <p:sp>
        <p:nvSpPr>
          <p:cNvPr id="12" name="Text 10"/>
          <p:cNvSpPr/>
          <p:nvPr/>
        </p:nvSpPr>
        <p:spPr>
          <a:xfrm>
            <a:off x="5010912" y="1700784"/>
            <a:ext cx="361188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Predicted Y when X = 0</a:t>
            </a:r>
            <a:endParaRPr lang="en-US" sz="1000" dirty="0"/>
          </a:p>
        </p:txBody>
      </p:sp>
      <p:sp>
        <p:nvSpPr>
          <p:cNvPr id="13" name="Shape 11"/>
          <p:cNvSpPr/>
          <p:nvPr/>
        </p:nvSpPr>
        <p:spPr>
          <a:xfrm>
            <a:off x="4343400" y="2167128"/>
            <a:ext cx="457200" cy="0"/>
          </a:xfrm>
          <a:prstGeom prst="line">
            <a:avLst/>
          </a:prstGeom>
          <a:noFill/>
          <a:ln w="15240">
            <a:solidFill>
              <a:srgbClr val="16A34A"/>
            </a:solidFill>
            <a:prstDash val="dash"/>
          </a:ln>
        </p:spPr>
        <p:txBody>
          <a:bodyPr/>
          <a:lstStyle/>
          <a:p>
            <a:endParaRPr lang="en-US"/>
          </a:p>
        </p:txBody>
      </p:sp>
      <p:sp>
        <p:nvSpPr>
          <p:cNvPr id="14" name="Shape 12"/>
          <p:cNvSpPr/>
          <p:nvPr/>
        </p:nvSpPr>
        <p:spPr>
          <a:xfrm>
            <a:off x="4800600" y="2057400"/>
            <a:ext cx="3977640" cy="502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4800600" y="2057400"/>
            <a:ext cx="64008" cy="502920"/>
          </a:xfrm>
          <a:prstGeom prst="rect">
            <a:avLst/>
          </a:prstGeom>
          <a:solidFill>
            <a:srgbClr val="16A34A"/>
          </a:solidFill>
          <a:ln w="12700">
            <a:solidFill>
              <a:srgbClr val="16A34A"/>
            </a:solidFill>
            <a:prstDash val="solid"/>
          </a:ln>
        </p:spPr>
        <p:txBody>
          <a:bodyPr/>
          <a:lstStyle/>
          <a:p>
            <a:endParaRPr lang="en-US"/>
          </a:p>
        </p:txBody>
      </p:sp>
      <p:sp>
        <p:nvSpPr>
          <p:cNvPr id="16" name="Text 14"/>
          <p:cNvSpPr/>
          <p:nvPr/>
        </p:nvSpPr>
        <p:spPr>
          <a:xfrm>
            <a:off x="5010912" y="2093976"/>
            <a:ext cx="3611880" cy="210312"/>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Slope (b₁ = 0.621)</a:t>
            </a:r>
            <a:endParaRPr lang="en-US" sz="1100" dirty="0"/>
          </a:p>
        </p:txBody>
      </p:sp>
      <p:sp>
        <p:nvSpPr>
          <p:cNvPr id="17" name="Text 15"/>
          <p:cNvSpPr/>
          <p:nvPr/>
        </p:nvSpPr>
        <p:spPr>
          <a:xfrm>
            <a:off x="5010912" y="2313432"/>
            <a:ext cx="361188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For each 1-unit ↑ in X, Y increases by 0.621</a:t>
            </a:r>
            <a:endParaRPr lang="en-US" sz="1000" dirty="0"/>
          </a:p>
        </p:txBody>
      </p:sp>
      <p:sp>
        <p:nvSpPr>
          <p:cNvPr id="18" name="Shape 16"/>
          <p:cNvSpPr/>
          <p:nvPr/>
        </p:nvSpPr>
        <p:spPr>
          <a:xfrm>
            <a:off x="4343400" y="2761488"/>
            <a:ext cx="457200" cy="0"/>
          </a:xfrm>
          <a:prstGeom prst="line">
            <a:avLst/>
          </a:prstGeom>
          <a:noFill/>
          <a:ln w="15240">
            <a:solidFill>
              <a:srgbClr val="DC2626"/>
            </a:solidFill>
            <a:prstDash val="dash"/>
          </a:ln>
        </p:spPr>
        <p:txBody>
          <a:bodyPr/>
          <a:lstStyle/>
          <a:p>
            <a:endParaRPr lang="en-US"/>
          </a:p>
        </p:txBody>
      </p:sp>
      <p:sp>
        <p:nvSpPr>
          <p:cNvPr id="19" name="Shape 17"/>
          <p:cNvSpPr/>
          <p:nvPr/>
        </p:nvSpPr>
        <p:spPr>
          <a:xfrm>
            <a:off x="4800600" y="2651760"/>
            <a:ext cx="3977640" cy="502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4800600" y="2651760"/>
            <a:ext cx="64008" cy="502920"/>
          </a:xfrm>
          <a:prstGeom prst="rect">
            <a:avLst/>
          </a:prstGeom>
          <a:solidFill>
            <a:srgbClr val="DC2626"/>
          </a:solidFill>
          <a:ln w="12700">
            <a:solidFill>
              <a:srgbClr val="DC2626"/>
            </a:solidFill>
            <a:prstDash val="solid"/>
          </a:ln>
        </p:spPr>
        <p:txBody>
          <a:bodyPr/>
          <a:lstStyle/>
          <a:p>
            <a:endParaRPr lang="en-US"/>
          </a:p>
        </p:txBody>
      </p:sp>
      <p:sp>
        <p:nvSpPr>
          <p:cNvPr id="21" name="Text 19"/>
          <p:cNvSpPr/>
          <p:nvPr/>
        </p:nvSpPr>
        <p:spPr>
          <a:xfrm>
            <a:off x="5010912" y="2688336"/>
            <a:ext cx="3611880" cy="210312"/>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p-value &lt; .001</a:t>
            </a:r>
            <a:endParaRPr lang="en-US" sz="1100" dirty="0"/>
          </a:p>
        </p:txBody>
      </p:sp>
      <p:sp>
        <p:nvSpPr>
          <p:cNvPr id="22" name="Text 20"/>
          <p:cNvSpPr/>
          <p:nvPr/>
        </p:nvSpPr>
        <p:spPr>
          <a:xfrm>
            <a:off x="5010912" y="2907792"/>
            <a:ext cx="361188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Predictor is statistically significant</a:t>
            </a:r>
            <a:endParaRPr lang="en-US" sz="1000" dirty="0"/>
          </a:p>
        </p:txBody>
      </p:sp>
      <p:sp>
        <p:nvSpPr>
          <p:cNvPr id="23" name="Shape 21"/>
          <p:cNvSpPr/>
          <p:nvPr/>
        </p:nvSpPr>
        <p:spPr>
          <a:xfrm>
            <a:off x="4343400" y="3355848"/>
            <a:ext cx="457200" cy="0"/>
          </a:xfrm>
          <a:prstGeom prst="line">
            <a:avLst/>
          </a:prstGeom>
          <a:noFill/>
          <a:ln w="15240">
            <a:solidFill>
              <a:srgbClr val="2563EB"/>
            </a:solidFill>
            <a:prstDash val="dash"/>
          </a:ln>
        </p:spPr>
        <p:txBody>
          <a:bodyPr/>
          <a:lstStyle/>
          <a:p>
            <a:endParaRPr lang="en-US"/>
          </a:p>
        </p:txBody>
      </p:sp>
      <p:sp>
        <p:nvSpPr>
          <p:cNvPr id="24" name="Shape 22"/>
          <p:cNvSpPr/>
          <p:nvPr/>
        </p:nvSpPr>
        <p:spPr>
          <a:xfrm>
            <a:off x="4800600" y="3246120"/>
            <a:ext cx="3977640" cy="502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5" name="Shape 23"/>
          <p:cNvSpPr/>
          <p:nvPr/>
        </p:nvSpPr>
        <p:spPr>
          <a:xfrm>
            <a:off x="4800600" y="3246120"/>
            <a:ext cx="64008" cy="502920"/>
          </a:xfrm>
          <a:prstGeom prst="rect">
            <a:avLst/>
          </a:prstGeom>
          <a:solidFill>
            <a:srgbClr val="2563EB"/>
          </a:solidFill>
          <a:ln w="12700">
            <a:solidFill>
              <a:srgbClr val="2563EB"/>
            </a:solidFill>
            <a:prstDash val="solid"/>
          </a:ln>
        </p:spPr>
        <p:txBody>
          <a:bodyPr/>
          <a:lstStyle/>
          <a:p>
            <a:endParaRPr lang="en-US"/>
          </a:p>
        </p:txBody>
      </p:sp>
      <p:sp>
        <p:nvSpPr>
          <p:cNvPr id="26" name="Text 24"/>
          <p:cNvSpPr/>
          <p:nvPr/>
        </p:nvSpPr>
        <p:spPr>
          <a:xfrm>
            <a:off x="5010912" y="3282696"/>
            <a:ext cx="3611880" cy="210312"/>
          </a:xfrm>
          <a:prstGeom prst="rect">
            <a:avLst/>
          </a:prstGeom>
          <a:noFill/>
          <a:ln/>
        </p:spPr>
        <p:txBody>
          <a:bodyPr wrap="square" lIns="0" tIns="0" rIns="0" bIns="0"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R² = 0.612</a:t>
            </a:r>
            <a:endParaRPr lang="en-US" sz="1100" dirty="0"/>
          </a:p>
        </p:txBody>
      </p:sp>
      <p:sp>
        <p:nvSpPr>
          <p:cNvPr id="27" name="Text 25"/>
          <p:cNvSpPr/>
          <p:nvPr/>
        </p:nvSpPr>
        <p:spPr>
          <a:xfrm>
            <a:off x="5010912" y="3502152"/>
            <a:ext cx="361188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Model explains 61.2% of variance in outcome</a:t>
            </a:r>
            <a:endParaRPr lang="en-US" sz="1000" dirty="0"/>
          </a:p>
        </p:txBody>
      </p:sp>
      <p:sp>
        <p:nvSpPr>
          <p:cNvPr id="28" name="Shape 26"/>
          <p:cNvSpPr/>
          <p:nvPr/>
        </p:nvSpPr>
        <p:spPr>
          <a:xfrm>
            <a:off x="4343400" y="3931920"/>
            <a:ext cx="457200" cy="0"/>
          </a:xfrm>
          <a:prstGeom prst="line">
            <a:avLst/>
          </a:prstGeom>
          <a:noFill/>
          <a:ln w="15240">
            <a:solidFill>
              <a:srgbClr val="0D9488"/>
            </a:solidFill>
            <a:prstDash val="dash"/>
          </a:ln>
        </p:spPr>
        <p:txBody>
          <a:bodyPr/>
          <a:lstStyle/>
          <a:p>
            <a:endParaRPr lang="en-US"/>
          </a:p>
        </p:txBody>
      </p:sp>
      <p:sp>
        <p:nvSpPr>
          <p:cNvPr id="29" name="Shape 27"/>
          <p:cNvSpPr/>
          <p:nvPr/>
        </p:nvSpPr>
        <p:spPr>
          <a:xfrm>
            <a:off x="4800600" y="3822192"/>
            <a:ext cx="3977640" cy="5029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30" name="Shape 28"/>
          <p:cNvSpPr/>
          <p:nvPr/>
        </p:nvSpPr>
        <p:spPr>
          <a:xfrm>
            <a:off x="4800600" y="3822192"/>
            <a:ext cx="64008" cy="502920"/>
          </a:xfrm>
          <a:prstGeom prst="rect">
            <a:avLst/>
          </a:prstGeom>
          <a:solidFill>
            <a:srgbClr val="0D9488"/>
          </a:solidFill>
          <a:ln w="12700">
            <a:solidFill>
              <a:srgbClr val="0D9488"/>
            </a:solidFill>
            <a:prstDash val="solid"/>
          </a:ln>
        </p:spPr>
        <p:txBody>
          <a:bodyPr/>
          <a:lstStyle/>
          <a:p>
            <a:endParaRPr lang="en-US"/>
          </a:p>
        </p:txBody>
      </p:sp>
      <p:sp>
        <p:nvSpPr>
          <p:cNvPr id="31" name="Text 29"/>
          <p:cNvSpPr/>
          <p:nvPr/>
        </p:nvSpPr>
        <p:spPr>
          <a:xfrm>
            <a:off x="5010912" y="3858768"/>
            <a:ext cx="3611880" cy="21031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F-statistic</a:t>
            </a:r>
            <a:endParaRPr lang="en-US" sz="1100" dirty="0"/>
          </a:p>
        </p:txBody>
      </p:sp>
      <p:sp>
        <p:nvSpPr>
          <p:cNvPr id="32" name="Text 30"/>
          <p:cNvSpPr/>
          <p:nvPr/>
        </p:nvSpPr>
        <p:spPr>
          <a:xfrm>
            <a:off x="5010912" y="4078224"/>
            <a:ext cx="361188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Overall model is significant (p &lt; .001)</a:t>
            </a:r>
            <a:endParaRPr lang="en-US" sz="1000" dirty="0"/>
          </a:p>
        </p:txBody>
      </p:sp>
      <p:sp>
        <p:nvSpPr>
          <p:cNvPr id="33" name="Text 31"/>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221–235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Checking Assumptions in RStudio  (Step 4)</a:t>
            </a:r>
            <a:endParaRPr lang="en-US" sz="2200" dirty="0"/>
          </a:p>
        </p:txBody>
      </p:sp>
      <p:sp>
        <p:nvSpPr>
          <p:cNvPr id="4" name="Shape 2"/>
          <p:cNvSpPr/>
          <p:nvPr/>
        </p:nvSpPr>
        <p:spPr>
          <a:xfrm>
            <a:off x="0" y="685800"/>
            <a:ext cx="9144000" cy="64008"/>
          </a:xfrm>
          <a:prstGeom prst="rect">
            <a:avLst/>
          </a:prstGeom>
          <a:solidFill>
            <a:srgbClr val="DC2626"/>
          </a:solidFill>
          <a:ln w="12700">
            <a:solidFill>
              <a:srgbClr val="DC2626"/>
            </a:solidFill>
            <a:prstDash val="solid"/>
          </a:ln>
        </p:spPr>
        <p:txBody>
          <a:bodyPr/>
          <a:lstStyle/>
          <a:p>
            <a:endParaRPr lang="en-US"/>
          </a:p>
        </p:txBody>
      </p:sp>
      <p:sp>
        <p:nvSpPr>
          <p:cNvPr id="5" name="Shape 3"/>
          <p:cNvSpPr/>
          <p:nvPr/>
        </p:nvSpPr>
        <p:spPr>
          <a:xfrm>
            <a:off x="228600" y="914400"/>
            <a:ext cx="4114800" cy="4023360"/>
          </a:xfrm>
          <a:prstGeom prst="rect">
            <a:avLst/>
          </a:prstGeom>
          <a:solidFill>
            <a:srgbClr val="0F172A"/>
          </a:solidFill>
          <a:ln w="6350">
            <a:solidFill>
              <a:srgbClr val="334155"/>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47472" y="987552"/>
            <a:ext cx="3840480" cy="3840480"/>
          </a:xfrm>
          <a:prstGeom prst="rect">
            <a:avLst/>
          </a:prstGeom>
          <a:noFill/>
          <a:ln/>
        </p:spPr>
        <p:txBody>
          <a:bodyPr wrap="square" lIns="0" tIns="0" rIns="0" bIns="0" rtlCol="0" anchor="ctr"/>
          <a:lstStyle/>
          <a:p>
            <a:r>
              <a:rPr lang="en-US" sz="900" dirty="0">
                <a:solidFill>
                  <a:srgbClr val="7DD3FC"/>
                </a:solidFill>
                <a:latin typeface="Consolas" pitchFamily="34" charset="0"/>
                <a:ea typeface="Consolas" pitchFamily="34" charset="-122"/>
                <a:cs typeface="Consolas" pitchFamily="34" charset="-120"/>
              </a:rPr>
              <a:t># ── Dubin </a:t>
            </a:r>
            <a:r>
              <a:rPr lang="en-US" sz="900" dirty="0" err="1">
                <a:solidFill>
                  <a:srgbClr val="7DD3FC"/>
                </a:solidFill>
                <a:latin typeface="Consolas" pitchFamily="34" charset="0"/>
                <a:ea typeface="Consolas" pitchFamily="34" charset="-122"/>
                <a:cs typeface="Consolas" pitchFamily="34" charset="-120"/>
              </a:rPr>
              <a:t>watson</a:t>
            </a:r>
            <a:r>
              <a:rPr lang="en-US" sz="900" dirty="0">
                <a:solidFill>
                  <a:srgbClr val="7DD3FC"/>
                </a:solidFill>
                <a:latin typeface="Consolas" pitchFamily="34" charset="0"/>
                <a:ea typeface="Consolas" pitchFamily="34" charset="-122"/>
                <a:cs typeface="Consolas" pitchFamily="34" charset="-120"/>
              </a:rPr>
              <a:t> test ──────────────────</a:t>
            </a:r>
            <a:endParaRPr lang="en-US" sz="900" dirty="0"/>
          </a:p>
          <a:p>
            <a:r>
              <a:rPr lang="en-US" sz="900" dirty="0" err="1">
                <a:solidFill>
                  <a:srgbClr val="7DD3FC"/>
                </a:solidFill>
                <a:latin typeface="Consolas" pitchFamily="34" charset="0"/>
                <a:ea typeface="Consolas" pitchFamily="34" charset="-122"/>
                <a:cs typeface="Consolas" pitchFamily="34" charset="-120"/>
              </a:rPr>
              <a:t>dwtest</a:t>
            </a:r>
            <a:r>
              <a:rPr lang="en-US" sz="900" dirty="0">
                <a:solidFill>
                  <a:srgbClr val="7DD3FC"/>
                </a:solidFill>
                <a:latin typeface="Consolas" pitchFamily="34" charset="0"/>
                <a:ea typeface="Consolas" pitchFamily="34" charset="-122"/>
                <a:cs typeface="Consolas" pitchFamily="34" charset="-120"/>
              </a:rPr>
              <a:t>(model)</a:t>
            </a:r>
            <a:endParaRPr lang="en-US" sz="900" dirty="0"/>
          </a:p>
          <a:p>
            <a:pPr marL="0" indent="0">
              <a:buNone/>
            </a:pPr>
            <a:endParaRPr lang="en-US" sz="900" dirty="0">
              <a:solidFill>
                <a:srgbClr val="7DD3FC"/>
              </a:solidFill>
              <a:latin typeface="Consolas" pitchFamily="34" charset="0"/>
              <a:ea typeface="Consolas" pitchFamily="34" charset="-122"/>
              <a:cs typeface="Consolas" pitchFamily="34" charset="-120"/>
            </a:endParaRPr>
          </a:p>
          <a:p>
            <a:pPr marL="0" indent="0">
              <a:buNone/>
            </a:pPr>
            <a:r>
              <a:rPr lang="en-US" sz="900" dirty="0">
                <a:solidFill>
                  <a:srgbClr val="7DD3FC"/>
                </a:solidFill>
                <a:latin typeface="Consolas" pitchFamily="34" charset="0"/>
                <a:ea typeface="Consolas" pitchFamily="34" charset="-122"/>
                <a:cs typeface="Consolas" pitchFamily="34" charset="-120"/>
              </a:rPr>
              <a:t># ── Diagnostic Plots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Base R: 4 plots in one window</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par(mfrow = c(2,2))</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plot(model)</a:t>
            </a:r>
            <a:endParaRPr lang="en-US" sz="900" dirty="0"/>
          </a:p>
          <a:p>
            <a:pPr marL="0" indent="0">
              <a:buNone/>
            </a:pPr>
            <a:endParaRPr lang="en-US" sz="900" dirty="0"/>
          </a:p>
          <a:p>
            <a:r>
              <a:rPr lang="en-US" sz="900" dirty="0">
                <a:solidFill>
                  <a:srgbClr val="7DD3FC"/>
                </a:solidFill>
                <a:latin typeface="Consolas" pitchFamily="34" charset="0"/>
                <a:ea typeface="Consolas" pitchFamily="34" charset="-122"/>
                <a:cs typeface="Consolas" pitchFamily="34" charset="-120"/>
              </a:rPr>
              <a:t># ── Homoscedasticity ───────────────────</a:t>
            </a:r>
            <a:endParaRPr lang="en-US" sz="900" dirty="0"/>
          </a:p>
          <a:p>
            <a:r>
              <a:rPr lang="en-US" sz="900" dirty="0">
                <a:solidFill>
                  <a:srgbClr val="7DD3FC"/>
                </a:solidFill>
                <a:latin typeface="Consolas" pitchFamily="34" charset="0"/>
                <a:ea typeface="Consolas" pitchFamily="34" charset="-122"/>
                <a:cs typeface="Consolas" pitchFamily="34" charset="-120"/>
              </a:rPr>
              <a:t>library(</a:t>
            </a:r>
            <a:r>
              <a:rPr lang="en-US" sz="900" dirty="0" err="1">
                <a:solidFill>
                  <a:srgbClr val="7DD3FC"/>
                </a:solidFill>
                <a:latin typeface="Consolas" pitchFamily="34" charset="0"/>
                <a:ea typeface="Consolas" pitchFamily="34" charset="-122"/>
                <a:cs typeface="Consolas" pitchFamily="34" charset="-120"/>
              </a:rPr>
              <a:t>lmtest</a:t>
            </a:r>
            <a:r>
              <a:rPr lang="en-US" sz="900" dirty="0">
                <a:solidFill>
                  <a:srgbClr val="7DD3FC"/>
                </a:solidFill>
                <a:latin typeface="Consolas" pitchFamily="34" charset="0"/>
                <a:ea typeface="Consolas" pitchFamily="34" charset="-122"/>
                <a:cs typeface="Consolas" pitchFamily="34" charset="-120"/>
              </a:rPr>
              <a:t>)</a:t>
            </a:r>
            <a:endParaRPr lang="en-US" sz="900" dirty="0"/>
          </a:p>
          <a:p>
            <a:r>
              <a:rPr lang="en-US" sz="900" dirty="0" err="1">
                <a:solidFill>
                  <a:srgbClr val="7DD3FC"/>
                </a:solidFill>
                <a:latin typeface="Consolas" pitchFamily="34" charset="0"/>
                <a:ea typeface="Consolas" pitchFamily="34" charset="-122"/>
                <a:cs typeface="Consolas" pitchFamily="34" charset="-120"/>
              </a:rPr>
              <a:t>bptest</a:t>
            </a:r>
            <a:r>
              <a:rPr lang="en-US" sz="900" dirty="0">
                <a:solidFill>
                  <a:srgbClr val="7DD3FC"/>
                </a:solidFill>
                <a:latin typeface="Consolas" pitchFamily="34" charset="0"/>
                <a:ea typeface="Consolas" pitchFamily="34" charset="-122"/>
                <a:cs typeface="Consolas" pitchFamily="34" charset="-120"/>
              </a:rPr>
              <a:t>(model)  # Breusch-Pagan test</a:t>
            </a:r>
            <a:endParaRPr lang="en-US" sz="900" dirty="0"/>
          </a:p>
          <a:p>
            <a:pPr marL="0" indent="0">
              <a:buNone/>
            </a:pPr>
            <a:endParaRPr lang="en-US" sz="900" dirty="0">
              <a:solidFill>
                <a:srgbClr val="7DD3FC"/>
              </a:solidFill>
              <a:latin typeface="Consolas" pitchFamily="34" charset="0"/>
              <a:ea typeface="Consolas" pitchFamily="34" charset="-122"/>
              <a:cs typeface="Consolas" pitchFamily="34" charset="-120"/>
            </a:endParaRPr>
          </a:p>
          <a:p>
            <a:pPr marL="0" indent="0">
              <a:buNone/>
            </a:pPr>
            <a:r>
              <a:rPr lang="en-US" sz="900" dirty="0">
                <a:solidFill>
                  <a:srgbClr val="7DD3FC"/>
                </a:solidFill>
                <a:latin typeface="Consolas" pitchFamily="34" charset="0"/>
                <a:ea typeface="Consolas" pitchFamily="34" charset="-122"/>
                <a:cs typeface="Consolas" pitchFamily="34" charset="-120"/>
              </a:rPr>
              <a:t># ── Normality of Residuals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shapiro.test(residuals(model))</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 Multicollinearity (if multiple X)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library(car)</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vif(model)       # VIF &lt; 10 = acceptable</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tolerance &lt;- 1/vif(model)  # &gt; 0.1</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 Influential Cases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cooksD &lt;- cooks.distance(model)</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plot(cooksD, type="h")</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abline(h = 1, col="red", lty=2)</a:t>
            </a:r>
          </a:p>
          <a:p>
            <a:pPr marL="0" indent="0">
              <a:buNone/>
            </a:pPr>
            <a:endParaRPr lang="en-US" sz="900" dirty="0">
              <a:solidFill>
                <a:srgbClr val="7DD3FC"/>
              </a:solidFill>
              <a:latin typeface="Consolas" pitchFamily="34" charset="0"/>
              <a:cs typeface="Consolas" pitchFamily="34" charset="-120"/>
            </a:endParaRPr>
          </a:p>
        </p:txBody>
      </p:sp>
      <p:sp>
        <p:nvSpPr>
          <p:cNvPr id="7" name="Text 5"/>
          <p:cNvSpPr/>
          <p:nvPr/>
        </p:nvSpPr>
        <p:spPr>
          <a:xfrm>
            <a:off x="644652" y="685800"/>
            <a:ext cx="420624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to Look For:</a:t>
            </a:r>
            <a:endParaRPr lang="en-US" sz="1300" dirty="0"/>
          </a:p>
        </p:txBody>
      </p:sp>
      <p:sp>
        <p:nvSpPr>
          <p:cNvPr id="8" name="Shape 6"/>
          <p:cNvSpPr/>
          <p:nvPr/>
        </p:nvSpPr>
        <p:spPr>
          <a:xfrm>
            <a:off x="4617720" y="1325880"/>
            <a:ext cx="4251960" cy="621792"/>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617720" y="1325880"/>
            <a:ext cx="64008" cy="621792"/>
          </a:xfrm>
          <a:prstGeom prst="rect">
            <a:avLst/>
          </a:prstGeom>
          <a:solidFill>
            <a:srgbClr val="2563EB"/>
          </a:solidFill>
          <a:ln w="12700">
            <a:solidFill>
              <a:srgbClr val="2563EB"/>
            </a:solidFill>
            <a:prstDash val="solid"/>
          </a:ln>
        </p:spPr>
        <p:txBody>
          <a:bodyPr/>
          <a:lstStyle/>
          <a:p>
            <a:endParaRPr lang="en-US"/>
          </a:p>
        </p:txBody>
      </p:sp>
      <p:sp>
        <p:nvSpPr>
          <p:cNvPr id="10" name="Text 8"/>
          <p:cNvSpPr/>
          <p:nvPr/>
        </p:nvSpPr>
        <p:spPr>
          <a:xfrm>
            <a:off x="4800600" y="1353312"/>
            <a:ext cx="3931920" cy="228600"/>
          </a:xfrm>
          <a:prstGeom prst="rect">
            <a:avLst/>
          </a:prstGeom>
          <a:noFill/>
          <a:ln/>
        </p:spPr>
        <p:txBody>
          <a:bodyPr wrap="square" lIns="0" tIns="0" rIns="0" bIns="0"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Residuals vs Fitted</a:t>
            </a:r>
            <a:endParaRPr lang="en-US" sz="1100" dirty="0"/>
          </a:p>
        </p:txBody>
      </p:sp>
      <p:sp>
        <p:nvSpPr>
          <p:cNvPr id="11" name="Text 9"/>
          <p:cNvSpPr/>
          <p:nvPr/>
        </p:nvSpPr>
        <p:spPr>
          <a:xfrm>
            <a:off x="4800600" y="1581912"/>
            <a:ext cx="393192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Random scatter around zero → linearity &amp; homoscedasticity OK (Assumption 3)</a:t>
            </a:r>
            <a:endParaRPr lang="en-US" sz="1000" dirty="0"/>
          </a:p>
        </p:txBody>
      </p:sp>
      <p:sp>
        <p:nvSpPr>
          <p:cNvPr id="12" name="Shape 10"/>
          <p:cNvSpPr/>
          <p:nvPr/>
        </p:nvSpPr>
        <p:spPr>
          <a:xfrm>
            <a:off x="4617720" y="2039112"/>
            <a:ext cx="4251960" cy="621792"/>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4617720" y="2039112"/>
            <a:ext cx="64008" cy="621792"/>
          </a:xfrm>
          <a:prstGeom prst="rect">
            <a:avLst/>
          </a:prstGeom>
          <a:solidFill>
            <a:srgbClr val="16A34A"/>
          </a:solidFill>
          <a:ln w="12700">
            <a:solidFill>
              <a:srgbClr val="16A34A"/>
            </a:solidFill>
            <a:prstDash val="solid"/>
          </a:ln>
        </p:spPr>
        <p:txBody>
          <a:bodyPr/>
          <a:lstStyle/>
          <a:p>
            <a:endParaRPr lang="en-US"/>
          </a:p>
        </p:txBody>
      </p:sp>
      <p:sp>
        <p:nvSpPr>
          <p:cNvPr id="16" name="Shape 14"/>
          <p:cNvSpPr/>
          <p:nvPr/>
        </p:nvSpPr>
        <p:spPr>
          <a:xfrm>
            <a:off x="4617720" y="2752344"/>
            <a:ext cx="4251960" cy="621792"/>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4617720" y="2752344"/>
            <a:ext cx="64008" cy="621792"/>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4752991" y="2061972"/>
            <a:ext cx="3931920" cy="22860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Scale-Location</a:t>
            </a:r>
            <a:endParaRPr lang="en-US" sz="1100" dirty="0"/>
          </a:p>
        </p:txBody>
      </p:sp>
      <p:sp>
        <p:nvSpPr>
          <p:cNvPr id="19" name="Text 17"/>
          <p:cNvSpPr/>
          <p:nvPr/>
        </p:nvSpPr>
        <p:spPr>
          <a:xfrm>
            <a:off x="4752991" y="2290572"/>
            <a:ext cx="393192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Horizontal band → constant variance (homoscedasticity)</a:t>
            </a:r>
          </a:p>
          <a:p>
            <a:pPr marL="0" indent="0">
              <a:buNone/>
            </a:pPr>
            <a:r>
              <a:rPr lang="en-US" sz="1000" dirty="0">
                <a:solidFill>
                  <a:srgbClr val="475569"/>
                </a:solidFill>
                <a:latin typeface="Calibri" pitchFamily="34" charset="0"/>
                <a:cs typeface="Calibri" pitchFamily="34" charset="-120"/>
              </a:rPr>
              <a:t>(Assumption 3) p value should be not significant</a:t>
            </a:r>
            <a:endParaRPr lang="en-US" sz="1000" dirty="0"/>
          </a:p>
        </p:txBody>
      </p:sp>
      <p:sp>
        <p:nvSpPr>
          <p:cNvPr id="20" name="Shape 18"/>
          <p:cNvSpPr/>
          <p:nvPr/>
        </p:nvSpPr>
        <p:spPr>
          <a:xfrm>
            <a:off x="4640580" y="3465576"/>
            <a:ext cx="4251960" cy="621792"/>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4617720" y="3465576"/>
            <a:ext cx="64008" cy="621792"/>
          </a:xfrm>
          <a:prstGeom prst="rect">
            <a:avLst/>
          </a:prstGeom>
          <a:solidFill>
            <a:srgbClr val="DC2626"/>
          </a:solidFill>
          <a:ln w="12700">
            <a:solidFill>
              <a:srgbClr val="DC2626"/>
            </a:solidFill>
            <a:prstDash val="solid"/>
          </a:ln>
        </p:spPr>
        <p:txBody>
          <a:bodyPr/>
          <a:lstStyle/>
          <a:p>
            <a:endParaRPr lang="en-US"/>
          </a:p>
        </p:txBody>
      </p:sp>
      <p:sp>
        <p:nvSpPr>
          <p:cNvPr id="24" name="Shape 22"/>
          <p:cNvSpPr/>
          <p:nvPr/>
        </p:nvSpPr>
        <p:spPr>
          <a:xfrm>
            <a:off x="4617720" y="4178808"/>
            <a:ext cx="4251960" cy="621792"/>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5" name="Shape 23"/>
          <p:cNvSpPr/>
          <p:nvPr/>
        </p:nvSpPr>
        <p:spPr>
          <a:xfrm>
            <a:off x="4617720" y="4178808"/>
            <a:ext cx="64008" cy="621792"/>
          </a:xfrm>
          <a:prstGeom prst="rect">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4800600" y="3497580"/>
            <a:ext cx="393192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VIF / Tolerance</a:t>
            </a:r>
            <a:endParaRPr lang="en-US" sz="1100" dirty="0"/>
          </a:p>
        </p:txBody>
      </p:sp>
      <p:sp>
        <p:nvSpPr>
          <p:cNvPr id="27" name="Text 25"/>
          <p:cNvSpPr/>
          <p:nvPr/>
        </p:nvSpPr>
        <p:spPr>
          <a:xfrm>
            <a:off x="4777740" y="3739896"/>
            <a:ext cx="393192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VIF &lt; 10 and Tolerance &gt; 0.1 → no multicollinearity (Assumption 5)</a:t>
            </a:r>
            <a:endParaRPr lang="en-US" sz="1000" dirty="0"/>
          </a:p>
        </p:txBody>
      </p:sp>
      <p:sp>
        <p:nvSpPr>
          <p:cNvPr id="28" name="Text 26"/>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236–255  |  car package by Fox &amp; Weisberg (2019)</a:t>
            </a:r>
            <a:endParaRPr lang="en-US" sz="900" dirty="0"/>
          </a:p>
        </p:txBody>
      </p:sp>
      <p:sp>
        <p:nvSpPr>
          <p:cNvPr id="22" name="Text 20"/>
          <p:cNvSpPr/>
          <p:nvPr/>
        </p:nvSpPr>
        <p:spPr>
          <a:xfrm>
            <a:off x="4754880" y="4202084"/>
            <a:ext cx="3931920" cy="22860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Cook's Distance</a:t>
            </a:r>
            <a:endParaRPr lang="en-US" sz="1100" dirty="0"/>
          </a:p>
        </p:txBody>
      </p:sp>
      <p:sp>
        <p:nvSpPr>
          <p:cNvPr id="23" name="Text 21"/>
          <p:cNvSpPr/>
          <p:nvPr/>
        </p:nvSpPr>
        <p:spPr>
          <a:xfrm>
            <a:off x="4752991" y="4390406"/>
            <a:ext cx="393192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No points above 1 → no unduly influential cases (Assumption 6)</a:t>
            </a:r>
            <a:endParaRPr lang="en-US" sz="1000" dirty="0"/>
          </a:p>
        </p:txBody>
      </p:sp>
      <p:sp>
        <p:nvSpPr>
          <p:cNvPr id="29" name="Shape 6">
            <a:extLst>
              <a:ext uri="{FF2B5EF4-FFF2-40B4-BE49-F238E27FC236}">
                <a16:creationId xmlns:a16="http://schemas.microsoft.com/office/drawing/2014/main" id="{68FB490D-8F11-9FDB-40D0-A1442959B6F1}"/>
              </a:ext>
            </a:extLst>
          </p:cNvPr>
          <p:cNvSpPr/>
          <p:nvPr/>
        </p:nvSpPr>
        <p:spPr>
          <a:xfrm>
            <a:off x="4617720" y="777240"/>
            <a:ext cx="4251960" cy="507492"/>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30" name="Shape 7">
            <a:extLst>
              <a:ext uri="{FF2B5EF4-FFF2-40B4-BE49-F238E27FC236}">
                <a16:creationId xmlns:a16="http://schemas.microsoft.com/office/drawing/2014/main" id="{2B8AB58B-D2AB-2ED6-74D2-D6F1C0383E29}"/>
              </a:ext>
            </a:extLst>
          </p:cNvPr>
          <p:cNvSpPr/>
          <p:nvPr/>
        </p:nvSpPr>
        <p:spPr>
          <a:xfrm>
            <a:off x="4649724" y="775597"/>
            <a:ext cx="50292" cy="501634"/>
          </a:xfrm>
          <a:prstGeom prst="rect">
            <a:avLst/>
          </a:prstGeom>
          <a:solidFill>
            <a:srgbClr val="2563EB"/>
          </a:solidFill>
          <a:ln w="12700">
            <a:solidFill>
              <a:srgbClr val="2563EB"/>
            </a:solidFill>
            <a:prstDash val="solid"/>
          </a:ln>
        </p:spPr>
        <p:txBody>
          <a:bodyPr/>
          <a:lstStyle/>
          <a:p>
            <a:endParaRPr lang="en-US"/>
          </a:p>
        </p:txBody>
      </p:sp>
      <p:sp>
        <p:nvSpPr>
          <p:cNvPr id="31" name="Text 8">
            <a:extLst>
              <a:ext uri="{FF2B5EF4-FFF2-40B4-BE49-F238E27FC236}">
                <a16:creationId xmlns:a16="http://schemas.microsoft.com/office/drawing/2014/main" id="{B994409D-3BA6-D097-583A-D8385C74EB74}"/>
              </a:ext>
            </a:extLst>
          </p:cNvPr>
          <p:cNvSpPr/>
          <p:nvPr/>
        </p:nvSpPr>
        <p:spPr>
          <a:xfrm>
            <a:off x="4741164" y="736092"/>
            <a:ext cx="3931920" cy="228600"/>
          </a:xfrm>
          <a:prstGeom prst="rect">
            <a:avLst/>
          </a:prstGeom>
          <a:noFill/>
          <a:ln/>
        </p:spPr>
        <p:txBody>
          <a:bodyPr wrap="square" lIns="0" tIns="0" rIns="0" bIns="0"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Independence</a:t>
            </a:r>
            <a:endParaRPr lang="en-US" sz="1100" dirty="0"/>
          </a:p>
        </p:txBody>
      </p:sp>
      <p:sp>
        <p:nvSpPr>
          <p:cNvPr id="32" name="Text 9">
            <a:extLst>
              <a:ext uri="{FF2B5EF4-FFF2-40B4-BE49-F238E27FC236}">
                <a16:creationId xmlns:a16="http://schemas.microsoft.com/office/drawing/2014/main" id="{C97EE7A3-BBC4-7F39-B968-462A3CF6EA06}"/>
              </a:ext>
            </a:extLst>
          </p:cNvPr>
          <p:cNvSpPr/>
          <p:nvPr/>
        </p:nvSpPr>
        <p:spPr>
          <a:xfrm>
            <a:off x="4782312" y="927473"/>
            <a:ext cx="393192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Dubin Watson test – p value not significant and value ~ 2 (Assumption 2)</a:t>
            </a:r>
            <a:endParaRPr lang="en-US" sz="1000" dirty="0"/>
          </a:p>
        </p:txBody>
      </p:sp>
      <p:sp>
        <p:nvSpPr>
          <p:cNvPr id="14" name="Text 12"/>
          <p:cNvSpPr/>
          <p:nvPr/>
        </p:nvSpPr>
        <p:spPr>
          <a:xfrm>
            <a:off x="4741164" y="2753308"/>
            <a:ext cx="3931920" cy="228600"/>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Normal Q-Q Plot</a:t>
            </a:r>
            <a:endParaRPr lang="en-US" sz="1100" dirty="0"/>
          </a:p>
        </p:txBody>
      </p:sp>
      <p:sp>
        <p:nvSpPr>
          <p:cNvPr id="15" name="Text 13"/>
          <p:cNvSpPr/>
          <p:nvPr/>
        </p:nvSpPr>
        <p:spPr>
          <a:xfrm>
            <a:off x="4718304" y="3027628"/>
            <a:ext cx="3931920" cy="32004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Points on diagonal line → residuals are normally distributed</a:t>
            </a:r>
          </a:p>
          <a:p>
            <a:pPr marL="0" indent="0">
              <a:buNone/>
            </a:pPr>
            <a:r>
              <a:rPr lang="en-US" sz="1000" dirty="0">
                <a:solidFill>
                  <a:srgbClr val="475569"/>
                </a:solidFill>
                <a:latin typeface="Calibri" pitchFamily="34" charset="0"/>
                <a:ea typeface="Calibri" pitchFamily="34" charset="-122"/>
                <a:cs typeface="Calibri" pitchFamily="34" charset="-120"/>
              </a:rPr>
              <a:t> (Assumption 4)</a:t>
            </a:r>
          </a:p>
          <a:p>
            <a:pPr marL="0" indent="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07878-4967-1555-E908-5621252F12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2B9E74-8B9F-4209-77FB-909E55288279}"/>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001FFACB-1EEB-8038-28AE-4849A1059ADC}"/>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VIOLATION 1 LINEARITY </a:t>
            </a:r>
            <a:endParaRPr lang="en-US" sz="2200" dirty="0"/>
          </a:p>
        </p:txBody>
      </p:sp>
      <p:sp>
        <p:nvSpPr>
          <p:cNvPr id="4" name="Shape 2">
            <a:extLst>
              <a:ext uri="{FF2B5EF4-FFF2-40B4-BE49-F238E27FC236}">
                <a16:creationId xmlns:a16="http://schemas.microsoft.com/office/drawing/2014/main" id="{99783F0A-8168-6BF0-884D-71BDF498A53C}"/>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4C51BEBD-B3FB-5C8A-943D-0541E990D9CE}"/>
              </a:ext>
            </a:extLst>
          </p:cNvPr>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C535C251-1E42-1565-6105-20B8753AD3B4}"/>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F8B72E48-B1BF-726D-AAEC-76876D3615D9}"/>
              </a:ext>
            </a:extLst>
          </p:cNvPr>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cs typeface="Calibri" pitchFamily="34" charset="-120"/>
              </a:rPr>
              <a:t>SITUATION</a:t>
            </a:r>
            <a:endParaRPr lang="en-US" sz="1300" dirty="0"/>
          </a:p>
        </p:txBody>
      </p:sp>
      <p:sp>
        <p:nvSpPr>
          <p:cNvPr id="8" name="Text 6">
            <a:extLst>
              <a:ext uri="{FF2B5EF4-FFF2-40B4-BE49-F238E27FC236}">
                <a16:creationId xmlns:a16="http://schemas.microsoft.com/office/drawing/2014/main" id="{DFCA7D9E-A7FC-7FC8-AEBA-2E4EDBF92EA8}"/>
              </a:ext>
            </a:extLst>
          </p:cNvPr>
          <p:cNvSpPr/>
          <p:nvPr/>
        </p:nvSpPr>
        <p:spPr>
          <a:xfrm>
            <a:off x="457200" y="1325880"/>
            <a:ext cx="8229600" cy="150876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cs typeface="Calibri" pitchFamily="34" charset="-120"/>
              </a:rPr>
              <a:t>Look visually at scatter plot and residual plot </a:t>
            </a:r>
          </a:p>
          <a:p>
            <a:pPr marL="0" indent="0">
              <a:buNone/>
            </a:pPr>
            <a:r>
              <a:rPr lang="en-US" sz="1200" i="1" dirty="0">
                <a:solidFill>
                  <a:srgbClr val="475569"/>
                </a:solidFill>
                <a:latin typeface="Calibri" pitchFamily="34" charset="0"/>
                <a:cs typeface="Calibri" pitchFamily="34" charset="-120"/>
              </a:rPr>
              <a:t>Scatter plot – DV vs IV</a:t>
            </a:r>
          </a:p>
          <a:p>
            <a:pPr marL="0" indent="0">
              <a:buNone/>
            </a:pPr>
            <a:r>
              <a:rPr lang="en-US" sz="1200" i="1" dirty="0">
                <a:solidFill>
                  <a:srgbClr val="475569"/>
                </a:solidFill>
                <a:latin typeface="Calibri" pitchFamily="34" charset="0"/>
                <a:cs typeface="Calibri" pitchFamily="34" charset="-120"/>
              </a:rPr>
              <a:t>Residual plot – residual vs fitted values</a:t>
            </a:r>
          </a:p>
          <a:p>
            <a:pPr marL="0" indent="0">
              <a:buNone/>
            </a:pPr>
            <a:endParaRPr lang="en-US" sz="1200" i="1" dirty="0">
              <a:solidFill>
                <a:srgbClr val="475569"/>
              </a:solidFill>
              <a:latin typeface="Calibri" pitchFamily="34" charset="0"/>
              <a:cs typeface="Calibri" pitchFamily="34" charset="-120"/>
            </a:endParaRPr>
          </a:p>
          <a:p>
            <a:pPr marL="0" indent="0">
              <a:buNone/>
            </a:pPr>
            <a:r>
              <a:rPr lang="en-US" sz="1200" i="1" dirty="0">
                <a:solidFill>
                  <a:srgbClr val="475569"/>
                </a:solidFill>
                <a:latin typeface="Calibri" pitchFamily="34" charset="0"/>
                <a:cs typeface="Calibri" pitchFamily="34" charset="-120"/>
              </a:rPr>
              <a:t>Either transform </a:t>
            </a:r>
          </a:p>
          <a:p>
            <a:pPr marL="0" indent="0">
              <a:buNone/>
            </a:pPr>
            <a:endParaRPr lang="en-US" sz="1200" i="1" dirty="0">
              <a:solidFill>
                <a:srgbClr val="475569"/>
              </a:solidFill>
              <a:latin typeface="Calibri" pitchFamily="34" charset="0"/>
              <a:cs typeface="Calibri" pitchFamily="34" charset="-120"/>
            </a:endParaRPr>
          </a:p>
          <a:p>
            <a:pPr marL="0" indent="0">
              <a:buNone/>
            </a:pPr>
            <a:r>
              <a:rPr lang="en-US" sz="1200" i="1" dirty="0">
                <a:solidFill>
                  <a:srgbClr val="475569"/>
                </a:solidFill>
                <a:latin typeface="Calibri" pitchFamily="34" charset="0"/>
                <a:cs typeface="Calibri" pitchFamily="34" charset="-120"/>
              </a:rPr>
              <a:t>Or use non-linear regression</a:t>
            </a:r>
          </a:p>
        </p:txBody>
      </p:sp>
      <p:sp>
        <p:nvSpPr>
          <p:cNvPr id="9" name="Text 7">
            <a:extLst>
              <a:ext uri="{FF2B5EF4-FFF2-40B4-BE49-F238E27FC236}">
                <a16:creationId xmlns:a16="http://schemas.microsoft.com/office/drawing/2014/main" id="{F28258C3-83A6-6872-D946-F98CE1401537}"/>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B32926A0-D02A-988F-EADB-71B17EA3BB5C}"/>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5EA6942F-B27A-2C9B-E2F0-E9F6E4ED8396}"/>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C40011EF-EC64-9048-27F7-799339B595CA}"/>
              </a:ext>
            </a:extLst>
          </p:cNvPr>
          <p:cNvSpPr/>
          <p:nvPr/>
        </p:nvSpPr>
        <p:spPr>
          <a:xfrm>
            <a:off x="640080" y="356616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Use polynomial regression</a:t>
            </a:r>
            <a:endParaRPr lang="en-US" sz="1100" dirty="0"/>
          </a:p>
        </p:txBody>
      </p:sp>
      <p:sp>
        <p:nvSpPr>
          <p:cNvPr id="13" name="Shape 11">
            <a:extLst>
              <a:ext uri="{FF2B5EF4-FFF2-40B4-BE49-F238E27FC236}">
                <a16:creationId xmlns:a16="http://schemas.microsoft.com/office/drawing/2014/main" id="{232C730C-F471-17A7-4B7C-3392D5671BD5}"/>
              </a:ext>
            </a:extLst>
          </p:cNvPr>
          <p:cNvSpPr/>
          <p:nvPr/>
        </p:nvSpPr>
        <p:spPr>
          <a:xfrm>
            <a:off x="228600" y="4069080"/>
            <a:ext cx="320040" cy="320040"/>
          </a:xfrm>
          <a:prstGeom prst="ellipse">
            <a:avLst/>
          </a:prstGeom>
          <a:solidFill>
            <a:srgbClr val="2563EB"/>
          </a:solidFill>
          <a:ln w="12700">
            <a:solidFill>
              <a:srgbClr val="2563EB"/>
            </a:solidFill>
            <a:prstDash val="solid"/>
          </a:ln>
        </p:spPr>
        <p:txBody>
          <a:bodyPr/>
          <a:lstStyle/>
          <a:p>
            <a:endParaRPr lang="en-US"/>
          </a:p>
        </p:txBody>
      </p:sp>
      <p:sp>
        <p:nvSpPr>
          <p:cNvPr id="14" name="Text 12">
            <a:extLst>
              <a:ext uri="{FF2B5EF4-FFF2-40B4-BE49-F238E27FC236}">
                <a16:creationId xmlns:a16="http://schemas.microsoft.com/office/drawing/2014/main" id="{53CC94F7-D474-1D13-20C7-67AEB1A5233F}"/>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a:extLst>
              <a:ext uri="{FF2B5EF4-FFF2-40B4-BE49-F238E27FC236}">
                <a16:creationId xmlns:a16="http://schemas.microsoft.com/office/drawing/2014/main" id="{F4C62379-1F07-63B2-0A5C-41ED5AD578F0}"/>
              </a:ext>
            </a:extLst>
          </p:cNvPr>
          <p:cNvSpPr/>
          <p:nvPr/>
        </p:nvSpPr>
        <p:spPr>
          <a:xfrm>
            <a:off x="640080" y="406908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Use spline regression </a:t>
            </a:r>
            <a:endParaRPr lang="en-US" sz="1100" dirty="0"/>
          </a:p>
        </p:txBody>
      </p:sp>
      <p:sp>
        <p:nvSpPr>
          <p:cNvPr id="16" name="Shape 14">
            <a:extLst>
              <a:ext uri="{FF2B5EF4-FFF2-40B4-BE49-F238E27FC236}">
                <a16:creationId xmlns:a16="http://schemas.microsoft.com/office/drawing/2014/main" id="{05B91668-637C-78AE-BACD-33189C573693}"/>
              </a:ext>
            </a:extLst>
          </p:cNvPr>
          <p:cNvSpPr/>
          <p:nvPr/>
        </p:nvSpPr>
        <p:spPr>
          <a:xfrm>
            <a:off x="228600" y="4572000"/>
            <a:ext cx="320040" cy="320040"/>
          </a:xfrm>
          <a:prstGeom prst="ellipse">
            <a:avLst/>
          </a:prstGeom>
          <a:solidFill>
            <a:srgbClr val="0D9488"/>
          </a:solidFill>
          <a:ln w="12700">
            <a:solidFill>
              <a:srgbClr val="0D9488"/>
            </a:solidFill>
            <a:prstDash val="solid"/>
          </a:ln>
        </p:spPr>
        <p:txBody>
          <a:bodyPr/>
          <a:lstStyle/>
          <a:p>
            <a:endParaRPr lang="en-US"/>
          </a:p>
        </p:txBody>
      </p:sp>
      <p:sp>
        <p:nvSpPr>
          <p:cNvPr id="17" name="Text 15">
            <a:extLst>
              <a:ext uri="{FF2B5EF4-FFF2-40B4-BE49-F238E27FC236}">
                <a16:creationId xmlns:a16="http://schemas.microsoft.com/office/drawing/2014/main" id="{040BF4F8-5594-A576-B43F-3B9A11729B05}"/>
              </a:ext>
            </a:extLst>
          </p:cNvPr>
          <p:cNvSpPr/>
          <p:nvPr/>
        </p:nvSpPr>
        <p:spPr>
          <a:xfrm>
            <a:off x="22860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a:extLst>
              <a:ext uri="{FF2B5EF4-FFF2-40B4-BE49-F238E27FC236}">
                <a16:creationId xmlns:a16="http://schemas.microsoft.com/office/drawing/2014/main" id="{3D41AA3C-EB37-B2BD-9656-852B562E1316}"/>
              </a:ext>
            </a:extLst>
          </p:cNvPr>
          <p:cNvSpPr/>
          <p:nvPr/>
        </p:nvSpPr>
        <p:spPr>
          <a:xfrm>
            <a:off x="640080" y="457200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Use transformation (</a:t>
            </a:r>
            <a:r>
              <a:rPr lang="en-US" sz="1100" dirty="0" err="1">
                <a:solidFill>
                  <a:srgbClr val="475569"/>
                </a:solidFill>
                <a:latin typeface="Calibri" pitchFamily="34" charset="0"/>
                <a:ea typeface="Calibri" pitchFamily="34" charset="-122"/>
                <a:cs typeface="Calibri" pitchFamily="34" charset="-120"/>
              </a:rPr>
              <a:t>i.e</a:t>
            </a:r>
            <a:r>
              <a:rPr lang="en-US" sz="1100" dirty="0">
                <a:solidFill>
                  <a:srgbClr val="475569"/>
                </a:solidFill>
                <a:latin typeface="Calibri" pitchFamily="34" charset="0"/>
                <a:ea typeface="Calibri" pitchFamily="34" charset="-122"/>
                <a:cs typeface="Calibri" pitchFamily="34" charset="-120"/>
              </a:rPr>
              <a:t> log / square root)</a:t>
            </a:r>
            <a:endParaRPr lang="en-US" sz="1100" dirty="0"/>
          </a:p>
        </p:txBody>
      </p:sp>
      <p:sp>
        <p:nvSpPr>
          <p:cNvPr id="20" name="Text 18">
            <a:extLst>
              <a:ext uri="{FF2B5EF4-FFF2-40B4-BE49-F238E27FC236}">
                <a16:creationId xmlns:a16="http://schemas.microsoft.com/office/drawing/2014/main" id="{CC5A1212-68E3-2C39-5775-1630BB57C16A}"/>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a:extLst>
              <a:ext uri="{FF2B5EF4-FFF2-40B4-BE49-F238E27FC236}">
                <a16:creationId xmlns:a16="http://schemas.microsoft.com/office/drawing/2014/main" id="{9180828F-7AD4-030A-714E-93D0869D387D}"/>
              </a:ext>
            </a:extLst>
          </p:cNvPr>
          <p:cNvSpPr/>
          <p:nvPr/>
        </p:nvSpPr>
        <p:spPr>
          <a:xfrm>
            <a:off x="3393077" y="3355748"/>
            <a:ext cx="4069080" cy="365760"/>
          </a:xfrm>
          <a:prstGeom prst="rect">
            <a:avLst/>
          </a:prstGeom>
          <a:noFill/>
          <a:ln/>
        </p:spPr>
        <p:txBody>
          <a:bodyPr wrap="square" lIns="0" tIns="0" rIns="0" bIns="0" rtlCol="0" anchor="ctr"/>
          <a:lstStyle/>
          <a:p>
            <a:pPr latinLnBrk="1"/>
            <a:r>
              <a:rPr lang="en-MY" dirty="0" err="1"/>
              <a:t>poly_model</a:t>
            </a:r>
            <a:r>
              <a:rPr lang="en-MY" dirty="0"/>
              <a:t> &lt;- </a:t>
            </a:r>
            <a:r>
              <a:rPr lang="en-MY" dirty="0" err="1"/>
              <a:t>lm</a:t>
            </a:r>
            <a:r>
              <a:rPr lang="en-MY" dirty="0"/>
              <a:t>(y ~ poly(x, 2))</a:t>
            </a:r>
          </a:p>
          <a:p>
            <a:pPr latinLnBrk="1"/>
            <a:r>
              <a:rPr lang="en-MY" dirty="0"/>
              <a:t>plot(x, fitted(</a:t>
            </a:r>
            <a:r>
              <a:rPr lang="en-MY" dirty="0" err="1"/>
              <a:t>poly_model</a:t>
            </a:r>
            <a:r>
              <a:rPr lang="en-MY" dirty="0"/>
              <a:t>))</a:t>
            </a:r>
          </a:p>
        </p:txBody>
      </p:sp>
      <p:sp>
        <p:nvSpPr>
          <p:cNvPr id="23" name="Text 21">
            <a:extLst>
              <a:ext uri="{FF2B5EF4-FFF2-40B4-BE49-F238E27FC236}">
                <a16:creationId xmlns:a16="http://schemas.microsoft.com/office/drawing/2014/main" id="{559E3CBF-5060-BB24-FDF1-858BF872513D}"/>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a:extLst>
              <a:ext uri="{FF2B5EF4-FFF2-40B4-BE49-F238E27FC236}">
                <a16:creationId xmlns:a16="http://schemas.microsoft.com/office/drawing/2014/main" id="{28A31F8C-F690-09E5-C849-2D04969EFE63}"/>
              </a:ext>
            </a:extLst>
          </p:cNvPr>
          <p:cNvSpPr/>
          <p:nvPr/>
        </p:nvSpPr>
        <p:spPr>
          <a:xfrm>
            <a:off x="3393077" y="3938753"/>
            <a:ext cx="4069080" cy="365760"/>
          </a:xfrm>
          <a:prstGeom prst="rect">
            <a:avLst/>
          </a:prstGeom>
          <a:noFill/>
          <a:ln/>
        </p:spPr>
        <p:txBody>
          <a:bodyPr wrap="square" lIns="0" tIns="0" rIns="0" bIns="0" rtlCol="0" anchor="ctr"/>
          <a:lstStyle/>
          <a:p>
            <a:pPr latinLnBrk="1"/>
            <a:r>
              <a:rPr lang="en-MY" dirty="0" err="1"/>
              <a:t>spline_model</a:t>
            </a:r>
            <a:r>
              <a:rPr lang="en-MY" dirty="0"/>
              <a:t> &lt;- </a:t>
            </a:r>
            <a:r>
              <a:rPr lang="en-MY" dirty="0" err="1"/>
              <a:t>lm</a:t>
            </a:r>
            <a:r>
              <a:rPr lang="en-MY" dirty="0"/>
              <a:t>(y ~ ns(x, </a:t>
            </a:r>
            <a:r>
              <a:rPr lang="en-MY" dirty="0" err="1"/>
              <a:t>df</a:t>
            </a:r>
            <a:r>
              <a:rPr lang="en-MY" dirty="0"/>
              <a:t>=5))</a:t>
            </a:r>
          </a:p>
          <a:p>
            <a:pPr latinLnBrk="1"/>
            <a:r>
              <a:rPr lang="en-MY" dirty="0"/>
              <a:t>plot(x, fitted(</a:t>
            </a:r>
            <a:r>
              <a:rPr lang="en-MY" dirty="0" err="1"/>
              <a:t>spline_model</a:t>
            </a:r>
            <a:r>
              <a:rPr lang="en-MY" dirty="0"/>
              <a:t>))</a:t>
            </a:r>
          </a:p>
        </p:txBody>
      </p:sp>
      <p:sp>
        <p:nvSpPr>
          <p:cNvPr id="26" name="Text 24">
            <a:extLst>
              <a:ext uri="{FF2B5EF4-FFF2-40B4-BE49-F238E27FC236}">
                <a16:creationId xmlns:a16="http://schemas.microsoft.com/office/drawing/2014/main" id="{E1C3EB60-B14E-93E8-DB11-278CD8599BE6}"/>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a:extLst>
              <a:ext uri="{FF2B5EF4-FFF2-40B4-BE49-F238E27FC236}">
                <a16:creationId xmlns:a16="http://schemas.microsoft.com/office/drawing/2014/main" id="{8C25A8B5-DA09-8575-495D-25865EFA906B}"/>
              </a:ext>
            </a:extLst>
          </p:cNvPr>
          <p:cNvSpPr/>
          <p:nvPr/>
        </p:nvSpPr>
        <p:spPr>
          <a:xfrm>
            <a:off x="3432517" y="4679015"/>
            <a:ext cx="4069080" cy="365760"/>
          </a:xfrm>
          <a:prstGeom prst="rect">
            <a:avLst/>
          </a:prstGeom>
          <a:noFill/>
          <a:ln/>
        </p:spPr>
        <p:txBody>
          <a:bodyPr wrap="square" lIns="0" tIns="0" rIns="0" bIns="0" rtlCol="0" anchor="ctr"/>
          <a:lstStyle/>
          <a:p>
            <a:pPr latinLnBrk="1"/>
            <a:r>
              <a:rPr lang="en-MY" dirty="0" err="1"/>
              <a:t>y_log</a:t>
            </a:r>
            <a:r>
              <a:rPr lang="en-MY" dirty="0"/>
              <a:t> &lt;- log(y)</a:t>
            </a:r>
          </a:p>
          <a:p>
            <a:pPr latinLnBrk="1"/>
            <a:r>
              <a:rPr lang="en-MY" dirty="0" err="1"/>
              <a:t>y_sqrt</a:t>
            </a:r>
            <a:r>
              <a:rPr lang="en-MY" dirty="0"/>
              <a:t> &lt;- sqrt(y)</a:t>
            </a:r>
          </a:p>
          <a:p>
            <a:endParaRPr lang="en-MY" dirty="0"/>
          </a:p>
        </p:txBody>
      </p:sp>
      <p:sp>
        <p:nvSpPr>
          <p:cNvPr id="28" name="Text 26">
            <a:extLst>
              <a:ext uri="{FF2B5EF4-FFF2-40B4-BE49-F238E27FC236}">
                <a16:creationId xmlns:a16="http://schemas.microsoft.com/office/drawing/2014/main" id="{53F57E75-2E6D-FF8D-488F-AD61C5AA2EB5}"/>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extLst>
      <p:ext uri="{BB962C8B-B14F-4D97-AF65-F5344CB8AC3E}">
        <p14:creationId xmlns:p14="http://schemas.microsoft.com/office/powerpoint/2010/main" val="308325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08FF-38A1-19B9-8DA5-469F255981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07ABCF0-22A1-80B0-B5B3-D1C9CB0429AC}"/>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0B0C4094-1B47-3DCD-0F08-0CD1C404135B}"/>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VIOLATION 2 INDEPENDENCE / AUTOCORRELATION </a:t>
            </a:r>
            <a:endParaRPr lang="en-US" sz="2200" dirty="0"/>
          </a:p>
        </p:txBody>
      </p:sp>
      <p:sp>
        <p:nvSpPr>
          <p:cNvPr id="4" name="Shape 2">
            <a:extLst>
              <a:ext uri="{FF2B5EF4-FFF2-40B4-BE49-F238E27FC236}">
                <a16:creationId xmlns:a16="http://schemas.microsoft.com/office/drawing/2014/main" id="{D3ACD46F-F7D9-F30B-72C1-988F1D186936}"/>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56274E17-4532-3737-6149-B97394FDC8E7}"/>
              </a:ext>
            </a:extLst>
          </p:cNvPr>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3AA87417-20CC-D0C7-C523-937959C1A6B9}"/>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799BEF15-0FDA-68E4-FCA1-21F33C1977AD}"/>
              </a:ext>
            </a:extLst>
          </p:cNvPr>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cs typeface="Calibri" pitchFamily="34" charset="-120"/>
              </a:rPr>
              <a:t>SITUATION</a:t>
            </a:r>
            <a:endParaRPr lang="en-US" sz="1300" dirty="0"/>
          </a:p>
        </p:txBody>
      </p:sp>
      <p:sp>
        <p:nvSpPr>
          <p:cNvPr id="8" name="Text 6">
            <a:extLst>
              <a:ext uri="{FF2B5EF4-FFF2-40B4-BE49-F238E27FC236}">
                <a16:creationId xmlns:a16="http://schemas.microsoft.com/office/drawing/2014/main" id="{C9D4702D-802D-AA48-A7C4-6E99F457B718}"/>
              </a:ext>
            </a:extLst>
          </p:cNvPr>
          <p:cNvSpPr/>
          <p:nvPr/>
        </p:nvSpPr>
        <p:spPr>
          <a:xfrm>
            <a:off x="457200" y="1325880"/>
            <a:ext cx="8229600" cy="150876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cs typeface="Calibri" pitchFamily="34" charset="-120"/>
              </a:rPr>
              <a:t>P Value significant or Dubin Watson value not ~ 2</a:t>
            </a:r>
          </a:p>
          <a:p>
            <a:pPr marL="0" indent="0">
              <a:buNone/>
            </a:pPr>
            <a:endParaRPr lang="en-US" sz="1200" i="1" dirty="0">
              <a:solidFill>
                <a:srgbClr val="475569"/>
              </a:solidFill>
              <a:latin typeface="Calibri" pitchFamily="34" charset="0"/>
              <a:cs typeface="Calibri" pitchFamily="34" charset="-120"/>
            </a:endParaRPr>
          </a:p>
          <a:p>
            <a:pPr marL="0" indent="0">
              <a:buNone/>
            </a:pPr>
            <a:r>
              <a:rPr lang="en-US" sz="1200" dirty="0">
                <a:solidFill>
                  <a:srgbClr val="475569"/>
                </a:solidFill>
                <a:latin typeface="Calibri" pitchFamily="34" charset="0"/>
                <a:cs typeface="Calibri" pitchFamily="34" charset="-120"/>
              </a:rPr>
              <a:t>Suggesting time series</a:t>
            </a:r>
          </a:p>
          <a:p>
            <a:pPr marL="0" indent="0">
              <a:buNone/>
            </a:pPr>
            <a:endParaRPr lang="en-US" sz="1200" i="1" dirty="0">
              <a:solidFill>
                <a:srgbClr val="475569"/>
              </a:solidFill>
              <a:latin typeface="Calibri" pitchFamily="34" charset="0"/>
              <a:cs typeface="Calibri" pitchFamily="34" charset="-120"/>
            </a:endParaRPr>
          </a:p>
          <a:p>
            <a:pPr marL="0" indent="0">
              <a:buNone/>
            </a:pPr>
            <a:r>
              <a:rPr lang="en-US" sz="1200" dirty="0">
                <a:solidFill>
                  <a:srgbClr val="475569"/>
                </a:solidFill>
                <a:latin typeface="Calibri" pitchFamily="34" charset="0"/>
                <a:cs typeface="Calibri" pitchFamily="34" charset="-120"/>
              </a:rPr>
              <a:t>Use time series model – ARIMA</a:t>
            </a:r>
          </a:p>
        </p:txBody>
      </p:sp>
      <p:sp>
        <p:nvSpPr>
          <p:cNvPr id="9" name="Text 7">
            <a:extLst>
              <a:ext uri="{FF2B5EF4-FFF2-40B4-BE49-F238E27FC236}">
                <a16:creationId xmlns:a16="http://schemas.microsoft.com/office/drawing/2014/main" id="{AECE025C-7B74-E59B-A52C-B45597952492}"/>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6B624FA2-1388-6795-B237-9FD12B416F15}"/>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78D96E9B-344B-4011-4783-608807CC5B1A}"/>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20967FCF-62D6-C163-42E2-26416E11CD7F}"/>
              </a:ext>
            </a:extLst>
          </p:cNvPr>
          <p:cNvSpPr/>
          <p:nvPr/>
        </p:nvSpPr>
        <p:spPr>
          <a:xfrm>
            <a:off x="640080" y="356616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Use time series model </a:t>
            </a:r>
            <a:endParaRPr lang="en-US" sz="1100" dirty="0"/>
          </a:p>
        </p:txBody>
      </p:sp>
      <p:sp>
        <p:nvSpPr>
          <p:cNvPr id="14" name="Text 12">
            <a:extLst>
              <a:ext uri="{FF2B5EF4-FFF2-40B4-BE49-F238E27FC236}">
                <a16:creationId xmlns:a16="http://schemas.microsoft.com/office/drawing/2014/main" id="{B94244F5-6A07-4E42-E666-644D65CC0A68}"/>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a:extLst>
              <a:ext uri="{FF2B5EF4-FFF2-40B4-BE49-F238E27FC236}">
                <a16:creationId xmlns:a16="http://schemas.microsoft.com/office/drawing/2014/main" id="{3619FF26-BA26-3513-A683-4C2713843946}"/>
              </a:ext>
            </a:extLst>
          </p:cNvPr>
          <p:cNvSpPr/>
          <p:nvPr/>
        </p:nvSpPr>
        <p:spPr>
          <a:xfrm>
            <a:off x="22860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a:extLst>
              <a:ext uri="{FF2B5EF4-FFF2-40B4-BE49-F238E27FC236}">
                <a16:creationId xmlns:a16="http://schemas.microsoft.com/office/drawing/2014/main" id="{B457ED35-6DAE-7DA1-39AB-D3F26F2DBA34}"/>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a:extLst>
              <a:ext uri="{FF2B5EF4-FFF2-40B4-BE49-F238E27FC236}">
                <a16:creationId xmlns:a16="http://schemas.microsoft.com/office/drawing/2014/main" id="{BFC7812C-9CAE-C7B3-D8DB-05B881938ADA}"/>
              </a:ext>
            </a:extLst>
          </p:cNvPr>
          <p:cNvSpPr/>
          <p:nvPr/>
        </p:nvSpPr>
        <p:spPr>
          <a:xfrm>
            <a:off x="3393077" y="3451860"/>
            <a:ext cx="4069080" cy="365760"/>
          </a:xfrm>
          <a:prstGeom prst="rect">
            <a:avLst/>
          </a:prstGeom>
          <a:noFill/>
          <a:ln/>
        </p:spPr>
        <p:txBody>
          <a:bodyPr wrap="square" lIns="0" tIns="0" rIns="0" bIns="0" rtlCol="0" anchor="ctr"/>
          <a:lstStyle/>
          <a:p>
            <a:pPr latinLnBrk="1"/>
            <a:r>
              <a:rPr lang="en-MY" dirty="0"/>
              <a:t>ARIMA</a:t>
            </a:r>
          </a:p>
        </p:txBody>
      </p:sp>
      <p:sp>
        <p:nvSpPr>
          <p:cNvPr id="23" name="Text 21">
            <a:extLst>
              <a:ext uri="{FF2B5EF4-FFF2-40B4-BE49-F238E27FC236}">
                <a16:creationId xmlns:a16="http://schemas.microsoft.com/office/drawing/2014/main" id="{31F1E27E-4FBE-A28A-2DD5-0B409785CBF6}"/>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a:extLst>
              <a:ext uri="{FF2B5EF4-FFF2-40B4-BE49-F238E27FC236}">
                <a16:creationId xmlns:a16="http://schemas.microsoft.com/office/drawing/2014/main" id="{D7395230-A6A7-2D1C-AE6C-6499B2B17B26}"/>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a:extLst>
              <a:ext uri="{FF2B5EF4-FFF2-40B4-BE49-F238E27FC236}">
                <a16:creationId xmlns:a16="http://schemas.microsoft.com/office/drawing/2014/main" id="{186370FF-A590-1440-5659-6DDA0D5E7246}"/>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extLst>
      <p:ext uri="{BB962C8B-B14F-4D97-AF65-F5344CB8AC3E}">
        <p14:creationId xmlns:p14="http://schemas.microsoft.com/office/powerpoint/2010/main" val="301189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69664-2EE8-7D09-BB1F-7F9C176CF4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F988BE-7B7B-3B15-5EDF-1C2C4BECDE73}"/>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7404E27B-7390-6AEC-AE15-6F118C346546}"/>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VIOLATION 3 Homoscedasticity </a:t>
            </a:r>
            <a:endParaRPr lang="en-US" sz="2200" dirty="0"/>
          </a:p>
        </p:txBody>
      </p:sp>
      <p:sp>
        <p:nvSpPr>
          <p:cNvPr id="4" name="Shape 2">
            <a:extLst>
              <a:ext uri="{FF2B5EF4-FFF2-40B4-BE49-F238E27FC236}">
                <a16:creationId xmlns:a16="http://schemas.microsoft.com/office/drawing/2014/main" id="{AAA364F5-5959-1DE2-DA56-F0EA376C4421}"/>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9CFF26B5-BB85-0EE0-66CC-EA43B6A62ED3}"/>
              </a:ext>
            </a:extLst>
          </p:cNvPr>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E87EDED7-359E-EAA4-1CF9-6AB931E9FD87}"/>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98F9123A-CFCD-69B7-4472-70E40E0CA69C}"/>
              </a:ext>
            </a:extLst>
          </p:cNvPr>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cs typeface="Calibri" pitchFamily="34" charset="-120"/>
              </a:rPr>
              <a:t>SITUATION</a:t>
            </a:r>
            <a:endParaRPr lang="en-US" sz="1300" dirty="0"/>
          </a:p>
        </p:txBody>
      </p:sp>
      <p:sp>
        <p:nvSpPr>
          <p:cNvPr id="8" name="Text 6">
            <a:extLst>
              <a:ext uri="{FF2B5EF4-FFF2-40B4-BE49-F238E27FC236}">
                <a16:creationId xmlns:a16="http://schemas.microsoft.com/office/drawing/2014/main" id="{5D90AC2E-D942-E80A-AEC4-FDB6A17D56B1}"/>
              </a:ext>
            </a:extLst>
          </p:cNvPr>
          <p:cNvSpPr/>
          <p:nvPr/>
        </p:nvSpPr>
        <p:spPr>
          <a:xfrm>
            <a:off x="457200" y="1325880"/>
            <a:ext cx="8229600" cy="1508760"/>
          </a:xfrm>
          <a:prstGeom prst="rect">
            <a:avLst/>
          </a:prstGeom>
          <a:noFill/>
          <a:ln/>
        </p:spPr>
        <p:txBody>
          <a:bodyPr wrap="square" lIns="0" tIns="0" rIns="0" bIns="0" rtlCol="0" anchor="ctr"/>
          <a:lstStyle/>
          <a:p>
            <a:r>
              <a:rPr lang="en-US" sz="1200" dirty="0">
                <a:solidFill>
                  <a:srgbClr val="475569"/>
                </a:solidFill>
                <a:latin typeface="Calibri" pitchFamily="34" charset="0"/>
                <a:ea typeface="Calibri" pitchFamily="34" charset="-122"/>
                <a:cs typeface="Calibri" pitchFamily="34" charset="-120"/>
              </a:rPr>
              <a:t>residuals vs fitted plot — no funnel shape</a:t>
            </a:r>
          </a:p>
          <a:p>
            <a:r>
              <a:rPr lang="en-US" sz="1200" i="1" dirty="0">
                <a:solidFill>
                  <a:srgbClr val="475569"/>
                </a:solidFill>
                <a:latin typeface="Calibri" pitchFamily="34" charset="0"/>
                <a:cs typeface="Calibri" pitchFamily="34" charset="-120"/>
              </a:rPr>
              <a:t>Or Breusch pagan test p value significant </a:t>
            </a:r>
          </a:p>
          <a:p>
            <a:endParaRPr lang="en-US" sz="1200" i="1" dirty="0">
              <a:solidFill>
                <a:srgbClr val="475569"/>
              </a:solidFill>
              <a:latin typeface="Calibri" pitchFamily="34" charset="0"/>
              <a:cs typeface="Calibri" pitchFamily="34" charset="-120"/>
            </a:endParaRPr>
          </a:p>
          <a:p>
            <a:pPr marL="0" indent="0">
              <a:buNone/>
            </a:pPr>
            <a:r>
              <a:rPr lang="en-US" sz="1200" i="1" dirty="0">
                <a:solidFill>
                  <a:srgbClr val="475569"/>
                </a:solidFill>
                <a:latin typeface="Calibri" pitchFamily="34" charset="0"/>
                <a:cs typeface="Calibri" pitchFamily="34" charset="-120"/>
              </a:rPr>
              <a:t>Either use robust standard error  </a:t>
            </a:r>
          </a:p>
          <a:p>
            <a:pPr marL="0" indent="0">
              <a:buNone/>
            </a:pPr>
            <a:endParaRPr lang="en-US" sz="1200" i="1" dirty="0">
              <a:solidFill>
                <a:srgbClr val="475569"/>
              </a:solidFill>
              <a:latin typeface="Calibri" pitchFamily="34" charset="0"/>
              <a:cs typeface="Calibri" pitchFamily="34" charset="-120"/>
            </a:endParaRPr>
          </a:p>
          <a:p>
            <a:pPr marL="0" indent="0">
              <a:buNone/>
            </a:pPr>
            <a:r>
              <a:rPr lang="en-US" sz="1200" i="1" dirty="0">
                <a:solidFill>
                  <a:srgbClr val="475569"/>
                </a:solidFill>
                <a:latin typeface="Calibri" pitchFamily="34" charset="0"/>
                <a:cs typeface="Calibri" pitchFamily="34" charset="-120"/>
              </a:rPr>
              <a:t>Or Transform data</a:t>
            </a:r>
          </a:p>
          <a:p>
            <a:pPr marL="0" indent="0">
              <a:buNone/>
            </a:pPr>
            <a:endParaRPr lang="en-US" sz="1200" i="1" dirty="0">
              <a:solidFill>
                <a:srgbClr val="475569"/>
              </a:solidFill>
              <a:latin typeface="Calibri" pitchFamily="34" charset="0"/>
              <a:cs typeface="Calibri" pitchFamily="34" charset="-120"/>
            </a:endParaRPr>
          </a:p>
          <a:p>
            <a:r>
              <a:rPr lang="en-US" sz="1200" i="1" dirty="0">
                <a:solidFill>
                  <a:srgbClr val="475569"/>
                </a:solidFill>
                <a:latin typeface="Calibri" pitchFamily="34" charset="0"/>
                <a:cs typeface="Calibri" pitchFamily="34" charset="-120"/>
              </a:rPr>
              <a:t>Or use Weighted Least Square (WLS) Method</a:t>
            </a:r>
          </a:p>
        </p:txBody>
      </p:sp>
      <p:sp>
        <p:nvSpPr>
          <p:cNvPr id="9" name="Text 7">
            <a:extLst>
              <a:ext uri="{FF2B5EF4-FFF2-40B4-BE49-F238E27FC236}">
                <a16:creationId xmlns:a16="http://schemas.microsoft.com/office/drawing/2014/main" id="{ED2D4A38-8B60-F01A-D9A8-62C78D52C670}"/>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CE3CFEF7-7F32-0424-CECB-0004948D2CE0}"/>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15602F0F-016F-2075-8AF4-66F8FA0B4E51}"/>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9A383F3F-E1FC-1228-4608-F1C24B3E04E6}"/>
              </a:ext>
            </a:extLst>
          </p:cNvPr>
          <p:cNvSpPr/>
          <p:nvPr/>
        </p:nvSpPr>
        <p:spPr>
          <a:xfrm>
            <a:off x="640080" y="3566160"/>
            <a:ext cx="8275320" cy="365760"/>
          </a:xfrm>
          <a:prstGeom prst="rect">
            <a:avLst/>
          </a:prstGeom>
          <a:noFill/>
          <a:ln/>
        </p:spPr>
        <p:txBody>
          <a:bodyPr wrap="square" lIns="0" tIns="0" rIns="0" bIns="0" rtlCol="0" anchor="ctr"/>
          <a:lstStyle/>
          <a:p>
            <a:r>
              <a:rPr lang="en-US" sz="1100" dirty="0">
                <a:latin typeface="Calibri" panose="020F0502020204030204" pitchFamily="34" charset="0"/>
                <a:ea typeface="Calibri" pitchFamily="34" charset="-122"/>
                <a:cs typeface="Calibri" panose="020F0502020204030204" pitchFamily="34" charset="0"/>
              </a:rPr>
              <a:t>Use robust standard error - </a:t>
            </a:r>
            <a:r>
              <a:rPr lang="en-MY" sz="1100" dirty="0">
                <a:latin typeface="Calibri" panose="020F0502020204030204" pitchFamily="34" charset="0"/>
                <a:cs typeface="Calibri" panose="020F0502020204030204" pitchFamily="34" charset="0"/>
              </a:rPr>
              <a:t>Use the sandwich package to calculate heteroscedasticity-consistent (HC) standard errors and </a:t>
            </a:r>
            <a:r>
              <a:rPr lang="en-MY" sz="1100" dirty="0" err="1">
                <a:latin typeface="Calibri" panose="020F0502020204030204" pitchFamily="34" charset="0"/>
                <a:cs typeface="Calibri" panose="020F0502020204030204" pitchFamily="34" charset="0"/>
              </a:rPr>
              <a:t>lmtest</a:t>
            </a:r>
            <a:r>
              <a:rPr lang="en-MY" sz="1100" dirty="0">
                <a:latin typeface="Calibri" panose="020F0502020204030204" pitchFamily="34" charset="0"/>
                <a:cs typeface="Calibri" panose="020F0502020204030204" pitchFamily="34" charset="0"/>
              </a:rPr>
              <a:t> for testing.</a:t>
            </a:r>
          </a:p>
          <a:p>
            <a:r>
              <a:rPr lang="en-MY" sz="1100" dirty="0" err="1">
                <a:latin typeface="Calibri" panose="020F0502020204030204" pitchFamily="34" charset="0"/>
                <a:cs typeface="Calibri" panose="020F0502020204030204" pitchFamily="34" charset="0"/>
              </a:rPr>
              <a:t>coeftest</a:t>
            </a:r>
            <a:r>
              <a:rPr lang="en-MY" sz="1100" dirty="0">
                <a:latin typeface="Calibri" panose="020F0502020204030204" pitchFamily="34" charset="0"/>
                <a:cs typeface="Calibri" panose="020F0502020204030204" pitchFamily="34" charset="0"/>
              </a:rPr>
              <a:t>(model, </a:t>
            </a:r>
            <a:r>
              <a:rPr lang="en-MY" sz="1100" dirty="0" err="1">
                <a:latin typeface="Calibri" panose="020F0502020204030204" pitchFamily="34" charset="0"/>
                <a:cs typeface="Calibri" panose="020F0502020204030204" pitchFamily="34" charset="0"/>
              </a:rPr>
              <a:t>vcov</a:t>
            </a:r>
            <a:r>
              <a:rPr lang="en-MY" sz="1100" dirty="0">
                <a:latin typeface="Calibri" panose="020F0502020204030204" pitchFamily="34" charset="0"/>
                <a:cs typeface="Calibri" panose="020F0502020204030204" pitchFamily="34" charset="0"/>
              </a:rPr>
              <a:t> = </a:t>
            </a:r>
            <a:r>
              <a:rPr lang="en-MY" sz="1100" dirty="0" err="1">
                <a:latin typeface="Calibri" panose="020F0502020204030204" pitchFamily="34" charset="0"/>
                <a:cs typeface="Calibri" panose="020F0502020204030204" pitchFamily="34" charset="0"/>
              </a:rPr>
              <a:t>vcovHC</a:t>
            </a:r>
            <a:r>
              <a:rPr lang="en-MY" sz="1100" dirty="0">
                <a:latin typeface="Calibri" panose="020F0502020204030204" pitchFamily="34" charset="0"/>
                <a:cs typeface="Calibri" panose="020F0502020204030204" pitchFamily="34" charset="0"/>
              </a:rPr>
              <a:t>(model, type = "HC3"))</a:t>
            </a:r>
          </a:p>
          <a:p>
            <a:pPr marL="0" indent="0">
              <a:buNone/>
            </a:pPr>
            <a:endParaRPr lang="en-US" sz="1100" dirty="0">
              <a:latin typeface="Calibri" panose="020F0502020204030204" pitchFamily="34" charset="0"/>
              <a:cs typeface="Calibri" panose="020F0502020204030204" pitchFamily="34" charset="0"/>
            </a:endParaRPr>
          </a:p>
        </p:txBody>
      </p:sp>
      <p:sp>
        <p:nvSpPr>
          <p:cNvPr id="13" name="Shape 11">
            <a:extLst>
              <a:ext uri="{FF2B5EF4-FFF2-40B4-BE49-F238E27FC236}">
                <a16:creationId xmlns:a16="http://schemas.microsoft.com/office/drawing/2014/main" id="{32167233-181C-BB2E-6FED-4271B911CED8}"/>
              </a:ext>
            </a:extLst>
          </p:cNvPr>
          <p:cNvSpPr/>
          <p:nvPr/>
        </p:nvSpPr>
        <p:spPr>
          <a:xfrm>
            <a:off x="228600" y="4069080"/>
            <a:ext cx="320040" cy="320040"/>
          </a:xfrm>
          <a:prstGeom prst="ellipse">
            <a:avLst/>
          </a:prstGeom>
          <a:solidFill>
            <a:srgbClr val="2563EB"/>
          </a:solidFill>
          <a:ln w="12700">
            <a:solidFill>
              <a:srgbClr val="2563EB"/>
            </a:solidFill>
            <a:prstDash val="solid"/>
          </a:ln>
        </p:spPr>
        <p:txBody>
          <a:bodyPr/>
          <a:lstStyle/>
          <a:p>
            <a:endParaRPr lang="en-US"/>
          </a:p>
        </p:txBody>
      </p:sp>
      <p:sp>
        <p:nvSpPr>
          <p:cNvPr id="14" name="Text 12">
            <a:extLst>
              <a:ext uri="{FF2B5EF4-FFF2-40B4-BE49-F238E27FC236}">
                <a16:creationId xmlns:a16="http://schemas.microsoft.com/office/drawing/2014/main" id="{D14AB24A-2539-FA5C-9632-DC46D5FA1B18}"/>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a:extLst>
              <a:ext uri="{FF2B5EF4-FFF2-40B4-BE49-F238E27FC236}">
                <a16:creationId xmlns:a16="http://schemas.microsoft.com/office/drawing/2014/main" id="{4BCFB09B-24A4-C659-F186-EE7020626B1C}"/>
              </a:ext>
            </a:extLst>
          </p:cNvPr>
          <p:cNvSpPr/>
          <p:nvPr/>
        </p:nvSpPr>
        <p:spPr>
          <a:xfrm>
            <a:off x="640079" y="4069080"/>
            <a:ext cx="6002545" cy="365760"/>
          </a:xfrm>
          <a:prstGeom prst="rect">
            <a:avLst/>
          </a:prstGeom>
          <a:noFill/>
          <a:ln/>
        </p:spPr>
        <p:txBody>
          <a:bodyPr wrap="square" lIns="0" tIns="0" rIns="0" bIns="0" rtlCol="0" anchor="ctr"/>
          <a:lstStyle/>
          <a:p>
            <a:r>
              <a:rPr lang="en-US" sz="1100" dirty="0">
                <a:latin typeface="Calibri" panose="020F0502020204030204" pitchFamily="34" charset="0"/>
                <a:ea typeface="Calibri" pitchFamily="34" charset="-122"/>
                <a:cs typeface="Calibri" panose="020F0502020204030204" pitchFamily="34" charset="0"/>
              </a:rPr>
              <a:t>Transform data by log transform the outcome  - </a:t>
            </a:r>
            <a:r>
              <a:rPr lang="en-MY" sz="1100" dirty="0" err="1">
                <a:latin typeface="Calibri" panose="020F0502020204030204" pitchFamily="34" charset="0"/>
                <a:cs typeface="Calibri" panose="020F0502020204030204" pitchFamily="34" charset="0"/>
              </a:rPr>
              <a:t>model_log</a:t>
            </a:r>
            <a:r>
              <a:rPr lang="en-MY" sz="1100" dirty="0">
                <a:latin typeface="Calibri" panose="020F0502020204030204" pitchFamily="34" charset="0"/>
                <a:cs typeface="Calibri" panose="020F0502020204030204" pitchFamily="34" charset="0"/>
              </a:rPr>
              <a:t> &lt;- </a:t>
            </a:r>
            <a:r>
              <a:rPr lang="en-MY" sz="1100" dirty="0" err="1">
                <a:latin typeface="Calibri" panose="020F0502020204030204" pitchFamily="34" charset="0"/>
                <a:cs typeface="Calibri" panose="020F0502020204030204" pitchFamily="34" charset="0"/>
              </a:rPr>
              <a:t>lm</a:t>
            </a:r>
            <a:r>
              <a:rPr lang="en-MY" sz="1100" dirty="0">
                <a:latin typeface="Calibri" panose="020F0502020204030204" pitchFamily="34" charset="0"/>
                <a:cs typeface="Calibri" panose="020F0502020204030204" pitchFamily="34" charset="0"/>
              </a:rPr>
              <a:t>(log(y) ~ x, data = dataset)</a:t>
            </a:r>
          </a:p>
          <a:p>
            <a:pPr marL="0" indent="0">
              <a:buNone/>
            </a:pPr>
            <a:endParaRPr lang="en-US" sz="1100" dirty="0">
              <a:latin typeface="Calibri" panose="020F0502020204030204" pitchFamily="34" charset="0"/>
              <a:cs typeface="Calibri" panose="020F0502020204030204" pitchFamily="34" charset="0"/>
            </a:endParaRPr>
          </a:p>
        </p:txBody>
      </p:sp>
      <p:sp>
        <p:nvSpPr>
          <p:cNvPr id="16" name="Shape 14">
            <a:extLst>
              <a:ext uri="{FF2B5EF4-FFF2-40B4-BE49-F238E27FC236}">
                <a16:creationId xmlns:a16="http://schemas.microsoft.com/office/drawing/2014/main" id="{26FF95B9-F34C-08AA-64FF-E40974CC228F}"/>
              </a:ext>
            </a:extLst>
          </p:cNvPr>
          <p:cNvSpPr/>
          <p:nvPr/>
        </p:nvSpPr>
        <p:spPr>
          <a:xfrm>
            <a:off x="228600" y="4572000"/>
            <a:ext cx="320040" cy="320040"/>
          </a:xfrm>
          <a:prstGeom prst="ellipse">
            <a:avLst/>
          </a:prstGeom>
          <a:solidFill>
            <a:srgbClr val="0D9488"/>
          </a:solidFill>
          <a:ln w="12700">
            <a:solidFill>
              <a:srgbClr val="0D9488"/>
            </a:solidFill>
            <a:prstDash val="solid"/>
          </a:ln>
        </p:spPr>
        <p:txBody>
          <a:bodyPr/>
          <a:lstStyle/>
          <a:p>
            <a:endParaRPr lang="en-US"/>
          </a:p>
        </p:txBody>
      </p:sp>
      <p:sp>
        <p:nvSpPr>
          <p:cNvPr id="17" name="Text 15">
            <a:extLst>
              <a:ext uri="{FF2B5EF4-FFF2-40B4-BE49-F238E27FC236}">
                <a16:creationId xmlns:a16="http://schemas.microsoft.com/office/drawing/2014/main" id="{AB0B681A-E759-7538-72AE-A1BF80C1821E}"/>
              </a:ext>
            </a:extLst>
          </p:cNvPr>
          <p:cNvSpPr/>
          <p:nvPr/>
        </p:nvSpPr>
        <p:spPr>
          <a:xfrm>
            <a:off x="22860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a:extLst>
              <a:ext uri="{FF2B5EF4-FFF2-40B4-BE49-F238E27FC236}">
                <a16:creationId xmlns:a16="http://schemas.microsoft.com/office/drawing/2014/main" id="{E340DF50-7A44-1F02-412A-B5580D2CEB62}"/>
              </a:ext>
            </a:extLst>
          </p:cNvPr>
          <p:cNvSpPr/>
          <p:nvPr/>
        </p:nvSpPr>
        <p:spPr>
          <a:xfrm>
            <a:off x="640080" y="457200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WLS Method </a:t>
            </a:r>
            <a:endParaRPr lang="en-US" sz="1100" dirty="0"/>
          </a:p>
        </p:txBody>
      </p:sp>
      <p:sp>
        <p:nvSpPr>
          <p:cNvPr id="20" name="Text 18">
            <a:extLst>
              <a:ext uri="{FF2B5EF4-FFF2-40B4-BE49-F238E27FC236}">
                <a16:creationId xmlns:a16="http://schemas.microsoft.com/office/drawing/2014/main" id="{14E00D03-3306-B8E1-1665-F4E40FFBACFA}"/>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a:extLst>
              <a:ext uri="{FF2B5EF4-FFF2-40B4-BE49-F238E27FC236}">
                <a16:creationId xmlns:a16="http://schemas.microsoft.com/office/drawing/2014/main" id="{0B14578A-F204-EE2F-D1E6-17B36EC3F886}"/>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a:extLst>
              <a:ext uri="{FF2B5EF4-FFF2-40B4-BE49-F238E27FC236}">
                <a16:creationId xmlns:a16="http://schemas.microsoft.com/office/drawing/2014/main" id="{4AEC6564-AAF6-5B7B-AB57-7361BA8CF14D}"/>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a:extLst>
              <a:ext uri="{FF2B5EF4-FFF2-40B4-BE49-F238E27FC236}">
                <a16:creationId xmlns:a16="http://schemas.microsoft.com/office/drawing/2014/main" id="{0AC1957B-224C-9230-2E30-8CC2FAB23005}"/>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extLst>
      <p:ext uri="{BB962C8B-B14F-4D97-AF65-F5344CB8AC3E}">
        <p14:creationId xmlns:p14="http://schemas.microsoft.com/office/powerpoint/2010/main" val="1909736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92A3B-4CD2-1B4D-D8C7-17D3F18C64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5CB2C4-9043-A8D2-0FA9-6584DDDDFA49}"/>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E7FCF8B6-DEE5-D03C-6074-D8CDA71EC4E5}"/>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VIOLATION 4 Residual normality </a:t>
            </a:r>
            <a:endParaRPr lang="en-US" sz="2200" dirty="0"/>
          </a:p>
        </p:txBody>
      </p:sp>
      <p:sp>
        <p:nvSpPr>
          <p:cNvPr id="4" name="Shape 2">
            <a:extLst>
              <a:ext uri="{FF2B5EF4-FFF2-40B4-BE49-F238E27FC236}">
                <a16:creationId xmlns:a16="http://schemas.microsoft.com/office/drawing/2014/main" id="{D3DCB52E-4C9C-55C9-AD13-9670A26D81A4}"/>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72FE0F66-CB2B-04B3-EC80-6ADA586D4026}"/>
              </a:ext>
            </a:extLst>
          </p:cNvPr>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3E623F4F-DA98-F25C-5DB1-0326DF3FA184}"/>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D714E2FA-B6FA-F081-F32C-00219CC4C69E}"/>
              </a:ext>
            </a:extLst>
          </p:cNvPr>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cs typeface="Calibri" pitchFamily="34" charset="-120"/>
              </a:rPr>
              <a:t>SITUATION</a:t>
            </a:r>
            <a:endParaRPr lang="en-US" sz="1300" dirty="0"/>
          </a:p>
        </p:txBody>
      </p:sp>
      <p:sp>
        <p:nvSpPr>
          <p:cNvPr id="8" name="Text 6">
            <a:extLst>
              <a:ext uri="{FF2B5EF4-FFF2-40B4-BE49-F238E27FC236}">
                <a16:creationId xmlns:a16="http://schemas.microsoft.com/office/drawing/2014/main" id="{4DA1C9A9-0AE4-DEFA-6F7A-A4F0981919A2}"/>
              </a:ext>
            </a:extLst>
          </p:cNvPr>
          <p:cNvSpPr/>
          <p:nvPr/>
        </p:nvSpPr>
        <p:spPr>
          <a:xfrm>
            <a:off x="457200" y="1325880"/>
            <a:ext cx="8229600" cy="1508760"/>
          </a:xfrm>
          <a:prstGeom prst="rect">
            <a:avLst/>
          </a:prstGeom>
          <a:noFill/>
          <a:ln/>
        </p:spPr>
        <p:txBody>
          <a:bodyPr wrap="square" lIns="0" tIns="0" rIns="0" bIns="0" rtlCol="0" anchor="ctr"/>
          <a:lstStyle/>
          <a:p>
            <a:r>
              <a:rPr lang="en-US" sz="1200" dirty="0">
                <a:solidFill>
                  <a:srgbClr val="475569"/>
                </a:solidFill>
                <a:latin typeface="Calibri" pitchFamily="34" charset="0"/>
                <a:ea typeface="Calibri" pitchFamily="34" charset="-122"/>
                <a:cs typeface="Calibri" pitchFamily="34" charset="-120"/>
              </a:rPr>
              <a:t>Q-Q plot not normal </a:t>
            </a:r>
          </a:p>
          <a:p>
            <a:endParaRPr lang="en-US" sz="1200" i="1" dirty="0">
              <a:solidFill>
                <a:srgbClr val="475569"/>
              </a:solidFill>
              <a:latin typeface="Calibri" pitchFamily="34" charset="0"/>
              <a:cs typeface="Calibri" pitchFamily="34" charset="-120"/>
            </a:endParaRPr>
          </a:p>
          <a:p>
            <a:pPr marL="0" indent="0">
              <a:buNone/>
            </a:pPr>
            <a:r>
              <a:rPr lang="en-US" sz="1200" dirty="0">
                <a:solidFill>
                  <a:srgbClr val="475569"/>
                </a:solidFill>
                <a:latin typeface="Calibri" pitchFamily="34" charset="0"/>
                <a:cs typeface="Calibri" pitchFamily="34" charset="-120"/>
              </a:rPr>
              <a:t>If sample size is big , result is still robust </a:t>
            </a:r>
            <a:endParaRPr lang="en-US" sz="1200" i="1" dirty="0">
              <a:solidFill>
                <a:srgbClr val="475569"/>
              </a:solidFill>
              <a:latin typeface="Calibri" pitchFamily="34" charset="0"/>
              <a:cs typeface="Calibri" pitchFamily="34" charset="-120"/>
            </a:endParaRPr>
          </a:p>
          <a:p>
            <a:pPr marL="0" indent="0">
              <a:buNone/>
            </a:pPr>
            <a:r>
              <a:rPr lang="en-US" sz="1200" i="1" dirty="0">
                <a:solidFill>
                  <a:srgbClr val="475569"/>
                </a:solidFill>
                <a:latin typeface="Calibri" pitchFamily="34" charset="0"/>
                <a:cs typeface="Calibri" pitchFamily="34" charset="-120"/>
              </a:rPr>
              <a:t> </a:t>
            </a:r>
          </a:p>
          <a:p>
            <a:pPr marL="0" indent="0">
              <a:buNone/>
            </a:pPr>
            <a:r>
              <a:rPr lang="en-US" sz="1200" dirty="0">
                <a:solidFill>
                  <a:srgbClr val="475569"/>
                </a:solidFill>
                <a:latin typeface="Calibri" pitchFamily="34" charset="0"/>
                <a:cs typeface="Calibri" pitchFamily="34" charset="-120"/>
              </a:rPr>
              <a:t>Check for outliers as well and remove them</a:t>
            </a:r>
          </a:p>
          <a:p>
            <a:pPr marL="0" indent="0">
              <a:buNone/>
            </a:pPr>
            <a:endParaRPr lang="en-US" sz="1200" i="1" dirty="0">
              <a:solidFill>
                <a:srgbClr val="475569"/>
              </a:solidFill>
              <a:latin typeface="Calibri" pitchFamily="34" charset="0"/>
              <a:cs typeface="Calibri" pitchFamily="34" charset="-120"/>
            </a:endParaRPr>
          </a:p>
          <a:p>
            <a:r>
              <a:rPr lang="en-US" sz="1200" dirty="0">
                <a:solidFill>
                  <a:srgbClr val="475569"/>
                </a:solidFill>
                <a:latin typeface="Calibri" pitchFamily="34" charset="0"/>
                <a:cs typeface="Calibri" pitchFamily="34" charset="-120"/>
              </a:rPr>
              <a:t>Either transform the dependent variable</a:t>
            </a:r>
          </a:p>
          <a:p>
            <a:endParaRPr lang="en-US" sz="1200" dirty="0">
              <a:solidFill>
                <a:srgbClr val="475569"/>
              </a:solidFill>
              <a:latin typeface="Calibri" pitchFamily="34" charset="0"/>
              <a:cs typeface="Calibri" pitchFamily="34" charset="-120"/>
            </a:endParaRPr>
          </a:p>
          <a:p>
            <a:r>
              <a:rPr lang="en-US" sz="1200" dirty="0">
                <a:solidFill>
                  <a:srgbClr val="475569"/>
                </a:solidFill>
                <a:latin typeface="Calibri" pitchFamily="34" charset="0"/>
                <a:cs typeface="Calibri" pitchFamily="34" charset="-120"/>
              </a:rPr>
              <a:t>Or use robust regression</a:t>
            </a:r>
          </a:p>
        </p:txBody>
      </p:sp>
      <p:sp>
        <p:nvSpPr>
          <p:cNvPr id="9" name="Text 7">
            <a:extLst>
              <a:ext uri="{FF2B5EF4-FFF2-40B4-BE49-F238E27FC236}">
                <a16:creationId xmlns:a16="http://schemas.microsoft.com/office/drawing/2014/main" id="{4DFB6449-78F8-1912-F1FE-BF40CC730DEA}"/>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68EE14E9-2946-A710-0C8E-1D8809BFC07A}"/>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A2D45423-5C88-F094-C1B0-53FB5CA3CC6F}"/>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AFB7DE10-C1FC-1D67-A01C-A62965955251}"/>
              </a:ext>
            </a:extLst>
          </p:cNvPr>
          <p:cNvSpPr/>
          <p:nvPr/>
        </p:nvSpPr>
        <p:spPr>
          <a:xfrm>
            <a:off x="640080" y="3566160"/>
            <a:ext cx="8275320" cy="365760"/>
          </a:xfrm>
          <a:prstGeom prst="rect">
            <a:avLst/>
          </a:prstGeom>
          <a:noFill/>
          <a:ln/>
        </p:spPr>
        <p:txBody>
          <a:bodyPr wrap="square" lIns="0" tIns="0" rIns="0" bIns="0" rtlCol="0" anchor="ctr"/>
          <a:lstStyle/>
          <a:p>
            <a:r>
              <a:rPr lang="en-US" sz="1100" dirty="0">
                <a:latin typeface="Calibri" panose="020F0502020204030204" pitchFamily="34" charset="0"/>
                <a:cs typeface="Calibri" panose="020F0502020204030204" pitchFamily="34" charset="0"/>
              </a:rPr>
              <a:t>Transform the DV - </a:t>
            </a:r>
            <a:r>
              <a:rPr lang="en-MY" sz="1100" dirty="0">
                <a:latin typeface="Calibri" panose="020F0502020204030204" pitchFamily="34" charset="0"/>
                <a:cs typeface="Calibri" panose="020F0502020204030204" pitchFamily="34" charset="0"/>
              </a:rPr>
              <a:t>model2 &lt;- </a:t>
            </a:r>
            <a:r>
              <a:rPr lang="en-MY" sz="1100" dirty="0" err="1">
                <a:latin typeface="Calibri" panose="020F0502020204030204" pitchFamily="34" charset="0"/>
                <a:cs typeface="Calibri" panose="020F0502020204030204" pitchFamily="34" charset="0"/>
              </a:rPr>
              <a:t>lm</a:t>
            </a:r>
            <a:r>
              <a:rPr lang="en-MY" sz="1100" dirty="0">
                <a:latin typeface="Calibri" panose="020F0502020204030204" pitchFamily="34" charset="0"/>
                <a:cs typeface="Calibri" panose="020F0502020204030204" pitchFamily="34" charset="0"/>
              </a:rPr>
              <a:t>(log(y) ~ x, data = </a:t>
            </a:r>
            <a:r>
              <a:rPr lang="en-MY" sz="1100" dirty="0" err="1">
                <a:latin typeface="Calibri" panose="020F0502020204030204" pitchFamily="34" charset="0"/>
                <a:cs typeface="Calibri" panose="020F0502020204030204" pitchFamily="34" charset="0"/>
              </a:rPr>
              <a:t>df</a:t>
            </a:r>
            <a:r>
              <a:rPr lang="en-MY" sz="1100" dirty="0">
                <a:latin typeface="Calibri" panose="020F0502020204030204" pitchFamily="34" charset="0"/>
                <a:cs typeface="Calibri" panose="020F0502020204030204" pitchFamily="34" charset="0"/>
              </a:rPr>
              <a:t>)</a:t>
            </a:r>
            <a:endParaRPr lang="en-US" sz="1100" dirty="0">
              <a:latin typeface="Calibri" panose="020F0502020204030204" pitchFamily="34" charset="0"/>
              <a:cs typeface="Calibri" panose="020F0502020204030204" pitchFamily="34" charset="0"/>
            </a:endParaRPr>
          </a:p>
        </p:txBody>
      </p:sp>
      <p:sp>
        <p:nvSpPr>
          <p:cNvPr id="13" name="Shape 11">
            <a:extLst>
              <a:ext uri="{FF2B5EF4-FFF2-40B4-BE49-F238E27FC236}">
                <a16:creationId xmlns:a16="http://schemas.microsoft.com/office/drawing/2014/main" id="{A67DF0AB-32A2-90D5-5ED3-2DC81AF01ABA}"/>
              </a:ext>
            </a:extLst>
          </p:cNvPr>
          <p:cNvSpPr/>
          <p:nvPr/>
        </p:nvSpPr>
        <p:spPr>
          <a:xfrm>
            <a:off x="228600" y="4069080"/>
            <a:ext cx="320040" cy="320040"/>
          </a:xfrm>
          <a:prstGeom prst="ellipse">
            <a:avLst/>
          </a:prstGeom>
          <a:solidFill>
            <a:srgbClr val="2563EB"/>
          </a:solidFill>
          <a:ln w="12700">
            <a:solidFill>
              <a:srgbClr val="2563EB"/>
            </a:solidFill>
            <a:prstDash val="solid"/>
          </a:ln>
        </p:spPr>
        <p:txBody>
          <a:bodyPr/>
          <a:lstStyle/>
          <a:p>
            <a:endParaRPr lang="en-US"/>
          </a:p>
        </p:txBody>
      </p:sp>
      <p:sp>
        <p:nvSpPr>
          <p:cNvPr id="14" name="Text 12">
            <a:extLst>
              <a:ext uri="{FF2B5EF4-FFF2-40B4-BE49-F238E27FC236}">
                <a16:creationId xmlns:a16="http://schemas.microsoft.com/office/drawing/2014/main" id="{CC7D17C1-B63B-9571-BC2C-C411E5C201F3}"/>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a:extLst>
              <a:ext uri="{FF2B5EF4-FFF2-40B4-BE49-F238E27FC236}">
                <a16:creationId xmlns:a16="http://schemas.microsoft.com/office/drawing/2014/main" id="{FAD66F18-ED67-3F8C-53C2-03880ABC86FE}"/>
              </a:ext>
            </a:extLst>
          </p:cNvPr>
          <p:cNvSpPr/>
          <p:nvPr/>
        </p:nvSpPr>
        <p:spPr>
          <a:xfrm>
            <a:off x="640080" y="4123944"/>
            <a:ext cx="5307299" cy="365760"/>
          </a:xfrm>
          <a:prstGeom prst="rect">
            <a:avLst/>
          </a:prstGeom>
          <a:noFill/>
          <a:ln/>
        </p:spPr>
        <p:txBody>
          <a:bodyPr wrap="square" lIns="0" tIns="0" rIns="0" bIns="0" rtlCol="0" anchor="ctr"/>
          <a:lstStyle/>
          <a:p>
            <a:pPr lvl="1"/>
            <a:r>
              <a:rPr lang="en-US" sz="1100" dirty="0">
                <a:latin typeface="Calibri" panose="020F0502020204030204" pitchFamily="34" charset="0"/>
                <a:ea typeface="Calibri" pitchFamily="34" charset="-122"/>
                <a:cs typeface="Calibri" panose="020F0502020204030204" pitchFamily="34" charset="0"/>
              </a:rPr>
              <a:t>Robust regression - </a:t>
            </a:r>
            <a:r>
              <a:rPr lang="en-MY" sz="1100" dirty="0">
                <a:latin typeface="Calibri" panose="020F0502020204030204" pitchFamily="34" charset="0"/>
                <a:cs typeface="Calibri" panose="020F0502020204030204" pitchFamily="34" charset="0"/>
              </a:rPr>
              <a:t>library(</a:t>
            </a:r>
            <a:r>
              <a:rPr lang="en-MY" sz="1100" dirty="0" err="1">
                <a:latin typeface="Calibri" panose="020F0502020204030204" pitchFamily="34" charset="0"/>
                <a:cs typeface="Calibri" panose="020F0502020204030204" pitchFamily="34" charset="0"/>
              </a:rPr>
              <a:t>robustbase</a:t>
            </a:r>
            <a:r>
              <a:rPr lang="en-MY" sz="1100" dirty="0">
                <a:latin typeface="Calibri" panose="020F0502020204030204" pitchFamily="34" charset="0"/>
                <a:cs typeface="Calibri" panose="020F0502020204030204" pitchFamily="34" charset="0"/>
              </a:rPr>
              <a:t>); </a:t>
            </a:r>
            <a:r>
              <a:rPr lang="en-MY" sz="1100" dirty="0" err="1">
                <a:latin typeface="Calibri" panose="020F0502020204030204" pitchFamily="34" charset="0"/>
                <a:cs typeface="Calibri" panose="020F0502020204030204" pitchFamily="34" charset="0"/>
              </a:rPr>
              <a:t>robust_model</a:t>
            </a:r>
            <a:r>
              <a:rPr lang="en-MY" sz="1100" dirty="0">
                <a:latin typeface="Calibri" panose="020F0502020204030204" pitchFamily="34" charset="0"/>
                <a:cs typeface="Calibri" panose="020F0502020204030204" pitchFamily="34" charset="0"/>
              </a:rPr>
              <a:t> &lt;- </a:t>
            </a:r>
            <a:r>
              <a:rPr lang="en-MY" sz="1100" dirty="0" err="1">
                <a:latin typeface="Calibri" panose="020F0502020204030204" pitchFamily="34" charset="0"/>
                <a:cs typeface="Calibri" panose="020F0502020204030204" pitchFamily="34" charset="0"/>
              </a:rPr>
              <a:t>lmrob</a:t>
            </a:r>
            <a:r>
              <a:rPr lang="en-MY" sz="1100" dirty="0">
                <a:latin typeface="Calibri" panose="020F0502020204030204" pitchFamily="34" charset="0"/>
                <a:cs typeface="Calibri" panose="020F0502020204030204" pitchFamily="34" charset="0"/>
              </a:rPr>
              <a:t>(y ~ x, data = </a:t>
            </a:r>
            <a:r>
              <a:rPr lang="en-MY" sz="1100" dirty="0" err="1">
                <a:latin typeface="Calibri" panose="020F0502020204030204" pitchFamily="34" charset="0"/>
                <a:cs typeface="Calibri" panose="020F0502020204030204" pitchFamily="34" charset="0"/>
              </a:rPr>
              <a:t>df</a:t>
            </a:r>
            <a:r>
              <a:rPr lang="en-MY" sz="1100" dirty="0">
                <a:latin typeface="Calibri" panose="020F0502020204030204" pitchFamily="34" charset="0"/>
                <a:cs typeface="Calibri" panose="020F0502020204030204" pitchFamily="34" charset="0"/>
              </a:rPr>
              <a:t>)</a:t>
            </a:r>
          </a:p>
        </p:txBody>
      </p:sp>
      <p:sp>
        <p:nvSpPr>
          <p:cNvPr id="20" name="Text 18">
            <a:extLst>
              <a:ext uri="{FF2B5EF4-FFF2-40B4-BE49-F238E27FC236}">
                <a16:creationId xmlns:a16="http://schemas.microsoft.com/office/drawing/2014/main" id="{15A04516-49FB-3658-E491-52FCBAA4609F}"/>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a:extLst>
              <a:ext uri="{FF2B5EF4-FFF2-40B4-BE49-F238E27FC236}">
                <a16:creationId xmlns:a16="http://schemas.microsoft.com/office/drawing/2014/main" id="{EABF1C64-2691-8A87-6DCF-DAC8382E5B63}"/>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a:extLst>
              <a:ext uri="{FF2B5EF4-FFF2-40B4-BE49-F238E27FC236}">
                <a16:creationId xmlns:a16="http://schemas.microsoft.com/office/drawing/2014/main" id="{BAA50E40-C037-348F-F6E6-3320A2FF3A84}"/>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a:extLst>
              <a:ext uri="{FF2B5EF4-FFF2-40B4-BE49-F238E27FC236}">
                <a16:creationId xmlns:a16="http://schemas.microsoft.com/office/drawing/2014/main" id="{161D3A02-061A-7DC9-2483-F14360352D16}"/>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extLst>
      <p:ext uri="{BB962C8B-B14F-4D97-AF65-F5344CB8AC3E}">
        <p14:creationId xmlns:p14="http://schemas.microsoft.com/office/powerpoint/2010/main" val="1887662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FD097-5568-E296-B32D-2E2D812F56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165101-4556-5A21-67D9-C8D0F15CD571}"/>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7771E246-F55F-4665-75C1-89803F20FDA4}"/>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VIOLATION 5 MULTICOLLINEARITY </a:t>
            </a:r>
            <a:endParaRPr lang="en-US" sz="2200" dirty="0"/>
          </a:p>
        </p:txBody>
      </p:sp>
      <p:sp>
        <p:nvSpPr>
          <p:cNvPr id="4" name="Shape 2">
            <a:extLst>
              <a:ext uri="{FF2B5EF4-FFF2-40B4-BE49-F238E27FC236}">
                <a16:creationId xmlns:a16="http://schemas.microsoft.com/office/drawing/2014/main" id="{CC3693BD-35C9-BEF9-2F77-D53389985AD8}"/>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D2558922-A989-744D-5D90-5602961D87C8}"/>
              </a:ext>
            </a:extLst>
          </p:cNvPr>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7CDE4DEF-AA7E-C606-8BD9-4EDC78F816F6}"/>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34C5805C-D0D7-BAE1-776F-E074D19B51DE}"/>
              </a:ext>
            </a:extLst>
          </p:cNvPr>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cs typeface="Calibri" pitchFamily="34" charset="-120"/>
              </a:rPr>
              <a:t>SITUATION</a:t>
            </a:r>
            <a:endParaRPr lang="en-US" sz="1300" dirty="0"/>
          </a:p>
        </p:txBody>
      </p:sp>
      <p:sp>
        <p:nvSpPr>
          <p:cNvPr id="8" name="Text 6">
            <a:extLst>
              <a:ext uri="{FF2B5EF4-FFF2-40B4-BE49-F238E27FC236}">
                <a16:creationId xmlns:a16="http://schemas.microsoft.com/office/drawing/2014/main" id="{F9BB338F-2C25-1662-F773-861DA3C77E01}"/>
              </a:ext>
            </a:extLst>
          </p:cNvPr>
          <p:cNvSpPr/>
          <p:nvPr/>
        </p:nvSpPr>
        <p:spPr>
          <a:xfrm>
            <a:off x="457200" y="1325880"/>
            <a:ext cx="8229600" cy="1508760"/>
          </a:xfrm>
          <a:prstGeom prst="rect">
            <a:avLst/>
          </a:prstGeom>
          <a:noFill/>
          <a:ln/>
        </p:spPr>
        <p:txBody>
          <a:bodyPr wrap="square" lIns="0" tIns="0" rIns="0" bIns="0" rtlCol="0" anchor="ctr"/>
          <a:lstStyle/>
          <a:p>
            <a:r>
              <a:rPr lang="en-MY" sz="1600" dirty="0"/>
              <a:t>2 or more predictor variables in a regression model are highly correlated, leading to unreliable estimates of the coefficients</a:t>
            </a:r>
          </a:p>
          <a:p>
            <a:endParaRPr lang="en-MY" sz="1600" dirty="0"/>
          </a:p>
          <a:p>
            <a:r>
              <a:rPr lang="en-MY" sz="1600" dirty="0"/>
              <a:t>Either drop one and re run </a:t>
            </a:r>
          </a:p>
          <a:p>
            <a:endParaRPr lang="en-MY" sz="1600" dirty="0"/>
          </a:p>
          <a:p>
            <a:r>
              <a:rPr lang="en-MY" sz="1600" dirty="0"/>
              <a:t>Or Ridge regression is a method by which we add a degree of bias to the regression estimates. </a:t>
            </a:r>
          </a:p>
          <a:p>
            <a:endParaRPr lang="en-US" sz="1600" dirty="0"/>
          </a:p>
        </p:txBody>
      </p:sp>
      <p:sp>
        <p:nvSpPr>
          <p:cNvPr id="9" name="Text 7">
            <a:extLst>
              <a:ext uri="{FF2B5EF4-FFF2-40B4-BE49-F238E27FC236}">
                <a16:creationId xmlns:a16="http://schemas.microsoft.com/office/drawing/2014/main" id="{39A7EA89-61ED-D023-789B-C62E4EE24EE4}"/>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F52AA370-5FC8-9B7F-7182-64DB1FBBAE65}"/>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9FD8F28B-3347-A55B-DEC6-28A7125F4E6B}"/>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EA2CB6C5-2F0E-C23A-3FA3-44F12CF42876}"/>
              </a:ext>
            </a:extLst>
          </p:cNvPr>
          <p:cNvSpPr/>
          <p:nvPr/>
        </p:nvSpPr>
        <p:spPr>
          <a:xfrm>
            <a:off x="640080" y="356616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cs typeface="Calibri" pitchFamily="34" charset="-120"/>
              </a:rPr>
              <a:t>Drop the highly correlated predictors</a:t>
            </a:r>
            <a:endParaRPr lang="en-US" sz="1100" dirty="0"/>
          </a:p>
        </p:txBody>
      </p:sp>
      <p:sp>
        <p:nvSpPr>
          <p:cNvPr id="13" name="Shape 11">
            <a:extLst>
              <a:ext uri="{FF2B5EF4-FFF2-40B4-BE49-F238E27FC236}">
                <a16:creationId xmlns:a16="http://schemas.microsoft.com/office/drawing/2014/main" id="{EB7F434F-B8FE-5E4C-18E1-8AB6D1D36BA4}"/>
              </a:ext>
            </a:extLst>
          </p:cNvPr>
          <p:cNvSpPr/>
          <p:nvPr/>
        </p:nvSpPr>
        <p:spPr>
          <a:xfrm>
            <a:off x="228600" y="4069080"/>
            <a:ext cx="320040" cy="320040"/>
          </a:xfrm>
          <a:prstGeom prst="ellipse">
            <a:avLst/>
          </a:prstGeom>
          <a:solidFill>
            <a:srgbClr val="2563EB"/>
          </a:solidFill>
          <a:ln w="12700">
            <a:solidFill>
              <a:srgbClr val="2563EB"/>
            </a:solidFill>
            <a:prstDash val="solid"/>
          </a:ln>
        </p:spPr>
        <p:txBody>
          <a:bodyPr/>
          <a:lstStyle/>
          <a:p>
            <a:endParaRPr lang="en-US"/>
          </a:p>
        </p:txBody>
      </p:sp>
      <p:sp>
        <p:nvSpPr>
          <p:cNvPr id="14" name="Text 12">
            <a:extLst>
              <a:ext uri="{FF2B5EF4-FFF2-40B4-BE49-F238E27FC236}">
                <a16:creationId xmlns:a16="http://schemas.microsoft.com/office/drawing/2014/main" id="{C686079F-DF21-4D68-AEB1-C88C7DF7A408}"/>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a:extLst>
              <a:ext uri="{FF2B5EF4-FFF2-40B4-BE49-F238E27FC236}">
                <a16:creationId xmlns:a16="http://schemas.microsoft.com/office/drawing/2014/main" id="{AA38AA08-5F1C-7C31-8FCD-A9AE8CB41BA9}"/>
              </a:ext>
            </a:extLst>
          </p:cNvPr>
          <p:cNvSpPr/>
          <p:nvPr/>
        </p:nvSpPr>
        <p:spPr>
          <a:xfrm>
            <a:off x="640080" y="406908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Regularization (ridge/lasso regression)</a:t>
            </a:r>
            <a:endParaRPr lang="en-US" sz="1100" dirty="0"/>
          </a:p>
        </p:txBody>
      </p:sp>
      <p:sp>
        <p:nvSpPr>
          <p:cNvPr id="17" name="Text 15">
            <a:extLst>
              <a:ext uri="{FF2B5EF4-FFF2-40B4-BE49-F238E27FC236}">
                <a16:creationId xmlns:a16="http://schemas.microsoft.com/office/drawing/2014/main" id="{147F9185-58C6-919C-D227-39F231F3EA52}"/>
              </a:ext>
            </a:extLst>
          </p:cNvPr>
          <p:cNvSpPr/>
          <p:nvPr/>
        </p:nvSpPr>
        <p:spPr>
          <a:xfrm>
            <a:off x="22860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a:extLst>
              <a:ext uri="{FF2B5EF4-FFF2-40B4-BE49-F238E27FC236}">
                <a16:creationId xmlns:a16="http://schemas.microsoft.com/office/drawing/2014/main" id="{08B078E2-6A3E-6F59-98C8-CD86B24FD285}"/>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a:extLst>
              <a:ext uri="{FF2B5EF4-FFF2-40B4-BE49-F238E27FC236}">
                <a16:creationId xmlns:a16="http://schemas.microsoft.com/office/drawing/2014/main" id="{9075C451-3E04-8012-C678-974723A5EAFE}"/>
              </a:ext>
            </a:extLst>
          </p:cNvPr>
          <p:cNvSpPr/>
          <p:nvPr/>
        </p:nvSpPr>
        <p:spPr>
          <a:xfrm>
            <a:off x="3058967" y="3456432"/>
            <a:ext cx="5293723" cy="365760"/>
          </a:xfrm>
          <a:prstGeom prst="rect">
            <a:avLst/>
          </a:prstGeom>
          <a:noFill/>
          <a:ln/>
        </p:spPr>
        <p:txBody>
          <a:bodyPr wrap="square" lIns="0" tIns="0" rIns="0" bIns="0" rtlCol="0" anchor="ctr"/>
          <a:lstStyle/>
          <a:p>
            <a:pPr latinLnBrk="1"/>
            <a:r>
              <a:rPr lang="en-MY" dirty="0"/>
              <a:t>Repeat model without one of the correlated predictors</a:t>
            </a:r>
          </a:p>
        </p:txBody>
      </p:sp>
      <p:sp>
        <p:nvSpPr>
          <p:cNvPr id="23" name="Text 21">
            <a:extLst>
              <a:ext uri="{FF2B5EF4-FFF2-40B4-BE49-F238E27FC236}">
                <a16:creationId xmlns:a16="http://schemas.microsoft.com/office/drawing/2014/main" id="{85F5A3DF-4DBD-3F43-C97C-9425BB0C8CCB}"/>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a:extLst>
              <a:ext uri="{FF2B5EF4-FFF2-40B4-BE49-F238E27FC236}">
                <a16:creationId xmlns:a16="http://schemas.microsoft.com/office/drawing/2014/main" id="{0EBBDEA1-90EB-167C-A7B7-A88C43D7EA0B}"/>
              </a:ext>
            </a:extLst>
          </p:cNvPr>
          <p:cNvSpPr/>
          <p:nvPr/>
        </p:nvSpPr>
        <p:spPr>
          <a:xfrm>
            <a:off x="3058967" y="4242816"/>
            <a:ext cx="5961939" cy="365760"/>
          </a:xfrm>
          <a:prstGeom prst="rect">
            <a:avLst/>
          </a:prstGeom>
          <a:noFill/>
          <a:ln/>
        </p:spPr>
        <p:txBody>
          <a:bodyPr wrap="square" lIns="0" tIns="0" rIns="0" bIns="0" rtlCol="0" anchor="ctr"/>
          <a:lstStyle/>
          <a:p>
            <a:pPr latinLnBrk="1"/>
            <a:r>
              <a:rPr lang="en-MY" dirty="0" err="1"/>
              <a:t>ridge_model</a:t>
            </a:r>
            <a:r>
              <a:rPr lang="en-MY" dirty="0"/>
              <a:t> &lt;- </a:t>
            </a:r>
            <a:r>
              <a:rPr lang="en-MY" dirty="0" err="1"/>
              <a:t>glmnet</a:t>
            </a:r>
            <a:r>
              <a:rPr lang="en-MY" dirty="0"/>
              <a:t>(</a:t>
            </a:r>
            <a:r>
              <a:rPr lang="en-MY" dirty="0" err="1"/>
              <a:t>as.matrix</a:t>
            </a:r>
            <a:r>
              <a:rPr lang="en-MY" dirty="0"/>
              <a:t>(</a:t>
            </a:r>
            <a:r>
              <a:rPr lang="en-MY" dirty="0" err="1"/>
              <a:t>cbind</a:t>
            </a:r>
            <a:r>
              <a:rPr lang="en-MY" dirty="0"/>
              <a:t>(x1, x2, x3)), y, alpha=0)</a:t>
            </a:r>
          </a:p>
          <a:p>
            <a:pPr latinLnBrk="1"/>
            <a:r>
              <a:rPr lang="en-MY" dirty="0"/>
              <a:t>summary(</a:t>
            </a:r>
            <a:r>
              <a:rPr lang="en-MY" dirty="0" err="1"/>
              <a:t>ridge_model</a:t>
            </a:r>
            <a:r>
              <a:rPr lang="en-MY" dirty="0"/>
              <a:t>)</a:t>
            </a:r>
          </a:p>
          <a:p>
            <a:pPr latinLnBrk="1"/>
            <a:r>
              <a:rPr lang="en-MY" dirty="0"/>
              <a:t>plot(</a:t>
            </a:r>
            <a:r>
              <a:rPr lang="en-MY" dirty="0" err="1"/>
              <a:t>ridge_model</a:t>
            </a:r>
            <a:r>
              <a:rPr lang="en-MY" dirty="0"/>
              <a:t>)</a:t>
            </a:r>
          </a:p>
          <a:p>
            <a:pPr latinLnBrk="1"/>
            <a:r>
              <a:rPr lang="en-MY" dirty="0" err="1"/>
              <a:t>coef</a:t>
            </a:r>
            <a:r>
              <a:rPr lang="en-MY" dirty="0"/>
              <a:t>(</a:t>
            </a:r>
            <a:r>
              <a:rPr lang="en-MY" dirty="0" err="1"/>
              <a:t>ridge_model</a:t>
            </a:r>
            <a:r>
              <a:rPr lang="en-MY" dirty="0"/>
              <a:t>, s = 0.1)</a:t>
            </a:r>
          </a:p>
        </p:txBody>
      </p:sp>
      <p:sp>
        <p:nvSpPr>
          <p:cNvPr id="26" name="Text 24">
            <a:extLst>
              <a:ext uri="{FF2B5EF4-FFF2-40B4-BE49-F238E27FC236}">
                <a16:creationId xmlns:a16="http://schemas.microsoft.com/office/drawing/2014/main" id="{371CCCF9-ED57-CD44-3A94-97D397DF385B}"/>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a:extLst>
              <a:ext uri="{FF2B5EF4-FFF2-40B4-BE49-F238E27FC236}">
                <a16:creationId xmlns:a16="http://schemas.microsoft.com/office/drawing/2014/main" id="{C0B77BF4-91FB-4CA9-4378-8BAC91E23E33}"/>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extLst>
      <p:ext uri="{BB962C8B-B14F-4D97-AF65-F5344CB8AC3E}">
        <p14:creationId xmlns:p14="http://schemas.microsoft.com/office/powerpoint/2010/main" val="1567909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3E843-1A1F-ACA3-263A-4BE176CE864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3E1394F-7C51-B896-AF71-A3AFE8E394CC}"/>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2816FE9A-D854-00D9-CB3D-0B74F9B3C912}"/>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VIOLATION 6 OUTLIERS </a:t>
            </a:r>
            <a:endParaRPr lang="en-US" sz="2200" dirty="0"/>
          </a:p>
        </p:txBody>
      </p:sp>
      <p:sp>
        <p:nvSpPr>
          <p:cNvPr id="4" name="Shape 2">
            <a:extLst>
              <a:ext uri="{FF2B5EF4-FFF2-40B4-BE49-F238E27FC236}">
                <a16:creationId xmlns:a16="http://schemas.microsoft.com/office/drawing/2014/main" id="{301F6DBF-3C58-DF1E-D47E-1C3EED1357B2}"/>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a:extLst>
              <a:ext uri="{FF2B5EF4-FFF2-40B4-BE49-F238E27FC236}">
                <a16:creationId xmlns:a16="http://schemas.microsoft.com/office/drawing/2014/main" id="{EF32CA72-3988-CD30-C92C-33FCABA15729}"/>
              </a:ext>
            </a:extLst>
          </p:cNvPr>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A251B21B-E505-BB35-3060-AC7C5925D76F}"/>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4096FA36-8834-E07B-8DA3-9CAB3A4C6E2E}"/>
              </a:ext>
            </a:extLst>
          </p:cNvPr>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cs typeface="Calibri" pitchFamily="34" charset="-120"/>
              </a:rPr>
              <a:t>SITUATION</a:t>
            </a:r>
            <a:endParaRPr lang="en-US" sz="1300" dirty="0"/>
          </a:p>
        </p:txBody>
      </p:sp>
      <p:sp>
        <p:nvSpPr>
          <p:cNvPr id="8" name="Text 6">
            <a:extLst>
              <a:ext uri="{FF2B5EF4-FFF2-40B4-BE49-F238E27FC236}">
                <a16:creationId xmlns:a16="http://schemas.microsoft.com/office/drawing/2014/main" id="{2E743779-74AC-08F4-E42C-7CDA91C74857}"/>
              </a:ext>
            </a:extLst>
          </p:cNvPr>
          <p:cNvSpPr/>
          <p:nvPr/>
        </p:nvSpPr>
        <p:spPr>
          <a:xfrm>
            <a:off x="457200" y="1325880"/>
            <a:ext cx="8229600" cy="1508760"/>
          </a:xfrm>
          <a:prstGeom prst="rect">
            <a:avLst/>
          </a:prstGeom>
          <a:noFill/>
          <a:ln/>
        </p:spPr>
        <p:txBody>
          <a:bodyPr wrap="square" lIns="0" tIns="0" rIns="0" bIns="0" rtlCol="0" anchor="ctr"/>
          <a:lstStyle/>
          <a:p>
            <a:r>
              <a:rPr lang="en-MY" sz="1200" dirty="0"/>
              <a:t>Cook distance – if value &gt;1 or 4/n</a:t>
            </a:r>
          </a:p>
          <a:p>
            <a:endParaRPr lang="en-MY" sz="1200" dirty="0"/>
          </a:p>
          <a:p>
            <a:r>
              <a:rPr lang="en-MY" sz="1200" dirty="0"/>
              <a:t>Check data entry first </a:t>
            </a:r>
          </a:p>
          <a:p>
            <a:endParaRPr lang="en-MY" sz="1200" dirty="0"/>
          </a:p>
          <a:p>
            <a:r>
              <a:rPr lang="en-MY" sz="1200" dirty="0"/>
              <a:t>Or data transformation of the dependent variable</a:t>
            </a:r>
          </a:p>
          <a:p>
            <a:endParaRPr lang="en-MY" sz="1200" dirty="0"/>
          </a:p>
          <a:p>
            <a:r>
              <a:rPr lang="en-MY" sz="1200" dirty="0"/>
              <a:t>Or delete the outliers</a:t>
            </a:r>
          </a:p>
          <a:p>
            <a:endParaRPr lang="en-MY" sz="1200" dirty="0"/>
          </a:p>
          <a:p>
            <a:r>
              <a:rPr lang="en-MY" sz="1200" dirty="0"/>
              <a:t>Or using robust regression</a:t>
            </a:r>
          </a:p>
          <a:p>
            <a:endParaRPr lang="en-US" sz="1200" dirty="0"/>
          </a:p>
        </p:txBody>
      </p:sp>
      <p:sp>
        <p:nvSpPr>
          <p:cNvPr id="9" name="Text 7">
            <a:extLst>
              <a:ext uri="{FF2B5EF4-FFF2-40B4-BE49-F238E27FC236}">
                <a16:creationId xmlns:a16="http://schemas.microsoft.com/office/drawing/2014/main" id="{2FC5E42E-5888-CA3D-C9B1-E88BB64D5B3F}"/>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E6E31580-10CC-7E86-3CCE-46FFB9EFE712}"/>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4400D622-1B07-B4AF-3314-FABA9CD8EDFC}"/>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C66DBAEA-41D9-A88F-D63E-A026AAE06DA7}"/>
              </a:ext>
            </a:extLst>
          </p:cNvPr>
          <p:cNvSpPr/>
          <p:nvPr/>
        </p:nvSpPr>
        <p:spPr>
          <a:xfrm>
            <a:off x="640079" y="3808476"/>
            <a:ext cx="6531537" cy="365760"/>
          </a:xfrm>
          <a:prstGeom prst="rect">
            <a:avLst/>
          </a:prstGeom>
          <a:noFill/>
          <a:ln/>
        </p:spPr>
        <p:txBody>
          <a:bodyPr wrap="square" lIns="0" tIns="0" rIns="0" bIns="0" rtlCol="0" anchor="ctr"/>
          <a:lstStyle/>
          <a:p>
            <a:r>
              <a:rPr lang="en-US" sz="1100" dirty="0">
                <a:latin typeface="Calibri" panose="020F0502020204030204" pitchFamily="34" charset="0"/>
                <a:cs typeface="Calibri" panose="020F0502020204030204" pitchFamily="34" charset="0"/>
              </a:rPr>
              <a:t>Robust regression- </a:t>
            </a:r>
          </a:p>
          <a:p>
            <a:r>
              <a:rPr lang="en-MY" sz="1100" dirty="0" err="1">
                <a:latin typeface="Calibri" panose="020F0502020204030204" pitchFamily="34" charset="0"/>
                <a:cs typeface="Calibri" panose="020F0502020204030204" pitchFamily="34" charset="0"/>
              </a:rPr>
              <a:t>rlm</a:t>
            </a:r>
            <a:r>
              <a:rPr lang="en-MY" sz="1100" dirty="0">
                <a:latin typeface="Calibri" panose="020F0502020204030204" pitchFamily="34" charset="0"/>
                <a:cs typeface="Calibri" panose="020F0502020204030204" pitchFamily="34" charset="0"/>
              </a:rPr>
              <a:t>() (MASS package): Uses Iteratively Reweighted Least Squares (IRLS).</a:t>
            </a:r>
          </a:p>
          <a:p>
            <a:r>
              <a:rPr lang="en-MY" sz="1100" dirty="0">
                <a:latin typeface="Calibri" panose="020F0502020204030204" pitchFamily="34" charset="0"/>
                <a:cs typeface="Calibri" panose="020F0502020204030204" pitchFamily="34" charset="0"/>
              </a:rPr>
              <a:t>library(MASS)</a:t>
            </a:r>
          </a:p>
          <a:p>
            <a:r>
              <a:rPr lang="en-MY" sz="1100" dirty="0" err="1">
                <a:latin typeface="Calibri" panose="020F0502020204030204" pitchFamily="34" charset="0"/>
                <a:cs typeface="Calibri" panose="020F0502020204030204" pitchFamily="34" charset="0"/>
              </a:rPr>
              <a:t>robust_model</a:t>
            </a:r>
            <a:r>
              <a:rPr lang="en-MY" sz="1100" dirty="0">
                <a:latin typeface="Calibri" panose="020F0502020204030204" pitchFamily="34" charset="0"/>
                <a:cs typeface="Calibri" panose="020F0502020204030204" pitchFamily="34" charset="0"/>
              </a:rPr>
              <a:t> &lt;- </a:t>
            </a:r>
            <a:r>
              <a:rPr lang="en-MY" sz="1100" dirty="0" err="1">
                <a:latin typeface="Calibri" panose="020F0502020204030204" pitchFamily="34" charset="0"/>
                <a:cs typeface="Calibri" panose="020F0502020204030204" pitchFamily="34" charset="0"/>
              </a:rPr>
              <a:t>rlm</a:t>
            </a:r>
            <a:r>
              <a:rPr lang="en-MY" sz="1100" dirty="0">
                <a:latin typeface="Calibri" panose="020F0502020204030204" pitchFamily="34" charset="0"/>
                <a:cs typeface="Calibri" panose="020F0502020204030204" pitchFamily="34" charset="0"/>
              </a:rPr>
              <a:t>(y ~ x, data = </a:t>
            </a:r>
            <a:r>
              <a:rPr lang="en-MY" sz="1100" dirty="0" err="1">
                <a:latin typeface="Calibri" panose="020F0502020204030204" pitchFamily="34" charset="0"/>
                <a:cs typeface="Calibri" panose="020F0502020204030204" pitchFamily="34" charset="0"/>
              </a:rPr>
              <a:t>mydata</a:t>
            </a:r>
            <a:r>
              <a:rPr lang="en-MY" sz="1100" dirty="0">
                <a:latin typeface="Calibri" panose="020F0502020204030204" pitchFamily="34" charset="0"/>
                <a:cs typeface="Calibri" panose="020F0502020204030204" pitchFamily="34" charset="0"/>
              </a:rPr>
              <a:t>)</a:t>
            </a:r>
          </a:p>
          <a:p>
            <a:r>
              <a:rPr lang="en-MY" sz="1100" dirty="0">
                <a:latin typeface="Calibri" panose="020F0502020204030204" pitchFamily="34" charset="0"/>
                <a:cs typeface="Calibri" panose="020F0502020204030204" pitchFamily="34" charset="0"/>
              </a:rPr>
              <a:t>summary(</a:t>
            </a:r>
            <a:r>
              <a:rPr lang="en-MY" sz="1100" dirty="0" err="1">
                <a:latin typeface="Calibri" panose="020F0502020204030204" pitchFamily="34" charset="0"/>
                <a:cs typeface="Calibri" panose="020F0502020204030204" pitchFamily="34" charset="0"/>
              </a:rPr>
              <a:t>robust_model</a:t>
            </a:r>
            <a:r>
              <a:rPr lang="en-MY" sz="1100" dirty="0">
                <a:latin typeface="Calibri" panose="020F0502020204030204" pitchFamily="34" charset="0"/>
                <a:cs typeface="Calibri" panose="020F0502020204030204" pitchFamily="34" charset="0"/>
              </a:rPr>
              <a:t>)</a:t>
            </a:r>
          </a:p>
          <a:p>
            <a:endParaRPr lang="en-MY" sz="1100" dirty="0">
              <a:latin typeface="Calibri" panose="020F0502020204030204" pitchFamily="34" charset="0"/>
              <a:cs typeface="Calibri" panose="020F0502020204030204" pitchFamily="34" charset="0"/>
            </a:endParaRPr>
          </a:p>
          <a:p>
            <a:pPr marL="0" indent="0">
              <a:buNone/>
            </a:pPr>
            <a:endParaRPr lang="en-US" sz="1100" dirty="0">
              <a:latin typeface="Calibri" panose="020F0502020204030204" pitchFamily="34" charset="0"/>
              <a:cs typeface="Calibri" panose="020F0502020204030204" pitchFamily="34" charset="0"/>
            </a:endParaRPr>
          </a:p>
        </p:txBody>
      </p:sp>
      <p:sp>
        <p:nvSpPr>
          <p:cNvPr id="14" name="Text 12">
            <a:extLst>
              <a:ext uri="{FF2B5EF4-FFF2-40B4-BE49-F238E27FC236}">
                <a16:creationId xmlns:a16="http://schemas.microsoft.com/office/drawing/2014/main" id="{8D072E97-611F-37B3-DDC2-2C4660366DB3}"/>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a:extLst>
              <a:ext uri="{FF2B5EF4-FFF2-40B4-BE49-F238E27FC236}">
                <a16:creationId xmlns:a16="http://schemas.microsoft.com/office/drawing/2014/main" id="{5B6FE0A1-AC2E-2260-3A43-D5CEB221C3B0}"/>
              </a:ext>
            </a:extLst>
          </p:cNvPr>
          <p:cNvSpPr/>
          <p:nvPr/>
        </p:nvSpPr>
        <p:spPr>
          <a:xfrm>
            <a:off x="22860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a:extLst>
              <a:ext uri="{FF2B5EF4-FFF2-40B4-BE49-F238E27FC236}">
                <a16:creationId xmlns:a16="http://schemas.microsoft.com/office/drawing/2014/main" id="{6F92D54D-8E40-18D7-03AF-F6604AFAF83D}"/>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a:extLst>
              <a:ext uri="{FF2B5EF4-FFF2-40B4-BE49-F238E27FC236}">
                <a16:creationId xmlns:a16="http://schemas.microsoft.com/office/drawing/2014/main" id="{22312C0A-1442-1565-3908-3F59BF91B0B9}"/>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a:extLst>
              <a:ext uri="{FF2B5EF4-FFF2-40B4-BE49-F238E27FC236}">
                <a16:creationId xmlns:a16="http://schemas.microsoft.com/office/drawing/2014/main" id="{992AFD18-2DE3-89B4-5F04-FF46784D291B}"/>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a:extLst>
              <a:ext uri="{FF2B5EF4-FFF2-40B4-BE49-F238E27FC236}">
                <a16:creationId xmlns:a16="http://schemas.microsoft.com/office/drawing/2014/main" id="{C5FF58A5-ED4F-A055-76BC-40815D52B712}"/>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extLst>
      <p:ext uri="{BB962C8B-B14F-4D97-AF65-F5344CB8AC3E}">
        <p14:creationId xmlns:p14="http://schemas.microsoft.com/office/powerpoint/2010/main" val="44641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txBody>
          <a:bodyPr/>
          <a:lstStyle/>
          <a:p>
            <a:endParaRPr lang="en-US"/>
          </a:p>
        </p:txBody>
      </p:sp>
      <p:sp>
        <p:nvSpPr>
          <p:cNvPr id="3" name="Shape 1"/>
          <p:cNvSpPr/>
          <p:nvPr/>
        </p:nvSpPr>
        <p:spPr>
          <a:xfrm>
            <a:off x="0" y="1005840"/>
            <a:ext cx="9144000" cy="73152"/>
          </a:xfrm>
          <a:prstGeom prst="rect">
            <a:avLst/>
          </a:prstGeom>
          <a:solidFill>
            <a:srgbClr val="0D9488"/>
          </a:solidFill>
          <a:ln/>
        </p:spPr>
        <p:txBody>
          <a:bodyPr/>
          <a:lstStyle/>
          <a:p>
            <a:endParaRPr lang="en-US"/>
          </a:p>
        </p:txBody>
      </p:sp>
      <p:sp>
        <p:nvSpPr>
          <p:cNvPr id="4" name="Text 2"/>
          <p:cNvSpPr/>
          <p:nvPr/>
        </p:nvSpPr>
        <p:spPr>
          <a:xfrm>
            <a:off x="365760" y="109728"/>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Variable Selection Methods</a:t>
            </a:r>
            <a:endParaRPr lang="en-US" sz="2200" dirty="0"/>
          </a:p>
        </p:txBody>
      </p:sp>
      <p:sp>
        <p:nvSpPr>
          <p:cNvPr id="5" name="Text 3"/>
          <p:cNvSpPr/>
          <p:nvPr/>
        </p:nvSpPr>
        <p:spPr>
          <a:xfrm>
            <a:off x="365760" y="658368"/>
            <a:ext cx="8412480" cy="320040"/>
          </a:xfrm>
          <a:prstGeom prst="rect">
            <a:avLst/>
          </a:prstGeom>
          <a:noFill/>
          <a:ln/>
        </p:spPr>
        <p:txBody>
          <a:bodyPr wrap="square" lIns="0" tIns="0" rIns="0" bIns="0" rtlCol="0" anchor="ctr"/>
          <a:lstStyle/>
          <a:p>
            <a:pPr marL="0" indent="0">
              <a:buNone/>
            </a:pPr>
            <a:r>
              <a:rPr lang="en-US" sz="1100" i="1" dirty="0">
                <a:solidFill>
                  <a:srgbClr val="5EEAD4"/>
                </a:solidFill>
                <a:latin typeface="Calibri" pitchFamily="34" charset="0"/>
                <a:ea typeface="Calibri" pitchFamily="34" charset="-122"/>
                <a:cs typeface="Calibri" pitchFamily="34" charset="-120"/>
              </a:rPr>
              <a:t>Choosing which predictors to include — four common strategies</a:t>
            </a:r>
            <a:endParaRPr lang="en-US" sz="1100" dirty="0"/>
          </a:p>
        </p:txBody>
      </p:sp>
      <p:sp>
        <p:nvSpPr>
          <p:cNvPr id="6" name="Shape 4"/>
          <p:cNvSpPr/>
          <p:nvPr/>
        </p:nvSpPr>
        <p:spPr>
          <a:xfrm>
            <a:off x="274320" y="1188720"/>
            <a:ext cx="2011680" cy="3703320"/>
          </a:xfrm>
          <a:prstGeom prst="rect">
            <a:avLst/>
          </a:prstGeom>
          <a:solidFill>
            <a:srgbClr val="FFFFFF"/>
          </a:solidFill>
          <a:ln/>
          <a:effectLst>
            <a:outerShdw blurRad="63500" dist="25400" dir="8100000" algn="bl" rotWithShape="0">
              <a:srgbClr val="000000">
                <a:alpha val="9000"/>
              </a:srgbClr>
            </a:outerShdw>
          </a:effectLst>
        </p:spPr>
        <p:txBody>
          <a:bodyPr/>
          <a:lstStyle/>
          <a:p>
            <a:endParaRPr lang="en-US"/>
          </a:p>
        </p:txBody>
      </p:sp>
      <p:sp>
        <p:nvSpPr>
          <p:cNvPr id="7" name="Shape 5"/>
          <p:cNvSpPr/>
          <p:nvPr/>
        </p:nvSpPr>
        <p:spPr>
          <a:xfrm>
            <a:off x="274320" y="1188720"/>
            <a:ext cx="2011680" cy="457200"/>
          </a:xfrm>
          <a:prstGeom prst="rect">
            <a:avLst/>
          </a:prstGeom>
          <a:solidFill>
            <a:srgbClr val="0D9488"/>
          </a:solidFill>
          <a:ln/>
        </p:spPr>
        <p:txBody>
          <a:bodyPr/>
          <a:lstStyle/>
          <a:p>
            <a:endParaRPr lang="en-US"/>
          </a:p>
        </p:txBody>
      </p:sp>
      <p:sp>
        <p:nvSpPr>
          <p:cNvPr id="8" name="Text 6"/>
          <p:cNvSpPr/>
          <p:nvPr/>
        </p:nvSpPr>
        <p:spPr>
          <a:xfrm>
            <a:off x="347472" y="1188720"/>
            <a:ext cx="1865376" cy="45720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Enter (Forced Entry)</a:t>
            </a:r>
            <a:endParaRPr lang="en-US" sz="1050" dirty="0"/>
          </a:p>
        </p:txBody>
      </p:sp>
      <p:sp>
        <p:nvSpPr>
          <p:cNvPr id="9" name="Text 7"/>
          <p:cNvSpPr/>
          <p:nvPr/>
        </p:nvSpPr>
        <p:spPr>
          <a:xfrm>
            <a:off x="365760" y="1719072"/>
            <a:ext cx="1737360" cy="201168"/>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 Pros</a:t>
            </a:r>
            <a:endParaRPr lang="en-US" sz="900" dirty="0"/>
          </a:p>
        </p:txBody>
      </p:sp>
      <p:sp>
        <p:nvSpPr>
          <p:cNvPr id="10" name="Text 8"/>
          <p:cNvSpPr/>
          <p:nvPr/>
        </p:nvSpPr>
        <p:spPr>
          <a:xfrm>
            <a:off x="365760" y="1920240"/>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No data dredging; theory-driven; preferred in epidemiology</a:t>
            </a:r>
            <a:endParaRPr lang="en-US" sz="850" dirty="0"/>
          </a:p>
        </p:txBody>
      </p:sp>
      <p:sp>
        <p:nvSpPr>
          <p:cNvPr id="11" name="Text 9"/>
          <p:cNvSpPr/>
          <p:nvPr/>
        </p:nvSpPr>
        <p:spPr>
          <a:xfrm>
            <a:off x="365760" y="2514600"/>
            <a:ext cx="1737360" cy="20116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 Cons</a:t>
            </a:r>
            <a:endParaRPr lang="en-US" sz="900" dirty="0"/>
          </a:p>
        </p:txBody>
      </p:sp>
      <p:sp>
        <p:nvSpPr>
          <p:cNvPr id="12" name="Text 10"/>
          <p:cNvSpPr/>
          <p:nvPr/>
        </p:nvSpPr>
        <p:spPr>
          <a:xfrm>
            <a:off x="365760" y="2715768"/>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Relies on researcher expertise; may include non-significant vars</a:t>
            </a:r>
            <a:endParaRPr lang="en-US" sz="850" dirty="0"/>
          </a:p>
        </p:txBody>
      </p:sp>
      <p:sp>
        <p:nvSpPr>
          <p:cNvPr id="13" name="Text 11"/>
          <p:cNvSpPr/>
          <p:nvPr/>
        </p:nvSpPr>
        <p:spPr>
          <a:xfrm>
            <a:off x="365760" y="3310128"/>
            <a:ext cx="1737360" cy="201168"/>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When to use:</a:t>
            </a:r>
            <a:endParaRPr lang="en-US" sz="850" dirty="0"/>
          </a:p>
        </p:txBody>
      </p:sp>
      <p:sp>
        <p:nvSpPr>
          <p:cNvPr id="14" name="Text 12"/>
          <p:cNvSpPr/>
          <p:nvPr/>
        </p:nvSpPr>
        <p:spPr>
          <a:xfrm>
            <a:off x="365760" y="3511296"/>
            <a:ext cx="1828800" cy="274320"/>
          </a:xfrm>
          <a:prstGeom prst="rect">
            <a:avLst/>
          </a:prstGeom>
          <a:noFill/>
          <a:ln/>
        </p:spPr>
        <p:txBody>
          <a:bodyPr wrap="square" lIns="0" tIns="0" rIns="0" bIns="0" rtlCol="0" anchor="ctr"/>
          <a:lstStyle/>
          <a:p>
            <a:pPr marL="0" indent="0">
              <a:buNone/>
            </a:pPr>
            <a:r>
              <a:rPr lang="en-US" sz="800" i="1" dirty="0">
                <a:solidFill>
                  <a:srgbClr val="0F172A"/>
                </a:solidFill>
                <a:latin typeface="Calibri" pitchFamily="34" charset="0"/>
                <a:ea typeface="Calibri" pitchFamily="34" charset="-122"/>
                <a:cs typeface="Calibri" pitchFamily="34" charset="-120"/>
              </a:rPr>
              <a:t>Confirmatory research with a priori hypotheses</a:t>
            </a:r>
            <a:endParaRPr lang="en-US" sz="800" dirty="0"/>
          </a:p>
        </p:txBody>
      </p:sp>
      <p:sp>
        <p:nvSpPr>
          <p:cNvPr id="15" name="Shape 13"/>
          <p:cNvSpPr/>
          <p:nvPr/>
        </p:nvSpPr>
        <p:spPr>
          <a:xfrm>
            <a:off x="320040" y="3840480"/>
            <a:ext cx="1920240" cy="731520"/>
          </a:xfrm>
          <a:prstGeom prst="rect">
            <a:avLst/>
          </a:prstGeom>
          <a:solidFill>
            <a:srgbClr val="1E293B"/>
          </a:solidFill>
          <a:ln/>
        </p:spPr>
        <p:txBody>
          <a:bodyPr/>
          <a:lstStyle/>
          <a:p>
            <a:endParaRPr lang="en-US"/>
          </a:p>
        </p:txBody>
      </p:sp>
      <p:sp>
        <p:nvSpPr>
          <p:cNvPr id="16" name="Text 14"/>
          <p:cNvSpPr/>
          <p:nvPr/>
        </p:nvSpPr>
        <p:spPr>
          <a:xfrm>
            <a:off x="384048" y="3858768"/>
            <a:ext cx="1792224" cy="694944"/>
          </a:xfrm>
          <a:prstGeom prst="rect">
            <a:avLst/>
          </a:prstGeom>
          <a:noFill/>
          <a:ln/>
        </p:spPr>
        <p:txBody>
          <a:bodyPr wrap="square" rtlCol="0" anchor="t"/>
          <a:lstStyle/>
          <a:p>
            <a:pPr marL="0" indent="0">
              <a:buNone/>
            </a:pPr>
            <a:r>
              <a:rPr lang="en-US" sz="750" dirty="0">
                <a:solidFill>
                  <a:srgbClr val="A5F3FC"/>
                </a:solidFill>
                <a:latin typeface="Consolas" pitchFamily="34" charset="0"/>
                <a:ea typeface="Consolas" pitchFamily="34" charset="-122"/>
                <a:cs typeface="Consolas" pitchFamily="34" charset="-120"/>
              </a:rPr>
              <a:t>model &lt;- lm(y ~ x1 + x2 + x3, data=df)</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summary(model)</a:t>
            </a:r>
            <a:endParaRPr lang="en-US" sz="750" dirty="0"/>
          </a:p>
        </p:txBody>
      </p:sp>
      <p:sp>
        <p:nvSpPr>
          <p:cNvPr id="17" name="Shape 15"/>
          <p:cNvSpPr/>
          <p:nvPr/>
        </p:nvSpPr>
        <p:spPr>
          <a:xfrm>
            <a:off x="2487168" y="1188720"/>
            <a:ext cx="2011680" cy="3703320"/>
          </a:xfrm>
          <a:prstGeom prst="rect">
            <a:avLst/>
          </a:prstGeom>
          <a:solidFill>
            <a:srgbClr val="FFFFFF"/>
          </a:solidFill>
          <a:ln/>
          <a:effectLst>
            <a:outerShdw blurRad="63500" dist="25400" dir="8100000" algn="bl" rotWithShape="0">
              <a:srgbClr val="000000">
                <a:alpha val="9000"/>
              </a:srgbClr>
            </a:outerShdw>
          </a:effectLst>
        </p:spPr>
        <p:txBody>
          <a:bodyPr/>
          <a:lstStyle/>
          <a:p>
            <a:endParaRPr lang="en-US"/>
          </a:p>
        </p:txBody>
      </p:sp>
      <p:sp>
        <p:nvSpPr>
          <p:cNvPr id="18" name="Shape 16"/>
          <p:cNvSpPr/>
          <p:nvPr/>
        </p:nvSpPr>
        <p:spPr>
          <a:xfrm>
            <a:off x="2487168" y="1188720"/>
            <a:ext cx="2011680" cy="457200"/>
          </a:xfrm>
          <a:prstGeom prst="rect">
            <a:avLst/>
          </a:prstGeom>
          <a:solidFill>
            <a:srgbClr val="F59E0B"/>
          </a:solidFill>
          <a:ln/>
        </p:spPr>
        <p:txBody>
          <a:bodyPr/>
          <a:lstStyle/>
          <a:p>
            <a:endParaRPr lang="en-US"/>
          </a:p>
        </p:txBody>
      </p:sp>
      <p:sp>
        <p:nvSpPr>
          <p:cNvPr id="19" name="Text 17"/>
          <p:cNvSpPr/>
          <p:nvPr/>
        </p:nvSpPr>
        <p:spPr>
          <a:xfrm>
            <a:off x="2560320" y="1188720"/>
            <a:ext cx="1865376" cy="45720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Forward Selection</a:t>
            </a:r>
            <a:endParaRPr lang="en-US" sz="1050" dirty="0"/>
          </a:p>
        </p:txBody>
      </p:sp>
      <p:sp>
        <p:nvSpPr>
          <p:cNvPr id="20" name="Text 18"/>
          <p:cNvSpPr/>
          <p:nvPr/>
        </p:nvSpPr>
        <p:spPr>
          <a:xfrm>
            <a:off x="2578608" y="1719072"/>
            <a:ext cx="1737360" cy="201168"/>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 Pros</a:t>
            </a:r>
            <a:endParaRPr lang="en-US" sz="900" dirty="0"/>
          </a:p>
        </p:txBody>
      </p:sp>
      <p:sp>
        <p:nvSpPr>
          <p:cNvPr id="21" name="Text 19"/>
          <p:cNvSpPr/>
          <p:nvPr/>
        </p:nvSpPr>
        <p:spPr>
          <a:xfrm>
            <a:off x="2578608" y="1920240"/>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Adds only significant variables; efficient for large datasets</a:t>
            </a:r>
            <a:endParaRPr lang="en-US" sz="850" dirty="0"/>
          </a:p>
        </p:txBody>
      </p:sp>
      <p:sp>
        <p:nvSpPr>
          <p:cNvPr id="22" name="Text 20"/>
          <p:cNvSpPr/>
          <p:nvPr/>
        </p:nvSpPr>
        <p:spPr>
          <a:xfrm>
            <a:off x="2578608" y="2514600"/>
            <a:ext cx="1737360" cy="20116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 Cons</a:t>
            </a:r>
            <a:endParaRPr lang="en-US" sz="900" dirty="0"/>
          </a:p>
        </p:txBody>
      </p:sp>
      <p:sp>
        <p:nvSpPr>
          <p:cNvPr id="23" name="Text 21"/>
          <p:cNvSpPr/>
          <p:nvPr/>
        </p:nvSpPr>
        <p:spPr>
          <a:xfrm>
            <a:off x="2578608" y="2715768"/>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Misses suppressor variables; order-dependent; inflated α</a:t>
            </a:r>
            <a:endParaRPr lang="en-US" sz="850" dirty="0"/>
          </a:p>
        </p:txBody>
      </p:sp>
      <p:sp>
        <p:nvSpPr>
          <p:cNvPr id="24" name="Text 22"/>
          <p:cNvSpPr/>
          <p:nvPr/>
        </p:nvSpPr>
        <p:spPr>
          <a:xfrm>
            <a:off x="2578608" y="3310128"/>
            <a:ext cx="1737360" cy="201168"/>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When to use:</a:t>
            </a:r>
            <a:endParaRPr lang="en-US" sz="850" dirty="0"/>
          </a:p>
        </p:txBody>
      </p:sp>
      <p:sp>
        <p:nvSpPr>
          <p:cNvPr id="25" name="Text 23"/>
          <p:cNvSpPr/>
          <p:nvPr/>
        </p:nvSpPr>
        <p:spPr>
          <a:xfrm>
            <a:off x="2578608" y="3511296"/>
            <a:ext cx="1828800" cy="274320"/>
          </a:xfrm>
          <a:prstGeom prst="rect">
            <a:avLst/>
          </a:prstGeom>
          <a:noFill/>
          <a:ln/>
        </p:spPr>
        <p:txBody>
          <a:bodyPr wrap="square" lIns="0" tIns="0" rIns="0" bIns="0" rtlCol="0" anchor="ctr"/>
          <a:lstStyle/>
          <a:p>
            <a:pPr marL="0" indent="0">
              <a:buNone/>
            </a:pPr>
            <a:r>
              <a:rPr lang="en-US" sz="800" i="1" dirty="0">
                <a:solidFill>
                  <a:srgbClr val="0F172A"/>
                </a:solidFill>
                <a:latin typeface="Calibri" pitchFamily="34" charset="0"/>
                <a:ea typeface="Calibri" pitchFamily="34" charset="-122"/>
                <a:cs typeface="Calibri" pitchFamily="34" charset="-120"/>
              </a:rPr>
              <a:t>Exploratory analysis with many candidate predictors</a:t>
            </a:r>
            <a:endParaRPr lang="en-US" sz="800" dirty="0"/>
          </a:p>
        </p:txBody>
      </p:sp>
      <p:sp>
        <p:nvSpPr>
          <p:cNvPr id="26" name="Shape 24"/>
          <p:cNvSpPr/>
          <p:nvPr/>
        </p:nvSpPr>
        <p:spPr>
          <a:xfrm>
            <a:off x="2532888" y="3840480"/>
            <a:ext cx="1920240" cy="731520"/>
          </a:xfrm>
          <a:prstGeom prst="rect">
            <a:avLst/>
          </a:prstGeom>
          <a:solidFill>
            <a:srgbClr val="1E293B"/>
          </a:solidFill>
          <a:ln/>
        </p:spPr>
        <p:txBody>
          <a:bodyPr/>
          <a:lstStyle/>
          <a:p>
            <a:endParaRPr lang="en-US"/>
          </a:p>
        </p:txBody>
      </p:sp>
      <p:sp>
        <p:nvSpPr>
          <p:cNvPr id="27" name="Text 25"/>
          <p:cNvSpPr/>
          <p:nvPr/>
        </p:nvSpPr>
        <p:spPr>
          <a:xfrm>
            <a:off x="2596896" y="3858768"/>
            <a:ext cx="1792224" cy="694944"/>
          </a:xfrm>
          <a:prstGeom prst="rect">
            <a:avLst/>
          </a:prstGeom>
          <a:noFill/>
          <a:ln/>
        </p:spPr>
        <p:txBody>
          <a:bodyPr wrap="square" rtlCol="0" anchor="t"/>
          <a:lstStyle/>
          <a:p>
            <a:pPr marL="0" indent="0">
              <a:buNone/>
            </a:pPr>
            <a:r>
              <a:rPr lang="en-US" sz="750" dirty="0">
                <a:solidFill>
                  <a:srgbClr val="A5F3FC"/>
                </a:solidFill>
                <a:latin typeface="Consolas" pitchFamily="34" charset="0"/>
                <a:ea typeface="Consolas" pitchFamily="34" charset="-122"/>
                <a:cs typeface="Consolas" pitchFamily="34" charset="-120"/>
              </a:rPr>
              <a:t>library(MASS)</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step(lm(y~1,data=df),</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  scope=~x1+x2+x3,</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  direction="forward")</a:t>
            </a:r>
            <a:endParaRPr lang="en-US" sz="750" dirty="0"/>
          </a:p>
        </p:txBody>
      </p:sp>
      <p:sp>
        <p:nvSpPr>
          <p:cNvPr id="28" name="Shape 26"/>
          <p:cNvSpPr/>
          <p:nvPr/>
        </p:nvSpPr>
        <p:spPr>
          <a:xfrm>
            <a:off x="4700016" y="1188720"/>
            <a:ext cx="2011680" cy="3703320"/>
          </a:xfrm>
          <a:prstGeom prst="rect">
            <a:avLst/>
          </a:prstGeom>
          <a:solidFill>
            <a:srgbClr val="FFFFFF"/>
          </a:solidFill>
          <a:ln/>
          <a:effectLst>
            <a:outerShdw blurRad="63500" dist="25400" dir="8100000" algn="bl" rotWithShape="0">
              <a:srgbClr val="000000">
                <a:alpha val="9000"/>
              </a:srgbClr>
            </a:outerShdw>
          </a:effectLst>
        </p:spPr>
        <p:txBody>
          <a:bodyPr/>
          <a:lstStyle/>
          <a:p>
            <a:endParaRPr lang="en-US"/>
          </a:p>
        </p:txBody>
      </p:sp>
      <p:sp>
        <p:nvSpPr>
          <p:cNvPr id="29" name="Shape 27"/>
          <p:cNvSpPr/>
          <p:nvPr/>
        </p:nvSpPr>
        <p:spPr>
          <a:xfrm>
            <a:off x="4700016" y="1188720"/>
            <a:ext cx="2011680" cy="457200"/>
          </a:xfrm>
          <a:prstGeom prst="rect">
            <a:avLst/>
          </a:prstGeom>
          <a:solidFill>
            <a:srgbClr val="6366F1"/>
          </a:solidFill>
          <a:ln/>
        </p:spPr>
        <p:txBody>
          <a:bodyPr/>
          <a:lstStyle/>
          <a:p>
            <a:endParaRPr lang="en-US"/>
          </a:p>
        </p:txBody>
      </p:sp>
      <p:sp>
        <p:nvSpPr>
          <p:cNvPr id="30" name="Text 28"/>
          <p:cNvSpPr/>
          <p:nvPr/>
        </p:nvSpPr>
        <p:spPr>
          <a:xfrm>
            <a:off x="4773168" y="1188720"/>
            <a:ext cx="1865376" cy="45720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Backward Elimination</a:t>
            </a:r>
            <a:endParaRPr lang="en-US" sz="1050" dirty="0"/>
          </a:p>
        </p:txBody>
      </p:sp>
      <p:sp>
        <p:nvSpPr>
          <p:cNvPr id="31" name="Text 29"/>
          <p:cNvSpPr/>
          <p:nvPr/>
        </p:nvSpPr>
        <p:spPr>
          <a:xfrm>
            <a:off x="4791456" y="1719072"/>
            <a:ext cx="1737360" cy="201168"/>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 Pros</a:t>
            </a:r>
            <a:endParaRPr lang="en-US" sz="900" dirty="0"/>
          </a:p>
        </p:txBody>
      </p:sp>
      <p:sp>
        <p:nvSpPr>
          <p:cNvPr id="32" name="Text 30"/>
          <p:cNvSpPr/>
          <p:nvPr/>
        </p:nvSpPr>
        <p:spPr>
          <a:xfrm>
            <a:off x="4791456" y="1920240"/>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Starts with full model; better for correlated predictors</a:t>
            </a:r>
            <a:endParaRPr lang="en-US" sz="850" dirty="0"/>
          </a:p>
        </p:txBody>
      </p:sp>
      <p:sp>
        <p:nvSpPr>
          <p:cNvPr id="33" name="Text 31"/>
          <p:cNvSpPr/>
          <p:nvPr/>
        </p:nvSpPr>
        <p:spPr>
          <a:xfrm>
            <a:off x="4791456" y="2514600"/>
            <a:ext cx="1737360" cy="20116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 Cons</a:t>
            </a:r>
            <a:endParaRPr lang="en-US" sz="900" dirty="0"/>
          </a:p>
        </p:txBody>
      </p:sp>
      <p:sp>
        <p:nvSpPr>
          <p:cNvPr id="34" name="Text 32"/>
          <p:cNvSpPr/>
          <p:nvPr/>
        </p:nvSpPr>
        <p:spPr>
          <a:xfrm>
            <a:off x="4791456" y="2715768"/>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Computationally intensive; same α inflation issue</a:t>
            </a:r>
            <a:endParaRPr lang="en-US" sz="850" dirty="0"/>
          </a:p>
        </p:txBody>
      </p:sp>
      <p:sp>
        <p:nvSpPr>
          <p:cNvPr id="35" name="Text 33"/>
          <p:cNvSpPr/>
          <p:nvPr/>
        </p:nvSpPr>
        <p:spPr>
          <a:xfrm>
            <a:off x="4791456" y="3310128"/>
            <a:ext cx="1737360" cy="201168"/>
          </a:xfrm>
          <a:prstGeom prst="rect">
            <a:avLst/>
          </a:prstGeom>
          <a:noFill/>
          <a:ln/>
        </p:spPr>
        <p:txBody>
          <a:bodyPr wrap="square" lIns="0" tIns="0" rIns="0" bIns="0" rtlCol="0" anchor="ctr"/>
          <a:lstStyle/>
          <a:p>
            <a:pPr marL="0" indent="0">
              <a:buNone/>
            </a:pPr>
            <a:r>
              <a:rPr lang="en-US" sz="850" b="1" dirty="0">
                <a:solidFill>
                  <a:srgbClr val="6366F1"/>
                </a:solidFill>
                <a:latin typeface="Calibri" pitchFamily="34" charset="0"/>
                <a:ea typeface="Calibri" pitchFamily="34" charset="-122"/>
                <a:cs typeface="Calibri" pitchFamily="34" charset="-120"/>
              </a:rPr>
              <a:t>When to use:</a:t>
            </a:r>
            <a:endParaRPr lang="en-US" sz="850" dirty="0"/>
          </a:p>
        </p:txBody>
      </p:sp>
      <p:sp>
        <p:nvSpPr>
          <p:cNvPr id="36" name="Text 34"/>
          <p:cNvSpPr/>
          <p:nvPr/>
        </p:nvSpPr>
        <p:spPr>
          <a:xfrm>
            <a:off x="4791456" y="3511296"/>
            <a:ext cx="1828800" cy="274320"/>
          </a:xfrm>
          <a:prstGeom prst="rect">
            <a:avLst/>
          </a:prstGeom>
          <a:noFill/>
          <a:ln/>
        </p:spPr>
        <p:txBody>
          <a:bodyPr wrap="square" lIns="0" tIns="0" rIns="0" bIns="0" rtlCol="0" anchor="ctr"/>
          <a:lstStyle/>
          <a:p>
            <a:pPr marL="0" indent="0">
              <a:buNone/>
            </a:pPr>
            <a:r>
              <a:rPr lang="en-US" sz="800" i="1" dirty="0">
                <a:solidFill>
                  <a:srgbClr val="0F172A"/>
                </a:solidFill>
                <a:latin typeface="Calibri" pitchFamily="34" charset="0"/>
                <a:ea typeface="Calibri" pitchFamily="34" charset="-122"/>
                <a:cs typeface="Calibri" pitchFamily="34" charset="-120"/>
              </a:rPr>
              <a:t>When you start with a plausible full model</a:t>
            </a:r>
            <a:endParaRPr lang="en-US" sz="800" dirty="0"/>
          </a:p>
        </p:txBody>
      </p:sp>
      <p:sp>
        <p:nvSpPr>
          <p:cNvPr id="37" name="Shape 35"/>
          <p:cNvSpPr/>
          <p:nvPr/>
        </p:nvSpPr>
        <p:spPr>
          <a:xfrm>
            <a:off x="4745736" y="3840480"/>
            <a:ext cx="1920240" cy="731520"/>
          </a:xfrm>
          <a:prstGeom prst="rect">
            <a:avLst/>
          </a:prstGeom>
          <a:solidFill>
            <a:srgbClr val="1E293B"/>
          </a:solidFill>
          <a:ln/>
        </p:spPr>
        <p:txBody>
          <a:bodyPr/>
          <a:lstStyle/>
          <a:p>
            <a:endParaRPr lang="en-US"/>
          </a:p>
        </p:txBody>
      </p:sp>
      <p:sp>
        <p:nvSpPr>
          <p:cNvPr id="38" name="Text 36"/>
          <p:cNvSpPr/>
          <p:nvPr/>
        </p:nvSpPr>
        <p:spPr>
          <a:xfrm>
            <a:off x="4809744" y="3858768"/>
            <a:ext cx="1792224" cy="694944"/>
          </a:xfrm>
          <a:prstGeom prst="rect">
            <a:avLst/>
          </a:prstGeom>
          <a:noFill/>
          <a:ln/>
        </p:spPr>
        <p:txBody>
          <a:bodyPr wrap="square" rtlCol="0" anchor="t"/>
          <a:lstStyle/>
          <a:p>
            <a:pPr marL="0" indent="0">
              <a:buNone/>
            </a:pPr>
            <a:r>
              <a:rPr lang="en-US" sz="750" dirty="0">
                <a:solidFill>
                  <a:srgbClr val="A5F3FC"/>
                </a:solidFill>
                <a:latin typeface="Consolas" pitchFamily="34" charset="0"/>
                <a:ea typeface="Consolas" pitchFamily="34" charset="-122"/>
                <a:cs typeface="Consolas" pitchFamily="34" charset="-120"/>
              </a:rPr>
              <a:t>full &lt;- lm(y~x1+x2+x3, data=df)</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step(full,</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  direction="backward")</a:t>
            </a:r>
            <a:endParaRPr lang="en-US" sz="750" dirty="0"/>
          </a:p>
        </p:txBody>
      </p:sp>
      <p:sp>
        <p:nvSpPr>
          <p:cNvPr id="39" name="Shape 37"/>
          <p:cNvSpPr/>
          <p:nvPr/>
        </p:nvSpPr>
        <p:spPr>
          <a:xfrm>
            <a:off x="6912864" y="1188720"/>
            <a:ext cx="2011680" cy="3703320"/>
          </a:xfrm>
          <a:prstGeom prst="rect">
            <a:avLst/>
          </a:prstGeom>
          <a:solidFill>
            <a:srgbClr val="FFFFFF"/>
          </a:solidFill>
          <a:ln/>
          <a:effectLst>
            <a:outerShdw blurRad="63500" dist="25400" dir="8100000" algn="bl" rotWithShape="0">
              <a:srgbClr val="000000">
                <a:alpha val="9000"/>
              </a:srgbClr>
            </a:outerShdw>
          </a:effectLst>
        </p:spPr>
        <p:txBody>
          <a:bodyPr/>
          <a:lstStyle/>
          <a:p>
            <a:endParaRPr lang="en-US"/>
          </a:p>
        </p:txBody>
      </p:sp>
      <p:sp>
        <p:nvSpPr>
          <p:cNvPr id="40" name="Shape 38"/>
          <p:cNvSpPr/>
          <p:nvPr/>
        </p:nvSpPr>
        <p:spPr>
          <a:xfrm>
            <a:off x="6912864" y="1188720"/>
            <a:ext cx="2011680" cy="457200"/>
          </a:xfrm>
          <a:prstGeom prst="rect">
            <a:avLst/>
          </a:prstGeom>
          <a:solidFill>
            <a:srgbClr val="EF4444"/>
          </a:solidFill>
          <a:ln/>
        </p:spPr>
        <p:txBody>
          <a:bodyPr/>
          <a:lstStyle/>
          <a:p>
            <a:endParaRPr lang="en-US"/>
          </a:p>
        </p:txBody>
      </p:sp>
      <p:sp>
        <p:nvSpPr>
          <p:cNvPr id="41" name="Text 39"/>
          <p:cNvSpPr/>
          <p:nvPr/>
        </p:nvSpPr>
        <p:spPr>
          <a:xfrm>
            <a:off x="6986016" y="1188720"/>
            <a:ext cx="1865376" cy="45720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Stepwise (Both)</a:t>
            </a:r>
            <a:endParaRPr lang="en-US" sz="1050" dirty="0"/>
          </a:p>
        </p:txBody>
      </p:sp>
      <p:sp>
        <p:nvSpPr>
          <p:cNvPr id="42" name="Text 40"/>
          <p:cNvSpPr/>
          <p:nvPr/>
        </p:nvSpPr>
        <p:spPr>
          <a:xfrm>
            <a:off x="7004304" y="1719072"/>
            <a:ext cx="1737360" cy="201168"/>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 Pros</a:t>
            </a:r>
            <a:endParaRPr lang="en-US" sz="900" dirty="0"/>
          </a:p>
        </p:txBody>
      </p:sp>
      <p:sp>
        <p:nvSpPr>
          <p:cNvPr id="43" name="Text 41"/>
          <p:cNvSpPr/>
          <p:nvPr/>
        </p:nvSpPr>
        <p:spPr>
          <a:xfrm>
            <a:off x="7004304" y="1920240"/>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Most flexible; re-evaluates at each step</a:t>
            </a:r>
            <a:endParaRPr lang="en-US" sz="850" dirty="0"/>
          </a:p>
        </p:txBody>
      </p:sp>
      <p:sp>
        <p:nvSpPr>
          <p:cNvPr id="44" name="Text 42"/>
          <p:cNvSpPr/>
          <p:nvPr/>
        </p:nvSpPr>
        <p:spPr>
          <a:xfrm>
            <a:off x="7004304" y="2514600"/>
            <a:ext cx="1737360" cy="20116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 Cons</a:t>
            </a:r>
            <a:endParaRPr lang="en-US" sz="900" dirty="0"/>
          </a:p>
        </p:txBody>
      </p:sp>
      <p:sp>
        <p:nvSpPr>
          <p:cNvPr id="45" name="Text 43"/>
          <p:cNvSpPr/>
          <p:nvPr/>
        </p:nvSpPr>
        <p:spPr>
          <a:xfrm>
            <a:off x="7004304" y="2715768"/>
            <a:ext cx="1828800" cy="548640"/>
          </a:xfrm>
          <a:prstGeom prst="rect">
            <a:avLst/>
          </a:prstGeom>
          <a:noFill/>
          <a:ln/>
        </p:spPr>
        <p:txBody>
          <a:bodyPr wrap="square" lIns="0" tIns="0" rIns="0" bIns="0" rtlCol="0" anchor="ctr"/>
          <a:lstStyle/>
          <a:p>
            <a:pPr marL="0" indent="0">
              <a:buNone/>
            </a:pPr>
            <a:r>
              <a:rPr lang="en-US" sz="850" dirty="0">
                <a:solidFill>
                  <a:srgbClr val="0F172A"/>
                </a:solidFill>
                <a:latin typeface="Calibri" pitchFamily="34" charset="0"/>
                <a:ea typeface="Calibri" pitchFamily="34" charset="-122"/>
                <a:cs typeface="Calibri" pitchFamily="34" charset="-120"/>
              </a:rPr>
              <a:t>Highest risk of over-fitting; not recommended for inference</a:t>
            </a:r>
            <a:endParaRPr lang="en-US" sz="850" dirty="0"/>
          </a:p>
        </p:txBody>
      </p:sp>
      <p:sp>
        <p:nvSpPr>
          <p:cNvPr id="46" name="Text 44"/>
          <p:cNvSpPr/>
          <p:nvPr/>
        </p:nvSpPr>
        <p:spPr>
          <a:xfrm>
            <a:off x="7004304" y="3310128"/>
            <a:ext cx="1737360" cy="201168"/>
          </a:xfrm>
          <a:prstGeom prst="rect">
            <a:avLst/>
          </a:prstGeom>
          <a:noFill/>
          <a:ln/>
        </p:spPr>
        <p:txBody>
          <a:bodyPr wrap="square" lIns="0" tIns="0" rIns="0" bIns="0" rtlCol="0" anchor="ctr"/>
          <a:lstStyle/>
          <a:p>
            <a:pPr marL="0" indent="0">
              <a:buNone/>
            </a:pPr>
            <a:r>
              <a:rPr lang="en-US" sz="850" b="1" dirty="0">
                <a:solidFill>
                  <a:srgbClr val="EF4444"/>
                </a:solidFill>
                <a:latin typeface="Calibri" pitchFamily="34" charset="0"/>
                <a:ea typeface="Calibri" pitchFamily="34" charset="-122"/>
                <a:cs typeface="Calibri" pitchFamily="34" charset="-120"/>
              </a:rPr>
              <a:t>When to use:</a:t>
            </a:r>
            <a:endParaRPr lang="en-US" sz="850" dirty="0"/>
          </a:p>
        </p:txBody>
      </p:sp>
      <p:sp>
        <p:nvSpPr>
          <p:cNvPr id="47" name="Text 45"/>
          <p:cNvSpPr/>
          <p:nvPr/>
        </p:nvSpPr>
        <p:spPr>
          <a:xfrm>
            <a:off x="7004304" y="3511296"/>
            <a:ext cx="1828800" cy="274320"/>
          </a:xfrm>
          <a:prstGeom prst="rect">
            <a:avLst/>
          </a:prstGeom>
          <a:noFill/>
          <a:ln/>
        </p:spPr>
        <p:txBody>
          <a:bodyPr wrap="square" lIns="0" tIns="0" rIns="0" bIns="0" rtlCol="0" anchor="ctr"/>
          <a:lstStyle/>
          <a:p>
            <a:pPr marL="0" indent="0">
              <a:buNone/>
            </a:pPr>
            <a:r>
              <a:rPr lang="en-US" sz="800" i="1" dirty="0">
                <a:solidFill>
                  <a:srgbClr val="0F172A"/>
                </a:solidFill>
                <a:latin typeface="Calibri" pitchFamily="34" charset="0"/>
                <a:ea typeface="Calibri" pitchFamily="34" charset="-122"/>
                <a:cs typeface="Calibri" pitchFamily="34" charset="-120"/>
              </a:rPr>
              <a:t>Prediction-focused (not causal) models only</a:t>
            </a:r>
            <a:endParaRPr lang="en-US" sz="800" dirty="0"/>
          </a:p>
        </p:txBody>
      </p:sp>
      <p:sp>
        <p:nvSpPr>
          <p:cNvPr id="48" name="Shape 46"/>
          <p:cNvSpPr/>
          <p:nvPr/>
        </p:nvSpPr>
        <p:spPr>
          <a:xfrm>
            <a:off x="6958584" y="3840480"/>
            <a:ext cx="1920240" cy="731520"/>
          </a:xfrm>
          <a:prstGeom prst="rect">
            <a:avLst/>
          </a:prstGeom>
          <a:solidFill>
            <a:srgbClr val="1E293B"/>
          </a:solidFill>
          <a:ln/>
        </p:spPr>
        <p:txBody>
          <a:bodyPr/>
          <a:lstStyle/>
          <a:p>
            <a:endParaRPr lang="en-US"/>
          </a:p>
        </p:txBody>
      </p:sp>
      <p:sp>
        <p:nvSpPr>
          <p:cNvPr id="49" name="Text 47"/>
          <p:cNvSpPr/>
          <p:nvPr/>
        </p:nvSpPr>
        <p:spPr>
          <a:xfrm>
            <a:off x="7022592" y="3858768"/>
            <a:ext cx="1792224" cy="694944"/>
          </a:xfrm>
          <a:prstGeom prst="rect">
            <a:avLst/>
          </a:prstGeom>
          <a:noFill/>
          <a:ln/>
        </p:spPr>
        <p:txBody>
          <a:bodyPr wrap="square" rtlCol="0" anchor="t"/>
          <a:lstStyle/>
          <a:p>
            <a:pPr marL="0" indent="0">
              <a:buNone/>
            </a:pPr>
            <a:r>
              <a:rPr lang="en-US" sz="750" dirty="0">
                <a:solidFill>
                  <a:srgbClr val="A5F3FC"/>
                </a:solidFill>
                <a:latin typeface="Consolas" pitchFamily="34" charset="0"/>
                <a:ea typeface="Consolas" pitchFamily="34" charset="-122"/>
                <a:cs typeface="Consolas" pitchFamily="34" charset="-120"/>
              </a:rPr>
              <a:t>step(full,</a:t>
            </a:r>
            <a:endParaRPr lang="en-US" sz="750" dirty="0"/>
          </a:p>
          <a:p>
            <a:pPr marL="0" indent="0">
              <a:buNone/>
            </a:pPr>
            <a:r>
              <a:rPr lang="en-US" sz="750" dirty="0">
                <a:solidFill>
                  <a:srgbClr val="A5F3FC"/>
                </a:solidFill>
                <a:latin typeface="Consolas" pitchFamily="34" charset="0"/>
                <a:ea typeface="Consolas" pitchFamily="34" charset="-122"/>
                <a:cs typeface="Consolas" pitchFamily="34" charset="-120"/>
              </a:rPr>
              <a:t>  direction="both")</a:t>
            </a:r>
            <a:endParaRPr lang="en-US" sz="750" dirty="0"/>
          </a:p>
        </p:txBody>
      </p:sp>
      <p:sp>
        <p:nvSpPr>
          <p:cNvPr id="50" name="Shape 48"/>
          <p:cNvSpPr/>
          <p:nvPr/>
        </p:nvSpPr>
        <p:spPr>
          <a:xfrm>
            <a:off x="274320" y="4828032"/>
            <a:ext cx="8595360" cy="256032"/>
          </a:xfrm>
          <a:prstGeom prst="rect">
            <a:avLst/>
          </a:prstGeom>
          <a:solidFill>
            <a:srgbClr val="FEF3C7"/>
          </a:solidFill>
          <a:ln/>
        </p:spPr>
        <p:txBody>
          <a:bodyPr/>
          <a:lstStyle/>
          <a:p>
            <a:endParaRPr lang="en-US"/>
          </a:p>
        </p:txBody>
      </p:sp>
      <p:sp>
        <p:nvSpPr>
          <p:cNvPr id="51" name="Text 49"/>
          <p:cNvSpPr/>
          <p:nvPr/>
        </p:nvSpPr>
        <p:spPr>
          <a:xfrm>
            <a:off x="365760" y="4846320"/>
            <a:ext cx="8412480" cy="219456"/>
          </a:xfrm>
          <a:prstGeom prst="rect">
            <a:avLst/>
          </a:prstGeom>
          <a:noFill/>
          <a:ln/>
        </p:spPr>
        <p:txBody>
          <a:bodyPr wrap="square" lIns="0" tIns="0" rIns="0" bIns="0" rtlCol="0" anchor="ctr"/>
          <a:lstStyle/>
          <a:p>
            <a:pPr marL="0" indent="0">
              <a:buNone/>
            </a:pPr>
            <a:r>
              <a:rPr lang="en-US" sz="850" dirty="0">
                <a:solidFill>
                  <a:srgbClr val="92400E"/>
                </a:solidFill>
                <a:latin typeface="Calibri" pitchFamily="34" charset="0"/>
                <a:ea typeface="Calibri" pitchFamily="34" charset="-122"/>
                <a:cs typeface="Calibri" pitchFamily="34" charset="-120"/>
              </a:rPr>
              <a:t>⚠  Automatic selection methods inflate Type I error and should not be used for causal inference — prefer Enter method in aetiological studies.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txBody>
          <a:bodyPr/>
          <a:lstStyle/>
          <a:p>
            <a:endParaRPr lang="en-US"/>
          </a:p>
        </p:txBody>
      </p:sp>
      <p:sp>
        <p:nvSpPr>
          <p:cNvPr id="3" name="Shape 1"/>
          <p:cNvSpPr/>
          <p:nvPr/>
        </p:nvSpPr>
        <p:spPr>
          <a:xfrm>
            <a:off x="0" y="1005840"/>
            <a:ext cx="9144000" cy="73152"/>
          </a:xfrm>
          <a:prstGeom prst="rect">
            <a:avLst/>
          </a:prstGeom>
          <a:solidFill>
            <a:srgbClr val="0D9488"/>
          </a:solidFill>
          <a:ln/>
        </p:spPr>
        <p:txBody>
          <a:bodyPr/>
          <a:lstStyle/>
          <a:p>
            <a:endParaRPr lang="en-US"/>
          </a:p>
        </p:txBody>
      </p:sp>
      <p:sp>
        <p:nvSpPr>
          <p:cNvPr id="4" name="Text 2"/>
          <p:cNvSpPr/>
          <p:nvPr/>
        </p:nvSpPr>
        <p:spPr>
          <a:xfrm>
            <a:off x="365760" y="109728"/>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Comparing Selection Methods at a Glance</a:t>
            </a:r>
            <a:endParaRPr lang="en-US" sz="2200" dirty="0"/>
          </a:p>
        </p:txBody>
      </p:sp>
      <p:sp>
        <p:nvSpPr>
          <p:cNvPr id="5" name="Text 3"/>
          <p:cNvSpPr/>
          <p:nvPr/>
        </p:nvSpPr>
        <p:spPr>
          <a:xfrm>
            <a:off x="365760" y="658368"/>
            <a:ext cx="8412480" cy="320040"/>
          </a:xfrm>
          <a:prstGeom prst="rect">
            <a:avLst/>
          </a:prstGeom>
          <a:noFill/>
          <a:ln/>
        </p:spPr>
        <p:txBody>
          <a:bodyPr wrap="square" lIns="0" tIns="0" rIns="0" bIns="0" rtlCol="0" anchor="ctr"/>
          <a:lstStyle/>
          <a:p>
            <a:pPr marL="0" indent="0">
              <a:buNone/>
            </a:pPr>
            <a:r>
              <a:rPr lang="en-US" sz="1100" i="1" dirty="0">
                <a:solidFill>
                  <a:srgbClr val="5EEAD4"/>
                </a:solidFill>
                <a:latin typeface="Calibri" pitchFamily="34" charset="0"/>
                <a:ea typeface="Calibri" pitchFamily="34" charset="-122"/>
                <a:cs typeface="Calibri" pitchFamily="34" charset="-120"/>
              </a:rPr>
              <a:t>Summary table for quick reference</a:t>
            </a:r>
            <a:endParaRPr lang="en-US" sz="1100" dirty="0"/>
          </a:p>
        </p:txBody>
      </p:sp>
      <p:sp>
        <p:nvSpPr>
          <p:cNvPr id="6" name="Shape 4"/>
          <p:cNvSpPr/>
          <p:nvPr/>
        </p:nvSpPr>
        <p:spPr>
          <a:xfrm>
            <a:off x="320040" y="1188720"/>
            <a:ext cx="1371600" cy="411480"/>
          </a:xfrm>
          <a:prstGeom prst="rect">
            <a:avLst/>
          </a:prstGeom>
          <a:solidFill>
            <a:srgbClr val="1B2A4A"/>
          </a:solidFill>
          <a:ln/>
        </p:spPr>
        <p:txBody>
          <a:bodyPr/>
          <a:lstStyle/>
          <a:p>
            <a:endParaRPr lang="en-US"/>
          </a:p>
        </p:txBody>
      </p:sp>
      <p:sp>
        <p:nvSpPr>
          <p:cNvPr id="7" name="Text 5"/>
          <p:cNvSpPr/>
          <p:nvPr/>
        </p:nvSpPr>
        <p:spPr>
          <a:xfrm>
            <a:off x="365760" y="1188720"/>
            <a:ext cx="128016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p>
        </p:txBody>
      </p:sp>
      <p:sp>
        <p:nvSpPr>
          <p:cNvPr id="8" name="Shape 6"/>
          <p:cNvSpPr/>
          <p:nvPr/>
        </p:nvSpPr>
        <p:spPr>
          <a:xfrm>
            <a:off x="1691640" y="1188720"/>
            <a:ext cx="1188720" cy="411480"/>
          </a:xfrm>
          <a:prstGeom prst="rect">
            <a:avLst/>
          </a:prstGeom>
          <a:solidFill>
            <a:srgbClr val="1B2A4A"/>
          </a:solidFill>
          <a:ln/>
        </p:spPr>
        <p:txBody>
          <a:bodyPr/>
          <a:lstStyle/>
          <a:p>
            <a:endParaRPr lang="en-US"/>
          </a:p>
        </p:txBody>
      </p:sp>
      <p:sp>
        <p:nvSpPr>
          <p:cNvPr id="9" name="Text 7"/>
          <p:cNvSpPr/>
          <p:nvPr/>
        </p:nvSpPr>
        <p:spPr>
          <a:xfrm>
            <a:off x="1737360" y="1188720"/>
            <a:ext cx="10972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Direction</a:t>
            </a:r>
            <a:endParaRPr lang="en-US" sz="1000" dirty="0"/>
          </a:p>
        </p:txBody>
      </p:sp>
      <p:sp>
        <p:nvSpPr>
          <p:cNvPr id="10" name="Shape 8"/>
          <p:cNvSpPr/>
          <p:nvPr/>
        </p:nvSpPr>
        <p:spPr>
          <a:xfrm>
            <a:off x="2880360" y="1188720"/>
            <a:ext cx="1371600" cy="411480"/>
          </a:xfrm>
          <a:prstGeom prst="rect">
            <a:avLst/>
          </a:prstGeom>
          <a:solidFill>
            <a:srgbClr val="1B2A4A"/>
          </a:solidFill>
          <a:ln/>
        </p:spPr>
        <p:txBody>
          <a:bodyPr/>
          <a:lstStyle/>
          <a:p>
            <a:endParaRPr lang="en-US"/>
          </a:p>
        </p:txBody>
      </p:sp>
      <p:sp>
        <p:nvSpPr>
          <p:cNvPr id="11" name="Text 9"/>
          <p:cNvSpPr/>
          <p:nvPr/>
        </p:nvSpPr>
        <p:spPr>
          <a:xfrm>
            <a:off x="2926080" y="1188720"/>
            <a:ext cx="128016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Starting point</a:t>
            </a:r>
            <a:endParaRPr lang="en-US" sz="1000" dirty="0"/>
          </a:p>
        </p:txBody>
      </p:sp>
      <p:sp>
        <p:nvSpPr>
          <p:cNvPr id="12" name="Shape 10"/>
          <p:cNvSpPr/>
          <p:nvPr/>
        </p:nvSpPr>
        <p:spPr>
          <a:xfrm>
            <a:off x="4251960" y="1188720"/>
            <a:ext cx="1280160" cy="411480"/>
          </a:xfrm>
          <a:prstGeom prst="rect">
            <a:avLst/>
          </a:prstGeom>
          <a:solidFill>
            <a:srgbClr val="1B2A4A"/>
          </a:solidFill>
          <a:ln/>
        </p:spPr>
        <p:txBody>
          <a:bodyPr/>
          <a:lstStyle/>
          <a:p>
            <a:endParaRPr lang="en-US"/>
          </a:p>
        </p:txBody>
      </p:sp>
      <p:sp>
        <p:nvSpPr>
          <p:cNvPr id="13" name="Text 11"/>
          <p:cNvSpPr/>
          <p:nvPr/>
        </p:nvSpPr>
        <p:spPr>
          <a:xfrm>
            <a:off x="4297680" y="1188720"/>
            <a:ext cx="118872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Criterion</a:t>
            </a:r>
            <a:endParaRPr lang="en-US" sz="1000" dirty="0"/>
          </a:p>
        </p:txBody>
      </p:sp>
      <p:sp>
        <p:nvSpPr>
          <p:cNvPr id="14" name="Shape 12"/>
          <p:cNvSpPr/>
          <p:nvPr/>
        </p:nvSpPr>
        <p:spPr>
          <a:xfrm>
            <a:off x="5532120" y="1188720"/>
            <a:ext cx="1554480" cy="411480"/>
          </a:xfrm>
          <a:prstGeom prst="rect">
            <a:avLst/>
          </a:prstGeom>
          <a:solidFill>
            <a:srgbClr val="1B2A4A"/>
          </a:solidFill>
          <a:ln/>
        </p:spPr>
        <p:txBody>
          <a:bodyPr/>
          <a:lstStyle/>
          <a:p>
            <a:endParaRPr lang="en-US"/>
          </a:p>
        </p:txBody>
      </p:sp>
      <p:sp>
        <p:nvSpPr>
          <p:cNvPr id="15" name="Text 13"/>
          <p:cNvSpPr/>
          <p:nvPr/>
        </p:nvSpPr>
        <p:spPr>
          <a:xfrm>
            <a:off x="5577840" y="1188720"/>
            <a:ext cx="146304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Best use</a:t>
            </a:r>
            <a:endParaRPr lang="en-US" sz="1000" dirty="0"/>
          </a:p>
        </p:txBody>
      </p:sp>
      <p:sp>
        <p:nvSpPr>
          <p:cNvPr id="16" name="Shape 14"/>
          <p:cNvSpPr/>
          <p:nvPr/>
        </p:nvSpPr>
        <p:spPr>
          <a:xfrm>
            <a:off x="7086600" y="1188720"/>
            <a:ext cx="1645920" cy="411480"/>
          </a:xfrm>
          <a:prstGeom prst="rect">
            <a:avLst/>
          </a:prstGeom>
          <a:solidFill>
            <a:srgbClr val="1B2A4A"/>
          </a:solidFill>
          <a:ln/>
        </p:spPr>
        <p:txBody>
          <a:bodyPr/>
          <a:lstStyle/>
          <a:p>
            <a:endParaRPr lang="en-US"/>
          </a:p>
        </p:txBody>
      </p:sp>
      <p:sp>
        <p:nvSpPr>
          <p:cNvPr id="17" name="Text 15"/>
          <p:cNvSpPr/>
          <p:nvPr/>
        </p:nvSpPr>
        <p:spPr>
          <a:xfrm>
            <a:off x="7132320" y="1188720"/>
            <a:ext cx="1554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Epidemiological use</a:t>
            </a:r>
            <a:endParaRPr lang="en-US" sz="1000" dirty="0"/>
          </a:p>
        </p:txBody>
      </p:sp>
      <p:sp>
        <p:nvSpPr>
          <p:cNvPr id="18" name="Shape 16"/>
          <p:cNvSpPr/>
          <p:nvPr/>
        </p:nvSpPr>
        <p:spPr>
          <a:xfrm>
            <a:off x="320040" y="1600200"/>
            <a:ext cx="1371600" cy="502920"/>
          </a:xfrm>
          <a:prstGeom prst="rect">
            <a:avLst/>
          </a:prstGeom>
          <a:solidFill>
            <a:srgbClr val="F0FDFA"/>
          </a:solidFill>
          <a:ln/>
        </p:spPr>
        <p:txBody>
          <a:bodyPr/>
          <a:lstStyle/>
          <a:p>
            <a:endParaRPr lang="en-US"/>
          </a:p>
        </p:txBody>
      </p:sp>
      <p:sp>
        <p:nvSpPr>
          <p:cNvPr id="19" name="Text 17"/>
          <p:cNvSpPr/>
          <p:nvPr/>
        </p:nvSpPr>
        <p:spPr>
          <a:xfrm>
            <a:off x="384048" y="1600200"/>
            <a:ext cx="1280160" cy="502920"/>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Enter</a:t>
            </a:r>
            <a:endParaRPr lang="en-US" sz="1000" dirty="0"/>
          </a:p>
        </p:txBody>
      </p:sp>
      <p:sp>
        <p:nvSpPr>
          <p:cNvPr id="20" name="Shape 18"/>
          <p:cNvSpPr/>
          <p:nvPr/>
        </p:nvSpPr>
        <p:spPr>
          <a:xfrm>
            <a:off x="1691640" y="1600200"/>
            <a:ext cx="1188720" cy="502920"/>
          </a:xfrm>
          <a:prstGeom prst="rect">
            <a:avLst/>
          </a:prstGeom>
          <a:solidFill>
            <a:srgbClr val="F0FDFA"/>
          </a:solidFill>
          <a:ln/>
        </p:spPr>
        <p:txBody>
          <a:bodyPr/>
          <a:lstStyle/>
          <a:p>
            <a:endParaRPr lang="en-US"/>
          </a:p>
        </p:txBody>
      </p:sp>
      <p:sp>
        <p:nvSpPr>
          <p:cNvPr id="21" name="Text 19"/>
          <p:cNvSpPr/>
          <p:nvPr/>
        </p:nvSpPr>
        <p:spPr>
          <a:xfrm>
            <a:off x="1755648" y="1600200"/>
            <a:ext cx="109728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All at once</a:t>
            </a:r>
            <a:endParaRPr lang="en-US" sz="1000" dirty="0"/>
          </a:p>
        </p:txBody>
      </p:sp>
      <p:sp>
        <p:nvSpPr>
          <p:cNvPr id="22" name="Shape 20"/>
          <p:cNvSpPr/>
          <p:nvPr/>
        </p:nvSpPr>
        <p:spPr>
          <a:xfrm>
            <a:off x="2880360" y="1600200"/>
            <a:ext cx="1371600" cy="502920"/>
          </a:xfrm>
          <a:prstGeom prst="rect">
            <a:avLst/>
          </a:prstGeom>
          <a:solidFill>
            <a:srgbClr val="F0FDFA"/>
          </a:solidFill>
          <a:ln/>
        </p:spPr>
        <p:txBody>
          <a:bodyPr/>
          <a:lstStyle/>
          <a:p>
            <a:endParaRPr lang="en-US"/>
          </a:p>
        </p:txBody>
      </p:sp>
      <p:sp>
        <p:nvSpPr>
          <p:cNvPr id="23" name="Text 21"/>
          <p:cNvSpPr/>
          <p:nvPr/>
        </p:nvSpPr>
        <p:spPr>
          <a:xfrm>
            <a:off x="2944368" y="1600200"/>
            <a:ext cx="128016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None</a:t>
            </a:r>
            <a:endParaRPr lang="en-US" sz="1000" dirty="0"/>
          </a:p>
        </p:txBody>
      </p:sp>
      <p:sp>
        <p:nvSpPr>
          <p:cNvPr id="24" name="Shape 22"/>
          <p:cNvSpPr/>
          <p:nvPr/>
        </p:nvSpPr>
        <p:spPr>
          <a:xfrm>
            <a:off x="4251960" y="1600200"/>
            <a:ext cx="1280160" cy="502920"/>
          </a:xfrm>
          <a:prstGeom prst="rect">
            <a:avLst/>
          </a:prstGeom>
          <a:solidFill>
            <a:srgbClr val="F0FDFA"/>
          </a:solidFill>
          <a:ln/>
        </p:spPr>
        <p:txBody>
          <a:bodyPr/>
          <a:lstStyle/>
          <a:p>
            <a:endParaRPr lang="en-US"/>
          </a:p>
        </p:txBody>
      </p:sp>
      <p:sp>
        <p:nvSpPr>
          <p:cNvPr id="25" name="Text 23"/>
          <p:cNvSpPr/>
          <p:nvPr/>
        </p:nvSpPr>
        <p:spPr>
          <a:xfrm>
            <a:off x="4315968" y="1600200"/>
            <a:ext cx="118872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Theory / a priori</a:t>
            </a:r>
            <a:endParaRPr lang="en-US" sz="1000" dirty="0"/>
          </a:p>
        </p:txBody>
      </p:sp>
      <p:sp>
        <p:nvSpPr>
          <p:cNvPr id="26" name="Shape 24"/>
          <p:cNvSpPr/>
          <p:nvPr/>
        </p:nvSpPr>
        <p:spPr>
          <a:xfrm>
            <a:off x="5532120" y="1600200"/>
            <a:ext cx="1554480" cy="502920"/>
          </a:xfrm>
          <a:prstGeom prst="rect">
            <a:avLst/>
          </a:prstGeom>
          <a:solidFill>
            <a:srgbClr val="F0FDFA"/>
          </a:solidFill>
          <a:ln/>
        </p:spPr>
        <p:txBody>
          <a:bodyPr/>
          <a:lstStyle/>
          <a:p>
            <a:endParaRPr lang="en-US"/>
          </a:p>
        </p:txBody>
      </p:sp>
      <p:sp>
        <p:nvSpPr>
          <p:cNvPr id="27" name="Text 25"/>
          <p:cNvSpPr/>
          <p:nvPr/>
        </p:nvSpPr>
        <p:spPr>
          <a:xfrm>
            <a:off x="5596128" y="1600200"/>
            <a:ext cx="146304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Confirmatory research</a:t>
            </a:r>
            <a:endParaRPr lang="en-US" sz="1000" dirty="0"/>
          </a:p>
        </p:txBody>
      </p:sp>
      <p:sp>
        <p:nvSpPr>
          <p:cNvPr id="28" name="Shape 26"/>
          <p:cNvSpPr/>
          <p:nvPr/>
        </p:nvSpPr>
        <p:spPr>
          <a:xfrm>
            <a:off x="7086600" y="1600200"/>
            <a:ext cx="1645920" cy="502920"/>
          </a:xfrm>
          <a:prstGeom prst="rect">
            <a:avLst/>
          </a:prstGeom>
          <a:solidFill>
            <a:srgbClr val="F0FDFA"/>
          </a:solidFill>
          <a:ln/>
        </p:spPr>
        <p:txBody>
          <a:bodyPr/>
          <a:lstStyle/>
          <a:p>
            <a:endParaRPr lang="en-US"/>
          </a:p>
        </p:txBody>
      </p:sp>
      <p:sp>
        <p:nvSpPr>
          <p:cNvPr id="29" name="Text 27"/>
          <p:cNvSpPr/>
          <p:nvPr/>
        </p:nvSpPr>
        <p:spPr>
          <a:xfrm>
            <a:off x="7150608" y="1600200"/>
            <a:ext cx="1554480" cy="502920"/>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 Recommended</a:t>
            </a:r>
            <a:endParaRPr lang="en-US" sz="1000" dirty="0"/>
          </a:p>
        </p:txBody>
      </p:sp>
      <p:sp>
        <p:nvSpPr>
          <p:cNvPr id="30" name="Shape 28"/>
          <p:cNvSpPr/>
          <p:nvPr/>
        </p:nvSpPr>
        <p:spPr>
          <a:xfrm>
            <a:off x="320040" y="2103120"/>
            <a:ext cx="1371600" cy="502920"/>
          </a:xfrm>
          <a:prstGeom prst="rect">
            <a:avLst/>
          </a:prstGeom>
          <a:solidFill>
            <a:srgbClr val="FFFFFF"/>
          </a:solidFill>
          <a:ln/>
        </p:spPr>
        <p:txBody>
          <a:bodyPr/>
          <a:lstStyle/>
          <a:p>
            <a:endParaRPr lang="en-US"/>
          </a:p>
        </p:txBody>
      </p:sp>
      <p:sp>
        <p:nvSpPr>
          <p:cNvPr id="31" name="Text 29"/>
          <p:cNvSpPr/>
          <p:nvPr/>
        </p:nvSpPr>
        <p:spPr>
          <a:xfrm>
            <a:off x="384048" y="2103120"/>
            <a:ext cx="1280160" cy="502920"/>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Forward</a:t>
            </a:r>
            <a:endParaRPr lang="en-US" sz="1000" dirty="0"/>
          </a:p>
        </p:txBody>
      </p:sp>
      <p:sp>
        <p:nvSpPr>
          <p:cNvPr id="32" name="Shape 30"/>
          <p:cNvSpPr/>
          <p:nvPr/>
        </p:nvSpPr>
        <p:spPr>
          <a:xfrm>
            <a:off x="1691640" y="2103120"/>
            <a:ext cx="1188720" cy="502920"/>
          </a:xfrm>
          <a:prstGeom prst="rect">
            <a:avLst/>
          </a:prstGeom>
          <a:solidFill>
            <a:srgbClr val="FFFFFF"/>
          </a:solidFill>
          <a:ln/>
        </p:spPr>
        <p:txBody>
          <a:bodyPr/>
          <a:lstStyle/>
          <a:p>
            <a:endParaRPr lang="en-US"/>
          </a:p>
        </p:txBody>
      </p:sp>
      <p:sp>
        <p:nvSpPr>
          <p:cNvPr id="33" name="Text 31"/>
          <p:cNvSpPr/>
          <p:nvPr/>
        </p:nvSpPr>
        <p:spPr>
          <a:xfrm>
            <a:off x="1755648" y="2103120"/>
            <a:ext cx="109728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Add predictors</a:t>
            </a:r>
            <a:endParaRPr lang="en-US" sz="1000" dirty="0"/>
          </a:p>
        </p:txBody>
      </p:sp>
      <p:sp>
        <p:nvSpPr>
          <p:cNvPr id="34" name="Shape 32"/>
          <p:cNvSpPr/>
          <p:nvPr/>
        </p:nvSpPr>
        <p:spPr>
          <a:xfrm>
            <a:off x="2880360" y="2103120"/>
            <a:ext cx="1371600" cy="502920"/>
          </a:xfrm>
          <a:prstGeom prst="rect">
            <a:avLst/>
          </a:prstGeom>
          <a:solidFill>
            <a:srgbClr val="FFFFFF"/>
          </a:solidFill>
          <a:ln/>
        </p:spPr>
        <p:txBody>
          <a:bodyPr/>
          <a:lstStyle/>
          <a:p>
            <a:endParaRPr lang="en-US"/>
          </a:p>
        </p:txBody>
      </p:sp>
      <p:sp>
        <p:nvSpPr>
          <p:cNvPr id="35" name="Text 33"/>
          <p:cNvSpPr/>
          <p:nvPr/>
        </p:nvSpPr>
        <p:spPr>
          <a:xfrm>
            <a:off x="2944368" y="2103120"/>
            <a:ext cx="128016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Null model</a:t>
            </a:r>
            <a:endParaRPr lang="en-US" sz="1000" dirty="0"/>
          </a:p>
        </p:txBody>
      </p:sp>
      <p:sp>
        <p:nvSpPr>
          <p:cNvPr id="36" name="Shape 34"/>
          <p:cNvSpPr/>
          <p:nvPr/>
        </p:nvSpPr>
        <p:spPr>
          <a:xfrm>
            <a:off x="4251960" y="2103120"/>
            <a:ext cx="1280160" cy="502920"/>
          </a:xfrm>
          <a:prstGeom prst="rect">
            <a:avLst/>
          </a:prstGeom>
          <a:solidFill>
            <a:srgbClr val="FFFFFF"/>
          </a:solidFill>
          <a:ln/>
        </p:spPr>
        <p:txBody>
          <a:bodyPr/>
          <a:lstStyle/>
          <a:p>
            <a:endParaRPr lang="en-US"/>
          </a:p>
        </p:txBody>
      </p:sp>
      <p:sp>
        <p:nvSpPr>
          <p:cNvPr id="37" name="Text 35"/>
          <p:cNvSpPr/>
          <p:nvPr/>
        </p:nvSpPr>
        <p:spPr>
          <a:xfrm>
            <a:off x="4315968" y="2103120"/>
            <a:ext cx="118872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Lowest p-value</a:t>
            </a:r>
            <a:endParaRPr lang="en-US" sz="1000" dirty="0"/>
          </a:p>
        </p:txBody>
      </p:sp>
      <p:sp>
        <p:nvSpPr>
          <p:cNvPr id="38" name="Shape 36"/>
          <p:cNvSpPr/>
          <p:nvPr/>
        </p:nvSpPr>
        <p:spPr>
          <a:xfrm>
            <a:off x="5532120" y="2103120"/>
            <a:ext cx="1554480" cy="502920"/>
          </a:xfrm>
          <a:prstGeom prst="rect">
            <a:avLst/>
          </a:prstGeom>
          <a:solidFill>
            <a:srgbClr val="FFFFFF"/>
          </a:solidFill>
          <a:ln/>
        </p:spPr>
        <p:txBody>
          <a:bodyPr/>
          <a:lstStyle/>
          <a:p>
            <a:endParaRPr lang="en-US"/>
          </a:p>
        </p:txBody>
      </p:sp>
      <p:sp>
        <p:nvSpPr>
          <p:cNvPr id="39" name="Text 37"/>
          <p:cNvSpPr/>
          <p:nvPr/>
        </p:nvSpPr>
        <p:spPr>
          <a:xfrm>
            <a:off x="5596128" y="2103120"/>
            <a:ext cx="146304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Screening, prediction</a:t>
            </a:r>
            <a:endParaRPr lang="en-US" sz="1000" dirty="0"/>
          </a:p>
        </p:txBody>
      </p:sp>
      <p:sp>
        <p:nvSpPr>
          <p:cNvPr id="40" name="Shape 38"/>
          <p:cNvSpPr/>
          <p:nvPr/>
        </p:nvSpPr>
        <p:spPr>
          <a:xfrm>
            <a:off x="7086600" y="2103120"/>
            <a:ext cx="1645920" cy="502920"/>
          </a:xfrm>
          <a:prstGeom prst="rect">
            <a:avLst/>
          </a:prstGeom>
          <a:solidFill>
            <a:srgbClr val="FFFFFF"/>
          </a:solidFill>
          <a:ln/>
        </p:spPr>
        <p:txBody>
          <a:bodyPr/>
          <a:lstStyle/>
          <a:p>
            <a:endParaRPr lang="en-US"/>
          </a:p>
        </p:txBody>
      </p:sp>
      <p:sp>
        <p:nvSpPr>
          <p:cNvPr id="41" name="Text 39"/>
          <p:cNvSpPr/>
          <p:nvPr/>
        </p:nvSpPr>
        <p:spPr>
          <a:xfrm>
            <a:off x="7150608" y="2103120"/>
            <a:ext cx="1554480" cy="502920"/>
          </a:xfrm>
          <a:prstGeom prst="rect">
            <a:avLst/>
          </a:prstGeom>
          <a:noFill/>
          <a:ln/>
        </p:spPr>
        <p:txBody>
          <a:bodyPr wrap="square" rtlCol="0" anchor="ctr"/>
          <a:lstStyle/>
          <a:p>
            <a:pPr marL="0" indent="0" algn="ctr">
              <a:buNone/>
            </a:pPr>
            <a:r>
              <a:rPr lang="en-US" sz="1000" b="1" dirty="0">
                <a:solidFill>
                  <a:srgbClr val="D97706"/>
                </a:solidFill>
                <a:latin typeface="Calibri" pitchFamily="34" charset="0"/>
                <a:ea typeface="Calibri" pitchFamily="34" charset="-122"/>
                <a:cs typeface="Calibri" pitchFamily="34" charset="-120"/>
              </a:rPr>
              <a:t>⚠ Caution</a:t>
            </a:r>
            <a:endParaRPr lang="en-US" sz="1000" dirty="0"/>
          </a:p>
        </p:txBody>
      </p:sp>
      <p:sp>
        <p:nvSpPr>
          <p:cNvPr id="42" name="Shape 40"/>
          <p:cNvSpPr/>
          <p:nvPr/>
        </p:nvSpPr>
        <p:spPr>
          <a:xfrm>
            <a:off x="320040" y="2606040"/>
            <a:ext cx="1371600" cy="502920"/>
          </a:xfrm>
          <a:prstGeom prst="rect">
            <a:avLst/>
          </a:prstGeom>
          <a:solidFill>
            <a:srgbClr val="F0FDFA"/>
          </a:solidFill>
          <a:ln/>
        </p:spPr>
        <p:txBody>
          <a:bodyPr/>
          <a:lstStyle/>
          <a:p>
            <a:endParaRPr lang="en-US"/>
          </a:p>
        </p:txBody>
      </p:sp>
      <p:sp>
        <p:nvSpPr>
          <p:cNvPr id="43" name="Text 41"/>
          <p:cNvSpPr/>
          <p:nvPr/>
        </p:nvSpPr>
        <p:spPr>
          <a:xfrm>
            <a:off x="384048" y="2606040"/>
            <a:ext cx="1280160" cy="502920"/>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Backward</a:t>
            </a:r>
            <a:endParaRPr lang="en-US" sz="1000" dirty="0"/>
          </a:p>
        </p:txBody>
      </p:sp>
      <p:sp>
        <p:nvSpPr>
          <p:cNvPr id="44" name="Shape 42"/>
          <p:cNvSpPr/>
          <p:nvPr/>
        </p:nvSpPr>
        <p:spPr>
          <a:xfrm>
            <a:off x="1691640" y="2606040"/>
            <a:ext cx="1188720" cy="502920"/>
          </a:xfrm>
          <a:prstGeom prst="rect">
            <a:avLst/>
          </a:prstGeom>
          <a:solidFill>
            <a:srgbClr val="F0FDFA"/>
          </a:solidFill>
          <a:ln/>
        </p:spPr>
        <p:txBody>
          <a:bodyPr/>
          <a:lstStyle/>
          <a:p>
            <a:endParaRPr lang="en-US"/>
          </a:p>
        </p:txBody>
      </p:sp>
      <p:sp>
        <p:nvSpPr>
          <p:cNvPr id="45" name="Text 43"/>
          <p:cNvSpPr/>
          <p:nvPr/>
        </p:nvSpPr>
        <p:spPr>
          <a:xfrm>
            <a:off x="1755648" y="2606040"/>
            <a:ext cx="109728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Remove predictors</a:t>
            </a:r>
            <a:endParaRPr lang="en-US" sz="1000" dirty="0"/>
          </a:p>
        </p:txBody>
      </p:sp>
      <p:sp>
        <p:nvSpPr>
          <p:cNvPr id="46" name="Shape 44"/>
          <p:cNvSpPr/>
          <p:nvPr/>
        </p:nvSpPr>
        <p:spPr>
          <a:xfrm>
            <a:off x="2880360" y="2606040"/>
            <a:ext cx="1371600" cy="502920"/>
          </a:xfrm>
          <a:prstGeom prst="rect">
            <a:avLst/>
          </a:prstGeom>
          <a:solidFill>
            <a:srgbClr val="F0FDFA"/>
          </a:solidFill>
          <a:ln/>
        </p:spPr>
        <p:txBody>
          <a:bodyPr/>
          <a:lstStyle/>
          <a:p>
            <a:endParaRPr lang="en-US"/>
          </a:p>
        </p:txBody>
      </p:sp>
      <p:sp>
        <p:nvSpPr>
          <p:cNvPr id="47" name="Text 45"/>
          <p:cNvSpPr/>
          <p:nvPr/>
        </p:nvSpPr>
        <p:spPr>
          <a:xfrm>
            <a:off x="2944368" y="2606040"/>
            <a:ext cx="128016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Full model</a:t>
            </a:r>
            <a:endParaRPr lang="en-US" sz="1000" dirty="0"/>
          </a:p>
        </p:txBody>
      </p:sp>
      <p:sp>
        <p:nvSpPr>
          <p:cNvPr id="48" name="Shape 46"/>
          <p:cNvSpPr/>
          <p:nvPr/>
        </p:nvSpPr>
        <p:spPr>
          <a:xfrm>
            <a:off x="4251960" y="2606040"/>
            <a:ext cx="1280160" cy="502920"/>
          </a:xfrm>
          <a:prstGeom prst="rect">
            <a:avLst/>
          </a:prstGeom>
          <a:solidFill>
            <a:srgbClr val="F0FDFA"/>
          </a:solidFill>
          <a:ln/>
        </p:spPr>
        <p:txBody>
          <a:bodyPr/>
          <a:lstStyle/>
          <a:p>
            <a:endParaRPr lang="en-US"/>
          </a:p>
        </p:txBody>
      </p:sp>
      <p:sp>
        <p:nvSpPr>
          <p:cNvPr id="49" name="Text 47"/>
          <p:cNvSpPr/>
          <p:nvPr/>
        </p:nvSpPr>
        <p:spPr>
          <a:xfrm>
            <a:off x="4315968" y="2606040"/>
            <a:ext cx="118872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Highest p-value</a:t>
            </a:r>
            <a:endParaRPr lang="en-US" sz="1000" dirty="0"/>
          </a:p>
        </p:txBody>
      </p:sp>
      <p:sp>
        <p:nvSpPr>
          <p:cNvPr id="50" name="Shape 48"/>
          <p:cNvSpPr/>
          <p:nvPr/>
        </p:nvSpPr>
        <p:spPr>
          <a:xfrm>
            <a:off x="5532120" y="2606040"/>
            <a:ext cx="1554480" cy="502920"/>
          </a:xfrm>
          <a:prstGeom prst="rect">
            <a:avLst/>
          </a:prstGeom>
          <a:solidFill>
            <a:srgbClr val="F0FDFA"/>
          </a:solidFill>
          <a:ln/>
        </p:spPr>
        <p:txBody>
          <a:bodyPr/>
          <a:lstStyle/>
          <a:p>
            <a:endParaRPr lang="en-US"/>
          </a:p>
        </p:txBody>
      </p:sp>
      <p:sp>
        <p:nvSpPr>
          <p:cNvPr id="51" name="Text 49"/>
          <p:cNvSpPr/>
          <p:nvPr/>
        </p:nvSpPr>
        <p:spPr>
          <a:xfrm>
            <a:off x="5596128" y="2606040"/>
            <a:ext cx="146304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Moderate # predictors</a:t>
            </a:r>
            <a:endParaRPr lang="en-US" sz="1000" dirty="0"/>
          </a:p>
        </p:txBody>
      </p:sp>
      <p:sp>
        <p:nvSpPr>
          <p:cNvPr id="52" name="Shape 50"/>
          <p:cNvSpPr/>
          <p:nvPr/>
        </p:nvSpPr>
        <p:spPr>
          <a:xfrm>
            <a:off x="7086600" y="2606040"/>
            <a:ext cx="1645920" cy="502920"/>
          </a:xfrm>
          <a:prstGeom prst="rect">
            <a:avLst/>
          </a:prstGeom>
          <a:solidFill>
            <a:srgbClr val="F0FDFA"/>
          </a:solidFill>
          <a:ln/>
        </p:spPr>
        <p:txBody>
          <a:bodyPr/>
          <a:lstStyle/>
          <a:p>
            <a:endParaRPr lang="en-US"/>
          </a:p>
        </p:txBody>
      </p:sp>
      <p:sp>
        <p:nvSpPr>
          <p:cNvPr id="53" name="Text 51"/>
          <p:cNvSpPr/>
          <p:nvPr/>
        </p:nvSpPr>
        <p:spPr>
          <a:xfrm>
            <a:off x="7150608" y="2606040"/>
            <a:ext cx="1554480" cy="502920"/>
          </a:xfrm>
          <a:prstGeom prst="rect">
            <a:avLst/>
          </a:prstGeom>
          <a:noFill/>
          <a:ln/>
        </p:spPr>
        <p:txBody>
          <a:bodyPr wrap="square" rtlCol="0" anchor="ctr"/>
          <a:lstStyle/>
          <a:p>
            <a:pPr marL="0" indent="0" algn="ctr">
              <a:buNone/>
            </a:pPr>
            <a:r>
              <a:rPr lang="en-US" sz="1000" b="1" dirty="0">
                <a:solidFill>
                  <a:srgbClr val="D97706"/>
                </a:solidFill>
                <a:latin typeface="Calibri" pitchFamily="34" charset="0"/>
                <a:ea typeface="Calibri" pitchFamily="34" charset="-122"/>
                <a:cs typeface="Calibri" pitchFamily="34" charset="-120"/>
              </a:rPr>
              <a:t>⚠ Caution</a:t>
            </a:r>
            <a:endParaRPr lang="en-US" sz="1000" dirty="0"/>
          </a:p>
        </p:txBody>
      </p:sp>
      <p:sp>
        <p:nvSpPr>
          <p:cNvPr id="54" name="Shape 52"/>
          <p:cNvSpPr/>
          <p:nvPr/>
        </p:nvSpPr>
        <p:spPr>
          <a:xfrm>
            <a:off x="320040" y="3108960"/>
            <a:ext cx="1371600" cy="502920"/>
          </a:xfrm>
          <a:prstGeom prst="rect">
            <a:avLst/>
          </a:prstGeom>
          <a:solidFill>
            <a:srgbClr val="FFFFFF"/>
          </a:solidFill>
          <a:ln/>
        </p:spPr>
        <p:txBody>
          <a:bodyPr/>
          <a:lstStyle/>
          <a:p>
            <a:endParaRPr lang="en-US"/>
          </a:p>
        </p:txBody>
      </p:sp>
      <p:sp>
        <p:nvSpPr>
          <p:cNvPr id="55" name="Text 53"/>
          <p:cNvSpPr/>
          <p:nvPr/>
        </p:nvSpPr>
        <p:spPr>
          <a:xfrm>
            <a:off x="384048" y="3108960"/>
            <a:ext cx="1280160" cy="502920"/>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Stepwise</a:t>
            </a:r>
            <a:endParaRPr lang="en-US" sz="1000" dirty="0"/>
          </a:p>
        </p:txBody>
      </p:sp>
      <p:sp>
        <p:nvSpPr>
          <p:cNvPr id="56" name="Shape 54"/>
          <p:cNvSpPr/>
          <p:nvPr/>
        </p:nvSpPr>
        <p:spPr>
          <a:xfrm>
            <a:off x="1691640" y="3108960"/>
            <a:ext cx="1188720" cy="502920"/>
          </a:xfrm>
          <a:prstGeom prst="rect">
            <a:avLst/>
          </a:prstGeom>
          <a:solidFill>
            <a:srgbClr val="FFFFFF"/>
          </a:solidFill>
          <a:ln/>
        </p:spPr>
        <p:txBody>
          <a:bodyPr/>
          <a:lstStyle/>
          <a:p>
            <a:endParaRPr lang="en-US"/>
          </a:p>
        </p:txBody>
      </p:sp>
      <p:sp>
        <p:nvSpPr>
          <p:cNvPr id="57" name="Text 55"/>
          <p:cNvSpPr/>
          <p:nvPr/>
        </p:nvSpPr>
        <p:spPr>
          <a:xfrm>
            <a:off x="1755648" y="3108960"/>
            <a:ext cx="109728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Both directions</a:t>
            </a:r>
            <a:endParaRPr lang="en-US" sz="1000" dirty="0"/>
          </a:p>
        </p:txBody>
      </p:sp>
      <p:sp>
        <p:nvSpPr>
          <p:cNvPr id="58" name="Shape 56"/>
          <p:cNvSpPr/>
          <p:nvPr/>
        </p:nvSpPr>
        <p:spPr>
          <a:xfrm>
            <a:off x="2880360" y="3108960"/>
            <a:ext cx="1371600" cy="502920"/>
          </a:xfrm>
          <a:prstGeom prst="rect">
            <a:avLst/>
          </a:prstGeom>
          <a:solidFill>
            <a:srgbClr val="FFFFFF"/>
          </a:solidFill>
          <a:ln/>
        </p:spPr>
        <p:txBody>
          <a:bodyPr/>
          <a:lstStyle/>
          <a:p>
            <a:endParaRPr lang="en-US"/>
          </a:p>
        </p:txBody>
      </p:sp>
      <p:sp>
        <p:nvSpPr>
          <p:cNvPr id="59" name="Text 57"/>
          <p:cNvSpPr/>
          <p:nvPr/>
        </p:nvSpPr>
        <p:spPr>
          <a:xfrm>
            <a:off x="2944368" y="3108960"/>
            <a:ext cx="128016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Any</a:t>
            </a:r>
            <a:endParaRPr lang="en-US" sz="1000" dirty="0"/>
          </a:p>
        </p:txBody>
      </p:sp>
      <p:sp>
        <p:nvSpPr>
          <p:cNvPr id="60" name="Shape 58"/>
          <p:cNvSpPr/>
          <p:nvPr/>
        </p:nvSpPr>
        <p:spPr>
          <a:xfrm>
            <a:off x="4251960" y="3108960"/>
            <a:ext cx="1280160" cy="502920"/>
          </a:xfrm>
          <a:prstGeom prst="rect">
            <a:avLst/>
          </a:prstGeom>
          <a:solidFill>
            <a:srgbClr val="FFFFFF"/>
          </a:solidFill>
          <a:ln/>
        </p:spPr>
        <p:txBody>
          <a:bodyPr/>
          <a:lstStyle/>
          <a:p>
            <a:endParaRPr lang="en-US"/>
          </a:p>
        </p:txBody>
      </p:sp>
      <p:sp>
        <p:nvSpPr>
          <p:cNvPr id="61" name="Text 59"/>
          <p:cNvSpPr/>
          <p:nvPr/>
        </p:nvSpPr>
        <p:spPr>
          <a:xfrm>
            <a:off x="4315968" y="3108960"/>
            <a:ext cx="118872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AIC or p-value</a:t>
            </a:r>
            <a:endParaRPr lang="en-US" sz="1000" dirty="0"/>
          </a:p>
        </p:txBody>
      </p:sp>
      <p:sp>
        <p:nvSpPr>
          <p:cNvPr id="62" name="Shape 60"/>
          <p:cNvSpPr/>
          <p:nvPr/>
        </p:nvSpPr>
        <p:spPr>
          <a:xfrm>
            <a:off x="5532120" y="3108960"/>
            <a:ext cx="1554480" cy="502920"/>
          </a:xfrm>
          <a:prstGeom prst="rect">
            <a:avLst/>
          </a:prstGeom>
          <a:solidFill>
            <a:srgbClr val="FFFFFF"/>
          </a:solidFill>
          <a:ln/>
        </p:spPr>
        <p:txBody>
          <a:bodyPr/>
          <a:lstStyle/>
          <a:p>
            <a:endParaRPr lang="en-US"/>
          </a:p>
        </p:txBody>
      </p:sp>
      <p:sp>
        <p:nvSpPr>
          <p:cNvPr id="63" name="Text 61"/>
          <p:cNvSpPr/>
          <p:nvPr/>
        </p:nvSpPr>
        <p:spPr>
          <a:xfrm>
            <a:off x="5596128" y="3108960"/>
            <a:ext cx="1463040" cy="502920"/>
          </a:xfrm>
          <a:prstGeom prst="rect">
            <a:avLst/>
          </a:prstGeom>
          <a:noFill/>
          <a:ln/>
        </p:spPr>
        <p:txBody>
          <a:bodyPr wrap="square" rtlCol="0" anchor="ctr"/>
          <a:lstStyle/>
          <a:p>
            <a:pPr marL="0" indent="0" algn="ctr">
              <a:buNone/>
            </a:pPr>
            <a:r>
              <a:rPr lang="en-US" sz="1000" dirty="0">
                <a:solidFill>
                  <a:srgbClr val="0F172A"/>
                </a:solidFill>
                <a:latin typeface="Calibri" pitchFamily="34" charset="0"/>
                <a:ea typeface="Calibri" pitchFamily="34" charset="-122"/>
                <a:cs typeface="Calibri" pitchFamily="34" charset="-120"/>
              </a:rPr>
              <a:t>Prediction only</a:t>
            </a:r>
            <a:endParaRPr lang="en-US" sz="1000" dirty="0"/>
          </a:p>
        </p:txBody>
      </p:sp>
      <p:sp>
        <p:nvSpPr>
          <p:cNvPr id="64" name="Shape 62"/>
          <p:cNvSpPr/>
          <p:nvPr/>
        </p:nvSpPr>
        <p:spPr>
          <a:xfrm>
            <a:off x="7086600" y="3108960"/>
            <a:ext cx="1645920" cy="502920"/>
          </a:xfrm>
          <a:prstGeom prst="rect">
            <a:avLst/>
          </a:prstGeom>
          <a:solidFill>
            <a:srgbClr val="FFFFFF"/>
          </a:solidFill>
          <a:ln/>
        </p:spPr>
        <p:txBody>
          <a:bodyPr/>
          <a:lstStyle/>
          <a:p>
            <a:endParaRPr lang="en-US"/>
          </a:p>
        </p:txBody>
      </p:sp>
      <p:sp>
        <p:nvSpPr>
          <p:cNvPr id="65" name="Text 63"/>
          <p:cNvSpPr/>
          <p:nvPr/>
        </p:nvSpPr>
        <p:spPr>
          <a:xfrm>
            <a:off x="7150608" y="3108960"/>
            <a:ext cx="1554480" cy="502920"/>
          </a:xfrm>
          <a:prstGeom prst="rect">
            <a:avLst/>
          </a:prstGeom>
          <a:noFill/>
          <a:ln/>
        </p:spPr>
        <p:txBody>
          <a:bodyPr wrap="square" rtlCol="0" anchor="ctr"/>
          <a:lstStyle/>
          <a:p>
            <a:pPr marL="0" indent="0" algn="ctr">
              <a:buNone/>
            </a:pPr>
            <a:r>
              <a:rPr lang="en-US" sz="1000" b="1" dirty="0">
                <a:solidFill>
                  <a:srgbClr val="EF4444"/>
                </a:solidFill>
                <a:latin typeface="Calibri" pitchFamily="34" charset="0"/>
                <a:ea typeface="Calibri" pitchFamily="34" charset="-122"/>
                <a:cs typeface="Calibri" pitchFamily="34" charset="-120"/>
              </a:rPr>
              <a:t>✘ Not recommended</a:t>
            </a:r>
            <a:endParaRPr lang="en-US" sz="1000" dirty="0"/>
          </a:p>
        </p:txBody>
      </p:sp>
      <p:sp>
        <p:nvSpPr>
          <p:cNvPr id="66" name="Text 64"/>
          <p:cNvSpPr/>
          <p:nvPr/>
        </p:nvSpPr>
        <p:spPr>
          <a:xfrm>
            <a:off x="320040" y="3486150"/>
            <a:ext cx="8503920" cy="4572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AIC (Akaike Information Criterion) — lower AIC = better model. Use AIC for automated selection rather than p-values to reduce multiple testing bias.</a:t>
            </a:r>
            <a:endParaRPr lang="en-US" sz="1000" dirty="0"/>
          </a:p>
        </p:txBody>
      </p:sp>
      <p:sp>
        <p:nvSpPr>
          <p:cNvPr id="67" name="Shape 65"/>
          <p:cNvSpPr/>
          <p:nvPr/>
        </p:nvSpPr>
        <p:spPr>
          <a:xfrm>
            <a:off x="320040" y="3943350"/>
            <a:ext cx="8503920" cy="1085850"/>
          </a:xfrm>
          <a:prstGeom prst="rect">
            <a:avLst/>
          </a:prstGeom>
          <a:solidFill>
            <a:srgbClr val="1E293B"/>
          </a:solidFill>
          <a:ln/>
        </p:spPr>
        <p:txBody>
          <a:bodyPr/>
          <a:lstStyle/>
          <a:p>
            <a:endParaRPr lang="en-US"/>
          </a:p>
        </p:txBody>
      </p:sp>
      <p:sp>
        <p:nvSpPr>
          <p:cNvPr id="68" name="Text 66"/>
          <p:cNvSpPr/>
          <p:nvPr/>
        </p:nvSpPr>
        <p:spPr>
          <a:xfrm>
            <a:off x="429768" y="3874165"/>
            <a:ext cx="8284464" cy="640080"/>
          </a:xfrm>
          <a:prstGeom prst="rect">
            <a:avLst/>
          </a:prstGeom>
          <a:noFill/>
          <a:ln/>
        </p:spPr>
        <p:txBody>
          <a:bodyPr wrap="square" rtlCol="0" anchor="t"/>
          <a:lstStyle/>
          <a:p>
            <a:pPr marL="0" indent="0">
              <a:buNone/>
            </a:pPr>
            <a:r>
              <a:rPr lang="en-US" sz="800" dirty="0">
                <a:solidFill>
                  <a:srgbClr val="A5F3FC"/>
                </a:solidFill>
                <a:latin typeface="Consolas" pitchFamily="34" charset="0"/>
                <a:ea typeface="Consolas" pitchFamily="34" charset="-122"/>
                <a:cs typeface="Consolas" pitchFamily="34" charset="-120"/>
              </a:rPr>
              <a:t># Use AIC-based stepwise (preferred over p-value based)</a:t>
            </a:r>
            <a:endParaRPr lang="en-US" sz="800" dirty="0"/>
          </a:p>
          <a:p>
            <a:pPr marL="0" indent="0">
              <a:buNone/>
            </a:pPr>
            <a:r>
              <a:rPr lang="en-US" sz="800" dirty="0">
                <a:solidFill>
                  <a:srgbClr val="A5F3FC"/>
                </a:solidFill>
                <a:latin typeface="Consolas" pitchFamily="34" charset="0"/>
                <a:ea typeface="Consolas" pitchFamily="34" charset="-122"/>
                <a:cs typeface="Consolas" pitchFamily="34" charset="-120"/>
              </a:rPr>
              <a:t>library(MASS)</a:t>
            </a:r>
            <a:endParaRPr lang="en-US" sz="800" dirty="0"/>
          </a:p>
          <a:p>
            <a:pPr marL="0" indent="0">
              <a:buNone/>
            </a:pPr>
            <a:r>
              <a:rPr lang="en-US" sz="800" dirty="0">
                <a:solidFill>
                  <a:srgbClr val="A5F3FC"/>
                </a:solidFill>
                <a:latin typeface="Consolas" pitchFamily="34" charset="0"/>
                <a:ea typeface="Consolas" pitchFamily="34" charset="-122"/>
                <a:cs typeface="Consolas" pitchFamily="34" charset="-120"/>
              </a:rPr>
              <a:t>step(full_model, direction = "both", k = 2)   # k=2 = AIC</a:t>
            </a:r>
            <a:endParaRPr lang="en-US" sz="800" dirty="0"/>
          </a:p>
          <a:p>
            <a:pPr marL="0" indent="0">
              <a:buNone/>
            </a:pPr>
            <a:endParaRPr lang="en-US" sz="800" dirty="0"/>
          </a:p>
          <a:p>
            <a:pPr marL="0" indent="0">
              <a:buNone/>
            </a:pPr>
            <a:r>
              <a:rPr lang="en-US" sz="800" dirty="0">
                <a:solidFill>
                  <a:srgbClr val="A5F3FC"/>
                </a:solidFill>
                <a:latin typeface="Consolas" pitchFamily="34" charset="0"/>
                <a:ea typeface="Consolas" pitchFamily="34" charset="-122"/>
                <a:cs typeface="Consolas" pitchFamily="34" charset="-120"/>
              </a:rPr>
              <a:t># Compare models with AIC</a:t>
            </a:r>
            <a:endParaRPr lang="en-US" sz="800" dirty="0"/>
          </a:p>
          <a:p>
            <a:pPr marL="0" indent="0">
              <a:buNone/>
            </a:pPr>
            <a:r>
              <a:rPr lang="en-US" sz="800" dirty="0">
                <a:solidFill>
                  <a:srgbClr val="A5F3FC"/>
                </a:solidFill>
                <a:latin typeface="Consolas" pitchFamily="34" charset="0"/>
                <a:ea typeface="Consolas" pitchFamily="34" charset="-122"/>
                <a:cs typeface="Consolas" pitchFamily="34" charset="-120"/>
              </a:rPr>
              <a:t>AIC(model1, model2, model3)</a:t>
            </a:r>
            <a:endParaRPr lang="en-US" sz="800" dirty="0"/>
          </a:p>
          <a:p>
            <a:pPr marL="0" indent="0">
              <a:buNone/>
            </a:pPr>
            <a:endParaRPr lang="en-US" sz="800" dirty="0"/>
          </a:p>
          <a:p>
            <a:pPr marL="0" indent="0">
              <a:buNone/>
            </a:pPr>
            <a:r>
              <a:rPr lang="en-US" sz="800" dirty="0">
                <a:solidFill>
                  <a:srgbClr val="A5F3FC"/>
                </a:solidFill>
                <a:latin typeface="Consolas" pitchFamily="34" charset="0"/>
                <a:ea typeface="Consolas" pitchFamily="34" charset="-122"/>
                <a:cs typeface="Consolas" pitchFamily="34" charset="-120"/>
              </a:rPr>
              <a:t># BIC (stricter penalty for complexity)</a:t>
            </a:r>
            <a:endParaRPr lang="en-US" sz="800" dirty="0"/>
          </a:p>
          <a:p>
            <a:pPr marL="0" indent="0">
              <a:buNone/>
            </a:pPr>
            <a:r>
              <a:rPr lang="en-US" sz="800" dirty="0">
                <a:solidFill>
                  <a:srgbClr val="A5F3FC"/>
                </a:solidFill>
                <a:latin typeface="Consolas" pitchFamily="34" charset="0"/>
                <a:ea typeface="Consolas" pitchFamily="34" charset="-122"/>
                <a:cs typeface="Consolas" pitchFamily="34" charset="-120"/>
              </a:rPr>
              <a:t>BIC(model1, model2)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txBody>
          <a:bodyPr/>
          <a:lstStyle/>
          <a:p>
            <a:endParaRPr lang="en-US"/>
          </a:p>
        </p:txBody>
      </p:sp>
      <p:sp>
        <p:nvSpPr>
          <p:cNvPr id="3" name="Shape 1"/>
          <p:cNvSpPr/>
          <p:nvPr/>
        </p:nvSpPr>
        <p:spPr>
          <a:xfrm>
            <a:off x="0" y="1005840"/>
            <a:ext cx="9144000" cy="73152"/>
          </a:xfrm>
          <a:prstGeom prst="rect">
            <a:avLst/>
          </a:prstGeom>
          <a:solidFill>
            <a:srgbClr val="0D9488"/>
          </a:solidFill>
          <a:ln/>
        </p:spPr>
        <p:txBody>
          <a:bodyPr/>
          <a:lstStyle/>
          <a:p>
            <a:endParaRPr lang="en-US"/>
          </a:p>
        </p:txBody>
      </p:sp>
      <p:sp>
        <p:nvSpPr>
          <p:cNvPr id="4" name="Text 2"/>
          <p:cNvSpPr/>
          <p:nvPr/>
        </p:nvSpPr>
        <p:spPr>
          <a:xfrm>
            <a:off x="365760" y="109728"/>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Assessing Model Fit</a:t>
            </a:r>
            <a:endParaRPr lang="en-US" sz="2200" dirty="0"/>
          </a:p>
        </p:txBody>
      </p:sp>
      <p:sp>
        <p:nvSpPr>
          <p:cNvPr id="5" name="Text 3"/>
          <p:cNvSpPr/>
          <p:nvPr/>
        </p:nvSpPr>
        <p:spPr>
          <a:xfrm>
            <a:off x="365760" y="658368"/>
            <a:ext cx="8412480" cy="320040"/>
          </a:xfrm>
          <a:prstGeom prst="rect">
            <a:avLst/>
          </a:prstGeom>
          <a:noFill/>
          <a:ln/>
        </p:spPr>
        <p:txBody>
          <a:bodyPr wrap="square" lIns="0" tIns="0" rIns="0" bIns="0" rtlCol="0" anchor="ctr"/>
          <a:lstStyle/>
          <a:p>
            <a:pPr marL="0" indent="0">
              <a:buNone/>
            </a:pPr>
            <a:r>
              <a:rPr lang="en-US" sz="1100" i="1" dirty="0">
                <a:solidFill>
                  <a:srgbClr val="5EEAD4"/>
                </a:solidFill>
                <a:latin typeface="Calibri" pitchFamily="34" charset="0"/>
                <a:ea typeface="Calibri" pitchFamily="34" charset="-122"/>
                <a:cs typeface="Calibri" pitchFamily="34" charset="-120"/>
              </a:rPr>
              <a:t>Use multiple metrics together — no single statistic tells the whole story</a:t>
            </a:r>
            <a:endParaRPr lang="en-US" sz="1100" dirty="0"/>
          </a:p>
        </p:txBody>
      </p:sp>
      <p:sp>
        <p:nvSpPr>
          <p:cNvPr id="6" name="Shape 4"/>
          <p:cNvSpPr/>
          <p:nvPr/>
        </p:nvSpPr>
        <p:spPr>
          <a:xfrm>
            <a:off x="365760" y="1234440"/>
            <a:ext cx="4160520" cy="109728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en-US"/>
          </a:p>
        </p:txBody>
      </p:sp>
      <p:sp>
        <p:nvSpPr>
          <p:cNvPr id="7" name="Shape 5"/>
          <p:cNvSpPr/>
          <p:nvPr/>
        </p:nvSpPr>
        <p:spPr>
          <a:xfrm>
            <a:off x="365760" y="1234440"/>
            <a:ext cx="1005840" cy="1097280"/>
          </a:xfrm>
          <a:prstGeom prst="rect">
            <a:avLst/>
          </a:prstGeom>
          <a:solidFill>
            <a:srgbClr val="0D9488"/>
          </a:solidFill>
          <a:ln/>
        </p:spPr>
        <p:txBody>
          <a:bodyPr/>
          <a:lstStyle/>
          <a:p>
            <a:endParaRPr lang="en-US"/>
          </a:p>
        </p:txBody>
      </p:sp>
      <p:sp>
        <p:nvSpPr>
          <p:cNvPr id="8" name="Text 6"/>
          <p:cNvSpPr/>
          <p:nvPr/>
        </p:nvSpPr>
        <p:spPr>
          <a:xfrm>
            <a:off x="365760" y="1234440"/>
            <a:ext cx="1005840" cy="10972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R²</a:t>
            </a:r>
            <a:endParaRPr lang="en-US" sz="1300" dirty="0"/>
          </a:p>
        </p:txBody>
      </p:sp>
      <p:sp>
        <p:nvSpPr>
          <p:cNvPr id="9" name="Text 7"/>
          <p:cNvSpPr/>
          <p:nvPr/>
        </p:nvSpPr>
        <p:spPr>
          <a:xfrm>
            <a:off x="1444752" y="1325880"/>
            <a:ext cx="2971800" cy="25603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R² (R-squared)</a:t>
            </a:r>
            <a:endParaRPr lang="en-US" sz="1100" dirty="0"/>
          </a:p>
        </p:txBody>
      </p:sp>
      <p:sp>
        <p:nvSpPr>
          <p:cNvPr id="10" name="Text 8"/>
          <p:cNvSpPr/>
          <p:nvPr/>
        </p:nvSpPr>
        <p:spPr>
          <a:xfrm>
            <a:off x="1444752" y="1600200"/>
            <a:ext cx="2971800" cy="658368"/>
          </a:xfrm>
          <a:prstGeom prst="rect">
            <a:avLst/>
          </a:prstGeom>
          <a:noFill/>
          <a:ln/>
        </p:spPr>
        <p:txBody>
          <a:bodyPr wrap="square" rtlCol="0" anchor="t"/>
          <a:lstStyle/>
          <a:p>
            <a:pPr marL="0" indent="0">
              <a:buNone/>
            </a:pPr>
            <a:r>
              <a:rPr lang="en-US" sz="900" dirty="0">
                <a:solidFill>
                  <a:srgbClr val="0F172A"/>
                </a:solidFill>
                <a:latin typeface="Calibri" pitchFamily="34" charset="0"/>
                <a:ea typeface="Calibri" pitchFamily="34" charset="-122"/>
                <a:cs typeface="Calibri" pitchFamily="34" charset="-120"/>
              </a:rPr>
              <a:t>Proportion of variance in Y explained by model. R²=0.60 means 60% explained.</a:t>
            </a:r>
            <a:endParaRPr lang="en-US" sz="900" dirty="0"/>
          </a:p>
          <a:p>
            <a:pPr marL="0" indent="0">
              <a:buNone/>
            </a:pPr>
            <a:r>
              <a:rPr lang="en-US" sz="900" dirty="0">
                <a:solidFill>
                  <a:srgbClr val="0F172A"/>
                </a:solidFill>
                <a:latin typeface="Calibri" pitchFamily="34" charset="0"/>
                <a:ea typeface="Calibri" pitchFamily="34" charset="-122"/>
                <a:cs typeface="Calibri" pitchFamily="34" charset="-120"/>
              </a:rPr>
              <a:t>Range: 0–1; higher = better fit. Increases with every added variable.</a:t>
            </a:r>
            <a:endParaRPr lang="en-US" sz="900" dirty="0"/>
          </a:p>
        </p:txBody>
      </p:sp>
      <p:sp>
        <p:nvSpPr>
          <p:cNvPr id="11" name="Shape 9"/>
          <p:cNvSpPr/>
          <p:nvPr/>
        </p:nvSpPr>
        <p:spPr>
          <a:xfrm>
            <a:off x="365760" y="2468880"/>
            <a:ext cx="4160520" cy="109728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en-US"/>
          </a:p>
        </p:txBody>
      </p:sp>
      <p:sp>
        <p:nvSpPr>
          <p:cNvPr id="12" name="Shape 10"/>
          <p:cNvSpPr/>
          <p:nvPr/>
        </p:nvSpPr>
        <p:spPr>
          <a:xfrm>
            <a:off x="365760" y="2468880"/>
            <a:ext cx="1005840" cy="1097280"/>
          </a:xfrm>
          <a:prstGeom prst="rect">
            <a:avLst/>
          </a:prstGeom>
          <a:solidFill>
            <a:srgbClr val="6366F1"/>
          </a:solidFill>
          <a:ln/>
        </p:spPr>
        <p:txBody>
          <a:bodyPr/>
          <a:lstStyle/>
          <a:p>
            <a:endParaRPr lang="en-US"/>
          </a:p>
        </p:txBody>
      </p:sp>
      <p:sp>
        <p:nvSpPr>
          <p:cNvPr id="13" name="Text 11"/>
          <p:cNvSpPr/>
          <p:nvPr/>
        </p:nvSpPr>
        <p:spPr>
          <a:xfrm>
            <a:off x="365760" y="2468880"/>
            <a:ext cx="1005840" cy="10972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R²adj</a:t>
            </a:r>
            <a:endParaRPr lang="en-US" sz="1300" dirty="0"/>
          </a:p>
        </p:txBody>
      </p:sp>
      <p:sp>
        <p:nvSpPr>
          <p:cNvPr id="14" name="Text 12"/>
          <p:cNvSpPr/>
          <p:nvPr/>
        </p:nvSpPr>
        <p:spPr>
          <a:xfrm>
            <a:off x="1444752" y="2560320"/>
            <a:ext cx="2971800" cy="256032"/>
          </a:xfrm>
          <a:prstGeom prst="rect">
            <a:avLst/>
          </a:prstGeom>
          <a:noFill/>
          <a:ln/>
        </p:spPr>
        <p:txBody>
          <a:bodyPr wrap="square" lIns="0" tIns="0" rIns="0" bIns="0" rtlCol="0" anchor="ctr"/>
          <a:lstStyle/>
          <a:p>
            <a:pPr marL="0" indent="0">
              <a:buNone/>
            </a:pPr>
            <a:r>
              <a:rPr lang="en-US" sz="1100" b="1" dirty="0">
                <a:solidFill>
                  <a:srgbClr val="6366F1"/>
                </a:solidFill>
                <a:latin typeface="Calibri" pitchFamily="34" charset="0"/>
                <a:ea typeface="Calibri" pitchFamily="34" charset="-122"/>
                <a:cs typeface="Calibri" pitchFamily="34" charset="-120"/>
              </a:rPr>
              <a:t>Adjusted R²</a:t>
            </a:r>
            <a:endParaRPr lang="en-US" sz="1100" dirty="0"/>
          </a:p>
        </p:txBody>
      </p:sp>
      <p:sp>
        <p:nvSpPr>
          <p:cNvPr id="15" name="Text 13"/>
          <p:cNvSpPr/>
          <p:nvPr/>
        </p:nvSpPr>
        <p:spPr>
          <a:xfrm>
            <a:off x="1444752" y="2834640"/>
            <a:ext cx="2971800" cy="658368"/>
          </a:xfrm>
          <a:prstGeom prst="rect">
            <a:avLst/>
          </a:prstGeom>
          <a:noFill/>
          <a:ln/>
        </p:spPr>
        <p:txBody>
          <a:bodyPr wrap="square" rtlCol="0" anchor="t"/>
          <a:lstStyle/>
          <a:p>
            <a:pPr marL="0" indent="0">
              <a:buNone/>
            </a:pPr>
            <a:r>
              <a:rPr lang="en-US" sz="900" dirty="0">
                <a:solidFill>
                  <a:srgbClr val="0F172A"/>
                </a:solidFill>
                <a:latin typeface="Calibri" pitchFamily="34" charset="0"/>
                <a:ea typeface="Calibri" pitchFamily="34" charset="-122"/>
                <a:cs typeface="Calibri" pitchFamily="34" charset="-120"/>
              </a:rPr>
              <a:t>Penalises for adding non-informative predictors. Use this for model comparison.</a:t>
            </a:r>
            <a:endParaRPr lang="en-US" sz="900" dirty="0"/>
          </a:p>
          <a:p>
            <a:pPr marL="0" indent="0">
              <a:buNone/>
            </a:pPr>
            <a:r>
              <a:rPr lang="en-US" sz="900" dirty="0">
                <a:solidFill>
                  <a:srgbClr val="0F172A"/>
                </a:solidFill>
                <a:latin typeface="Calibri" pitchFamily="34" charset="0"/>
                <a:ea typeface="Calibri" pitchFamily="34" charset="-122"/>
                <a:cs typeface="Calibri" pitchFamily="34" charset="-120"/>
              </a:rPr>
              <a:t>Decreases if added variable doesn't improve fit meaningfully.</a:t>
            </a:r>
            <a:endParaRPr lang="en-US" sz="900" dirty="0"/>
          </a:p>
        </p:txBody>
      </p:sp>
      <p:sp>
        <p:nvSpPr>
          <p:cNvPr id="16" name="Shape 14"/>
          <p:cNvSpPr/>
          <p:nvPr/>
        </p:nvSpPr>
        <p:spPr>
          <a:xfrm>
            <a:off x="365760" y="3703320"/>
            <a:ext cx="4160520" cy="109728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en-US"/>
          </a:p>
        </p:txBody>
      </p:sp>
      <p:sp>
        <p:nvSpPr>
          <p:cNvPr id="17" name="Shape 15"/>
          <p:cNvSpPr/>
          <p:nvPr/>
        </p:nvSpPr>
        <p:spPr>
          <a:xfrm>
            <a:off x="365760" y="3703320"/>
            <a:ext cx="1005840" cy="1097280"/>
          </a:xfrm>
          <a:prstGeom prst="rect">
            <a:avLst/>
          </a:prstGeom>
          <a:solidFill>
            <a:srgbClr val="F59E0B"/>
          </a:solidFill>
          <a:ln/>
        </p:spPr>
        <p:txBody>
          <a:bodyPr/>
          <a:lstStyle/>
          <a:p>
            <a:endParaRPr lang="en-US"/>
          </a:p>
        </p:txBody>
      </p:sp>
      <p:sp>
        <p:nvSpPr>
          <p:cNvPr id="18" name="Text 16"/>
          <p:cNvSpPr/>
          <p:nvPr/>
        </p:nvSpPr>
        <p:spPr>
          <a:xfrm>
            <a:off x="365760" y="3703320"/>
            <a:ext cx="1005840" cy="10972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F</a:t>
            </a:r>
            <a:endParaRPr lang="en-US" sz="1300" dirty="0"/>
          </a:p>
        </p:txBody>
      </p:sp>
      <p:sp>
        <p:nvSpPr>
          <p:cNvPr id="19" name="Text 17"/>
          <p:cNvSpPr/>
          <p:nvPr/>
        </p:nvSpPr>
        <p:spPr>
          <a:xfrm>
            <a:off x="1444752" y="3794760"/>
            <a:ext cx="2971800"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F-statistic &amp; p-value</a:t>
            </a:r>
            <a:endParaRPr lang="en-US" sz="1100" dirty="0"/>
          </a:p>
        </p:txBody>
      </p:sp>
      <p:sp>
        <p:nvSpPr>
          <p:cNvPr id="20" name="Text 18"/>
          <p:cNvSpPr/>
          <p:nvPr/>
        </p:nvSpPr>
        <p:spPr>
          <a:xfrm>
            <a:off x="1444752" y="4069080"/>
            <a:ext cx="2971800" cy="658368"/>
          </a:xfrm>
          <a:prstGeom prst="rect">
            <a:avLst/>
          </a:prstGeom>
          <a:noFill/>
          <a:ln/>
        </p:spPr>
        <p:txBody>
          <a:bodyPr wrap="square" rtlCol="0" anchor="t"/>
          <a:lstStyle/>
          <a:p>
            <a:pPr marL="0" indent="0">
              <a:buNone/>
            </a:pPr>
            <a:r>
              <a:rPr lang="en-US" sz="900" dirty="0">
                <a:solidFill>
                  <a:srgbClr val="0F172A"/>
                </a:solidFill>
                <a:latin typeface="Calibri" pitchFamily="34" charset="0"/>
                <a:ea typeface="Calibri" pitchFamily="34" charset="-122"/>
                <a:cs typeface="Calibri" pitchFamily="34" charset="-120"/>
              </a:rPr>
              <a:t>Tests H₀: all β = 0 (null model). Significant F means model explains variance better than intercept-only.</a:t>
            </a:r>
            <a:endParaRPr lang="en-US" sz="900" dirty="0"/>
          </a:p>
        </p:txBody>
      </p:sp>
      <p:sp>
        <p:nvSpPr>
          <p:cNvPr id="21" name="Shape 19"/>
          <p:cNvSpPr/>
          <p:nvPr/>
        </p:nvSpPr>
        <p:spPr>
          <a:xfrm>
            <a:off x="4800600" y="1234440"/>
            <a:ext cx="4160520" cy="109728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en-US"/>
          </a:p>
        </p:txBody>
      </p:sp>
      <p:sp>
        <p:nvSpPr>
          <p:cNvPr id="22" name="Shape 20"/>
          <p:cNvSpPr/>
          <p:nvPr/>
        </p:nvSpPr>
        <p:spPr>
          <a:xfrm>
            <a:off x="4800600" y="1234440"/>
            <a:ext cx="1005840" cy="1097280"/>
          </a:xfrm>
          <a:prstGeom prst="rect">
            <a:avLst/>
          </a:prstGeom>
          <a:solidFill>
            <a:srgbClr val="EF4444"/>
          </a:solidFill>
          <a:ln/>
        </p:spPr>
        <p:txBody>
          <a:bodyPr/>
          <a:lstStyle/>
          <a:p>
            <a:endParaRPr lang="en-US"/>
          </a:p>
        </p:txBody>
      </p:sp>
      <p:sp>
        <p:nvSpPr>
          <p:cNvPr id="23" name="Text 21"/>
          <p:cNvSpPr/>
          <p:nvPr/>
        </p:nvSpPr>
        <p:spPr>
          <a:xfrm>
            <a:off x="4800600" y="1234440"/>
            <a:ext cx="1005840" cy="10972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AIC</a:t>
            </a:r>
            <a:endParaRPr lang="en-US" sz="1300" dirty="0"/>
          </a:p>
        </p:txBody>
      </p:sp>
      <p:sp>
        <p:nvSpPr>
          <p:cNvPr id="24" name="Text 22"/>
          <p:cNvSpPr/>
          <p:nvPr/>
        </p:nvSpPr>
        <p:spPr>
          <a:xfrm>
            <a:off x="5879592" y="1325880"/>
            <a:ext cx="2971800" cy="256032"/>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AIC / BIC</a:t>
            </a:r>
            <a:endParaRPr lang="en-US" sz="1100" dirty="0"/>
          </a:p>
        </p:txBody>
      </p:sp>
      <p:sp>
        <p:nvSpPr>
          <p:cNvPr id="25" name="Text 23"/>
          <p:cNvSpPr/>
          <p:nvPr/>
        </p:nvSpPr>
        <p:spPr>
          <a:xfrm>
            <a:off x="5879592" y="1600200"/>
            <a:ext cx="2971800" cy="658368"/>
          </a:xfrm>
          <a:prstGeom prst="rect">
            <a:avLst/>
          </a:prstGeom>
          <a:noFill/>
          <a:ln/>
        </p:spPr>
        <p:txBody>
          <a:bodyPr wrap="square" rtlCol="0" anchor="t"/>
          <a:lstStyle/>
          <a:p>
            <a:pPr marL="0" indent="0">
              <a:buNone/>
            </a:pPr>
            <a:r>
              <a:rPr lang="en-US" sz="900" dirty="0">
                <a:solidFill>
                  <a:srgbClr val="0F172A"/>
                </a:solidFill>
                <a:latin typeface="Calibri" pitchFamily="34" charset="0"/>
                <a:ea typeface="Calibri" pitchFamily="34" charset="-122"/>
                <a:cs typeface="Calibri" pitchFamily="34" charset="-120"/>
              </a:rPr>
              <a:t>Information criteria for comparing non-nested models. Lower = better. BIC applies a stricter complexity penalty.</a:t>
            </a:r>
            <a:endParaRPr lang="en-US" sz="900" dirty="0"/>
          </a:p>
        </p:txBody>
      </p:sp>
      <p:sp>
        <p:nvSpPr>
          <p:cNvPr id="26" name="Shape 24"/>
          <p:cNvSpPr/>
          <p:nvPr/>
        </p:nvSpPr>
        <p:spPr>
          <a:xfrm>
            <a:off x="4800600" y="2468880"/>
            <a:ext cx="4160520" cy="1097280"/>
          </a:xfrm>
          <a:prstGeom prst="rect">
            <a:avLst/>
          </a:prstGeom>
          <a:solidFill>
            <a:srgbClr val="FFFFFF"/>
          </a:solidFill>
          <a:ln/>
          <a:effectLst>
            <a:outerShdw blurRad="50800" dist="25400" dir="8100000" algn="bl" rotWithShape="0">
              <a:srgbClr val="000000">
                <a:alpha val="7000"/>
              </a:srgbClr>
            </a:outerShdw>
          </a:effectLst>
        </p:spPr>
        <p:txBody>
          <a:bodyPr/>
          <a:lstStyle/>
          <a:p>
            <a:endParaRPr lang="en-US"/>
          </a:p>
        </p:txBody>
      </p:sp>
      <p:sp>
        <p:nvSpPr>
          <p:cNvPr id="27" name="Shape 25"/>
          <p:cNvSpPr/>
          <p:nvPr/>
        </p:nvSpPr>
        <p:spPr>
          <a:xfrm>
            <a:off x="4800600" y="2468880"/>
            <a:ext cx="1005840" cy="1097280"/>
          </a:xfrm>
          <a:prstGeom prst="rect">
            <a:avLst/>
          </a:prstGeom>
          <a:solidFill>
            <a:srgbClr val="0891B2"/>
          </a:solidFill>
          <a:ln/>
        </p:spPr>
        <p:txBody>
          <a:bodyPr/>
          <a:lstStyle/>
          <a:p>
            <a:endParaRPr lang="en-US"/>
          </a:p>
        </p:txBody>
      </p:sp>
      <p:sp>
        <p:nvSpPr>
          <p:cNvPr id="28" name="Text 26"/>
          <p:cNvSpPr/>
          <p:nvPr/>
        </p:nvSpPr>
        <p:spPr>
          <a:xfrm>
            <a:off x="4800600" y="2468880"/>
            <a:ext cx="1005840" cy="109728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√MSE</a:t>
            </a:r>
            <a:endParaRPr lang="en-US" sz="1300" dirty="0"/>
          </a:p>
        </p:txBody>
      </p:sp>
      <p:sp>
        <p:nvSpPr>
          <p:cNvPr id="29" name="Text 27"/>
          <p:cNvSpPr/>
          <p:nvPr/>
        </p:nvSpPr>
        <p:spPr>
          <a:xfrm>
            <a:off x="5879592" y="2560320"/>
            <a:ext cx="2971800" cy="256032"/>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RMSE</a:t>
            </a:r>
            <a:endParaRPr lang="en-US" sz="1100" dirty="0"/>
          </a:p>
        </p:txBody>
      </p:sp>
      <p:sp>
        <p:nvSpPr>
          <p:cNvPr id="30" name="Text 28"/>
          <p:cNvSpPr/>
          <p:nvPr/>
        </p:nvSpPr>
        <p:spPr>
          <a:xfrm>
            <a:off x="5879592" y="2834640"/>
            <a:ext cx="2971800" cy="658368"/>
          </a:xfrm>
          <a:prstGeom prst="rect">
            <a:avLst/>
          </a:prstGeom>
          <a:noFill/>
          <a:ln/>
        </p:spPr>
        <p:txBody>
          <a:bodyPr wrap="square" rtlCol="0" anchor="t"/>
          <a:lstStyle/>
          <a:p>
            <a:pPr marL="0" indent="0">
              <a:buNone/>
            </a:pPr>
            <a:r>
              <a:rPr lang="en-US" sz="900" dirty="0">
                <a:solidFill>
                  <a:srgbClr val="0F172A"/>
                </a:solidFill>
                <a:latin typeface="Calibri" pitchFamily="34" charset="0"/>
                <a:ea typeface="Calibri" pitchFamily="34" charset="-122"/>
                <a:cs typeface="Calibri" pitchFamily="34" charset="-120"/>
              </a:rPr>
              <a:t>Root Mean Square Error — average prediction error in Y units. Useful for comparing predictive accuracy across models.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F5CD-0297-F0F1-95F6-28925367EE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70C4DB-4570-1A12-D57E-83F1A7D0ABB8}"/>
              </a:ext>
            </a:extLst>
          </p:cNvPr>
          <p:cNvSpPr/>
          <p:nvPr/>
        </p:nvSpPr>
        <p:spPr>
          <a:xfrm>
            <a:off x="0" y="0"/>
            <a:ext cx="9144000" cy="1005840"/>
          </a:xfrm>
          <a:prstGeom prst="rect">
            <a:avLst/>
          </a:prstGeom>
          <a:solidFill>
            <a:srgbClr val="1B2A4A"/>
          </a:solidFill>
          <a:ln/>
        </p:spPr>
        <p:txBody>
          <a:bodyPr/>
          <a:lstStyle/>
          <a:p>
            <a:endParaRPr lang="en-US"/>
          </a:p>
        </p:txBody>
      </p:sp>
      <p:sp>
        <p:nvSpPr>
          <p:cNvPr id="3" name="Shape 1">
            <a:extLst>
              <a:ext uri="{FF2B5EF4-FFF2-40B4-BE49-F238E27FC236}">
                <a16:creationId xmlns:a16="http://schemas.microsoft.com/office/drawing/2014/main" id="{2D39E6BC-922C-D561-9D34-2DE299667B08}"/>
              </a:ext>
            </a:extLst>
          </p:cNvPr>
          <p:cNvSpPr/>
          <p:nvPr/>
        </p:nvSpPr>
        <p:spPr>
          <a:xfrm>
            <a:off x="0" y="1005840"/>
            <a:ext cx="9144000" cy="73152"/>
          </a:xfrm>
          <a:prstGeom prst="rect">
            <a:avLst/>
          </a:prstGeom>
          <a:solidFill>
            <a:srgbClr val="0D9488"/>
          </a:solidFill>
          <a:ln/>
        </p:spPr>
        <p:txBody>
          <a:bodyPr/>
          <a:lstStyle/>
          <a:p>
            <a:endParaRPr lang="en-US"/>
          </a:p>
        </p:txBody>
      </p:sp>
      <p:sp>
        <p:nvSpPr>
          <p:cNvPr id="4" name="Text 2">
            <a:extLst>
              <a:ext uri="{FF2B5EF4-FFF2-40B4-BE49-F238E27FC236}">
                <a16:creationId xmlns:a16="http://schemas.microsoft.com/office/drawing/2014/main" id="{AB33A051-46D6-6A16-841F-A2432C70B184}"/>
              </a:ext>
            </a:extLst>
          </p:cNvPr>
          <p:cNvSpPr/>
          <p:nvPr/>
        </p:nvSpPr>
        <p:spPr>
          <a:xfrm>
            <a:off x="365760" y="109728"/>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Controlling for Confounders</a:t>
            </a:r>
            <a:endParaRPr lang="en-US" sz="2200" dirty="0"/>
          </a:p>
        </p:txBody>
      </p:sp>
      <p:sp>
        <p:nvSpPr>
          <p:cNvPr id="5" name="Text 3">
            <a:extLst>
              <a:ext uri="{FF2B5EF4-FFF2-40B4-BE49-F238E27FC236}">
                <a16:creationId xmlns:a16="http://schemas.microsoft.com/office/drawing/2014/main" id="{ED468951-F7EF-F01A-4C59-AF05A0E437D4}"/>
              </a:ext>
            </a:extLst>
          </p:cNvPr>
          <p:cNvSpPr/>
          <p:nvPr/>
        </p:nvSpPr>
        <p:spPr>
          <a:xfrm>
            <a:off x="365760" y="658368"/>
            <a:ext cx="8412480" cy="320040"/>
          </a:xfrm>
          <a:prstGeom prst="rect">
            <a:avLst/>
          </a:prstGeom>
          <a:noFill/>
          <a:ln/>
        </p:spPr>
        <p:txBody>
          <a:bodyPr wrap="square" lIns="0" tIns="0" rIns="0" bIns="0" rtlCol="0" anchor="ctr"/>
          <a:lstStyle/>
          <a:p>
            <a:pPr marL="0" indent="0">
              <a:buNone/>
            </a:pPr>
            <a:r>
              <a:rPr lang="en-US" sz="1100" i="1" dirty="0">
                <a:solidFill>
                  <a:srgbClr val="5EEAD4"/>
                </a:solidFill>
                <a:latin typeface="Calibri" pitchFamily="34" charset="0"/>
                <a:ea typeface="Calibri" pitchFamily="34" charset="-122"/>
                <a:cs typeface="Calibri" pitchFamily="34" charset="-120"/>
              </a:rPr>
              <a:t>Multivariable regression adjusts for variables that distort the exposure–outcome relationship</a:t>
            </a:r>
            <a:endParaRPr lang="en-US" sz="1100" dirty="0"/>
          </a:p>
        </p:txBody>
      </p:sp>
      <p:sp>
        <p:nvSpPr>
          <p:cNvPr id="6" name="Shape 4">
            <a:extLst>
              <a:ext uri="{FF2B5EF4-FFF2-40B4-BE49-F238E27FC236}">
                <a16:creationId xmlns:a16="http://schemas.microsoft.com/office/drawing/2014/main" id="{182AADDA-3CAD-CFC4-6999-8B7F7D5BD38D}"/>
              </a:ext>
            </a:extLst>
          </p:cNvPr>
          <p:cNvSpPr/>
          <p:nvPr/>
        </p:nvSpPr>
        <p:spPr>
          <a:xfrm>
            <a:off x="365760" y="1417320"/>
            <a:ext cx="1920240" cy="640080"/>
          </a:xfrm>
          <a:prstGeom prst="ellipse">
            <a:avLst/>
          </a:prstGeom>
          <a:solidFill>
            <a:srgbClr val="1B2A4A"/>
          </a:solidFill>
          <a:ln/>
        </p:spPr>
        <p:txBody>
          <a:bodyPr/>
          <a:lstStyle/>
          <a:p>
            <a:endParaRPr lang="en-US"/>
          </a:p>
        </p:txBody>
      </p:sp>
      <p:sp>
        <p:nvSpPr>
          <p:cNvPr id="7" name="Text 5">
            <a:extLst>
              <a:ext uri="{FF2B5EF4-FFF2-40B4-BE49-F238E27FC236}">
                <a16:creationId xmlns:a16="http://schemas.microsoft.com/office/drawing/2014/main" id="{B8224DC9-A32C-C0E1-E6C4-E6AC341F68AF}"/>
              </a:ext>
            </a:extLst>
          </p:cNvPr>
          <p:cNvSpPr/>
          <p:nvPr/>
        </p:nvSpPr>
        <p:spPr>
          <a:xfrm>
            <a:off x="365760" y="1417320"/>
            <a:ext cx="192024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Exposure (X)</a:t>
            </a:r>
            <a:endParaRPr lang="en-US" sz="1100" dirty="0"/>
          </a:p>
        </p:txBody>
      </p:sp>
      <p:sp>
        <p:nvSpPr>
          <p:cNvPr id="8" name="Shape 6">
            <a:extLst>
              <a:ext uri="{FF2B5EF4-FFF2-40B4-BE49-F238E27FC236}">
                <a16:creationId xmlns:a16="http://schemas.microsoft.com/office/drawing/2014/main" id="{A063D449-6457-DA0F-6918-F81ED32F068C}"/>
              </a:ext>
            </a:extLst>
          </p:cNvPr>
          <p:cNvSpPr/>
          <p:nvPr/>
        </p:nvSpPr>
        <p:spPr>
          <a:xfrm>
            <a:off x="6858000" y="1417320"/>
            <a:ext cx="1920240" cy="640080"/>
          </a:xfrm>
          <a:prstGeom prst="ellipse">
            <a:avLst/>
          </a:prstGeom>
          <a:solidFill>
            <a:srgbClr val="1B2A4A"/>
          </a:solidFill>
          <a:ln/>
        </p:spPr>
        <p:txBody>
          <a:bodyPr/>
          <a:lstStyle/>
          <a:p>
            <a:endParaRPr lang="en-US"/>
          </a:p>
        </p:txBody>
      </p:sp>
      <p:sp>
        <p:nvSpPr>
          <p:cNvPr id="9" name="Text 7">
            <a:extLst>
              <a:ext uri="{FF2B5EF4-FFF2-40B4-BE49-F238E27FC236}">
                <a16:creationId xmlns:a16="http://schemas.microsoft.com/office/drawing/2014/main" id="{F815F0CF-691F-BC51-AE45-522AC1E91B80}"/>
              </a:ext>
            </a:extLst>
          </p:cNvPr>
          <p:cNvSpPr/>
          <p:nvPr/>
        </p:nvSpPr>
        <p:spPr>
          <a:xfrm>
            <a:off x="6858000" y="1417320"/>
            <a:ext cx="192024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Outcome (Y)</a:t>
            </a:r>
            <a:endParaRPr lang="en-US" sz="1100" dirty="0"/>
          </a:p>
        </p:txBody>
      </p:sp>
      <p:sp>
        <p:nvSpPr>
          <p:cNvPr id="10" name="Shape 8">
            <a:extLst>
              <a:ext uri="{FF2B5EF4-FFF2-40B4-BE49-F238E27FC236}">
                <a16:creationId xmlns:a16="http://schemas.microsoft.com/office/drawing/2014/main" id="{8A7023E7-98F6-DD72-A047-102EA612FA99}"/>
              </a:ext>
            </a:extLst>
          </p:cNvPr>
          <p:cNvSpPr/>
          <p:nvPr/>
        </p:nvSpPr>
        <p:spPr>
          <a:xfrm>
            <a:off x="3611880" y="1188720"/>
            <a:ext cx="1920240" cy="640080"/>
          </a:xfrm>
          <a:prstGeom prst="ellipse">
            <a:avLst/>
          </a:prstGeom>
          <a:solidFill>
            <a:srgbClr val="F59E0B"/>
          </a:solidFill>
          <a:ln/>
        </p:spPr>
        <p:txBody>
          <a:bodyPr/>
          <a:lstStyle/>
          <a:p>
            <a:endParaRPr lang="en-US"/>
          </a:p>
        </p:txBody>
      </p:sp>
      <p:sp>
        <p:nvSpPr>
          <p:cNvPr id="11" name="Text 9">
            <a:extLst>
              <a:ext uri="{FF2B5EF4-FFF2-40B4-BE49-F238E27FC236}">
                <a16:creationId xmlns:a16="http://schemas.microsoft.com/office/drawing/2014/main" id="{433CC864-0EA4-1264-B33F-2F5E0CED3196}"/>
              </a:ext>
            </a:extLst>
          </p:cNvPr>
          <p:cNvSpPr/>
          <p:nvPr/>
        </p:nvSpPr>
        <p:spPr>
          <a:xfrm>
            <a:off x="3611880" y="1188720"/>
            <a:ext cx="1920240" cy="6400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Confounder (C)</a:t>
            </a:r>
            <a:endParaRPr lang="en-US" sz="1000" dirty="0"/>
          </a:p>
        </p:txBody>
      </p:sp>
      <p:sp>
        <p:nvSpPr>
          <p:cNvPr id="12" name="Shape 10">
            <a:extLst>
              <a:ext uri="{FF2B5EF4-FFF2-40B4-BE49-F238E27FC236}">
                <a16:creationId xmlns:a16="http://schemas.microsoft.com/office/drawing/2014/main" id="{A2F2031D-D020-106C-6B16-066627DB12ED}"/>
              </a:ext>
            </a:extLst>
          </p:cNvPr>
          <p:cNvSpPr/>
          <p:nvPr/>
        </p:nvSpPr>
        <p:spPr>
          <a:xfrm>
            <a:off x="2286000" y="1737360"/>
            <a:ext cx="4572000" cy="0"/>
          </a:xfrm>
          <a:prstGeom prst="line">
            <a:avLst/>
          </a:prstGeom>
          <a:noFill/>
          <a:ln w="25400">
            <a:solidFill>
              <a:srgbClr val="0D9488"/>
            </a:solidFill>
            <a:prstDash val="solid"/>
          </a:ln>
        </p:spPr>
        <p:txBody>
          <a:bodyPr/>
          <a:lstStyle/>
          <a:p>
            <a:endParaRPr lang="en-US"/>
          </a:p>
        </p:txBody>
      </p:sp>
      <p:sp>
        <p:nvSpPr>
          <p:cNvPr id="13" name="Shape 11">
            <a:extLst>
              <a:ext uri="{FF2B5EF4-FFF2-40B4-BE49-F238E27FC236}">
                <a16:creationId xmlns:a16="http://schemas.microsoft.com/office/drawing/2014/main" id="{66D920F4-B8C5-8856-0A93-9763FF92BE02}"/>
              </a:ext>
            </a:extLst>
          </p:cNvPr>
          <p:cNvSpPr/>
          <p:nvPr/>
        </p:nvSpPr>
        <p:spPr>
          <a:xfrm flipH="1">
            <a:off x="2047954" y="1508760"/>
            <a:ext cx="1609646" cy="63998"/>
          </a:xfrm>
          <a:prstGeom prst="line">
            <a:avLst/>
          </a:prstGeom>
          <a:noFill/>
          <a:ln w="19050">
            <a:solidFill>
              <a:srgbClr val="EF4444"/>
            </a:solidFill>
            <a:prstDash val="dash"/>
          </a:ln>
        </p:spPr>
        <p:txBody>
          <a:bodyPr/>
          <a:lstStyle/>
          <a:p>
            <a:endParaRPr lang="en-US"/>
          </a:p>
        </p:txBody>
      </p:sp>
      <p:sp>
        <p:nvSpPr>
          <p:cNvPr id="14" name="Shape 12">
            <a:extLst>
              <a:ext uri="{FF2B5EF4-FFF2-40B4-BE49-F238E27FC236}">
                <a16:creationId xmlns:a16="http://schemas.microsoft.com/office/drawing/2014/main" id="{E446F5E0-E486-D7EE-3A2C-4C0E9FBD92EA}"/>
              </a:ext>
            </a:extLst>
          </p:cNvPr>
          <p:cNvSpPr/>
          <p:nvPr/>
        </p:nvSpPr>
        <p:spPr>
          <a:xfrm>
            <a:off x="5486400" y="1508760"/>
            <a:ext cx="1188720" cy="228600"/>
          </a:xfrm>
          <a:prstGeom prst="line">
            <a:avLst/>
          </a:prstGeom>
          <a:noFill/>
          <a:ln w="19050">
            <a:solidFill>
              <a:srgbClr val="EF4444"/>
            </a:solidFill>
            <a:prstDash val="dash"/>
          </a:ln>
        </p:spPr>
        <p:txBody>
          <a:bodyPr/>
          <a:lstStyle/>
          <a:p>
            <a:endParaRPr lang="en-US"/>
          </a:p>
        </p:txBody>
      </p:sp>
      <p:sp>
        <p:nvSpPr>
          <p:cNvPr id="15" name="Text 13">
            <a:extLst>
              <a:ext uri="{FF2B5EF4-FFF2-40B4-BE49-F238E27FC236}">
                <a16:creationId xmlns:a16="http://schemas.microsoft.com/office/drawing/2014/main" id="{746FD207-B53C-2E43-A53D-28570710E5D3}"/>
              </a:ext>
            </a:extLst>
          </p:cNvPr>
          <p:cNvSpPr/>
          <p:nvPr/>
        </p:nvSpPr>
        <p:spPr>
          <a:xfrm>
            <a:off x="3474720" y="1783080"/>
            <a:ext cx="2194560" cy="228600"/>
          </a:xfrm>
          <a:prstGeom prst="rect">
            <a:avLst/>
          </a:prstGeom>
          <a:noFill/>
          <a:ln/>
        </p:spPr>
        <p:txBody>
          <a:bodyPr wrap="square" rtlCol="0" anchor="ctr"/>
          <a:lstStyle/>
          <a:p>
            <a:pPr marL="0" indent="0" algn="ctr">
              <a:buNone/>
            </a:pPr>
            <a:r>
              <a:rPr lang="en-US" sz="900" i="1" dirty="0">
                <a:solidFill>
                  <a:srgbClr val="0D9488"/>
                </a:solidFill>
                <a:latin typeface="Calibri" pitchFamily="34" charset="0"/>
                <a:ea typeface="Calibri" pitchFamily="34" charset="-122"/>
                <a:cs typeface="Calibri" pitchFamily="34" charset="-120"/>
              </a:rPr>
              <a:t>True effect</a:t>
            </a:r>
            <a:endParaRPr lang="en-US" sz="900" dirty="0"/>
          </a:p>
        </p:txBody>
      </p:sp>
      <p:sp>
        <p:nvSpPr>
          <p:cNvPr id="16" name="Text 14">
            <a:extLst>
              <a:ext uri="{FF2B5EF4-FFF2-40B4-BE49-F238E27FC236}">
                <a16:creationId xmlns:a16="http://schemas.microsoft.com/office/drawing/2014/main" id="{16D2552E-C76A-AAB6-CB5F-BB86CA02A713}"/>
              </a:ext>
            </a:extLst>
          </p:cNvPr>
          <p:cNvSpPr/>
          <p:nvPr/>
        </p:nvSpPr>
        <p:spPr>
          <a:xfrm>
            <a:off x="1097280" y="1280160"/>
            <a:ext cx="1828800" cy="228600"/>
          </a:xfrm>
          <a:prstGeom prst="rect">
            <a:avLst/>
          </a:prstGeom>
          <a:noFill/>
          <a:ln/>
        </p:spPr>
        <p:txBody>
          <a:bodyPr wrap="square" rtlCol="0" anchor="ctr"/>
          <a:lstStyle/>
          <a:p>
            <a:pPr marL="0" indent="0" algn="ctr">
              <a:buNone/>
            </a:pPr>
            <a:r>
              <a:rPr lang="en-US" sz="900" i="1" dirty="0">
                <a:solidFill>
                  <a:srgbClr val="EF4444"/>
                </a:solidFill>
                <a:latin typeface="Calibri" pitchFamily="34" charset="0"/>
                <a:ea typeface="Calibri" pitchFamily="34" charset="-122"/>
                <a:cs typeface="Calibri" pitchFamily="34" charset="-120"/>
              </a:rPr>
              <a:t>Confounds</a:t>
            </a:r>
            <a:endParaRPr lang="en-US" sz="900" dirty="0"/>
          </a:p>
        </p:txBody>
      </p:sp>
      <p:sp>
        <p:nvSpPr>
          <p:cNvPr id="17" name="Text 15">
            <a:extLst>
              <a:ext uri="{FF2B5EF4-FFF2-40B4-BE49-F238E27FC236}">
                <a16:creationId xmlns:a16="http://schemas.microsoft.com/office/drawing/2014/main" id="{86AC3D6D-E2CC-5285-BD7D-C1D714851AB6}"/>
              </a:ext>
            </a:extLst>
          </p:cNvPr>
          <p:cNvSpPr/>
          <p:nvPr/>
        </p:nvSpPr>
        <p:spPr>
          <a:xfrm>
            <a:off x="6126480" y="1280160"/>
            <a:ext cx="1828800" cy="228600"/>
          </a:xfrm>
          <a:prstGeom prst="rect">
            <a:avLst/>
          </a:prstGeom>
          <a:noFill/>
          <a:ln/>
        </p:spPr>
        <p:txBody>
          <a:bodyPr wrap="square" rtlCol="0" anchor="ctr"/>
          <a:lstStyle/>
          <a:p>
            <a:pPr marL="0" indent="0" algn="ctr">
              <a:buNone/>
            </a:pPr>
            <a:r>
              <a:rPr lang="en-US" sz="900" i="1" dirty="0">
                <a:solidFill>
                  <a:srgbClr val="EF4444"/>
                </a:solidFill>
                <a:latin typeface="Calibri" pitchFamily="34" charset="0"/>
                <a:ea typeface="Calibri" pitchFamily="34" charset="-122"/>
                <a:cs typeface="Calibri" pitchFamily="34" charset="-120"/>
              </a:rPr>
              <a:t>Confounds</a:t>
            </a:r>
            <a:endParaRPr lang="en-US" sz="900" dirty="0"/>
          </a:p>
        </p:txBody>
      </p:sp>
      <p:sp>
        <p:nvSpPr>
          <p:cNvPr id="18" name="Text 16">
            <a:extLst>
              <a:ext uri="{FF2B5EF4-FFF2-40B4-BE49-F238E27FC236}">
                <a16:creationId xmlns:a16="http://schemas.microsoft.com/office/drawing/2014/main" id="{D8AB7B47-0386-B9FD-9022-5C36CF715FEF}"/>
              </a:ext>
            </a:extLst>
          </p:cNvPr>
          <p:cNvSpPr/>
          <p:nvPr/>
        </p:nvSpPr>
        <p:spPr>
          <a:xfrm>
            <a:off x="365760" y="2331720"/>
            <a:ext cx="841248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How Multivariable Regression Controls Confounding</a:t>
            </a:r>
            <a:endParaRPr lang="en-US" sz="1300" dirty="0"/>
          </a:p>
        </p:txBody>
      </p:sp>
      <p:sp>
        <p:nvSpPr>
          <p:cNvPr id="19" name="Shape 17">
            <a:extLst>
              <a:ext uri="{FF2B5EF4-FFF2-40B4-BE49-F238E27FC236}">
                <a16:creationId xmlns:a16="http://schemas.microsoft.com/office/drawing/2014/main" id="{70EA6DF0-4EA3-F51D-BB3C-321E2D832EAC}"/>
              </a:ext>
            </a:extLst>
          </p:cNvPr>
          <p:cNvSpPr/>
          <p:nvPr/>
        </p:nvSpPr>
        <p:spPr>
          <a:xfrm>
            <a:off x="365760" y="2743200"/>
            <a:ext cx="1965960" cy="2148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0" name="Shape 18">
            <a:extLst>
              <a:ext uri="{FF2B5EF4-FFF2-40B4-BE49-F238E27FC236}">
                <a16:creationId xmlns:a16="http://schemas.microsoft.com/office/drawing/2014/main" id="{F7703B63-07F2-CA2A-5A47-4125CFCDFA27}"/>
              </a:ext>
            </a:extLst>
          </p:cNvPr>
          <p:cNvSpPr/>
          <p:nvPr/>
        </p:nvSpPr>
        <p:spPr>
          <a:xfrm>
            <a:off x="365760" y="2743200"/>
            <a:ext cx="1965960" cy="347472"/>
          </a:xfrm>
          <a:prstGeom prst="rect">
            <a:avLst/>
          </a:prstGeom>
          <a:solidFill>
            <a:srgbClr val="0D9488"/>
          </a:solidFill>
          <a:ln/>
        </p:spPr>
        <p:txBody>
          <a:bodyPr/>
          <a:lstStyle/>
          <a:p>
            <a:endParaRPr lang="en-US"/>
          </a:p>
        </p:txBody>
      </p:sp>
      <p:sp>
        <p:nvSpPr>
          <p:cNvPr id="21" name="Text 19">
            <a:extLst>
              <a:ext uri="{FF2B5EF4-FFF2-40B4-BE49-F238E27FC236}">
                <a16:creationId xmlns:a16="http://schemas.microsoft.com/office/drawing/2014/main" id="{6B6B02C7-8404-9C4E-EE5A-6C40C288B260}"/>
              </a:ext>
            </a:extLst>
          </p:cNvPr>
          <p:cNvSpPr/>
          <p:nvPr/>
        </p:nvSpPr>
        <p:spPr>
          <a:xfrm>
            <a:off x="365760" y="2743200"/>
            <a:ext cx="196596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2" name="Text 20">
            <a:extLst>
              <a:ext uri="{FF2B5EF4-FFF2-40B4-BE49-F238E27FC236}">
                <a16:creationId xmlns:a16="http://schemas.microsoft.com/office/drawing/2014/main" id="{E76B339E-3B66-6218-955B-317BE42F7063}"/>
              </a:ext>
            </a:extLst>
          </p:cNvPr>
          <p:cNvSpPr/>
          <p:nvPr/>
        </p:nvSpPr>
        <p:spPr>
          <a:xfrm>
            <a:off x="457200" y="3127248"/>
            <a:ext cx="1783080" cy="457200"/>
          </a:xfrm>
          <a:prstGeom prst="rect">
            <a:avLst/>
          </a:prstGeom>
          <a:noFill/>
          <a:ln/>
        </p:spPr>
        <p:txBody>
          <a:bodyPr wrap="square" rtlCol="0" anchor="t"/>
          <a:lstStyle/>
          <a:p>
            <a:pPr marL="0" indent="0">
              <a:buNone/>
            </a:pPr>
            <a:r>
              <a:rPr lang="en-US" sz="1000" b="1" dirty="0">
                <a:solidFill>
                  <a:srgbClr val="1B2A4A"/>
                </a:solidFill>
                <a:latin typeface="Calibri" pitchFamily="34" charset="0"/>
                <a:ea typeface="Calibri" pitchFamily="34" charset="-122"/>
                <a:cs typeface="Calibri" pitchFamily="34" charset="-120"/>
              </a:rPr>
              <a:t>Include confounders as covariates</a:t>
            </a:r>
            <a:endParaRPr lang="en-US" sz="1000" dirty="0"/>
          </a:p>
        </p:txBody>
      </p:sp>
      <p:sp>
        <p:nvSpPr>
          <p:cNvPr id="23" name="Text 21">
            <a:extLst>
              <a:ext uri="{FF2B5EF4-FFF2-40B4-BE49-F238E27FC236}">
                <a16:creationId xmlns:a16="http://schemas.microsoft.com/office/drawing/2014/main" id="{EA4953E2-2934-D67F-C0A0-B310106471DA}"/>
              </a:ext>
            </a:extLst>
          </p:cNvPr>
          <p:cNvSpPr/>
          <p:nvPr/>
        </p:nvSpPr>
        <p:spPr>
          <a:xfrm>
            <a:off x="457200" y="3611880"/>
            <a:ext cx="1783080" cy="1188720"/>
          </a:xfrm>
          <a:prstGeom prst="rect">
            <a:avLst/>
          </a:prstGeom>
          <a:noFill/>
          <a:ln/>
        </p:spPr>
        <p:txBody>
          <a:bodyPr wrap="square" rtlCol="0" anchor="t"/>
          <a:lstStyle/>
          <a:p>
            <a:pPr marL="0" indent="0">
              <a:buNone/>
            </a:pPr>
            <a:r>
              <a:rPr lang="en-US" sz="950" dirty="0">
                <a:solidFill>
                  <a:srgbClr val="0F172A"/>
                </a:solidFill>
                <a:latin typeface="Calibri" pitchFamily="34" charset="0"/>
                <a:ea typeface="Calibri" pitchFamily="34" charset="-122"/>
                <a:cs typeface="Calibri" pitchFamily="34" charset="-120"/>
              </a:rPr>
              <a:t>Add suspected confounders (age, sex, BMI…) as additional predictors in the model</a:t>
            </a:r>
            <a:endParaRPr lang="en-US" sz="950" dirty="0"/>
          </a:p>
        </p:txBody>
      </p:sp>
      <p:sp>
        <p:nvSpPr>
          <p:cNvPr id="24" name="Shape 22">
            <a:extLst>
              <a:ext uri="{FF2B5EF4-FFF2-40B4-BE49-F238E27FC236}">
                <a16:creationId xmlns:a16="http://schemas.microsoft.com/office/drawing/2014/main" id="{F454C0A5-4652-3577-B877-374FA784F973}"/>
              </a:ext>
            </a:extLst>
          </p:cNvPr>
          <p:cNvSpPr/>
          <p:nvPr/>
        </p:nvSpPr>
        <p:spPr>
          <a:xfrm>
            <a:off x="2514600" y="2743200"/>
            <a:ext cx="1965960" cy="2148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5" name="Shape 23">
            <a:extLst>
              <a:ext uri="{FF2B5EF4-FFF2-40B4-BE49-F238E27FC236}">
                <a16:creationId xmlns:a16="http://schemas.microsoft.com/office/drawing/2014/main" id="{5596F7EA-44C2-56B9-AA05-38595052D822}"/>
              </a:ext>
            </a:extLst>
          </p:cNvPr>
          <p:cNvSpPr/>
          <p:nvPr/>
        </p:nvSpPr>
        <p:spPr>
          <a:xfrm>
            <a:off x="2514600" y="2743200"/>
            <a:ext cx="1965960" cy="347472"/>
          </a:xfrm>
          <a:prstGeom prst="rect">
            <a:avLst/>
          </a:prstGeom>
          <a:solidFill>
            <a:srgbClr val="0D9488"/>
          </a:solidFill>
          <a:ln/>
        </p:spPr>
        <p:txBody>
          <a:bodyPr/>
          <a:lstStyle/>
          <a:p>
            <a:endParaRPr lang="en-US"/>
          </a:p>
        </p:txBody>
      </p:sp>
      <p:sp>
        <p:nvSpPr>
          <p:cNvPr id="26" name="Text 24">
            <a:extLst>
              <a:ext uri="{FF2B5EF4-FFF2-40B4-BE49-F238E27FC236}">
                <a16:creationId xmlns:a16="http://schemas.microsoft.com/office/drawing/2014/main" id="{2B300BA3-589E-9246-A854-4014BB72DD00}"/>
              </a:ext>
            </a:extLst>
          </p:cNvPr>
          <p:cNvSpPr/>
          <p:nvPr/>
        </p:nvSpPr>
        <p:spPr>
          <a:xfrm>
            <a:off x="2514600" y="2743200"/>
            <a:ext cx="196596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7" name="Text 25">
            <a:extLst>
              <a:ext uri="{FF2B5EF4-FFF2-40B4-BE49-F238E27FC236}">
                <a16:creationId xmlns:a16="http://schemas.microsoft.com/office/drawing/2014/main" id="{AC5F6B4D-0E1F-DED7-23DE-CF5E623A44BC}"/>
              </a:ext>
            </a:extLst>
          </p:cNvPr>
          <p:cNvSpPr/>
          <p:nvPr/>
        </p:nvSpPr>
        <p:spPr>
          <a:xfrm>
            <a:off x="2606040" y="3127248"/>
            <a:ext cx="1783080" cy="457200"/>
          </a:xfrm>
          <a:prstGeom prst="rect">
            <a:avLst/>
          </a:prstGeom>
          <a:noFill/>
          <a:ln/>
        </p:spPr>
        <p:txBody>
          <a:bodyPr wrap="square" rtlCol="0" anchor="t"/>
          <a:lstStyle/>
          <a:p>
            <a:pPr marL="0" indent="0">
              <a:buNone/>
            </a:pPr>
            <a:r>
              <a:rPr lang="en-US" sz="1000" b="1" dirty="0">
                <a:solidFill>
                  <a:srgbClr val="1B2A4A"/>
                </a:solidFill>
                <a:latin typeface="Calibri" pitchFamily="34" charset="0"/>
                <a:ea typeface="Calibri" pitchFamily="34" charset="-122"/>
                <a:cs typeface="Calibri" pitchFamily="34" charset="-120"/>
              </a:rPr>
              <a:t>Interpretation: Adjusted coefficient</a:t>
            </a:r>
            <a:endParaRPr lang="en-US" sz="1000" dirty="0"/>
          </a:p>
        </p:txBody>
      </p:sp>
      <p:sp>
        <p:nvSpPr>
          <p:cNvPr id="28" name="Text 26">
            <a:extLst>
              <a:ext uri="{FF2B5EF4-FFF2-40B4-BE49-F238E27FC236}">
                <a16:creationId xmlns:a16="http://schemas.microsoft.com/office/drawing/2014/main" id="{54FC61CC-8141-7AF1-C815-D257E517C69A}"/>
              </a:ext>
            </a:extLst>
          </p:cNvPr>
          <p:cNvSpPr/>
          <p:nvPr/>
        </p:nvSpPr>
        <p:spPr>
          <a:xfrm>
            <a:off x="2606040" y="3611880"/>
            <a:ext cx="1783080" cy="1188720"/>
          </a:xfrm>
          <a:prstGeom prst="rect">
            <a:avLst/>
          </a:prstGeom>
          <a:noFill/>
          <a:ln/>
        </p:spPr>
        <p:txBody>
          <a:bodyPr wrap="square" rtlCol="0" anchor="t"/>
          <a:lstStyle/>
          <a:p>
            <a:pPr marL="0" indent="0">
              <a:buNone/>
            </a:pPr>
            <a:r>
              <a:rPr lang="en-US" sz="950" dirty="0">
                <a:solidFill>
                  <a:srgbClr val="0F172A"/>
                </a:solidFill>
                <a:latin typeface="Calibri" pitchFamily="34" charset="0"/>
                <a:ea typeface="Calibri" pitchFamily="34" charset="-122"/>
                <a:cs typeface="Calibri" pitchFamily="34" charset="-120"/>
              </a:rPr>
              <a:t>β for exposure = effect of X holding all other variables constant</a:t>
            </a:r>
            <a:endParaRPr lang="en-US" sz="950" dirty="0"/>
          </a:p>
        </p:txBody>
      </p:sp>
      <p:sp>
        <p:nvSpPr>
          <p:cNvPr id="29" name="Shape 27">
            <a:extLst>
              <a:ext uri="{FF2B5EF4-FFF2-40B4-BE49-F238E27FC236}">
                <a16:creationId xmlns:a16="http://schemas.microsoft.com/office/drawing/2014/main" id="{5AC6625E-7744-9BC9-A548-01F4E297AEFB}"/>
              </a:ext>
            </a:extLst>
          </p:cNvPr>
          <p:cNvSpPr/>
          <p:nvPr/>
        </p:nvSpPr>
        <p:spPr>
          <a:xfrm>
            <a:off x="4663440" y="2743200"/>
            <a:ext cx="1965960" cy="2148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30" name="Shape 28">
            <a:extLst>
              <a:ext uri="{FF2B5EF4-FFF2-40B4-BE49-F238E27FC236}">
                <a16:creationId xmlns:a16="http://schemas.microsoft.com/office/drawing/2014/main" id="{F9A8F48B-C1E7-CECA-F9A3-CE726B989022}"/>
              </a:ext>
            </a:extLst>
          </p:cNvPr>
          <p:cNvSpPr/>
          <p:nvPr/>
        </p:nvSpPr>
        <p:spPr>
          <a:xfrm>
            <a:off x="4663440" y="2743200"/>
            <a:ext cx="1965960" cy="347472"/>
          </a:xfrm>
          <a:prstGeom prst="rect">
            <a:avLst/>
          </a:prstGeom>
          <a:solidFill>
            <a:srgbClr val="0D9488"/>
          </a:solidFill>
          <a:ln/>
        </p:spPr>
        <p:txBody>
          <a:bodyPr/>
          <a:lstStyle/>
          <a:p>
            <a:endParaRPr lang="en-US"/>
          </a:p>
        </p:txBody>
      </p:sp>
      <p:sp>
        <p:nvSpPr>
          <p:cNvPr id="31" name="Text 29">
            <a:extLst>
              <a:ext uri="{FF2B5EF4-FFF2-40B4-BE49-F238E27FC236}">
                <a16:creationId xmlns:a16="http://schemas.microsoft.com/office/drawing/2014/main" id="{1639D9D5-969C-496B-8B23-21742B1E374F}"/>
              </a:ext>
            </a:extLst>
          </p:cNvPr>
          <p:cNvSpPr/>
          <p:nvPr/>
        </p:nvSpPr>
        <p:spPr>
          <a:xfrm>
            <a:off x="4663440" y="2743200"/>
            <a:ext cx="196596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2" name="Text 30">
            <a:extLst>
              <a:ext uri="{FF2B5EF4-FFF2-40B4-BE49-F238E27FC236}">
                <a16:creationId xmlns:a16="http://schemas.microsoft.com/office/drawing/2014/main" id="{374A65C6-B01B-46B4-1357-4004D9EFFB2D}"/>
              </a:ext>
            </a:extLst>
          </p:cNvPr>
          <p:cNvSpPr/>
          <p:nvPr/>
        </p:nvSpPr>
        <p:spPr>
          <a:xfrm>
            <a:off x="4754880" y="3127248"/>
            <a:ext cx="1783080" cy="457200"/>
          </a:xfrm>
          <a:prstGeom prst="rect">
            <a:avLst/>
          </a:prstGeom>
          <a:noFill/>
          <a:ln/>
        </p:spPr>
        <p:txBody>
          <a:bodyPr wrap="square" rtlCol="0" anchor="t"/>
          <a:lstStyle/>
          <a:p>
            <a:pPr marL="0" indent="0">
              <a:buNone/>
            </a:pPr>
            <a:r>
              <a:rPr lang="en-US" sz="1000" b="1" dirty="0">
                <a:solidFill>
                  <a:srgbClr val="1B2A4A"/>
                </a:solidFill>
                <a:latin typeface="Calibri" pitchFamily="34" charset="0"/>
                <a:ea typeface="Calibri" pitchFamily="34" charset="-122"/>
                <a:cs typeface="Calibri" pitchFamily="34" charset="-120"/>
              </a:rPr>
              <a:t>Check % change in coefficient</a:t>
            </a:r>
            <a:endParaRPr lang="en-US" sz="1000" dirty="0"/>
          </a:p>
        </p:txBody>
      </p:sp>
      <p:sp>
        <p:nvSpPr>
          <p:cNvPr id="33" name="Text 31">
            <a:extLst>
              <a:ext uri="{FF2B5EF4-FFF2-40B4-BE49-F238E27FC236}">
                <a16:creationId xmlns:a16="http://schemas.microsoft.com/office/drawing/2014/main" id="{7A4578DA-C02C-5813-26F9-2A45B5973E90}"/>
              </a:ext>
            </a:extLst>
          </p:cNvPr>
          <p:cNvSpPr/>
          <p:nvPr/>
        </p:nvSpPr>
        <p:spPr>
          <a:xfrm>
            <a:off x="4754880" y="3611880"/>
            <a:ext cx="1783080" cy="1188720"/>
          </a:xfrm>
          <a:prstGeom prst="rect">
            <a:avLst/>
          </a:prstGeom>
          <a:noFill/>
          <a:ln/>
        </p:spPr>
        <p:txBody>
          <a:bodyPr wrap="square" rtlCol="0" anchor="t"/>
          <a:lstStyle/>
          <a:p>
            <a:pPr marL="0" indent="0">
              <a:buNone/>
            </a:pPr>
            <a:r>
              <a:rPr lang="en-US" sz="950" dirty="0">
                <a:solidFill>
                  <a:srgbClr val="0F172A"/>
                </a:solidFill>
                <a:latin typeface="Calibri" pitchFamily="34" charset="0"/>
                <a:ea typeface="Calibri" pitchFamily="34" charset="-122"/>
                <a:cs typeface="Calibri" pitchFamily="34" charset="-120"/>
              </a:rPr>
              <a:t>If adding confounder changes β by &gt;10%, it was confounding the association</a:t>
            </a:r>
            <a:endParaRPr lang="en-US" sz="950" dirty="0"/>
          </a:p>
        </p:txBody>
      </p:sp>
      <p:sp>
        <p:nvSpPr>
          <p:cNvPr id="34" name="Shape 32">
            <a:extLst>
              <a:ext uri="{FF2B5EF4-FFF2-40B4-BE49-F238E27FC236}">
                <a16:creationId xmlns:a16="http://schemas.microsoft.com/office/drawing/2014/main" id="{767DA8E3-D4B9-C64B-6E0C-33CEDA943BD8}"/>
              </a:ext>
            </a:extLst>
          </p:cNvPr>
          <p:cNvSpPr/>
          <p:nvPr/>
        </p:nvSpPr>
        <p:spPr>
          <a:xfrm>
            <a:off x="6812280" y="2743200"/>
            <a:ext cx="1965960" cy="2148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35" name="Shape 33">
            <a:extLst>
              <a:ext uri="{FF2B5EF4-FFF2-40B4-BE49-F238E27FC236}">
                <a16:creationId xmlns:a16="http://schemas.microsoft.com/office/drawing/2014/main" id="{DEFB66A9-A209-853E-4EC4-6AD1E6FD3D19}"/>
              </a:ext>
            </a:extLst>
          </p:cNvPr>
          <p:cNvSpPr/>
          <p:nvPr/>
        </p:nvSpPr>
        <p:spPr>
          <a:xfrm>
            <a:off x="6812280" y="2743200"/>
            <a:ext cx="1965960" cy="347472"/>
          </a:xfrm>
          <a:prstGeom prst="rect">
            <a:avLst/>
          </a:prstGeom>
          <a:solidFill>
            <a:srgbClr val="0D9488"/>
          </a:solidFill>
          <a:ln/>
        </p:spPr>
        <p:txBody>
          <a:bodyPr/>
          <a:lstStyle/>
          <a:p>
            <a:endParaRPr lang="en-US"/>
          </a:p>
        </p:txBody>
      </p:sp>
      <p:sp>
        <p:nvSpPr>
          <p:cNvPr id="36" name="Text 34">
            <a:extLst>
              <a:ext uri="{FF2B5EF4-FFF2-40B4-BE49-F238E27FC236}">
                <a16:creationId xmlns:a16="http://schemas.microsoft.com/office/drawing/2014/main" id="{3DB0BBCB-45EE-B1A4-7A16-F8F62B1E5E3D}"/>
              </a:ext>
            </a:extLst>
          </p:cNvPr>
          <p:cNvSpPr/>
          <p:nvPr/>
        </p:nvSpPr>
        <p:spPr>
          <a:xfrm>
            <a:off x="6812280" y="2743200"/>
            <a:ext cx="196596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7" name="Text 35">
            <a:extLst>
              <a:ext uri="{FF2B5EF4-FFF2-40B4-BE49-F238E27FC236}">
                <a16:creationId xmlns:a16="http://schemas.microsoft.com/office/drawing/2014/main" id="{AF890B4B-5059-09CE-FB06-569B89C57D42}"/>
              </a:ext>
            </a:extLst>
          </p:cNvPr>
          <p:cNvSpPr/>
          <p:nvPr/>
        </p:nvSpPr>
        <p:spPr>
          <a:xfrm>
            <a:off x="6903720" y="3127248"/>
            <a:ext cx="1783080" cy="457200"/>
          </a:xfrm>
          <a:prstGeom prst="rect">
            <a:avLst/>
          </a:prstGeom>
          <a:noFill/>
          <a:ln/>
        </p:spPr>
        <p:txBody>
          <a:bodyPr wrap="square" rtlCol="0" anchor="t"/>
          <a:lstStyle/>
          <a:p>
            <a:pPr marL="0" indent="0">
              <a:buNone/>
            </a:pPr>
            <a:r>
              <a:rPr lang="en-US" sz="1000" b="1" dirty="0">
                <a:solidFill>
                  <a:srgbClr val="1B2A4A"/>
                </a:solidFill>
                <a:latin typeface="Calibri" pitchFamily="34" charset="0"/>
                <a:ea typeface="Calibri" pitchFamily="34" charset="-122"/>
                <a:cs typeface="Calibri" pitchFamily="34" charset="-120"/>
              </a:rPr>
              <a:t>Report adjusted vs unadjusted</a:t>
            </a:r>
            <a:endParaRPr lang="en-US" sz="1000" dirty="0"/>
          </a:p>
        </p:txBody>
      </p:sp>
      <p:sp>
        <p:nvSpPr>
          <p:cNvPr id="38" name="Text 36">
            <a:extLst>
              <a:ext uri="{FF2B5EF4-FFF2-40B4-BE49-F238E27FC236}">
                <a16:creationId xmlns:a16="http://schemas.microsoft.com/office/drawing/2014/main" id="{1E22AE4A-D638-2DCC-C0DC-CF39C292471B}"/>
              </a:ext>
            </a:extLst>
          </p:cNvPr>
          <p:cNvSpPr/>
          <p:nvPr/>
        </p:nvSpPr>
        <p:spPr>
          <a:xfrm>
            <a:off x="6903720" y="3611880"/>
            <a:ext cx="1783080" cy="1188720"/>
          </a:xfrm>
          <a:prstGeom prst="rect">
            <a:avLst/>
          </a:prstGeom>
          <a:noFill/>
          <a:ln/>
        </p:spPr>
        <p:txBody>
          <a:bodyPr wrap="square" rtlCol="0" anchor="t"/>
          <a:lstStyle/>
          <a:p>
            <a:pPr marL="0" indent="0">
              <a:buNone/>
            </a:pPr>
            <a:r>
              <a:rPr lang="en-US" sz="950" dirty="0">
                <a:solidFill>
                  <a:srgbClr val="0F172A"/>
                </a:solidFill>
                <a:latin typeface="Calibri" pitchFamily="34" charset="0"/>
                <a:ea typeface="Calibri" pitchFamily="34" charset="-122"/>
                <a:cs typeface="Calibri" pitchFamily="34" charset="-120"/>
              </a:rPr>
              <a:t>Always show both crude and adjusted estimates to demonstrate confounding</a:t>
            </a:r>
            <a:endParaRPr lang="en-US" sz="950" dirty="0"/>
          </a:p>
        </p:txBody>
      </p:sp>
    </p:spTree>
    <p:extLst>
      <p:ext uri="{BB962C8B-B14F-4D97-AF65-F5344CB8AC3E}">
        <p14:creationId xmlns:p14="http://schemas.microsoft.com/office/powerpoint/2010/main" val="3841482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B3B61-851D-3062-4378-67DF4032B8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3D7A7D-E3A2-0DDF-3CA9-35EF464D2702}"/>
              </a:ext>
            </a:extLst>
          </p:cNvPr>
          <p:cNvSpPr/>
          <p:nvPr/>
        </p:nvSpPr>
        <p:spPr>
          <a:xfrm>
            <a:off x="0" y="0"/>
            <a:ext cx="9144000" cy="1005840"/>
          </a:xfrm>
          <a:prstGeom prst="rect">
            <a:avLst/>
          </a:prstGeom>
          <a:solidFill>
            <a:srgbClr val="1B2A4A"/>
          </a:solidFill>
          <a:ln/>
        </p:spPr>
        <p:txBody>
          <a:bodyPr/>
          <a:lstStyle/>
          <a:p>
            <a:endParaRPr lang="en-US"/>
          </a:p>
        </p:txBody>
      </p:sp>
      <p:sp>
        <p:nvSpPr>
          <p:cNvPr id="3" name="Shape 1">
            <a:extLst>
              <a:ext uri="{FF2B5EF4-FFF2-40B4-BE49-F238E27FC236}">
                <a16:creationId xmlns:a16="http://schemas.microsoft.com/office/drawing/2014/main" id="{7569843B-C6BD-7F99-5992-9929BCF52FFD}"/>
              </a:ext>
            </a:extLst>
          </p:cNvPr>
          <p:cNvSpPr/>
          <p:nvPr/>
        </p:nvSpPr>
        <p:spPr>
          <a:xfrm>
            <a:off x="0" y="1005840"/>
            <a:ext cx="9144000" cy="73152"/>
          </a:xfrm>
          <a:prstGeom prst="rect">
            <a:avLst/>
          </a:prstGeom>
          <a:solidFill>
            <a:srgbClr val="0D9488"/>
          </a:solidFill>
          <a:ln/>
        </p:spPr>
        <p:txBody>
          <a:bodyPr/>
          <a:lstStyle/>
          <a:p>
            <a:endParaRPr lang="en-US"/>
          </a:p>
        </p:txBody>
      </p:sp>
      <p:sp>
        <p:nvSpPr>
          <p:cNvPr id="4" name="Text 2">
            <a:extLst>
              <a:ext uri="{FF2B5EF4-FFF2-40B4-BE49-F238E27FC236}">
                <a16:creationId xmlns:a16="http://schemas.microsoft.com/office/drawing/2014/main" id="{079709A3-CD9B-E377-A2C4-85DB5D1C1831}"/>
              </a:ext>
            </a:extLst>
          </p:cNvPr>
          <p:cNvSpPr/>
          <p:nvPr/>
        </p:nvSpPr>
        <p:spPr>
          <a:xfrm>
            <a:off x="365760" y="109728"/>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Running Linear Regression in RStudio</a:t>
            </a:r>
            <a:endParaRPr lang="en-US" sz="2200" dirty="0"/>
          </a:p>
        </p:txBody>
      </p:sp>
      <p:sp>
        <p:nvSpPr>
          <p:cNvPr id="5" name="Text 3">
            <a:extLst>
              <a:ext uri="{FF2B5EF4-FFF2-40B4-BE49-F238E27FC236}">
                <a16:creationId xmlns:a16="http://schemas.microsoft.com/office/drawing/2014/main" id="{4A42CAAA-C5ED-1917-8681-2FFE85F0EE38}"/>
              </a:ext>
            </a:extLst>
          </p:cNvPr>
          <p:cNvSpPr/>
          <p:nvPr/>
        </p:nvSpPr>
        <p:spPr>
          <a:xfrm>
            <a:off x="365760" y="658368"/>
            <a:ext cx="8412480" cy="320040"/>
          </a:xfrm>
          <a:prstGeom prst="rect">
            <a:avLst/>
          </a:prstGeom>
          <a:noFill/>
          <a:ln/>
        </p:spPr>
        <p:txBody>
          <a:bodyPr wrap="square" lIns="0" tIns="0" rIns="0" bIns="0" rtlCol="0" anchor="ctr"/>
          <a:lstStyle/>
          <a:p>
            <a:pPr marL="0" indent="0">
              <a:buNone/>
            </a:pPr>
            <a:r>
              <a:rPr lang="en-US" sz="1100" i="1" dirty="0">
                <a:solidFill>
                  <a:srgbClr val="5EEAD4"/>
                </a:solidFill>
                <a:latin typeface="Calibri" pitchFamily="34" charset="0"/>
                <a:ea typeface="Calibri" pitchFamily="34" charset="-122"/>
                <a:cs typeface="Calibri" pitchFamily="34" charset="-120"/>
              </a:rPr>
              <a:t>The lm() function fits ordinary least squares regression</a:t>
            </a:r>
            <a:endParaRPr lang="en-US" sz="1100" dirty="0"/>
          </a:p>
        </p:txBody>
      </p:sp>
      <p:sp>
        <p:nvSpPr>
          <p:cNvPr id="6" name="Shape 4">
            <a:extLst>
              <a:ext uri="{FF2B5EF4-FFF2-40B4-BE49-F238E27FC236}">
                <a16:creationId xmlns:a16="http://schemas.microsoft.com/office/drawing/2014/main" id="{B5D31A8C-1E52-B931-9BA4-608765156144}"/>
              </a:ext>
            </a:extLst>
          </p:cNvPr>
          <p:cNvSpPr/>
          <p:nvPr/>
        </p:nvSpPr>
        <p:spPr>
          <a:xfrm>
            <a:off x="365760" y="1188720"/>
            <a:ext cx="4389120" cy="3749040"/>
          </a:xfrm>
          <a:prstGeom prst="rect">
            <a:avLst/>
          </a:prstGeom>
          <a:solidFill>
            <a:srgbClr val="1E293B"/>
          </a:solidFill>
          <a:ln/>
        </p:spPr>
        <p:txBody>
          <a:bodyPr/>
          <a:lstStyle/>
          <a:p>
            <a:endParaRPr lang="en-US"/>
          </a:p>
        </p:txBody>
      </p:sp>
      <p:sp>
        <p:nvSpPr>
          <p:cNvPr id="7" name="Text 5">
            <a:extLst>
              <a:ext uri="{FF2B5EF4-FFF2-40B4-BE49-F238E27FC236}">
                <a16:creationId xmlns:a16="http://schemas.microsoft.com/office/drawing/2014/main" id="{37B07E3E-1250-C162-2EFF-AD867025DA20}"/>
              </a:ext>
            </a:extLst>
          </p:cNvPr>
          <p:cNvSpPr/>
          <p:nvPr/>
        </p:nvSpPr>
        <p:spPr>
          <a:xfrm>
            <a:off x="475488" y="1280160"/>
            <a:ext cx="4169664" cy="3566160"/>
          </a:xfrm>
          <a:prstGeom prst="rect">
            <a:avLst/>
          </a:prstGeom>
          <a:noFill/>
          <a:ln/>
        </p:spPr>
        <p:txBody>
          <a:bodyPr wrap="square" rtlCol="0" anchor="t"/>
          <a:lstStyle/>
          <a:p>
            <a:pPr marL="0" indent="0">
              <a:buNone/>
            </a:pPr>
            <a:r>
              <a:rPr lang="en-US" sz="950" dirty="0">
                <a:solidFill>
                  <a:srgbClr val="A5F3FC"/>
                </a:solidFill>
                <a:latin typeface="Consolas" pitchFamily="34" charset="0"/>
                <a:ea typeface="Consolas" pitchFamily="34" charset="-122"/>
                <a:cs typeface="Consolas" pitchFamily="34" charset="-120"/>
              </a:rPr>
              <a:t># Simple (unadjusted) model</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model1 &lt;- lm(sbp ~ smoking, data = mydata)</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summary(model1)</a:t>
            </a:r>
            <a:endParaRPr lang="en-US" sz="950" dirty="0"/>
          </a:p>
          <a:p>
            <a:pPr marL="0" indent="0">
              <a:buNone/>
            </a:pP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 Multivariable (adjusted) model</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model2 &lt;- lm(sbp ~ smoking + age + bmi + sex,</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             data = mydata)</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summary(model2)</a:t>
            </a:r>
            <a:endParaRPr lang="en-US" sz="950" dirty="0"/>
          </a:p>
          <a:p>
            <a:pPr marL="0" indent="0">
              <a:buNone/>
            </a:pP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 Confidence intervals</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confint(model2)</a:t>
            </a:r>
            <a:endParaRPr lang="en-US" sz="950" dirty="0"/>
          </a:p>
          <a:p>
            <a:pPr marL="0" indent="0">
              <a:buNone/>
            </a:pP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 Compare crude vs adjusted</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coef(model1)["smoking"]   # crude β</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coef(model2)["smoking"]   # adjusted β</a:t>
            </a:r>
            <a:endParaRPr lang="en-US" sz="950" dirty="0"/>
          </a:p>
          <a:p>
            <a:pPr marL="0" indent="0">
              <a:buNone/>
            </a:pP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 % change (confounding check)</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(coef(model1)[2] - coef(model2)[2]) /</a:t>
            </a:r>
            <a:endParaRPr lang="en-US" sz="950" dirty="0"/>
          </a:p>
          <a:p>
            <a:pPr marL="0" indent="0">
              <a:buNone/>
            </a:pPr>
            <a:r>
              <a:rPr lang="en-US" sz="950" dirty="0">
                <a:solidFill>
                  <a:srgbClr val="A5F3FC"/>
                </a:solidFill>
                <a:latin typeface="Consolas" pitchFamily="34" charset="0"/>
                <a:ea typeface="Consolas" pitchFamily="34" charset="-122"/>
                <a:cs typeface="Consolas" pitchFamily="34" charset="-120"/>
              </a:rPr>
              <a:t>  coef(model1)[2] * 100</a:t>
            </a:r>
            <a:endParaRPr lang="en-US" sz="950" dirty="0"/>
          </a:p>
        </p:txBody>
      </p:sp>
      <p:sp>
        <p:nvSpPr>
          <p:cNvPr id="8" name="Text 6">
            <a:extLst>
              <a:ext uri="{FF2B5EF4-FFF2-40B4-BE49-F238E27FC236}">
                <a16:creationId xmlns:a16="http://schemas.microsoft.com/office/drawing/2014/main" id="{B86302A7-3DFC-E125-82EE-ED29209912A4}"/>
              </a:ext>
            </a:extLst>
          </p:cNvPr>
          <p:cNvSpPr/>
          <p:nvPr/>
        </p:nvSpPr>
        <p:spPr>
          <a:xfrm>
            <a:off x="5029200" y="1234440"/>
            <a:ext cx="3749040" cy="32004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Reading the summary() Output</a:t>
            </a:r>
            <a:endParaRPr lang="en-US" sz="1200" dirty="0"/>
          </a:p>
        </p:txBody>
      </p:sp>
      <p:sp>
        <p:nvSpPr>
          <p:cNvPr id="9" name="Shape 7">
            <a:extLst>
              <a:ext uri="{FF2B5EF4-FFF2-40B4-BE49-F238E27FC236}">
                <a16:creationId xmlns:a16="http://schemas.microsoft.com/office/drawing/2014/main" id="{F2CA3B8A-0812-D2DE-1E9E-7CDCF18CAAAD}"/>
              </a:ext>
            </a:extLst>
          </p:cNvPr>
          <p:cNvSpPr/>
          <p:nvPr/>
        </p:nvSpPr>
        <p:spPr>
          <a:xfrm>
            <a:off x="5029200" y="1645920"/>
            <a:ext cx="3749040" cy="475488"/>
          </a:xfrm>
          <a:prstGeom prst="rect">
            <a:avLst/>
          </a:prstGeom>
          <a:solidFill>
            <a:srgbClr val="FFFFFF"/>
          </a:solidFill>
          <a:ln/>
        </p:spPr>
        <p:txBody>
          <a:bodyPr/>
          <a:lstStyle/>
          <a:p>
            <a:endParaRPr lang="en-US"/>
          </a:p>
        </p:txBody>
      </p:sp>
      <p:sp>
        <p:nvSpPr>
          <p:cNvPr id="10" name="Text 8">
            <a:extLst>
              <a:ext uri="{FF2B5EF4-FFF2-40B4-BE49-F238E27FC236}">
                <a16:creationId xmlns:a16="http://schemas.microsoft.com/office/drawing/2014/main" id="{A85CC01D-FC08-2637-6179-2EB345BDE8A1}"/>
              </a:ext>
            </a:extLst>
          </p:cNvPr>
          <p:cNvSpPr/>
          <p:nvPr/>
        </p:nvSpPr>
        <p:spPr>
          <a:xfrm>
            <a:off x="5120640" y="1700784"/>
            <a:ext cx="1097280" cy="201168"/>
          </a:xfrm>
          <a:prstGeom prst="rect">
            <a:avLst/>
          </a:prstGeom>
          <a:noFill/>
          <a:ln/>
        </p:spPr>
        <p:txBody>
          <a:bodyPr wrap="square" lIns="0" tIns="0" rIns="0" bIns="0" rtlCol="0" anchor="ctr"/>
          <a:lstStyle/>
          <a:p>
            <a:pPr marL="0" indent="0">
              <a:buNone/>
            </a:pPr>
            <a:r>
              <a:rPr lang="en-US" sz="1000" b="1" dirty="0">
                <a:solidFill>
                  <a:srgbClr val="0D9488"/>
                </a:solidFill>
                <a:latin typeface="Consolas" pitchFamily="34" charset="0"/>
                <a:ea typeface="Consolas" pitchFamily="34" charset="-122"/>
                <a:cs typeface="Consolas" pitchFamily="34" charset="-120"/>
              </a:rPr>
              <a:t>Estimate</a:t>
            </a:r>
            <a:endParaRPr lang="en-US" sz="1000" dirty="0"/>
          </a:p>
        </p:txBody>
      </p:sp>
      <p:sp>
        <p:nvSpPr>
          <p:cNvPr id="11" name="Text 9">
            <a:extLst>
              <a:ext uri="{FF2B5EF4-FFF2-40B4-BE49-F238E27FC236}">
                <a16:creationId xmlns:a16="http://schemas.microsoft.com/office/drawing/2014/main" id="{A8E0A957-0BE7-5818-0604-BD77B8EB2910}"/>
              </a:ext>
            </a:extLst>
          </p:cNvPr>
          <p:cNvSpPr/>
          <p:nvPr/>
        </p:nvSpPr>
        <p:spPr>
          <a:xfrm>
            <a:off x="5120640" y="1883664"/>
            <a:ext cx="3474720" cy="201168"/>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Regression coefficient (β) — change in Y per unit X</a:t>
            </a:r>
            <a:endParaRPr lang="en-US" sz="950" dirty="0"/>
          </a:p>
        </p:txBody>
      </p:sp>
      <p:sp>
        <p:nvSpPr>
          <p:cNvPr id="12" name="Shape 10">
            <a:extLst>
              <a:ext uri="{FF2B5EF4-FFF2-40B4-BE49-F238E27FC236}">
                <a16:creationId xmlns:a16="http://schemas.microsoft.com/office/drawing/2014/main" id="{9DD0479B-D034-01E1-6D25-FE84511FE6D4}"/>
              </a:ext>
            </a:extLst>
          </p:cNvPr>
          <p:cNvSpPr/>
          <p:nvPr/>
        </p:nvSpPr>
        <p:spPr>
          <a:xfrm>
            <a:off x="5029200" y="2194560"/>
            <a:ext cx="3749040" cy="475488"/>
          </a:xfrm>
          <a:prstGeom prst="rect">
            <a:avLst/>
          </a:prstGeom>
          <a:solidFill>
            <a:srgbClr val="F1F5F9"/>
          </a:solidFill>
          <a:ln/>
        </p:spPr>
        <p:txBody>
          <a:bodyPr/>
          <a:lstStyle/>
          <a:p>
            <a:endParaRPr lang="en-US"/>
          </a:p>
        </p:txBody>
      </p:sp>
      <p:sp>
        <p:nvSpPr>
          <p:cNvPr id="13" name="Text 11">
            <a:extLst>
              <a:ext uri="{FF2B5EF4-FFF2-40B4-BE49-F238E27FC236}">
                <a16:creationId xmlns:a16="http://schemas.microsoft.com/office/drawing/2014/main" id="{90CD5003-2237-836A-D534-CBDEE0079372}"/>
              </a:ext>
            </a:extLst>
          </p:cNvPr>
          <p:cNvSpPr/>
          <p:nvPr/>
        </p:nvSpPr>
        <p:spPr>
          <a:xfrm>
            <a:off x="5120640" y="2249424"/>
            <a:ext cx="1097280" cy="201168"/>
          </a:xfrm>
          <a:prstGeom prst="rect">
            <a:avLst/>
          </a:prstGeom>
          <a:noFill/>
          <a:ln/>
        </p:spPr>
        <p:txBody>
          <a:bodyPr wrap="square" lIns="0" tIns="0" rIns="0" bIns="0" rtlCol="0" anchor="ctr"/>
          <a:lstStyle/>
          <a:p>
            <a:pPr marL="0" indent="0">
              <a:buNone/>
            </a:pPr>
            <a:r>
              <a:rPr lang="en-US" sz="1000" b="1" dirty="0">
                <a:solidFill>
                  <a:srgbClr val="0D9488"/>
                </a:solidFill>
                <a:latin typeface="Consolas" pitchFamily="34" charset="0"/>
                <a:ea typeface="Consolas" pitchFamily="34" charset="-122"/>
                <a:cs typeface="Consolas" pitchFamily="34" charset="-120"/>
              </a:rPr>
              <a:t>Std. Error</a:t>
            </a:r>
            <a:endParaRPr lang="en-US" sz="1000" dirty="0"/>
          </a:p>
        </p:txBody>
      </p:sp>
      <p:sp>
        <p:nvSpPr>
          <p:cNvPr id="14" name="Text 12">
            <a:extLst>
              <a:ext uri="{FF2B5EF4-FFF2-40B4-BE49-F238E27FC236}">
                <a16:creationId xmlns:a16="http://schemas.microsoft.com/office/drawing/2014/main" id="{7055021E-9494-8580-7809-2F96914B7975}"/>
              </a:ext>
            </a:extLst>
          </p:cNvPr>
          <p:cNvSpPr/>
          <p:nvPr/>
        </p:nvSpPr>
        <p:spPr>
          <a:xfrm>
            <a:off x="5120640" y="2432304"/>
            <a:ext cx="3474720" cy="201168"/>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Precision of the estimate; smaller = more precise</a:t>
            </a:r>
            <a:endParaRPr lang="en-US" sz="950" dirty="0"/>
          </a:p>
        </p:txBody>
      </p:sp>
      <p:sp>
        <p:nvSpPr>
          <p:cNvPr id="15" name="Shape 13">
            <a:extLst>
              <a:ext uri="{FF2B5EF4-FFF2-40B4-BE49-F238E27FC236}">
                <a16:creationId xmlns:a16="http://schemas.microsoft.com/office/drawing/2014/main" id="{B76EDF6E-57AB-146A-B5A4-49108470F582}"/>
              </a:ext>
            </a:extLst>
          </p:cNvPr>
          <p:cNvSpPr/>
          <p:nvPr/>
        </p:nvSpPr>
        <p:spPr>
          <a:xfrm>
            <a:off x="5029200" y="2743200"/>
            <a:ext cx="3749040" cy="475488"/>
          </a:xfrm>
          <a:prstGeom prst="rect">
            <a:avLst/>
          </a:prstGeom>
          <a:solidFill>
            <a:srgbClr val="FFFFFF"/>
          </a:solidFill>
          <a:ln/>
        </p:spPr>
        <p:txBody>
          <a:bodyPr/>
          <a:lstStyle/>
          <a:p>
            <a:endParaRPr lang="en-US"/>
          </a:p>
        </p:txBody>
      </p:sp>
      <p:sp>
        <p:nvSpPr>
          <p:cNvPr id="16" name="Text 14">
            <a:extLst>
              <a:ext uri="{FF2B5EF4-FFF2-40B4-BE49-F238E27FC236}">
                <a16:creationId xmlns:a16="http://schemas.microsoft.com/office/drawing/2014/main" id="{BBD7D0EB-66C2-2C8D-EEB2-D7E0BCC939D6}"/>
              </a:ext>
            </a:extLst>
          </p:cNvPr>
          <p:cNvSpPr/>
          <p:nvPr/>
        </p:nvSpPr>
        <p:spPr>
          <a:xfrm>
            <a:off x="5120640" y="2798064"/>
            <a:ext cx="1097280" cy="201168"/>
          </a:xfrm>
          <a:prstGeom prst="rect">
            <a:avLst/>
          </a:prstGeom>
          <a:noFill/>
          <a:ln/>
        </p:spPr>
        <p:txBody>
          <a:bodyPr wrap="square" lIns="0" tIns="0" rIns="0" bIns="0" rtlCol="0" anchor="ctr"/>
          <a:lstStyle/>
          <a:p>
            <a:pPr marL="0" indent="0">
              <a:buNone/>
            </a:pPr>
            <a:r>
              <a:rPr lang="en-US" sz="1000" b="1" dirty="0">
                <a:solidFill>
                  <a:srgbClr val="0D9488"/>
                </a:solidFill>
                <a:latin typeface="Consolas" pitchFamily="34" charset="0"/>
                <a:ea typeface="Consolas" pitchFamily="34" charset="-122"/>
                <a:cs typeface="Consolas" pitchFamily="34" charset="-120"/>
              </a:rPr>
              <a:t>t value</a:t>
            </a:r>
            <a:endParaRPr lang="en-US" sz="1000" dirty="0"/>
          </a:p>
        </p:txBody>
      </p:sp>
      <p:sp>
        <p:nvSpPr>
          <p:cNvPr id="17" name="Text 15">
            <a:extLst>
              <a:ext uri="{FF2B5EF4-FFF2-40B4-BE49-F238E27FC236}">
                <a16:creationId xmlns:a16="http://schemas.microsoft.com/office/drawing/2014/main" id="{4A0CD237-85B8-82A9-28A6-3E63070BC1C9}"/>
              </a:ext>
            </a:extLst>
          </p:cNvPr>
          <p:cNvSpPr/>
          <p:nvPr/>
        </p:nvSpPr>
        <p:spPr>
          <a:xfrm>
            <a:off x="5120640" y="2980944"/>
            <a:ext cx="3474720" cy="201168"/>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Estimate ÷ SE; tests whether β differs from zero</a:t>
            </a:r>
            <a:endParaRPr lang="en-US" sz="950" dirty="0"/>
          </a:p>
        </p:txBody>
      </p:sp>
      <p:sp>
        <p:nvSpPr>
          <p:cNvPr id="18" name="Shape 16">
            <a:extLst>
              <a:ext uri="{FF2B5EF4-FFF2-40B4-BE49-F238E27FC236}">
                <a16:creationId xmlns:a16="http://schemas.microsoft.com/office/drawing/2014/main" id="{859C4A79-647A-3D30-3736-2982E1BF1B77}"/>
              </a:ext>
            </a:extLst>
          </p:cNvPr>
          <p:cNvSpPr/>
          <p:nvPr/>
        </p:nvSpPr>
        <p:spPr>
          <a:xfrm>
            <a:off x="5029200" y="3291840"/>
            <a:ext cx="3749040" cy="475488"/>
          </a:xfrm>
          <a:prstGeom prst="rect">
            <a:avLst/>
          </a:prstGeom>
          <a:solidFill>
            <a:srgbClr val="F1F5F9"/>
          </a:solidFill>
          <a:ln/>
        </p:spPr>
        <p:txBody>
          <a:bodyPr/>
          <a:lstStyle/>
          <a:p>
            <a:endParaRPr lang="en-US"/>
          </a:p>
        </p:txBody>
      </p:sp>
      <p:sp>
        <p:nvSpPr>
          <p:cNvPr id="19" name="Text 17">
            <a:extLst>
              <a:ext uri="{FF2B5EF4-FFF2-40B4-BE49-F238E27FC236}">
                <a16:creationId xmlns:a16="http://schemas.microsoft.com/office/drawing/2014/main" id="{04175A08-7A01-B387-C4A4-466758339902}"/>
              </a:ext>
            </a:extLst>
          </p:cNvPr>
          <p:cNvSpPr/>
          <p:nvPr/>
        </p:nvSpPr>
        <p:spPr>
          <a:xfrm>
            <a:off x="5120640" y="3346704"/>
            <a:ext cx="1097280" cy="201168"/>
          </a:xfrm>
          <a:prstGeom prst="rect">
            <a:avLst/>
          </a:prstGeom>
          <a:noFill/>
          <a:ln/>
        </p:spPr>
        <p:txBody>
          <a:bodyPr wrap="square" lIns="0" tIns="0" rIns="0" bIns="0" rtlCol="0" anchor="ctr"/>
          <a:lstStyle/>
          <a:p>
            <a:pPr marL="0" indent="0">
              <a:buNone/>
            </a:pPr>
            <a:r>
              <a:rPr lang="en-US" sz="1000" b="1" dirty="0">
                <a:solidFill>
                  <a:srgbClr val="0D9488"/>
                </a:solidFill>
                <a:latin typeface="Consolas" pitchFamily="34" charset="0"/>
                <a:ea typeface="Consolas" pitchFamily="34" charset="-122"/>
                <a:cs typeface="Consolas" pitchFamily="34" charset="-120"/>
              </a:rPr>
              <a:t>Pr(&gt;|t|)</a:t>
            </a:r>
            <a:endParaRPr lang="en-US" sz="1000" dirty="0"/>
          </a:p>
        </p:txBody>
      </p:sp>
      <p:sp>
        <p:nvSpPr>
          <p:cNvPr id="20" name="Text 18">
            <a:extLst>
              <a:ext uri="{FF2B5EF4-FFF2-40B4-BE49-F238E27FC236}">
                <a16:creationId xmlns:a16="http://schemas.microsoft.com/office/drawing/2014/main" id="{B47BBA3E-C897-5EF0-9FB2-2BB23B5D4B0C}"/>
              </a:ext>
            </a:extLst>
          </p:cNvPr>
          <p:cNvSpPr/>
          <p:nvPr/>
        </p:nvSpPr>
        <p:spPr>
          <a:xfrm>
            <a:off x="5120640" y="3529584"/>
            <a:ext cx="3474720" cy="201168"/>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p-value; &lt;0.05 = statistically significant</a:t>
            </a:r>
            <a:endParaRPr lang="en-US" sz="950" dirty="0"/>
          </a:p>
        </p:txBody>
      </p:sp>
      <p:sp>
        <p:nvSpPr>
          <p:cNvPr id="21" name="Shape 19">
            <a:extLst>
              <a:ext uri="{FF2B5EF4-FFF2-40B4-BE49-F238E27FC236}">
                <a16:creationId xmlns:a16="http://schemas.microsoft.com/office/drawing/2014/main" id="{E8DA42FD-6CCC-DF75-59E9-A45C6D3BB37E}"/>
              </a:ext>
            </a:extLst>
          </p:cNvPr>
          <p:cNvSpPr/>
          <p:nvPr/>
        </p:nvSpPr>
        <p:spPr>
          <a:xfrm>
            <a:off x="5029200" y="3840480"/>
            <a:ext cx="3749040" cy="475488"/>
          </a:xfrm>
          <a:prstGeom prst="rect">
            <a:avLst/>
          </a:prstGeom>
          <a:solidFill>
            <a:srgbClr val="FFFFFF"/>
          </a:solidFill>
          <a:ln/>
        </p:spPr>
        <p:txBody>
          <a:bodyPr/>
          <a:lstStyle/>
          <a:p>
            <a:endParaRPr lang="en-US"/>
          </a:p>
        </p:txBody>
      </p:sp>
      <p:sp>
        <p:nvSpPr>
          <p:cNvPr id="22" name="Text 20">
            <a:extLst>
              <a:ext uri="{FF2B5EF4-FFF2-40B4-BE49-F238E27FC236}">
                <a16:creationId xmlns:a16="http://schemas.microsoft.com/office/drawing/2014/main" id="{E960492E-28DF-D056-AB79-7BDFA2D1CB89}"/>
              </a:ext>
            </a:extLst>
          </p:cNvPr>
          <p:cNvSpPr/>
          <p:nvPr/>
        </p:nvSpPr>
        <p:spPr>
          <a:xfrm>
            <a:off x="5120640" y="3895344"/>
            <a:ext cx="1097280" cy="201168"/>
          </a:xfrm>
          <a:prstGeom prst="rect">
            <a:avLst/>
          </a:prstGeom>
          <a:noFill/>
          <a:ln/>
        </p:spPr>
        <p:txBody>
          <a:bodyPr wrap="square" lIns="0" tIns="0" rIns="0" bIns="0" rtlCol="0" anchor="ctr"/>
          <a:lstStyle/>
          <a:p>
            <a:pPr marL="0" indent="0">
              <a:buNone/>
            </a:pPr>
            <a:r>
              <a:rPr lang="en-US" sz="1000" b="1" dirty="0">
                <a:solidFill>
                  <a:srgbClr val="0D9488"/>
                </a:solidFill>
                <a:latin typeface="Consolas" pitchFamily="34" charset="0"/>
                <a:ea typeface="Consolas" pitchFamily="34" charset="-122"/>
                <a:cs typeface="Consolas" pitchFamily="34" charset="-120"/>
              </a:rPr>
              <a:t>R-squared</a:t>
            </a:r>
            <a:endParaRPr lang="en-US" sz="1000" dirty="0"/>
          </a:p>
        </p:txBody>
      </p:sp>
      <p:sp>
        <p:nvSpPr>
          <p:cNvPr id="23" name="Text 21">
            <a:extLst>
              <a:ext uri="{FF2B5EF4-FFF2-40B4-BE49-F238E27FC236}">
                <a16:creationId xmlns:a16="http://schemas.microsoft.com/office/drawing/2014/main" id="{A050579D-F307-393D-072D-55AC40DAFD2E}"/>
              </a:ext>
            </a:extLst>
          </p:cNvPr>
          <p:cNvSpPr/>
          <p:nvPr/>
        </p:nvSpPr>
        <p:spPr>
          <a:xfrm>
            <a:off x="5120640" y="4078224"/>
            <a:ext cx="3474720" cy="201168"/>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Proportion of variance in Y explained by model</a:t>
            </a:r>
            <a:endParaRPr lang="en-US" sz="950" dirty="0"/>
          </a:p>
        </p:txBody>
      </p:sp>
      <p:sp>
        <p:nvSpPr>
          <p:cNvPr id="24" name="Shape 22">
            <a:extLst>
              <a:ext uri="{FF2B5EF4-FFF2-40B4-BE49-F238E27FC236}">
                <a16:creationId xmlns:a16="http://schemas.microsoft.com/office/drawing/2014/main" id="{B038230A-9238-025E-E72F-110D086C5BD5}"/>
              </a:ext>
            </a:extLst>
          </p:cNvPr>
          <p:cNvSpPr/>
          <p:nvPr/>
        </p:nvSpPr>
        <p:spPr>
          <a:xfrm>
            <a:off x="5029200" y="4389120"/>
            <a:ext cx="3749040" cy="475488"/>
          </a:xfrm>
          <a:prstGeom prst="rect">
            <a:avLst/>
          </a:prstGeom>
          <a:solidFill>
            <a:srgbClr val="F1F5F9"/>
          </a:solidFill>
          <a:ln/>
        </p:spPr>
        <p:txBody>
          <a:bodyPr/>
          <a:lstStyle/>
          <a:p>
            <a:endParaRPr lang="en-US"/>
          </a:p>
        </p:txBody>
      </p:sp>
      <p:sp>
        <p:nvSpPr>
          <p:cNvPr id="25" name="Text 23">
            <a:extLst>
              <a:ext uri="{FF2B5EF4-FFF2-40B4-BE49-F238E27FC236}">
                <a16:creationId xmlns:a16="http://schemas.microsoft.com/office/drawing/2014/main" id="{6B43C3AD-2299-12FE-9814-B11E2A01F220}"/>
              </a:ext>
            </a:extLst>
          </p:cNvPr>
          <p:cNvSpPr/>
          <p:nvPr/>
        </p:nvSpPr>
        <p:spPr>
          <a:xfrm>
            <a:off x="5120640" y="4443984"/>
            <a:ext cx="1097280" cy="201168"/>
          </a:xfrm>
          <a:prstGeom prst="rect">
            <a:avLst/>
          </a:prstGeom>
          <a:noFill/>
          <a:ln/>
        </p:spPr>
        <p:txBody>
          <a:bodyPr wrap="square" lIns="0" tIns="0" rIns="0" bIns="0" rtlCol="0" anchor="ctr"/>
          <a:lstStyle/>
          <a:p>
            <a:pPr marL="0" indent="0">
              <a:buNone/>
            </a:pPr>
            <a:r>
              <a:rPr lang="en-US" sz="1000" b="1" dirty="0">
                <a:solidFill>
                  <a:srgbClr val="0D9488"/>
                </a:solidFill>
                <a:latin typeface="Consolas" pitchFamily="34" charset="0"/>
                <a:ea typeface="Consolas" pitchFamily="34" charset="-122"/>
                <a:cs typeface="Consolas" pitchFamily="34" charset="-120"/>
              </a:rPr>
              <a:t>F-statistic</a:t>
            </a:r>
            <a:endParaRPr lang="en-US" sz="1000" dirty="0"/>
          </a:p>
        </p:txBody>
      </p:sp>
      <p:sp>
        <p:nvSpPr>
          <p:cNvPr id="26" name="Text 24">
            <a:extLst>
              <a:ext uri="{FF2B5EF4-FFF2-40B4-BE49-F238E27FC236}">
                <a16:creationId xmlns:a16="http://schemas.microsoft.com/office/drawing/2014/main" id="{8E46F859-0D74-8F8A-67AC-F9DEB2E6650D}"/>
              </a:ext>
            </a:extLst>
          </p:cNvPr>
          <p:cNvSpPr/>
          <p:nvPr/>
        </p:nvSpPr>
        <p:spPr>
          <a:xfrm>
            <a:off x="5120640" y="4626864"/>
            <a:ext cx="3474720" cy="201168"/>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Tests overall model significance</a:t>
            </a:r>
            <a:endParaRPr lang="en-US" sz="950" dirty="0"/>
          </a:p>
        </p:txBody>
      </p:sp>
    </p:spTree>
    <p:extLst>
      <p:ext uri="{BB962C8B-B14F-4D97-AF65-F5344CB8AC3E}">
        <p14:creationId xmlns:p14="http://schemas.microsoft.com/office/powerpoint/2010/main" val="3122915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A8299-96F2-08FB-7D55-4791B4834C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C37B79-F7BC-7DD4-D5A4-276A2F57EF36}"/>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1E65D3A9-4BCE-EDD2-AC63-6C53B489D92E}"/>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Linear regression - Moderator</a:t>
            </a:r>
            <a:endParaRPr lang="en-US" sz="2400" dirty="0"/>
          </a:p>
        </p:txBody>
      </p:sp>
      <p:sp>
        <p:nvSpPr>
          <p:cNvPr id="4" name="Shape 2">
            <a:extLst>
              <a:ext uri="{FF2B5EF4-FFF2-40B4-BE49-F238E27FC236}">
                <a16:creationId xmlns:a16="http://schemas.microsoft.com/office/drawing/2014/main" id="{B1357C1D-680A-0F71-116C-E5EDB06A2685}"/>
              </a:ext>
            </a:extLst>
          </p:cNvPr>
          <p:cNvSpPr/>
          <p:nvPr/>
        </p:nvSpPr>
        <p:spPr>
          <a:xfrm>
            <a:off x="0" y="685800"/>
            <a:ext cx="9144000" cy="64008"/>
          </a:xfrm>
          <a:prstGeom prst="rect">
            <a:avLst/>
          </a:prstGeom>
          <a:solidFill>
            <a:srgbClr val="0D9488"/>
          </a:solidFill>
          <a:ln w="12700">
            <a:solidFill>
              <a:srgbClr val="0D9488"/>
            </a:solidFill>
            <a:prstDash val="solid"/>
          </a:ln>
        </p:spPr>
        <p:txBody>
          <a:bodyPr/>
          <a:lstStyle/>
          <a:p>
            <a:endParaRPr lang="en-US"/>
          </a:p>
        </p:txBody>
      </p:sp>
      <p:sp>
        <p:nvSpPr>
          <p:cNvPr id="5" name="Shape 3">
            <a:extLst>
              <a:ext uri="{FF2B5EF4-FFF2-40B4-BE49-F238E27FC236}">
                <a16:creationId xmlns:a16="http://schemas.microsoft.com/office/drawing/2014/main" id="{7DA0431E-5FA2-3ACC-50EF-1B0F5A40C4EE}"/>
              </a:ext>
            </a:extLst>
          </p:cNvPr>
          <p:cNvSpPr/>
          <p:nvPr/>
        </p:nvSpPr>
        <p:spPr>
          <a:xfrm>
            <a:off x="274320" y="960120"/>
            <a:ext cx="8595360" cy="1005840"/>
          </a:xfrm>
          <a:prstGeom prst="rect">
            <a:avLst/>
          </a:prstGeom>
          <a:solidFill>
            <a:srgbClr val="CCFBF1"/>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CF804BF1-666D-4DAE-A509-349F364826C2}"/>
              </a:ext>
            </a:extLst>
          </p:cNvPr>
          <p:cNvSpPr/>
          <p:nvPr/>
        </p:nvSpPr>
        <p:spPr>
          <a:xfrm>
            <a:off x="274320" y="960120"/>
            <a:ext cx="64008" cy="1005840"/>
          </a:xfrm>
          <a:prstGeom prst="rect">
            <a:avLst/>
          </a:prstGeom>
          <a:solidFill>
            <a:srgbClr val="0D9488"/>
          </a:solidFill>
          <a:ln w="12700">
            <a:solidFill>
              <a:srgbClr val="0D9488"/>
            </a:solidFill>
            <a:prstDash val="solid"/>
          </a:ln>
        </p:spPr>
        <p:txBody>
          <a:bodyPr/>
          <a:lstStyle/>
          <a:p>
            <a:endParaRPr lang="en-US"/>
          </a:p>
        </p:txBody>
      </p:sp>
      <mc:AlternateContent xmlns:mc="http://schemas.openxmlformats.org/markup-compatibility/2006" xmlns:a14="http://schemas.microsoft.com/office/drawing/2010/main">
        <mc:Choice Requires="a14">
          <p:sp>
            <p:nvSpPr>
              <p:cNvPr id="7" name="Text 5">
                <a:extLst>
                  <a:ext uri="{FF2B5EF4-FFF2-40B4-BE49-F238E27FC236}">
                    <a16:creationId xmlns:a16="http://schemas.microsoft.com/office/drawing/2014/main" id="{6B19C246-5FD3-47E1-A48D-EA1111303015}"/>
                  </a:ext>
                </a:extLst>
              </p:cNvPr>
              <p:cNvSpPr/>
              <p:nvPr/>
            </p:nvSpPr>
            <p:spPr>
              <a:xfrm>
                <a:off x="502920" y="1024128"/>
                <a:ext cx="8138160" cy="822960"/>
              </a:xfrm>
              <a:prstGeom prst="rect">
                <a:avLst/>
              </a:prstGeom>
              <a:noFill/>
              <a:ln/>
            </p:spPr>
            <p:txBody>
              <a:bodyPr wrap="square" lIns="0" tIns="0" rIns="0" bIns="0" rtlCol="0" anchor="ctr"/>
              <a:lstStyle/>
              <a:p>
                <a:r>
                  <a:rPr lang="en-MY" sz="1400" dirty="0"/>
                  <a:t>To test moderation, we include an </a:t>
                </a:r>
                <a:r>
                  <a:rPr lang="en-MY" sz="1400" b="1" dirty="0"/>
                  <a:t>interaction term</a:t>
                </a:r>
                <a:r>
                  <a:rPr lang="en-MY" sz="1400" dirty="0"/>
                  <a:t>:</a:t>
                </a:r>
              </a:p>
              <a:p>
                <a:pPr/>
                <a14:m>
                  <m:oMathPara xmlns:m="http://schemas.openxmlformats.org/officeDocument/2006/math">
                    <m:oMathParaPr>
                      <m:jc m:val="centerGroup"/>
                    </m:oMathParaPr>
                    <m:oMath xmlns:m="http://schemas.openxmlformats.org/officeDocument/2006/math">
                      <m:r>
                        <a:rPr lang="en-MY" i="1">
                          <a:latin typeface="Cambria Math" panose="02040503050406030204" pitchFamily="18" charset="0"/>
                        </a:rPr>
                        <m:t>𝑌</m:t>
                      </m:r>
                      <m:r>
                        <a:rPr lang="en-MY">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1</m:t>
                          </m:r>
                        </m:sub>
                      </m:sSub>
                      <m:r>
                        <a:rPr lang="ar-AE" i="1">
                          <a:latin typeface="Cambria Math" panose="02040503050406030204" pitchFamily="18" charset="0"/>
                        </a:rPr>
                        <m:t>𝑋</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2</m:t>
                          </m:r>
                        </m:sub>
                      </m:sSub>
                      <m:r>
                        <a:rPr lang="ar-AE" i="1">
                          <a:latin typeface="Cambria Math" panose="02040503050406030204" pitchFamily="18" charset="0"/>
                        </a:rPr>
                        <m:t>𝑀</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3</m:t>
                          </m:r>
                        </m:sub>
                      </m:sSub>
                      <m:d>
                        <m:dPr>
                          <m:ctrlPr>
                            <a:rPr lang="ar-AE" i="1">
                              <a:latin typeface="Cambria Math" panose="02040503050406030204" pitchFamily="18" charset="0"/>
                            </a:rPr>
                          </m:ctrlPr>
                        </m:dPr>
                        <m:e>
                          <m:r>
                            <a:rPr lang="ar-AE" i="1">
                              <a:latin typeface="Cambria Math" panose="02040503050406030204" pitchFamily="18" charset="0"/>
                            </a:rPr>
                            <m:t>𝑋</m:t>
                          </m:r>
                          <m:r>
                            <a:rPr lang="ar-AE">
                              <a:latin typeface="Cambria Math" panose="02040503050406030204" pitchFamily="18" charset="0"/>
                            </a:rPr>
                            <m:t>×</m:t>
                          </m:r>
                          <m:r>
                            <a:rPr lang="ar-AE" i="1">
                              <a:latin typeface="Cambria Math" panose="02040503050406030204" pitchFamily="18" charset="0"/>
                            </a:rPr>
                            <m:t>𝑀</m:t>
                          </m:r>
                        </m:e>
                      </m:d>
                      <m:r>
                        <a:rPr lang="ar-AE">
                          <a:latin typeface="Cambria Math" panose="02040503050406030204" pitchFamily="18" charset="0"/>
                        </a:rPr>
                        <m:t>+</m:t>
                      </m:r>
                      <m:r>
                        <a:rPr lang="ar-AE" i="1">
                          <a:latin typeface="Cambria Math" panose="02040503050406030204" pitchFamily="18" charset="0"/>
                        </a:rPr>
                        <m:t>𝜖</m:t>
                      </m:r>
                    </m:oMath>
                  </m:oMathPara>
                </a14:m>
                <a:endParaRPr lang="en-US" sz="1400" dirty="0"/>
              </a:p>
              <a:p>
                <a:endParaRPr lang="en-US" sz="1400" dirty="0"/>
              </a:p>
              <a:p>
                <a:r>
                  <a:rPr lang="en-MY" sz="1400" dirty="0"/>
                  <a:t>If </a:t>
                </a:r>
                <a:r>
                  <a:rPr lang="el-GR" sz="1400" b="1" dirty="0"/>
                  <a:t>β3 </a:t>
                </a:r>
                <a:r>
                  <a:rPr lang="en-MY" sz="1400" b="1" dirty="0"/>
                  <a:t>is statistically significant</a:t>
                </a:r>
                <a:r>
                  <a:rPr lang="en-MY" sz="1400" dirty="0"/>
                  <a:t>, moderation exists.</a:t>
                </a:r>
                <a:endParaRPr lang="ar-AE" sz="1400" dirty="0"/>
              </a:p>
            </p:txBody>
          </p:sp>
        </mc:Choice>
        <mc:Fallback xmlns="">
          <p:sp>
            <p:nvSpPr>
              <p:cNvPr id="7" name="Text 5">
                <a:extLst>
                  <a:ext uri="{FF2B5EF4-FFF2-40B4-BE49-F238E27FC236}">
                    <a16:creationId xmlns:a16="http://schemas.microsoft.com/office/drawing/2014/main" id="{6B19C246-5FD3-47E1-A48D-EA1111303015}"/>
                  </a:ext>
                </a:extLst>
              </p:cNvPr>
              <p:cNvSpPr>
                <a:spLocks noRot="1" noChangeAspect="1" noMove="1" noResize="1" noEditPoints="1" noAdjustHandles="1" noChangeArrowheads="1" noChangeShapeType="1" noTextEdit="1"/>
              </p:cNvSpPr>
              <p:nvPr/>
            </p:nvSpPr>
            <p:spPr>
              <a:xfrm>
                <a:off x="502920" y="1024128"/>
                <a:ext cx="8138160" cy="822960"/>
              </a:xfrm>
              <a:prstGeom prst="rect">
                <a:avLst/>
              </a:prstGeom>
              <a:blipFill>
                <a:blip r:embed="rId3"/>
                <a:stretch>
                  <a:fillRect l="-1402" t="-12121" b="-18182"/>
                </a:stretch>
              </a:blipFill>
              <a:ln/>
            </p:spPr>
            <p:txBody>
              <a:bodyPr/>
              <a:lstStyle/>
              <a:p>
                <a:r>
                  <a:rPr lang="en-US">
                    <a:noFill/>
                  </a:rPr>
                  <a:t> </a:t>
                </a:r>
              </a:p>
            </p:txBody>
          </p:sp>
        </mc:Fallback>
      </mc:AlternateContent>
      <p:sp>
        <p:nvSpPr>
          <p:cNvPr id="8" name="Shape 6">
            <a:extLst>
              <a:ext uri="{FF2B5EF4-FFF2-40B4-BE49-F238E27FC236}">
                <a16:creationId xmlns:a16="http://schemas.microsoft.com/office/drawing/2014/main" id="{692C38A8-49FF-26A1-2F39-B12B94E2B2EB}"/>
              </a:ext>
            </a:extLst>
          </p:cNvPr>
          <p:cNvSpPr/>
          <p:nvPr/>
        </p:nvSpPr>
        <p:spPr>
          <a:xfrm>
            <a:off x="27432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a:extLst>
              <a:ext uri="{FF2B5EF4-FFF2-40B4-BE49-F238E27FC236}">
                <a16:creationId xmlns:a16="http://schemas.microsoft.com/office/drawing/2014/main" id="{F0C20AE3-0DB4-D4AD-C70C-3D8A7D7A90C7}"/>
              </a:ext>
            </a:extLst>
          </p:cNvPr>
          <p:cNvSpPr/>
          <p:nvPr/>
        </p:nvSpPr>
        <p:spPr>
          <a:xfrm>
            <a:off x="274320" y="2148840"/>
            <a:ext cx="2743200" cy="411480"/>
          </a:xfrm>
          <a:prstGeom prst="rect">
            <a:avLst/>
          </a:prstGeom>
          <a:solidFill>
            <a:srgbClr val="2563EB"/>
          </a:solidFill>
          <a:ln w="12700">
            <a:solidFill>
              <a:srgbClr val="2563EB"/>
            </a:solidFill>
            <a:prstDash val="solid"/>
          </a:ln>
        </p:spPr>
        <p:txBody>
          <a:bodyPr/>
          <a:lstStyle/>
          <a:p>
            <a:endParaRPr lang="en-US"/>
          </a:p>
        </p:txBody>
      </p:sp>
      <p:sp>
        <p:nvSpPr>
          <p:cNvPr id="10" name="Text 8">
            <a:extLst>
              <a:ext uri="{FF2B5EF4-FFF2-40B4-BE49-F238E27FC236}">
                <a16:creationId xmlns:a16="http://schemas.microsoft.com/office/drawing/2014/main" id="{CC9A75B2-7C9F-2777-60D4-5DD4DE54C014}"/>
              </a:ext>
            </a:extLst>
          </p:cNvPr>
          <p:cNvSpPr/>
          <p:nvPr/>
        </p:nvSpPr>
        <p:spPr>
          <a:xfrm>
            <a:off x="365760" y="2176272"/>
            <a:ext cx="25603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Check and visualize</a:t>
            </a:r>
            <a:endParaRPr lang="en-US" sz="1400" dirty="0"/>
          </a:p>
        </p:txBody>
      </p:sp>
      <p:sp>
        <p:nvSpPr>
          <p:cNvPr id="11" name="Text 9">
            <a:extLst>
              <a:ext uri="{FF2B5EF4-FFF2-40B4-BE49-F238E27FC236}">
                <a16:creationId xmlns:a16="http://schemas.microsoft.com/office/drawing/2014/main" id="{D95C4F88-53F6-1357-73D8-6E943B6201D5}"/>
              </a:ext>
            </a:extLst>
          </p:cNvPr>
          <p:cNvSpPr/>
          <p:nvPr/>
        </p:nvSpPr>
        <p:spPr>
          <a:xfrm>
            <a:off x="384048" y="2633472"/>
            <a:ext cx="2523744" cy="1188720"/>
          </a:xfrm>
          <a:prstGeom prst="rect">
            <a:avLst/>
          </a:prstGeom>
          <a:noFill/>
          <a:ln/>
        </p:spPr>
        <p:txBody>
          <a:bodyPr wrap="square" lIns="0" tIns="0" rIns="0" bIns="0" rtlCol="0" anchor="ctr"/>
          <a:lstStyle/>
          <a:p>
            <a:r>
              <a:rPr lang="en-US" sz="600" dirty="0">
                <a:solidFill>
                  <a:srgbClr val="475569"/>
                </a:solidFill>
                <a:latin typeface="Calibri" pitchFamily="34" charset="0"/>
                <a:ea typeface="Calibri" pitchFamily="34" charset="-122"/>
                <a:cs typeface="Calibri" pitchFamily="34" charset="-120"/>
              </a:rPr>
              <a:t>model &lt;- </a:t>
            </a:r>
            <a:r>
              <a:rPr lang="en-US" sz="600" dirty="0" err="1">
                <a:solidFill>
                  <a:srgbClr val="475569"/>
                </a:solidFill>
                <a:latin typeface="Calibri" pitchFamily="34" charset="0"/>
                <a:ea typeface="Calibri" pitchFamily="34" charset="-122"/>
                <a:cs typeface="Calibri" pitchFamily="34" charset="-120"/>
              </a:rPr>
              <a:t>lm</a:t>
            </a:r>
            <a:r>
              <a:rPr lang="en-US" sz="600" dirty="0">
                <a:solidFill>
                  <a:srgbClr val="475569"/>
                </a:solidFill>
                <a:latin typeface="Calibri" pitchFamily="34" charset="0"/>
                <a:ea typeface="Calibri" pitchFamily="34" charset="-122"/>
                <a:cs typeface="Calibri" pitchFamily="34" charset="-120"/>
              </a:rPr>
              <a:t>(Outcome ~ Predictor * Moderator, data = </a:t>
            </a:r>
            <a:r>
              <a:rPr lang="en-US" sz="600" dirty="0" err="1">
                <a:solidFill>
                  <a:srgbClr val="475569"/>
                </a:solidFill>
                <a:latin typeface="Calibri" pitchFamily="34" charset="0"/>
                <a:ea typeface="Calibri" pitchFamily="34" charset="-122"/>
                <a:cs typeface="Calibri" pitchFamily="34" charset="-120"/>
              </a:rPr>
              <a:t>mydata</a:t>
            </a:r>
            <a:r>
              <a:rPr lang="en-US" sz="600" dirty="0">
                <a:solidFill>
                  <a:srgbClr val="475569"/>
                </a:solidFill>
                <a:latin typeface="Calibri" pitchFamily="34" charset="0"/>
                <a:ea typeface="Calibri" pitchFamily="34" charset="-122"/>
                <a:cs typeface="Calibri" pitchFamily="34" charset="-120"/>
              </a:rPr>
              <a:t>)</a:t>
            </a:r>
          </a:p>
          <a:p>
            <a:r>
              <a:rPr lang="en-US" sz="1100" dirty="0">
                <a:solidFill>
                  <a:srgbClr val="475569"/>
                </a:solidFill>
                <a:latin typeface="Calibri" pitchFamily="34" charset="0"/>
                <a:ea typeface="Calibri" pitchFamily="34" charset="-122"/>
                <a:cs typeface="Calibri" pitchFamily="34" charset="-120"/>
              </a:rPr>
              <a:t>summary(model)</a:t>
            </a:r>
          </a:p>
          <a:p>
            <a:endParaRPr lang="en-US" sz="1100" dirty="0">
              <a:solidFill>
                <a:srgbClr val="475569"/>
              </a:solidFill>
              <a:latin typeface="Calibri" pitchFamily="34" charset="0"/>
              <a:ea typeface="Calibri" pitchFamily="34" charset="-122"/>
              <a:cs typeface="Calibri" pitchFamily="34" charset="-120"/>
            </a:endParaRPr>
          </a:p>
          <a:p>
            <a:r>
              <a:rPr lang="en-US" sz="1100" dirty="0">
                <a:solidFill>
                  <a:srgbClr val="475569"/>
                </a:solidFill>
                <a:latin typeface="Calibri" pitchFamily="34" charset="0"/>
                <a:ea typeface="Calibri" pitchFamily="34" charset="-122"/>
                <a:cs typeface="Calibri" pitchFamily="34" charset="-120"/>
              </a:rPr>
              <a:t>library(interactions)</a:t>
            </a:r>
          </a:p>
          <a:p>
            <a:r>
              <a:rPr lang="en-US" sz="600" dirty="0" err="1">
                <a:solidFill>
                  <a:srgbClr val="475569"/>
                </a:solidFill>
                <a:latin typeface="Calibri" pitchFamily="34" charset="0"/>
                <a:ea typeface="Calibri" pitchFamily="34" charset="-122"/>
                <a:cs typeface="Calibri" pitchFamily="34" charset="-120"/>
              </a:rPr>
              <a:t>interact_plot</a:t>
            </a:r>
            <a:r>
              <a:rPr lang="en-US" sz="600" dirty="0">
                <a:solidFill>
                  <a:srgbClr val="475569"/>
                </a:solidFill>
                <a:latin typeface="Calibri" pitchFamily="34" charset="0"/>
                <a:ea typeface="Calibri" pitchFamily="34" charset="-122"/>
                <a:cs typeface="Calibri" pitchFamily="34" charset="-120"/>
              </a:rPr>
              <a:t>(model, pred = Predictor, </a:t>
            </a:r>
            <a:r>
              <a:rPr lang="en-US" sz="600" dirty="0" err="1">
                <a:solidFill>
                  <a:srgbClr val="475569"/>
                </a:solidFill>
                <a:latin typeface="Calibri" pitchFamily="34" charset="0"/>
                <a:ea typeface="Calibri" pitchFamily="34" charset="-122"/>
                <a:cs typeface="Calibri" pitchFamily="34" charset="-120"/>
              </a:rPr>
              <a:t>modx</a:t>
            </a:r>
            <a:r>
              <a:rPr lang="en-US" sz="600" dirty="0">
                <a:solidFill>
                  <a:srgbClr val="475569"/>
                </a:solidFill>
                <a:latin typeface="Calibri" pitchFamily="34" charset="0"/>
                <a:ea typeface="Calibri" pitchFamily="34" charset="-122"/>
                <a:cs typeface="Calibri" pitchFamily="34" charset="-120"/>
              </a:rPr>
              <a:t> = Moderator)</a:t>
            </a:r>
          </a:p>
        </p:txBody>
      </p:sp>
      <p:sp>
        <p:nvSpPr>
          <p:cNvPr id="12" name="Shape 10">
            <a:extLst>
              <a:ext uri="{FF2B5EF4-FFF2-40B4-BE49-F238E27FC236}">
                <a16:creationId xmlns:a16="http://schemas.microsoft.com/office/drawing/2014/main" id="{085FFD8D-9C7C-8861-83EB-42D6C6D7E7B8}"/>
              </a:ext>
            </a:extLst>
          </p:cNvPr>
          <p:cNvSpPr/>
          <p:nvPr/>
        </p:nvSpPr>
        <p:spPr>
          <a:xfrm>
            <a:off x="320040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a:extLst>
              <a:ext uri="{FF2B5EF4-FFF2-40B4-BE49-F238E27FC236}">
                <a16:creationId xmlns:a16="http://schemas.microsoft.com/office/drawing/2014/main" id="{33FEA328-3389-25B2-AC16-71EDA0AAE6CE}"/>
              </a:ext>
            </a:extLst>
          </p:cNvPr>
          <p:cNvSpPr/>
          <p:nvPr/>
        </p:nvSpPr>
        <p:spPr>
          <a:xfrm>
            <a:off x="3200400" y="2148840"/>
            <a:ext cx="2743200" cy="411480"/>
          </a:xfrm>
          <a:prstGeom prst="rect">
            <a:avLst/>
          </a:prstGeom>
          <a:solidFill>
            <a:srgbClr val="0D9488"/>
          </a:solidFill>
          <a:ln w="12700">
            <a:solidFill>
              <a:srgbClr val="0D9488"/>
            </a:solidFill>
            <a:prstDash val="solid"/>
          </a:ln>
        </p:spPr>
        <p:txBody>
          <a:bodyPr/>
          <a:lstStyle/>
          <a:p>
            <a:endParaRPr lang="en-US"/>
          </a:p>
        </p:txBody>
      </p:sp>
      <p:sp>
        <p:nvSpPr>
          <p:cNvPr id="14" name="Text 12">
            <a:extLst>
              <a:ext uri="{FF2B5EF4-FFF2-40B4-BE49-F238E27FC236}">
                <a16:creationId xmlns:a16="http://schemas.microsoft.com/office/drawing/2014/main" id="{B9E504CC-505A-D2EA-42BA-C515F662194B}"/>
              </a:ext>
            </a:extLst>
          </p:cNvPr>
          <p:cNvSpPr/>
          <p:nvPr/>
        </p:nvSpPr>
        <p:spPr>
          <a:xfrm>
            <a:off x="3291840" y="2176272"/>
            <a:ext cx="25603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Interpret</a:t>
            </a:r>
            <a:endParaRPr lang="en-US" sz="1400" dirty="0"/>
          </a:p>
        </p:txBody>
      </p:sp>
      <p:sp>
        <p:nvSpPr>
          <p:cNvPr id="15" name="Text 13">
            <a:extLst>
              <a:ext uri="{FF2B5EF4-FFF2-40B4-BE49-F238E27FC236}">
                <a16:creationId xmlns:a16="http://schemas.microsoft.com/office/drawing/2014/main" id="{2983623B-82A9-A025-2301-394A5D88EC42}"/>
              </a:ext>
            </a:extLst>
          </p:cNvPr>
          <p:cNvSpPr/>
          <p:nvPr/>
        </p:nvSpPr>
        <p:spPr>
          <a:xfrm>
            <a:off x="3310128" y="2633472"/>
            <a:ext cx="2523744" cy="1188720"/>
          </a:xfrm>
          <a:prstGeom prst="rect">
            <a:avLst/>
          </a:prstGeom>
          <a:noFill/>
          <a:ln/>
        </p:spPr>
        <p:txBody>
          <a:bodyPr wrap="square" lIns="0" tIns="0" rIns="0" bIns="0" rtlCol="0" anchor="ctr"/>
          <a:lstStyle/>
          <a:p>
            <a:r>
              <a:rPr lang="en-MY" sz="1000" dirty="0"/>
              <a:t>use </a:t>
            </a:r>
            <a:r>
              <a:rPr lang="en-MY" sz="1000" dirty="0" err="1"/>
              <a:t>sim_slopes</a:t>
            </a:r>
            <a:r>
              <a:rPr lang="en-MY" sz="1000" dirty="0"/>
              <a:t>  from the interactions package</a:t>
            </a:r>
          </a:p>
          <a:p>
            <a:r>
              <a:rPr lang="en-MY" sz="1000" dirty="0"/>
              <a:t>(model, pred = Predictor, </a:t>
            </a:r>
            <a:r>
              <a:rPr lang="en-MY" sz="1000" dirty="0" err="1"/>
              <a:t>modx</a:t>
            </a:r>
            <a:r>
              <a:rPr lang="en-MY" sz="1000" dirty="0"/>
              <a:t> = Moderator)</a:t>
            </a:r>
          </a:p>
          <a:p>
            <a:endParaRPr lang="en-MY" sz="1000" dirty="0"/>
          </a:p>
          <a:p>
            <a:r>
              <a:rPr lang="en-MY" sz="1000" dirty="0"/>
              <a:t>examine the effect of on at different levels of (e.g., SD)</a:t>
            </a:r>
          </a:p>
          <a:p>
            <a:endParaRPr lang="en-MY" sz="1000" dirty="0"/>
          </a:p>
          <a:p>
            <a:endParaRPr lang="en-US" sz="1000" dirty="0"/>
          </a:p>
        </p:txBody>
      </p:sp>
      <p:sp>
        <p:nvSpPr>
          <p:cNvPr id="16" name="Shape 14">
            <a:extLst>
              <a:ext uri="{FF2B5EF4-FFF2-40B4-BE49-F238E27FC236}">
                <a16:creationId xmlns:a16="http://schemas.microsoft.com/office/drawing/2014/main" id="{BE49B8C9-E8A5-5783-10AF-016E2EC0F1B5}"/>
              </a:ext>
            </a:extLst>
          </p:cNvPr>
          <p:cNvSpPr/>
          <p:nvPr/>
        </p:nvSpPr>
        <p:spPr>
          <a:xfrm>
            <a:off x="612648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a:extLst>
              <a:ext uri="{FF2B5EF4-FFF2-40B4-BE49-F238E27FC236}">
                <a16:creationId xmlns:a16="http://schemas.microsoft.com/office/drawing/2014/main" id="{2B748199-52A9-9A7F-AE61-8FDF4CA5D794}"/>
              </a:ext>
            </a:extLst>
          </p:cNvPr>
          <p:cNvSpPr/>
          <p:nvPr/>
        </p:nvSpPr>
        <p:spPr>
          <a:xfrm>
            <a:off x="6126480" y="2148840"/>
            <a:ext cx="2743200" cy="411480"/>
          </a:xfrm>
          <a:prstGeom prst="rect">
            <a:avLst/>
          </a:prstGeom>
          <a:solidFill>
            <a:srgbClr val="F59E0B"/>
          </a:solidFill>
          <a:ln w="12700">
            <a:solidFill>
              <a:srgbClr val="F59E0B"/>
            </a:solidFill>
            <a:prstDash val="solid"/>
          </a:ln>
        </p:spPr>
        <p:txBody>
          <a:bodyPr/>
          <a:lstStyle/>
          <a:p>
            <a:endParaRPr lang="en-US"/>
          </a:p>
        </p:txBody>
      </p:sp>
      <p:sp>
        <p:nvSpPr>
          <p:cNvPr id="18" name="Text 16">
            <a:extLst>
              <a:ext uri="{FF2B5EF4-FFF2-40B4-BE49-F238E27FC236}">
                <a16:creationId xmlns:a16="http://schemas.microsoft.com/office/drawing/2014/main" id="{0A54E7D0-B958-55CE-EB32-EF70033D9245}"/>
              </a:ext>
            </a:extLst>
          </p:cNvPr>
          <p:cNvSpPr/>
          <p:nvPr/>
        </p:nvSpPr>
        <p:spPr>
          <a:xfrm>
            <a:off x="6217920" y="2176272"/>
            <a:ext cx="25603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Interaction level</a:t>
            </a:r>
            <a:endParaRPr lang="en-US" sz="1400" dirty="0"/>
          </a:p>
        </p:txBody>
      </p:sp>
      <p:sp>
        <p:nvSpPr>
          <p:cNvPr id="19" name="Text 17">
            <a:extLst>
              <a:ext uri="{FF2B5EF4-FFF2-40B4-BE49-F238E27FC236}">
                <a16:creationId xmlns:a16="http://schemas.microsoft.com/office/drawing/2014/main" id="{124CEA80-DAE2-96B3-5A11-CE5FA19A29F0}"/>
              </a:ext>
            </a:extLst>
          </p:cNvPr>
          <p:cNvSpPr/>
          <p:nvPr/>
        </p:nvSpPr>
        <p:spPr>
          <a:xfrm>
            <a:off x="6236208" y="2633472"/>
            <a:ext cx="2523744" cy="11887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Categorical and categorical</a:t>
            </a:r>
          </a:p>
          <a:p>
            <a:pPr marL="0" indent="0">
              <a:buNone/>
            </a:pPr>
            <a:r>
              <a:rPr lang="en-US" sz="1200" dirty="0">
                <a:solidFill>
                  <a:srgbClr val="475569"/>
                </a:solidFill>
                <a:latin typeface="Calibri" pitchFamily="34" charset="0"/>
                <a:cs typeface="Calibri" pitchFamily="34" charset="-120"/>
              </a:rPr>
              <a:t>Categorical and numeric</a:t>
            </a:r>
          </a:p>
          <a:p>
            <a:pPr marL="0" indent="0">
              <a:buNone/>
            </a:pPr>
            <a:r>
              <a:rPr lang="en-US" sz="1200" dirty="0">
                <a:solidFill>
                  <a:srgbClr val="475569"/>
                </a:solidFill>
                <a:latin typeface="Calibri" pitchFamily="34" charset="0"/>
                <a:cs typeface="Calibri" pitchFamily="34" charset="-120"/>
              </a:rPr>
              <a:t>Numeric and numeric </a:t>
            </a:r>
            <a:endParaRPr lang="en-US" sz="1200" dirty="0"/>
          </a:p>
        </p:txBody>
      </p:sp>
      <p:sp>
        <p:nvSpPr>
          <p:cNvPr id="24" name="Text 22">
            <a:extLst>
              <a:ext uri="{FF2B5EF4-FFF2-40B4-BE49-F238E27FC236}">
                <a16:creationId xmlns:a16="http://schemas.microsoft.com/office/drawing/2014/main" id="{602748D6-5728-2E27-8BC4-60FAA2178E30}"/>
              </a:ext>
            </a:extLst>
          </p:cNvPr>
          <p:cNvSpPr/>
          <p:nvPr/>
        </p:nvSpPr>
        <p:spPr>
          <a:xfrm>
            <a:off x="274320" y="4919472"/>
            <a:ext cx="859536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Discovering Statistics Using R, p. 183</a:t>
            </a:r>
            <a:endParaRPr lang="en-US" sz="900" dirty="0"/>
          </a:p>
        </p:txBody>
      </p:sp>
    </p:spTree>
    <p:extLst>
      <p:ext uri="{BB962C8B-B14F-4D97-AF65-F5344CB8AC3E}">
        <p14:creationId xmlns:p14="http://schemas.microsoft.com/office/powerpoint/2010/main" val="1155808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79D9-C1AB-269B-F334-ED7C140C17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6DA2AD-4C11-9C6C-7B6E-8743A6B0FC25}"/>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82B502B5-72DB-C60F-491E-D6537029ECEB}"/>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Linear regression – Mediator </a:t>
            </a:r>
            <a:endParaRPr lang="en-US" sz="2400" dirty="0"/>
          </a:p>
        </p:txBody>
      </p:sp>
      <p:sp>
        <p:nvSpPr>
          <p:cNvPr id="4" name="Shape 2">
            <a:extLst>
              <a:ext uri="{FF2B5EF4-FFF2-40B4-BE49-F238E27FC236}">
                <a16:creationId xmlns:a16="http://schemas.microsoft.com/office/drawing/2014/main" id="{4FAAEC06-9922-FA0C-16FF-17AA729E4940}"/>
              </a:ext>
            </a:extLst>
          </p:cNvPr>
          <p:cNvSpPr/>
          <p:nvPr/>
        </p:nvSpPr>
        <p:spPr>
          <a:xfrm>
            <a:off x="0" y="685800"/>
            <a:ext cx="9144000" cy="64008"/>
          </a:xfrm>
          <a:prstGeom prst="rect">
            <a:avLst/>
          </a:prstGeom>
          <a:solidFill>
            <a:srgbClr val="0D9488"/>
          </a:solidFill>
          <a:ln w="12700">
            <a:solidFill>
              <a:srgbClr val="0D9488"/>
            </a:solidFill>
            <a:prstDash val="solid"/>
          </a:ln>
        </p:spPr>
        <p:txBody>
          <a:bodyPr/>
          <a:lstStyle/>
          <a:p>
            <a:endParaRPr lang="en-US"/>
          </a:p>
        </p:txBody>
      </p:sp>
      <p:sp>
        <p:nvSpPr>
          <p:cNvPr id="5" name="Shape 3">
            <a:extLst>
              <a:ext uri="{FF2B5EF4-FFF2-40B4-BE49-F238E27FC236}">
                <a16:creationId xmlns:a16="http://schemas.microsoft.com/office/drawing/2014/main" id="{BAEA416C-AF11-F6E9-D231-C162317F3F32}"/>
              </a:ext>
            </a:extLst>
          </p:cNvPr>
          <p:cNvSpPr/>
          <p:nvPr/>
        </p:nvSpPr>
        <p:spPr>
          <a:xfrm>
            <a:off x="274320" y="960120"/>
            <a:ext cx="8595360" cy="1005840"/>
          </a:xfrm>
          <a:prstGeom prst="rect">
            <a:avLst/>
          </a:prstGeom>
          <a:solidFill>
            <a:srgbClr val="CCFBF1"/>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a:extLst>
              <a:ext uri="{FF2B5EF4-FFF2-40B4-BE49-F238E27FC236}">
                <a16:creationId xmlns:a16="http://schemas.microsoft.com/office/drawing/2014/main" id="{AEC3C1B6-E814-E227-52B5-A6AC874D22FA}"/>
              </a:ext>
            </a:extLst>
          </p:cNvPr>
          <p:cNvSpPr/>
          <p:nvPr/>
        </p:nvSpPr>
        <p:spPr>
          <a:xfrm>
            <a:off x="274320" y="960120"/>
            <a:ext cx="64008" cy="1005840"/>
          </a:xfrm>
          <a:prstGeom prst="rect">
            <a:avLst/>
          </a:prstGeom>
          <a:solidFill>
            <a:srgbClr val="0D9488"/>
          </a:solidFill>
          <a:ln w="12700">
            <a:solidFill>
              <a:srgbClr val="0D9488"/>
            </a:solidFill>
            <a:prstDash val="solid"/>
          </a:ln>
        </p:spPr>
        <p:txBody>
          <a:bodyPr/>
          <a:lstStyle/>
          <a:p>
            <a:endParaRPr lang="en-US"/>
          </a:p>
        </p:txBody>
      </p:sp>
      <p:sp>
        <p:nvSpPr>
          <p:cNvPr id="7" name="Text 5">
            <a:extLst>
              <a:ext uri="{FF2B5EF4-FFF2-40B4-BE49-F238E27FC236}">
                <a16:creationId xmlns:a16="http://schemas.microsoft.com/office/drawing/2014/main" id="{A74D1CC2-54BE-FD4B-7334-83566343EC67}"/>
              </a:ext>
            </a:extLst>
          </p:cNvPr>
          <p:cNvSpPr/>
          <p:nvPr/>
        </p:nvSpPr>
        <p:spPr>
          <a:xfrm>
            <a:off x="502920" y="1024128"/>
            <a:ext cx="8138160" cy="822960"/>
          </a:xfrm>
          <a:prstGeom prst="rect">
            <a:avLst/>
          </a:prstGeom>
          <a:noFill/>
          <a:ln/>
        </p:spPr>
        <p:txBody>
          <a:bodyPr wrap="square" lIns="0" tIns="0" rIns="0" bIns="0" rtlCol="0" anchor="ctr"/>
          <a:lstStyle/>
          <a:p>
            <a:r>
              <a:rPr lang="en-MY" sz="1400" dirty="0"/>
              <a:t>Baron &amp; Kenny Regression Approach (Classic Method)</a:t>
            </a:r>
          </a:p>
          <a:p>
            <a:r>
              <a:rPr lang="en-MY" sz="1400" dirty="0"/>
              <a:t>In this classic method, mediation is tested using </a:t>
            </a:r>
            <a:r>
              <a:rPr lang="en-MY" sz="1400" b="1" dirty="0"/>
              <a:t>three regression models</a:t>
            </a:r>
            <a:r>
              <a:rPr lang="en-MY" sz="1400" dirty="0"/>
              <a:t>.</a:t>
            </a:r>
            <a:endParaRPr lang="en-US" sz="1400" i="1" dirty="0">
              <a:solidFill>
                <a:srgbClr val="1B2A4A"/>
              </a:solidFill>
              <a:latin typeface="Calibri" pitchFamily="34" charset="0"/>
              <a:cs typeface="Calibri" pitchFamily="34" charset="-120"/>
            </a:endParaRPr>
          </a:p>
        </p:txBody>
      </p:sp>
      <p:sp>
        <p:nvSpPr>
          <p:cNvPr id="8" name="Shape 6">
            <a:extLst>
              <a:ext uri="{FF2B5EF4-FFF2-40B4-BE49-F238E27FC236}">
                <a16:creationId xmlns:a16="http://schemas.microsoft.com/office/drawing/2014/main" id="{AA4F37FA-DA3F-D4BD-4C6D-09FE68658243}"/>
              </a:ext>
            </a:extLst>
          </p:cNvPr>
          <p:cNvSpPr/>
          <p:nvPr/>
        </p:nvSpPr>
        <p:spPr>
          <a:xfrm>
            <a:off x="27432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a:extLst>
              <a:ext uri="{FF2B5EF4-FFF2-40B4-BE49-F238E27FC236}">
                <a16:creationId xmlns:a16="http://schemas.microsoft.com/office/drawing/2014/main" id="{F056BC14-6543-B473-5E7A-AA2917D8EFB4}"/>
              </a:ext>
            </a:extLst>
          </p:cNvPr>
          <p:cNvSpPr/>
          <p:nvPr/>
        </p:nvSpPr>
        <p:spPr>
          <a:xfrm>
            <a:off x="274320" y="2148840"/>
            <a:ext cx="2743200" cy="411480"/>
          </a:xfrm>
          <a:prstGeom prst="rect">
            <a:avLst/>
          </a:prstGeom>
          <a:solidFill>
            <a:srgbClr val="2563EB"/>
          </a:solidFill>
          <a:ln w="12700">
            <a:solidFill>
              <a:srgbClr val="2563EB"/>
            </a:solidFill>
            <a:prstDash val="solid"/>
          </a:ln>
        </p:spPr>
        <p:txBody>
          <a:bodyPr/>
          <a:lstStyle/>
          <a:p>
            <a:endParaRPr lang="en-US"/>
          </a:p>
        </p:txBody>
      </p:sp>
      <p:sp>
        <p:nvSpPr>
          <p:cNvPr id="10" name="Text 8">
            <a:extLst>
              <a:ext uri="{FF2B5EF4-FFF2-40B4-BE49-F238E27FC236}">
                <a16:creationId xmlns:a16="http://schemas.microsoft.com/office/drawing/2014/main" id="{8D4125FE-A415-B117-58D8-792AEFE5DF2B}"/>
              </a:ext>
            </a:extLst>
          </p:cNvPr>
          <p:cNvSpPr/>
          <p:nvPr/>
        </p:nvSpPr>
        <p:spPr>
          <a:xfrm>
            <a:off x="365760" y="2176272"/>
            <a:ext cx="2560320" cy="347472"/>
          </a:xfrm>
          <a:prstGeom prst="rect">
            <a:avLst/>
          </a:prstGeom>
          <a:noFill/>
          <a:ln/>
        </p:spPr>
        <p:txBody>
          <a:bodyPr wrap="square" lIns="0" tIns="0" rIns="0" bIns="0" rtlCol="0" anchor="ctr"/>
          <a:lstStyle/>
          <a:p>
            <a:pPr algn="ctr"/>
            <a:r>
              <a:rPr lang="en-MY" sz="1400" dirty="0"/>
              <a:t>Step 1: Total Effect</a:t>
            </a:r>
            <a:endParaRPr lang="en-US" sz="1400" dirty="0"/>
          </a:p>
        </p:txBody>
      </p:sp>
      <p:sp>
        <p:nvSpPr>
          <p:cNvPr id="11" name="Text 9">
            <a:extLst>
              <a:ext uri="{FF2B5EF4-FFF2-40B4-BE49-F238E27FC236}">
                <a16:creationId xmlns:a16="http://schemas.microsoft.com/office/drawing/2014/main" id="{D5DBDE2C-9758-93CF-2786-CF40224B27AA}"/>
              </a:ext>
            </a:extLst>
          </p:cNvPr>
          <p:cNvSpPr/>
          <p:nvPr/>
        </p:nvSpPr>
        <p:spPr>
          <a:xfrm>
            <a:off x="384048" y="2633472"/>
            <a:ext cx="2523744" cy="1188720"/>
          </a:xfrm>
          <a:prstGeom prst="rect">
            <a:avLst/>
          </a:prstGeom>
          <a:noFill/>
          <a:ln/>
        </p:spPr>
        <p:txBody>
          <a:bodyPr wrap="square" lIns="0" tIns="0" rIns="0" bIns="0" rtlCol="0" anchor="ctr"/>
          <a:lstStyle/>
          <a:p>
            <a:r>
              <a:rPr lang="en-MY" sz="1200" dirty="0"/>
              <a:t>Y=</a:t>
            </a:r>
            <a:r>
              <a:rPr lang="el-GR" sz="1200" dirty="0"/>
              <a:t>β0​+β1​</a:t>
            </a:r>
            <a:r>
              <a:rPr lang="en-MY" sz="1200" dirty="0"/>
              <a:t>X </a:t>
            </a:r>
          </a:p>
          <a:p>
            <a:r>
              <a:rPr lang="en-MY" sz="1200" dirty="0"/>
              <a:t>If </a:t>
            </a:r>
            <a:r>
              <a:rPr lang="el-GR" sz="1200" dirty="0"/>
              <a:t>β1 </a:t>
            </a:r>
            <a:r>
              <a:rPr lang="en-MY" sz="1200" dirty="0"/>
              <a:t>is significant → X affects Y.</a:t>
            </a:r>
          </a:p>
        </p:txBody>
      </p:sp>
      <p:sp>
        <p:nvSpPr>
          <p:cNvPr id="12" name="Shape 10">
            <a:extLst>
              <a:ext uri="{FF2B5EF4-FFF2-40B4-BE49-F238E27FC236}">
                <a16:creationId xmlns:a16="http://schemas.microsoft.com/office/drawing/2014/main" id="{E848CEC8-ACEF-E798-3F12-66DA3317DABD}"/>
              </a:ext>
            </a:extLst>
          </p:cNvPr>
          <p:cNvSpPr/>
          <p:nvPr/>
        </p:nvSpPr>
        <p:spPr>
          <a:xfrm>
            <a:off x="320040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a:extLst>
              <a:ext uri="{FF2B5EF4-FFF2-40B4-BE49-F238E27FC236}">
                <a16:creationId xmlns:a16="http://schemas.microsoft.com/office/drawing/2014/main" id="{E53268FC-66A6-62E1-1C1F-119C0CC6C38C}"/>
              </a:ext>
            </a:extLst>
          </p:cNvPr>
          <p:cNvSpPr/>
          <p:nvPr/>
        </p:nvSpPr>
        <p:spPr>
          <a:xfrm>
            <a:off x="3200400" y="2148840"/>
            <a:ext cx="2743200" cy="411480"/>
          </a:xfrm>
          <a:prstGeom prst="rect">
            <a:avLst/>
          </a:prstGeom>
          <a:solidFill>
            <a:srgbClr val="0D9488"/>
          </a:solidFill>
          <a:ln w="12700">
            <a:solidFill>
              <a:srgbClr val="0D9488"/>
            </a:solidFill>
            <a:prstDash val="solid"/>
          </a:ln>
        </p:spPr>
        <p:txBody>
          <a:bodyPr/>
          <a:lstStyle/>
          <a:p>
            <a:endParaRPr lang="en-US"/>
          </a:p>
        </p:txBody>
      </p:sp>
      <p:sp>
        <p:nvSpPr>
          <p:cNvPr id="14" name="Text 12">
            <a:extLst>
              <a:ext uri="{FF2B5EF4-FFF2-40B4-BE49-F238E27FC236}">
                <a16:creationId xmlns:a16="http://schemas.microsoft.com/office/drawing/2014/main" id="{AA894437-E24F-DF7F-F26F-47AC4DA3FBBA}"/>
              </a:ext>
            </a:extLst>
          </p:cNvPr>
          <p:cNvSpPr/>
          <p:nvPr/>
        </p:nvSpPr>
        <p:spPr>
          <a:xfrm>
            <a:off x="3291840" y="2176272"/>
            <a:ext cx="2560320" cy="347472"/>
          </a:xfrm>
          <a:prstGeom prst="rect">
            <a:avLst/>
          </a:prstGeom>
          <a:noFill/>
          <a:ln/>
        </p:spPr>
        <p:txBody>
          <a:bodyPr wrap="square" lIns="0" tIns="0" rIns="0" bIns="0" rtlCol="0" anchor="ctr"/>
          <a:lstStyle/>
          <a:p>
            <a:pPr algn="ctr"/>
            <a:r>
              <a:rPr lang="en-MY" sz="1400" dirty="0"/>
              <a:t>Step 2: X → Mediator</a:t>
            </a:r>
            <a:endParaRPr lang="en-US" sz="1400" dirty="0"/>
          </a:p>
        </p:txBody>
      </p:sp>
      <p:sp>
        <p:nvSpPr>
          <p:cNvPr id="15" name="Text 13">
            <a:extLst>
              <a:ext uri="{FF2B5EF4-FFF2-40B4-BE49-F238E27FC236}">
                <a16:creationId xmlns:a16="http://schemas.microsoft.com/office/drawing/2014/main" id="{A5B3D405-593E-A94F-CC56-4AF3E4E496E0}"/>
              </a:ext>
            </a:extLst>
          </p:cNvPr>
          <p:cNvSpPr/>
          <p:nvPr/>
        </p:nvSpPr>
        <p:spPr>
          <a:xfrm>
            <a:off x="3310128" y="2633472"/>
            <a:ext cx="2523744" cy="1188720"/>
          </a:xfrm>
          <a:prstGeom prst="rect">
            <a:avLst/>
          </a:prstGeom>
          <a:noFill/>
          <a:ln/>
        </p:spPr>
        <p:txBody>
          <a:bodyPr wrap="square" lIns="0" tIns="0" rIns="0" bIns="0" rtlCol="0" anchor="ctr"/>
          <a:lstStyle/>
          <a:p>
            <a:r>
              <a:rPr lang="en-MY" sz="1200" dirty="0"/>
              <a:t>M=</a:t>
            </a:r>
            <a:r>
              <a:rPr lang="el-GR" sz="1200" dirty="0"/>
              <a:t>β0​+β1​</a:t>
            </a:r>
            <a:r>
              <a:rPr lang="en-MY" sz="1200" dirty="0"/>
              <a:t>X </a:t>
            </a:r>
          </a:p>
          <a:p>
            <a:r>
              <a:rPr lang="en-MY" sz="1200" dirty="0"/>
              <a:t>If significant → X influences mediator.</a:t>
            </a:r>
          </a:p>
        </p:txBody>
      </p:sp>
      <p:sp>
        <p:nvSpPr>
          <p:cNvPr id="16" name="Shape 14">
            <a:extLst>
              <a:ext uri="{FF2B5EF4-FFF2-40B4-BE49-F238E27FC236}">
                <a16:creationId xmlns:a16="http://schemas.microsoft.com/office/drawing/2014/main" id="{7E4C05B2-3824-3E0E-1F63-21DFDAB2B012}"/>
              </a:ext>
            </a:extLst>
          </p:cNvPr>
          <p:cNvSpPr/>
          <p:nvPr/>
        </p:nvSpPr>
        <p:spPr>
          <a:xfrm>
            <a:off x="6126480" y="2148840"/>
            <a:ext cx="2743200" cy="1737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a:extLst>
              <a:ext uri="{FF2B5EF4-FFF2-40B4-BE49-F238E27FC236}">
                <a16:creationId xmlns:a16="http://schemas.microsoft.com/office/drawing/2014/main" id="{F52211A5-70DA-19D6-2900-0EDB3F26CEAB}"/>
              </a:ext>
            </a:extLst>
          </p:cNvPr>
          <p:cNvSpPr/>
          <p:nvPr/>
        </p:nvSpPr>
        <p:spPr>
          <a:xfrm>
            <a:off x="6126480" y="2148840"/>
            <a:ext cx="2743200" cy="411480"/>
          </a:xfrm>
          <a:prstGeom prst="rect">
            <a:avLst/>
          </a:prstGeom>
          <a:solidFill>
            <a:srgbClr val="F59E0B"/>
          </a:solidFill>
          <a:ln w="12700">
            <a:solidFill>
              <a:srgbClr val="F59E0B"/>
            </a:solidFill>
            <a:prstDash val="solid"/>
          </a:ln>
        </p:spPr>
        <p:txBody>
          <a:bodyPr/>
          <a:lstStyle/>
          <a:p>
            <a:endParaRPr lang="en-US"/>
          </a:p>
        </p:txBody>
      </p:sp>
      <p:sp>
        <p:nvSpPr>
          <p:cNvPr id="18" name="Text 16">
            <a:extLst>
              <a:ext uri="{FF2B5EF4-FFF2-40B4-BE49-F238E27FC236}">
                <a16:creationId xmlns:a16="http://schemas.microsoft.com/office/drawing/2014/main" id="{DE939DC6-9DD8-8780-7F96-1FB9AAF93159}"/>
              </a:ext>
            </a:extLst>
          </p:cNvPr>
          <p:cNvSpPr/>
          <p:nvPr/>
        </p:nvSpPr>
        <p:spPr>
          <a:xfrm>
            <a:off x="6217920" y="2176272"/>
            <a:ext cx="2560320" cy="347472"/>
          </a:xfrm>
          <a:prstGeom prst="rect">
            <a:avLst/>
          </a:prstGeom>
          <a:noFill/>
          <a:ln/>
        </p:spPr>
        <p:txBody>
          <a:bodyPr wrap="square" lIns="0" tIns="0" rIns="0" bIns="0" rtlCol="0" anchor="ctr"/>
          <a:lstStyle/>
          <a:p>
            <a:pPr algn="ctr"/>
            <a:r>
              <a:rPr lang="en-MY" sz="1400" dirty="0"/>
              <a:t>Step 3: Mediator → Outcome</a:t>
            </a:r>
            <a:endParaRPr lang="en-US" sz="1400" dirty="0"/>
          </a:p>
        </p:txBody>
      </p:sp>
      <p:sp>
        <p:nvSpPr>
          <p:cNvPr id="19" name="Text 17">
            <a:extLst>
              <a:ext uri="{FF2B5EF4-FFF2-40B4-BE49-F238E27FC236}">
                <a16:creationId xmlns:a16="http://schemas.microsoft.com/office/drawing/2014/main" id="{05ABD344-B2D0-A634-6F83-9BE117105DA5}"/>
              </a:ext>
            </a:extLst>
          </p:cNvPr>
          <p:cNvSpPr/>
          <p:nvPr/>
        </p:nvSpPr>
        <p:spPr>
          <a:xfrm>
            <a:off x="6236208" y="2633472"/>
            <a:ext cx="2523744" cy="1188720"/>
          </a:xfrm>
          <a:prstGeom prst="rect">
            <a:avLst/>
          </a:prstGeom>
          <a:noFill/>
          <a:ln/>
        </p:spPr>
        <p:txBody>
          <a:bodyPr wrap="square" lIns="0" tIns="0" rIns="0" bIns="0" rtlCol="0" anchor="ctr"/>
          <a:lstStyle/>
          <a:p>
            <a:r>
              <a:rPr lang="en-MY" sz="1200" dirty="0"/>
              <a:t>Y=</a:t>
            </a:r>
            <a:r>
              <a:rPr lang="el-GR" sz="1200" dirty="0"/>
              <a:t>β0​+β1​</a:t>
            </a:r>
            <a:r>
              <a:rPr lang="en-MY" sz="1200" dirty="0"/>
              <a:t>X+</a:t>
            </a:r>
            <a:r>
              <a:rPr lang="el-GR" sz="1200" dirty="0"/>
              <a:t>β2​</a:t>
            </a:r>
            <a:r>
              <a:rPr lang="en-MY" sz="1200" dirty="0"/>
              <a:t>M </a:t>
            </a:r>
          </a:p>
          <a:p>
            <a:r>
              <a:rPr lang="en-MY" sz="1200" dirty="0"/>
              <a:t>Interpretation:</a:t>
            </a:r>
          </a:p>
          <a:p>
            <a:r>
              <a:rPr lang="el-GR" sz="1200" b="1" dirty="0"/>
              <a:t>β2 </a:t>
            </a:r>
            <a:r>
              <a:rPr lang="en-MY" sz="1200" b="1" dirty="0"/>
              <a:t>significant</a:t>
            </a:r>
            <a:r>
              <a:rPr lang="en-MY" sz="1200" dirty="0"/>
              <a:t> → mediator affects Y</a:t>
            </a:r>
          </a:p>
          <a:p>
            <a:r>
              <a:rPr lang="en-MY" sz="1200" dirty="0"/>
              <a:t>If </a:t>
            </a:r>
            <a:r>
              <a:rPr lang="el-GR" sz="1200" b="1" dirty="0"/>
              <a:t>β1 </a:t>
            </a:r>
            <a:r>
              <a:rPr lang="en-MY" sz="1200" b="1" dirty="0"/>
              <a:t>decreases</a:t>
            </a:r>
            <a:r>
              <a:rPr lang="en-MY" sz="1200" dirty="0"/>
              <a:t> compared to Step 1 → mediation exists</a:t>
            </a:r>
          </a:p>
        </p:txBody>
      </p:sp>
      <p:sp>
        <p:nvSpPr>
          <p:cNvPr id="20" name="Shape 18">
            <a:extLst>
              <a:ext uri="{FF2B5EF4-FFF2-40B4-BE49-F238E27FC236}">
                <a16:creationId xmlns:a16="http://schemas.microsoft.com/office/drawing/2014/main" id="{462740B9-C962-AEA8-7897-31B7866FBC4B}"/>
              </a:ext>
            </a:extLst>
          </p:cNvPr>
          <p:cNvSpPr/>
          <p:nvPr/>
        </p:nvSpPr>
        <p:spPr>
          <a:xfrm>
            <a:off x="274320" y="4023360"/>
            <a:ext cx="8595360" cy="822960"/>
          </a:xfrm>
          <a:prstGeom prst="rect">
            <a:avLst/>
          </a:prstGeom>
          <a:solidFill>
            <a:srgbClr val="EFF6FF"/>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21" name="Text 19">
            <a:extLst>
              <a:ext uri="{FF2B5EF4-FFF2-40B4-BE49-F238E27FC236}">
                <a16:creationId xmlns:a16="http://schemas.microsoft.com/office/drawing/2014/main" id="{7606F8FE-6F62-6BB8-2D25-F9448E5EACBB}"/>
              </a:ext>
            </a:extLst>
          </p:cNvPr>
          <p:cNvSpPr/>
          <p:nvPr/>
        </p:nvSpPr>
        <p:spPr>
          <a:xfrm>
            <a:off x="457200" y="4069080"/>
            <a:ext cx="2377440" cy="32004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The Regression Equation:</a:t>
            </a:r>
            <a:endParaRPr lang="en-US" sz="1200" dirty="0"/>
          </a:p>
        </p:txBody>
      </p:sp>
      <p:sp>
        <p:nvSpPr>
          <p:cNvPr id="22" name="Text 20">
            <a:extLst>
              <a:ext uri="{FF2B5EF4-FFF2-40B4-BE49-F238E27FC236}">
                <a16:creationId xmlns:a16="http://schemas.microsoft.com/office/drawing/2014/main" id="{6AF80100-F3D9-2BB1-F681-DBE91CD43667}"/>
              </a:ext>
            </a:extLst>
          </p:cNvPr>
          <p:cNvSpPr/>
          <p:nvPr/>
        </p:nvSpPr>
        <p:spPr>
          <a:xfrm>
            <a:off x="2926080" y="4059936"/>
            <a:ext cx="4114800" cy="365760"/>
          </a:xfrm>
          <a:prstGeom prst="rect">
            <a:avLst/>
          </a:prstGeom>
          <a:noFill/>
          <a:ln/>
        </p:spPr>
        <p:txBody>
          <a:bodyPr wrap="square" lIns="0" tIns="0" rIns="0" bIns="0" rtlCol="0" anchor="ctr"/>
          <a:lstStyle/>
          <a:p>
            <a:pPr marL="0" indent="0">
              <a:buNone/>
            </a:pPr>
            <a:endParaRPr lang="en-US" sz="1800" dirty="0"/>
          </a:p>
        </p:txBody>
      </p:sp>
      <p:sp>
        <p:nvSpPr>
          <p:cNvPr id="23" name="Text 21">
            <a:extLst>
              <a:ext uri="{FF2B5EF4-FFF2-40B4-BE49-F238E27FC236}">
                <a16:creationId xmlns:a16="http://schemas.microsoft.com/office/drawing/2014/main" id="{68ECCF63-BA0F-3B79-CAFF-CC41A3EEB208}"/>
              </a:ext>
            </a:extLst>
          </p:cNvPr>
          <p:cNvSpPr/>
          <p:nvPr/>
        </p:nvSpPr>
        <p:spPr>
          <a:xfrm>
            <a:off x="457200" y="4462272"/>
            <a:ext cx="8046720" cy="274320"/>
          </a:xfrm>
          <a:prstGeom prst="rect">
            <a:avLst/>
          </a:prstGeom>
          <a:noFill/>
          <a:ln/>
        </p:spPr>
        <p:txBody>
          <a:bodyPr wrap="square" lIns="0" tIns="0" rIns="0" bIns="0" rtlCol="0" anchor="ctr"/>
          <a:lstStyle/>
          <a:p>
            <a:r>
              <a:rPr lang="en-US" sz="1000" i="1" dirty="0">
                <a:solidFill>
                  <a:srgbClr val="475569"/>
                </a:solidFill>
                <a:latin typeface="Calibri" pitchFamily="34" charset="0"/>
                <a:ea typeface="Calibri" pitchFamily="34" charset="-122"/>
                <a:cs typeface="Calibri" pitchFamily="34" charset="-120"/>
              </a:rPr>
              <a:t>Full mediation - </a:t>
            </a:r>
            <a:r>
              <a:rPr lang="en-MY" sz="1000" dirty="0"/>
              <a:t>Effect of X on Y disappears after mediator added</a:t>
            </a:r>
          </a:p>
          <a:p>
            <a:r>
              <a:rPr lang="en-US" sz="1000" i="1" dirty="0">
                <a:solidFill>
                  <a:srgbClr val="475569"/>
                </a:solidFill>
                <a:latin typeface="Calibri" pitchFamily="34" charset="0"/>
                <a:ea typeface="Calibri" pitchFamily="34" charset="-122"/>
                <a:cs typeface="Calibri" pitchFamily="34" charset="-120"/>
              </a:rPr>
              <a:t>Full mediation - </a:t>
            </a:r>
            <a:r>
              <a:rPr lang="en-MY" sz="1000" dirty="0"/>
              <a:t>Effect of X decreases but remains significant</a:t>
            </a:r>
            <a:endParaRPr lang="en-US" sz="1000" dirty="0"/>
          </a:p>
        </p:txBody>
      </p:sp>
      <p:sp>
        <p:nvSpPr>
          <p:cNvPr id="24" name="Text 22">
            <a:extLst>
              <a:ext uri="{FF2B5EF4-FFF2-40B4-BE49-F238E27FC236}">
                <a16:creationId xmlns:a16="http://schemas.microsoft.com/office/drawing/2014/main" id="{034B6F78-33C3-CDF3-2BBD-E014C069F3FE}"/>
              </a:ext>
            </a:extLst>
          </p:cNvPr>
          <p:cNvSpPr/>
          <p:nvPr/>
        </p:nvSpPr>
        <p:spPr>
          <a:xfrm>
            <a:off x="274320" y="4919472"/>
            <a:ext cx="859536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Discovering Statistics Using R, p. 183</a:t>
            </a:r>
            <a:endParaRPr lang="en-US" sz="900" dirty="0"/>
          </a:p>
        </p:txBody>
      </p:sp>
    </p:spTree>
    <p:extLst>
      <p:ext uri="{BB962C8B-B14F-4D97-AF65-F5344CB8AC3E}">
        <p14:creationId xmlns:p14="http://schemas.microsoft.com/office/powerpoint/2010/main" val="3929446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0ACB-CEFB-0AC6-11C8-343AA4ACFE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261691-D859-EE6C-C799-D76A553A6F4B}"/>
              </a:ext>
            </a:extLst>
          </p:cNvPr>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a:extLst>
              <a:ext uri="{FF2B5EF4-FFF2-40B4-BE49-F238E27FC236}">
                <a16:creationId xmlns:a16="http://schemas.microsoft.com/office/drawing/2014/main" id="{6F905BFC-A912-4D63-DD0B-9BC5B24B719A}"/>
              </a:ext>
            </a:extLst>
          </p:cNvPr>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Mediator – modern approach using indirect effect  </a:t>
            </a:r>
            <a:endParaRPr lang="en-US" sz="2200" dirty="0"/>
          </a:p>
        </p:txBody>
      </p:sp>
      <p:sp>
        <p:nvSpPr>
          <p:cNvPr id="4" name="Shape 2">
            <a:extLst>
              <a:ext uri="{FF2B5EF4-FFF2-40B4-BE49-F238E27FC236}">
                <a16:creationId xmlns:a16="http://schemas.microsoft.com/office/drawing/2014/main" id="{8C076E52-36CC-E8DD-BDAF-4CC5A5FAD1B6}"/>
              </a:ext>
            </a:extLst>
          </p:cNvPr>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mc:AlternateContent xmlns:mc="http://schemas.openxmlformats.org/markup-compatibility/2006" xmlns:a14="http://schemas.microsoft.com/office/drawing/2010/main">
        <mc:Choice Requires="a14">
          <p:sp>
            <p:nvSpPr>
              <p:cNvPr id="5" name="Shape 3">
                <a:extLst>
                  <a:ext uri="{FF2B5EF4-FFF2-40B4-BE49-F238E27FC236}">
                    <a16:creationId xmlns:a16="http://schemas.microsoft.com/office/drawing/2014/main" id="{58695BBA-5839-06C6-E321-90B90D651BF5}"/>
                  </a:ext>
                </a:extLst>
              </p:cNvPr>
              <p:cNvSpPr/>
              <p:nvPr/>
            </p:nvSpPr>
            <p:spPr>
              <a:xfrm>
                <a:off x="320040" y="909752"/>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r>
                  <a:rPr lang="en-MY" sz="1200" dirty="0"/>
                  <a:t>Modern mediation uses </a:t>
                </a:r>
                <a:r>
                  <a:rPr lang="en-MY" sz="1200" b="1" dirty="0"/>
                  <a:t>indirect effect</a:t>
                </a:r>
                <a:r>
                  <a:rPr lang="en-MY" sz="1200" dirty="0"/>
                  <a:t>:</a:t>
                </a:r>
              </a:p>
              <a:p>
                <a:pPr/>
                <a14:m>
                  <m:oMathPara xmlns:m="http://schemas.openxmlformats.org/officeDocument/2006/math">
                    <m:oMathParaPr>
                      <m:jc m:val="centerGroup"/>
                    </m:oMathParaPr>
                    <m:oMath xmlns:m="http://schemas.openxmlformats.org/officeDocument/2006/math">
                      <m:r>
                        <a:rPr lang="en-MY" sz="1200" i="1">
                          <a:latin typeface="Cambria Math" panose="02040503050406030204" pitchFamily="18" charset="0"/>
                        </a:rPr>
                        <m:t>𝐼𝑛𝑑𝑖𝑟𝑒𝑐𝑡</m:t>
                      </m:r>
                      <m:r>
                        <m:rPr>
                          <m:nor/>
                        </m:rPr>
                        <a:rPr lang="en-MY" sz="1200" i="1"/>
                        <m:t> </m:t>
                      </m:r>
                      <m:r>
                        <a:rPr lang="en-MY" sz="1200" i="1">
                          <a:latin typeface="Cambria Math" panose="02040503050406030204" pitchFamily="18" charset="0"/>
                        </a:rPr>
                        <m:t>𝐸𝑓𝑓𝑒𝑐𝑡</m:t>
                      </m:r>
                      <m:r>
                        <a:rPr lang="en-MY" sz="1200">
                          <a:latin typeface="Cambria Math" panose="02040503050406030204" pitchFamily="18" charset="0"/>
                        </a:rPr>
                        <m:t>=</m:t>
                      </m:r>
                      <m:r>
                        <a:rPr lang="en-MY" sz="1200" i="1">
                          <a:latin typeface="Cambria Math" panose="02040503050406030204" pitchFamily="18" charset="0"/>
                        </a:rPr>
                        <m:t>𝑎</m:t>
                      </m:r>
                      <m:r>
                        <a:rPr lang="en-MY" sz="1200">
                          <a:latin typeface="Cambria Math" panose="02040503050406030204" pitchFamily="18" charset="0"/>
                        </a:rPr>
                        <m:t>×</m:t>
                      </m:r>
                      <m:r>
                        <a:rPr lang="en-MY" sz="1200" i="1">
                          <a:latin typeface="Cambria Math" panose="02040503050406030204" pitchFamily="18" charset="0"/>
                        </a:rPr>
                        <m:t>𝑏</m:t>
                      </m:r>
                    </m:oMath>
                  </m:oMathPara>
                </a14:m>
                <a:endParaRPr lang="en-MY" sz="1200" b="0" dirty="0"/>
              </a:p>
              <a:p>
                <a:r>
                  <a:rPr lang="en-MY" sz="1200" dirty="0"/>
                  <a:t>Where:</a:t>
                </a:r>
              </a:p>
              <a:p>
                <a:r>
                  <a:rPr lang="en-MY" sz="1200" b="1" dirty="0"/>
                  <a:t>a</a:t>
                </a:r>
                <a:r>
                  <a:rPr lang="en-MY" sz="1200" dirty="0"/>
                  <a:t> = effect of X → M</a:t>
                </a:r>
              </a:p>
              <a:p>
                <a:r>
                  <a:rPr lang="en-MY" sz="1200" b="1" dirty="0"/>
                  <a:t>b</a:t>
                </a:r>
                <a:r>
                  <a:rPr lang="en-MY" sz="1200" dirty="0"/>
                  <a:t> = effect of M → Y</a:t>
                </a:r>
              </a:p>
              <a:p>
                <a:endParaRPr lang="en-MY" sz="1200" dirty="0"/>
              </a:p>
              <a:p>
                <a:r>
                  <a:rPr lang="en-MY" sz="1200" dirty="0"/>
                  <a:t>Significance usually tested using:</a:t>
                </a:r>
              </a:p>
              <a:p>
                <a:r>
                  <a:rPr lang="en-MY" sz="1200" b="1" dirty="0"/>
                  <a:t>Bootstrapping (preferred)</a:t>
                </a:r>
                <a:endParaRPr lang="en-MY" sz="1200" dirty="0"/>
              </a:p>
              <a:p>
                <a:r>
                  <a:rPr lang="en-MY" sz="1200" dirty="0"/>
                  <a:t>Sobel test</a:t>
                </a:r>
              </a:p>
            </p:txBody>
          </p:sp>
        </mc:Choice>
        <mc:Fallback xmlns="">
          <p:sp>
            <p:nvSpPr>
              <p:cNvPr id="5" name="Shape 3">
                <a:extLst>
                  <a:ext uri="{FF2B5EF4-FFF2-40B4-BE49-F238E27FC236}">
                    <a16:creationId xmlns:a16="http://schemas.microsoft.com/office/drawing/2014/main" id="{58695BBA-5839-06C6-E321-90B90D651BF5}"/>
                  </a:ext>
                </a:extLst>
              </p:cNvPr>
              <p:cNvSpPr>
                <a:spLocks noRot="1" noChangeAspect="1" noMove="1" noResize="1" noEditPoints="1" noAdjustHandles="1" noChangeArrowheads="1" noChangeShapeType="1" noTextEdit="1"/>
              </p:cNvSpPr>
              <p:nvPr/>
            </p:nvSpPr>
            <p:spPr>
              <a:xfrm>
                <a:off x="320040" y="909752"/>
                <a:ext cx="8686800" cy="2011680"/>
              </a:xfrm>
              <a:prstGeom prst="rect">
                <a:avLst/>
              </a:prstGeom>
              <a:blipFill>
                <a:blip r:embed="rId3"/>
                <a:stretch>
                  <a:fillRect/>
                </a:stretch>
              </a:blipFill>
              <a:ln w="6350">
                <a:solidFill>
                  <a:srgbClr val="E2E8F0"/>
                </a:solidFill>
                <a:prstDash val="solid"/>
              </a:ln>
              <a:effectLst>
                <a:outerShdw blurRad="101600" dist="38100" dir="8100000" algn="bl" rotWithShape="0">
                  <a:srgbClr val="000000">
                    <a:alpha val="10000"/>
                  </a:srgbClr>
                </a:outerShdw>
              </a:effectLst>
            </p:spPr>
            <p:txBody>
              <a:bodyPr/>
              <a:lstStyle/>
              <a:p>
                <a:r>
                  <a:rPr lang="en-US">
                    <a:noFill/>
                  </a:rPr>
                  <a:t> </a:t>
                </a:r>
              </a:p>
            </p:txBody>
          </p:sp>
        </mc:Fallback>
      </mc:AlternateContent>
      <p:sp>
        <p:nvSpPr>
          <p:cNvPr id="6" name="Shape 4">
            <a:extLst>
              <a:ext uri="{FF2B5EF4-FFF2-40B4-BE49-F238E27FC236}">
                <a16:creationId xmlns:a16="http://schemas.microsoft.com/office/drawing/2014/main" id="{138E4A18-4F3B-EE8E-E752-C42F9E509A30}"/>
              </a:ext>
            </a:extLst>
          </p:cNvPr>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a:extLst>
              <a:ext uri="{FF2B5EF4-FFF2-40B4-BE49-F238E27FC236}">
                <a16:creationId xmlns:a16="http://schemas.microsoft.com/office/drawing/2014/main" id="{E30D31A8-00F6-D838-CDE6-AA17CED960DD}"/>
              </a:ext>
            </a:extLst>
          </p:cNvPr>
          <p:cNvSpPr/>
          <p:nvPr/>
        </p:nvSpPr>
        <p:spPr>
          <a:xfrm>
            <a:off x="457200" y="969264"/>
            <a:ext cx="8229600" cy="320040"/>
          </a:xfrm>
          <a:prstGeom prst="rect">
            <a:avLst/>
          </a:prstGeom>
          <a:noFill/>
          <a:ln/>
        </p:spPr>
        <p:txBody>
          <a:bodyPr wrap="square" lIns="0" tIns="0" rIns="0" bIns="0" rtlCol="0" anchor="ctr"/>
          <a:lstStyle/>
          <a:p>
            <a:pPr marL="0" indent="0">
              <a:buNone/>
            </a:pPr>
            <a:endParaRPr lang="en-US" sz="1300" dirty="0"/>
          </a:p>
        </p:txBody>
      </p:sp>
      <p:sp>
        <p:nvSpPr>
          <p:cNvPr id="8" name="Text 6">
            <a:extLst>
              <a:ext uri="{FF2B5EF4-FFF2-40B4-BE49-F238E27FC236}">
                <a16:creationId xmlns:a16="http://schemas.microsoft.com/office/drawing/2014/main" id="{082B1C88-E37D-474B-9C25-30B2EBDD7557}"/>
              </a:ext>
            </a:extLst>
          </p:cNvPr>
          <p:cNvSpPr/>
          <p:nvPr/>
        </p:nvSpPr>
        <p:spPr>
          <a:xfrm>
            <a:off x="457200" y="1325880"/>
            <a:ext cx="8229600" cy="1508760"/>
          </a:xfrm>
          <a:prstGeom prst="rect">
            <a:avLst/>
          </a:prstGeom>
          <a:noFill/>
          <a:ln/>
        </p:spPr>
        <p:txBody>
          <a:bodyPr wrap="square" lIns="0" tIns="0" rIns="0" bIns="0" rtlCol="0" anchor="ctr"/>
          <a:lstStyle/>
          <a:p>
            <a:endParaRPr lang="en-US" sz="1200" dirty="0"/>
          </a:p>
        </p:txBody>
      </p:sp>
      <p:sp>
        <p:nvSpPr>
          <p:cNvPr id="9" name="Text 7">
            <a:extLst>
              <a:ext uri="{FF2B5EF4-FFF2-40B4-BE49-F238E27FC236}">
                <a16:creationId xmlns:a16="http://schemas.microsoft.com/office/drawing/2014/main" id="{3A2F62BC-BEF3-709D-DCC1-85637823EEA3}"/>
              </a:ext>
            </a:extLst>
          </p:cNvPr>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cs typeface="Calibri" pitchFamily="34" charset="-120"/>
              </a:rPr>
              <a:t>WHAT CAN YOU DO </a:t>
            </a:r>
            <a:endParaRPr lang="en-US" sz="1400" dirty="0"/>
          </a:p>
        </p:txBody>
      </p:sp>
      <p:sp>
        <p:nvSpPr>
          <p:cNvPr id="10" name="Shape 8">
            <a:extLst>
              <a:ext uri="{FF2B5EF4-FFF2-40B4-BE49-F238E27FC236}">
                <a16:creationId xmlns:a16="http://schemas.microsoft.com/office/drawing/2014/main" id="{28F9DF6F-8410-A971-7D09-0983DDA6855A}"/>
              </a:ext>
            </a:extLst>
          </p:cNvPr>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a:extLst>
              <a:ext uri="{FF2B5EF4-FFF2-40B4-BE49-F238E27FC236}">
                <a16:creationId xmlns:a16="http://schemas.microsoft.com/office/drawing/2014/main" id="{FEDEA357-A540-95F6-DF19-10EEADF53A5A}"/>
              </a:ext>
            </a:extLst>
          </p:cNvPr>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a:extLst>
              <a:ext uri="{FF2B5EF4-FFF2-40B4-BE49-F238E27FC236}">
                <a16:creationId xmlns:a16="http://schemas.microsoft.com/office/drawing/2014/main" id="{F68CE0FF-4880-B316-F40E-FB531B79793C}"/>
              </a:ext>
            </a:extLst>
          </p:cNvPr>
          <p:cNvSpPr/>
          <p:nvPr/>
        </p:nvSpPr>
        <p:spPr>
          <a:xfrm>
            <a:off x="653682" y="3675888"/>
            <a:ext cx="8110956" cy="365760"/>
          </a:xfrm>
          <a:prstGeom prst="rect">
            <a:avLst/>
          </a:prstGeom>
          <a:noFill/>
          <a:ln/>
        </p:spPr>
        <p:txBody>
          <a:bodyPr wrap="square" lIns="0" tIns="0" rIns="0" bIns="0" rtlCol="0" anchor="ctr"/>
          <a:lstStyle/>
          <a:p>
            <a:r>
              <a:rPr lang="en-US" sz="1200" dirty="0">
                <a:latin typeface="Calibri" panose="020F0502020204030204" pitchFamily="34" charset="0"/>
                <a:cs typeface="Calibri" panose="020F0502020204030204" pitchFamily="34" charset="0"/>
              </a:rPr>
              <a:t>Bootstrapping - </a:t>
            </a:r>
            <a:r>
              <a:rPr lang="en-MY" sz="1200" dirty="0">
                <a:latin typeface="Calibri" panose="020F0502020204030204" pitchFamily="34" charset="0"/>
                <a:cs typeface="Calibri" panose="020F0502020204030204" pitchFamily="34" charset="0"/>
              </a:rPr>
              <a:t>bootstrapping for mediation analysis is commonly done using packages such as mediation, </a:t>
            </a:r>
            <a:r>
              <a:rPr lang="en-MY" sz="1200" dirty="0" err="1">
                <a:latin typeface="Calibri" panose="020F0502020204030204" pitchFamily="34" charset="0"/>
                <a:cs typeface="Calibri" panose="020F0502020204030204" pitchFamily="34" charset="0"/>
              </a:rPr>
              <a:t>lavaan</a:t>
            </a:r>
            <a:r>
              <a:rPr lang="en-MY" sz="1200" dirty="0">
                <a:latin typeface="Calibri" panose="020F0502020204030204" pitchFamily="34" charset="0"/>
                <a:cs typeface="Calibri" panose="020F0502020204030204" pitchFamily="34" charset="0"/>
              </a:rPr>
              <a:t>, or boot. </a:t>
            </a:r>
          </a:p>
          <a:p>
            <a:r>
              <a:rPr lang="en-MY" sz="1200" dirty="0">
                <a:latin typeface="Calibri" panose="020F0502020204030204" pitchFamily="34" charset="0"/>
                <a:cs typeface="Calibri" panose="020F0502020204030204" pitchFamily="34" charset="0"/>
              </a:rPr>
              <a:t>The easiest and most commonly used approach is the mediation package.</a:t>
            </a:r>
          </a:p>
          <a:p>
            <a:endParaRPr lang="en-US" sz="1200" dirty="0">
              <a:latin typeface="Calibri" panose="020F0502020204030204" pitchFamily="34" charset="0"/>
              <a:cs typeface="Calibri" panose="020F0502020204030204" pitchFamily="34" charset="0"/>
            </a:endParaRPr>
          </a:p>
        </p:txBody>
      </p:sp>
      <p:sp>
        <p:nvSpPr>
          <p:cNvPr id="14" name="Text 12">
            <a:extLst>
              <a:ext uri="{FF2B5EF4-FFF2-40B4-BE49-F238E27FC236}">
                <a16:creationId xmlns:a16="http://schemas.microsoft.com/office/drawing/2014/main" id="{B45638A2-EEC5-7E81-3B7F-270D729D7758}"/>
              </a:ext>
            </a:extLst>
          </p:cNvPr>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a:extLst>
              <a:ext uri="{FF2B5EF4-FFF2-40B4-BE49-F238E27FC236}">
                <a16:creationId xmlns:a16="http://schemas.microsoft.com/office/drawing/2014/main" id="{94A74E44-6913-6A70-65A5-6FDF68043FAD}"/>
              </a:ext>
            </a:extLst>
          </p:cNvPr>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a:extLst>
              <a:ext uri="{FF2B5EF4-FFF2-40B4-BE49-F238E27FC236}">
                <a16:creationId xmlns:a16="http://schemas.microsoft.com/office/drawing/2014/main" id="{C94FC6D2-EA29-430E-A3A0-03ACF282D1B6}"/>
              </a:ext>
            </a:extLst>
          </p:cNvPr>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a:extLst>
              <a:ext uri="{FF2B5EF4-FFF2-40B4-BE49-F238E27FC236}">
                <a16:creationId xmlns:a16="http://schemas.microsoft.com/office/drawing/2014/main" id="{DF843190-C17F-DCC4-601C-62699FFCC0A4}"/>
              </a:ext>
            </a:extLst>
          </p:cNvPr>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a:extLst>
              <a:ext uri="{FF2B5EF4-FFF2-40B4-BE49-F238E27FC236}">
                <a16:creationId xmlns:a16="http://schemas.microsoft.com/office/drawing/2014/main" id="{6764AD34-9FF3-B301-976B-D9C922F1D015}"/>
              </a:ext>
            </a:extLst>
          </p:cNvPr>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
        <p:nvSpPr>
          <p:cNvPr id="13" name="Text 9">
            <a:extLst>
              <a:ext uri="{FF2B5EF4-FFF2-40B4-BE49-F238E27FC236}">
                <a16:creationId xmlns:a16="http://schemas.microsoft.com/office/drawing/2014/main" id="{4A1AEAB6-0373-E8A8-366A-E1B911E83444}"/>
              </a:ext>
            </a:extLst>
          </p:cNvPr>
          <p:cNvSpPr/>
          <p:nvPr/>
        </p:nvSpPr>
        <p:spPr>
          <a:xfrm>
            <a:off x="287922" y="4088879"/>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0">
            <a:extLst>
              <a:ext uri="{FF2B5EF4-FFF2-40B4-BE49-F238E27FC236}">
                <a16:creationId xmlns:a16="http://schemas.microsoft.com/office/drawing/2014/main" id="{829F9F85-6699-FBE6-6341-1D4F9C226ECC}"/>
              </a:ext>
            </a:extLst>
          </p:cNvPr>
          <p:cNvSpPr/>
          <p:nvPr/>
        </p:nvSpPr>
        <p:spPr>
          <a:xfrm>
            <a:off x="653682" y="4115556"/>
            <a:ext cx="8110956" cy="365760"/>
          </a:xfrm>
          <a:prstGeom prst="rect">
            <a:avLst/>
          </a:prstGeom>
          <a:noFill/>
          <a:ln/>
        </p:spPr>
        <p:txBody>
          <a:bodyPr wrap="square" lIns="0" tIns="0" rIns="0" bIns="0" rtlCol="0" anchor="ctr"/>
          <a:lstStyle/>
          <a:p>
            <a:r>
              <a:rPr lang="en-US" sz="1200" dirty="0">
                <a:latin typeface="Calibri" panose="020F0502020204030204" pitchFamily="34" charset="0"/>
                <a:cs typeface="Calibri" panose="020F0502020204030204" pitchFamily="34" charset="0"/>
              </a:rPr>
              <a:t>Sobel test , using BDA package – significant p value indicated mediator</a:t>
            </a:r>
          </a:p>
        </p:txBody>
      </p:sp>
      <p:sp>
        <p:nvSpPr>
          <p:cNvPr id="16" name="Shape 8">
            <a:extLst>
              <a:ext uri="{FF2B5EF4-FFF2-40B4-BE49-F238E27FC236}">
                <a16:creationId xmlns:a16="http://schemas.microsoft.com/office/drawing/2014/main" id="{DBAAE605-8C20-D983-C200-ECA0ABE7099C}"/>
              </a:ext>
            </a:extLst>
          </p:cNvPr>
          <p:cNvSpPr/>
          <p:nvPr/>
        </p:nvSpPr>
        <p:spPr>
          <a:xfrm>
            <a:off x="228600" y="4096512"/>
            <a:ext cx="320040" cy="320040"/>
          </a:xfrm>
          <a:prstGeom prst="ellipse">
            <a:avLst/>
          </a:prstGeom>
          <a:solidFill>
            <a:srgbClr val="16A34A"/>
          </a:solidFill>
          <a:ln w="12700">
            <a:solidFill>
              <a:srgbClr val="16A34A"/>
            </a:solidFill>
            <a:prstDash val="solid"/>
          </a:ln>
        </p:spPr>
        <p:txBody>
          <a:bodyPr/>
          <a:lstStyle/>
          <a:p>
            <a:endParaRPr lang="en-US"/>
          </a:p>
        </p:txBody>
      </p:sp>
      <p:sp>
        <p:nvSpPr>
          <p:cNvPr id="17" name="Text 15">
            <a:extLst>
              <a:ext uri="{FF2B5EF4-FFF2-40B4-BE49-F238E27FC236}">
                <a16:creationId xmlns:a16="http://schemas.microsoft.com/office/drawing/2014/main" id="{073DE151-60C4-BAAF-45A8-EE5C49DBA3D9}"/>
              </a:ext>
            </a:extLst>
          </p:cNvPr>
          <p:cNvSpPr/>
          <p:nvPr/>
        </p:nvSpPr>
        <p:spPr>
          <a:xfrm>
            <a:off x="240578" y="4115178"/>
            <a:ext cx="320040" cy="320040"/>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721802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45720"/>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Reporting Results – APA Style (Field, 2013)</a:t>
            </a:r>
            <a:endParaRPr lang="en-US" sz="2200" dirty="0"/>
          </a:p>
        </p:txBody>
      </p:sp>
      <p:sp>
        <p:nvSpPr>
          <p:cNvPr id="4" name="Shape 2"/>
          <p:cNvSpPr/>
          <p:nvPr/>
        </p:nvSpPr>
        <p:spPr>
          <a:xfrm>
            <a:off x="0" y="685800"/>
            <a:ext cx="9144000" cy="64008"/>
          </a:xfrm>
          <a:prstGeom prst="rect">
            <a:avLst/>
          </a:prstGeom>
          <a:solidFill>
            <a:srgbClr val="F59E0B"/>
          </a:solidFill>
          <a:ln w="12700">
            <a:solidFill>
              <a:srgbClr val="F59E0B"/>
            </a:solidFill>
            <a:prstDash val="solid"/>
          </a:ln>
        </p:spPr>
        <p:txBody>
          <a:bodyPr/>
          <a:lstStyle/>
          <a:p>
            <a:endParaRPr lang="en-US"/>
          </a:p>
        </p:txBody>
      </p:sp>
      <p:sp>
        <p:nvSpPr>
          <p:cNvPr id="5" name="Shape 3"/>
          <p:cNvSpPr/>
          <p:nvPr/>
        </p:nvSpPr>
        <p:spPr>
          <a:xfrm>
            <a:off x="228600" y="914400"/>
            <a:ext cx="8686800" cy="2011680"/>
          </a:xfrm>
          <a:prstGeom prst="rect">
            <a:avLst/>
          </a:prstGeom>
          <a:solidFill>
            <a:srgbClr val="FFFBEB"/>
          </a:solidFill>
          <a:ln w="635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28600" y="914400"/>
            <a:ext cx="64008" cy="2011680"/>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457200" y="969264"/>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Example Write-Up</a:t>
            </a:r>
            <a:endParaRPr lang="en-US" sz="1300" dirty="0"/>
          </a:p>
        </p:txBody>
      </p:sp>
      <p:sp>
        <p:nvSpPr>
          <p:cNvPr id="8" name="Text 6"/>
          <p:cNvSpPr/>
          <p:nvPr/>
        </p:nvSpPr>
        <p:spPr>
          <a:xfrm>
            <a:off x="457200" y="1325880"/>
            <a:ext cx="8229600" cy="150876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A simple linear regression was conducted to predict exam scores from revision hours. The assumptions of linearity, independence, homoscedasticity, and normality of residuals were all met. The model was statistically significant, F(1, 98) = 51.95, p &lt; .001, R² = .61. Revision hours significantly predicted exam scores, b = 0.62, t(98) = 7.14, p &lt; .001. For every additional hour of revision, exam scores increased by 0.62 marks on average.</a:t>
            </a:r>
            <a:endParaRPr lang="en-US" sz="1200" dirty="0"/>
          </a:p>
        </p:txBody>
      </p:sp>
      <p:sp>
        <p:nvSpPr>
          <p:cNvPr id="9" name="Text 7"/>
          <p:cNvSpPr/>
          <p:nvPr/>
        </p:nvSpPr>
        <p:spPr>
          <a:xfrm>
            <a:off x="228600" y="3063240"/>
            <a:ext cx="8686800" cy="347472"/>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Reporting Checklist</a:t>
            </a:r>
            <a:endParaRPr lang="en-US" sz="1400" dirty="0"/>
          </a:p>
        </p:txBody>
      </p:sp>
      <p:sp>
        <p:nvSpPr>
          <p:cNvPr id="10" name="Shape 8"/>
          <p:cNvSpPr/>
          <p:nvPr/>
        </p:nvSpPr>
        <p:spPr>
          <a:xfrm>
            <a:off x="228600" y="3566160"/>
            <a:ext cx="320040" cy="320040"/>
          </a:xfrm>
          <a:prstGeom prst="ellipse">
            <a:avLst/>
          </a:prstGeom>
          <a:solidFill>
            <a:srgbClr val="16A34A"/>
          </a:solidFill>
          <a:ln w="12700">
            <a:solidFill>
              <a:srgbClr val="16A34A"/>
            </a:solidFill>
            <a:prstDash val="solid"/>
          </a:ln>
        </p:spPr>
        <p:txBody>
          <a:bodyPr/>
          <a:lstStyle/>
          <a:p>
            <a:endParaRPr lang="en-US"/>
          </a:p>
        </p:txBody>
      </p:sp>
      <p:sp>
        <p:nvSpPr>
          <p:cNvPr id="11" name="Text 9"/>
          <p:cNvSpPr/>
          <p:nvPr/>
        </p:nvSpPr>
        <p:spPr>
          <a:xfrm>
            <a:off x="22860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40080" y="356616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State assumptions checked and results</a:t>
            </a:r>
            <a:endParaRPr lang="en-US" sz="1100" dirty="0"/>
          </a:p>
        </p:txBody>
      </p:sp>
      <p:sp>
        <p:nvSpPr>
          <p:cNvPr id="13" name="Shape 11"/>
          <p:cNvSpPr/>
          <p:nvPr/>
        </p:nvSpPr>
        <p:spPr>
          <a:xfrm>
            <a:off x="228600" y="4069080"/>
            <a:ext cx="320040" cy="320040"/>
          </a:xfrm>
          <a:prstGeom prst="ellipse">
            <a:avLst/>
          </a:prstGeom>
          <a:solidFill>
            <a:srgbClr val="2563EB"/>
          </a:solidFill>
          <a:ln w="12700">
            <a:solidFill>
              <a:srgbClr val="2563EB"/>
            </a:solidFill>
            <a:prstDash val="solid"/>
          </a:ln>
        </p:spPr>
        <p:txBody>
          <a:bodyPr/>
          <a:lstStyle/>
          <a:p>
            <a:endParaRPr lang="en-US"/>
          </a:p>
        </p:txBody>
      </p:sp>
      <p:sp>
        <p:nvSpPr>
          <p:cNvPr id="14" name="Text 12"/>
          <p:cNvSpPr/>
          <p:nvPr/>
        </p:nvSpPr>
        <p:spPr>
          <a:xfrm>
            <a:off x="22860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40080" y="406908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Report F-statistic, df, and p-value for overall model</a:t>
            </a:r>
            <a:endParaRPr lang="en-US" sz="1100" dirty="0"/>
          </a:p>
        </p:txBody>
      </p:sp>
      <p:sp>
        <p:nvSpPr>
          <p:cNvPr id="16" name="Shape 14"/>
          <p:cNvSpPr/>
          <p:nvPr/>
        </p:nvSpPr>
        <p:spPr>
          <a:xfrm>
            <a:off x="228600" y="4572000"/>
            <a:ext cx="320040" cy="320040"/>
          </a:xfrm>
          <a:prstGeom prst="ellipse">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22860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640080" y="457200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Report R² (and Adjusted R² for multiple regression)</a:t>
            </a:r>
            <a:endParaRPr lang="en-US" sz="1100" dirty="0"/>
          </a:p>
        </p:txBody>
      </p:sp>
      <p:sp>
        <p:nvSpPr>
          <p:cNvPr id="19" name="Shape 17"/>
          <p:cNvSpPr/>
          <p:nvPr/>
        </p:nvSpPr>
        <p:spPr>
          <a:xfrm>
            <a:off x="4709160" y="3566160"/>
            <a:ext cx="320040" cy="320040"/>
          </a:xfrm>
          <a:prstGeom prst="ellipse">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5120640" y="356616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Report b (unstandardised) and β (standardised) coefficients</a:t>
            </a:r>
            <a:endParaRPr lang="en-US" sz="1100" dirty="0"/>
          </a:p>
        </p:txBody>
      </p:sp>
      <p:sp>
        <p:nvSpPr>
          <p:cNvPr id="22" name="Shape 20"/>
          <p:cNvSpPr/>
          <p:nvPr/>
        </p:nvSpPr>
        <p:spPr>
          <a:xfrm>
            <a:off x="4709160" y="4069080"/>
            <a:ext cx="320040" cy="320040"/>
          </a:xfrm>
          <a:prstGeom prst="ellipse">
            <a:avLst/>
          </a:prstGeom>
          <a:solidFill>
            <a:srgbClr val="DC2626"/>
          </a:solidFill>
          <a:ln w="12700">
            <a:solidFill>
              <a:srgbClr val="DC2626"/>
            </a:solidFill>
            <a:prstDash val="solid"/>
          </a:ln>
        </p:spPr>
        <p:txBody>
          <a:bodyPr/>
          <a:lstStyle/>
          <a:p>
            <a:endParaRPr lang="en-US"/>
          </a:p>
        </p:txBody>
      </p:sp>
      <p:sp>
        <p:nvSpPr>
          <p:cNvPr id="23" name="Text 21"/>
          <p:cNvSpPr/>
          <p:nvPr/>
        </p:nvSpPr>
        <p:spPr>
          <a:xfrm>
            <a:off x="4709160" y="406908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120640" y="406908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Report t-value and p-value for each predictor</a:t>
            </a:r>
            <a:endParaRPr lang="en-US" sz="1100" dirty="0"/>
          </a:p>
        </p:txBody>
      </p:sp>
      <p:sp>
        <p:nvSpPr>
          <p:cNvPr id="25" name="Shape 23"/>
          <p:cNvSpPr/>
          <p:nvPr/>
        </p:nvSpPr>
        <p:spPr>
          <a:xfrm>
            <a:off x="4709160" y="4572000"/>
            <a:ext cx="320040" cy="320040"/>
          </a:xfrm>
          <a:prstGeom prst="ellipse">
            <a:avLst/>
          </a:prstGeom>
          <a:solidFill>
            <a:srgbClr val="7C3AED"/>
          </a:solidFill>
          <a:ln w="12700">
            <a:solidFill>
              <a:srgbClr val="7C3AED"/>
            </a:solidFill>
            <a:prstDash val="solid"/>
          </a:ln>
        </p:spPr>
        <p:txBody>
          <a:bodyPr/>
          <a:lstStyle/>
          <a:p>
            <a:endParaRPr lang="en-US"/>
          </a:p>
        </p:txBody>
      </p:sp>
      <p:sp>
        <p:nvSpPr>
          <p:cNvPr id="26" name="Text 24"/>
          <p:cNvSpPr/>
          <p:nvPr/>
        </p:nvSpPr>
        <p:spPr>
          <a:xfrm>
            <a:off x="4709160" y="457200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5120640" y="4572000"/>
            <a:ext cx="40690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Describe direction and magnitude of the effect in plain language</a:t>
            </a:r>
            <a:endParaRPr lang="en-US" sz="1100" dirty="0"/>
          </a:p>
        </p:txBody>
      </p:sp>
      <p:sp>
        <p:nvSpPr>
          <p:cNvPr id="28" name="Text 26"/>
          <p:cNvSpPr/>
          <p:nvPr/>
        </p:nvSpPr>
        <p:spPr>
          <a:xfrm>
            <a:off x="228600" y="4919472"/>
            <a:ext cx="8686800" cy="18288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Field (2013), pp. 255–260  |  APA Publication Manual, 7th Ed.</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lowchart: Document 103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631" y="0"/>
            <a:ext cx="2436019" cy="2550319"/>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A773BA33-6A4B-DEA0-3EB4-055DFE5EABFE}"/>
              </a:ext>
            </a:extLst>
          </p:cNvPr>
          <p:cNvSpPr>
            <a:spLocks noChangeArrowheads="1"/>
          </p:cNvSpPr>
          <p:nvPr/>
        </p:nvSpPr>
        <p:spPr bwMode="auto">
          <a:xfrm>
            <a:off x="628650" y="128371"/>
            <a:ext cx="2130136" cy="17783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en-US" sz="2400" b="0" i="0" u="none" strike="noStrike" kern="1200" cap="none" normalizeH="0" baseline="0">
                <a:ln>
                  <a:noFill/>
                </a:ln>
                <a:solidFill>
                  <a:srgbClr val="FFFFFF"/>
                </a:solidFill>
                <a:effectLst/>
                <a:latin typeface="+mj-lt"/>
                <a:ea typeface="+mj-ea"/>
                <a:cs typeface="+mj-cs"/>
              </a:rPr>
              <a:t>Regression table</a:t>
            </a:r>
          </a:p>
          <a:p>
            <a:pPr marL="0" marR="0" lvl="0" indent="0" fontAlgn="base">
              <a:lnSpc>
                <a:spcPct val="90000"/>
              </a:lnSpc>
              <a:spcBef>
                <a:spcPct val="0"/>
              </a:spcBef>
              <a:spcAft>
                <a:spcPts val="600"/>
              </a:spcAft>
              <a:buClrTx/>
              <a:buSzTx/>
              <a:tabLst/>
            </a:pPr>
            <a:r>
              <a:rPr kumimoji="0" lang="en-US" altLang="en-US" sz="2400" b="0" i="0" u="none" strike="noStrike" kern="1200" cap="none" normalizeH="0" baseline="0">
                <a:ln>
                  <a:noFill/>
                </a:ln>
                <a:solidFill>
                  <a:srgbClr val="FFFFFF"/>
                </a:solidFill>
                <a:effectLst/>
                <a:latin typeface="+mj-lt"/>
                <a:ea typeface="+mj-ea"/>
                <a:cs typeface="+mj-cs"/>
              </a:rPr>
              <a:t>        </a:t>
            </a:r>
          </a:p>
        </p:txBody>
      </p:sp>
      <p:pic>
        <p:nvPicPr>
          <p:cNvPr id="1026" name="Picture 2">
            <a:extLst>
              <a:ext uri="{FF2B5EF4-FFF2-40B4-BE49-F238E27FC236}">
                <a16:creationId xmlns:a16="http://schemas.microsoft.com/office/drawing/2014/main" id="{E109C978-42B6-8EAD-C6BD-017DECD008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71456" y="480060"/>
            <a:ext cx="5279638" cy="41841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2B3178E-0104-A7B2-2A82-1E8E5C562F4E}"/>
              </a:ext>
            </a:extLst>
          </p:cNvPr>
          <p:cNvSpPr txBox="1"/>
          <p:nvPr/>
        </p:nvSpPr>
        <p:spPr>
          <a:xfrm>
            <a:off x="2286000" y="2388501"/>
            <a:ext cx="4572000" cy="369332"/>
          </a:xfrm>
          <a:prstGeom prst="rect">
            <a:avLst/>
          </a:prstGeom>
          <a:noFill/>
        </p:spPr>
        <p:txBody>
          <a:bodyPr wrap="square">
            <a:spAutoFit/>
          </a:bodyPr>
          <a:lstStyle/>
          <a:p>
            <a:pPr>
              <a:spcAft>
                <a:spcPts val="600"/>
              </a:spcAft>
            </a:pPr>
            <a:r>
              <a:rPr lang="en-MY" b="0" dirty="0">
                <a:effectLst/>
              </a:rPr>
              <a:t> </a:t>
            </a:r>
            <a:endParaRPr lang="en-US"/>
          </a:p>
        </p:txBody>
      </p:sp>
      <p:sp>
        <p:nvSpPr>
          <p:cNvPr id="7" name="TextBox 6">
            <a:extLst>
              <a:ext uri="{FF2B5EF4-FFF2-40B4-BE49-F238E27FC236}">
                <a16:creationId xmlns:a16="http://schemas.microsoft.com/office/drawing/2014/main" id="{CD2FBA00-EB74-649C-2532-A8B855204309}"/>
              </a:ext>
            </a:extLst>
          </p:cNvPr>
          <p:cNvSpPr txBox="1"/>
          <p:nvPr/>
        </p:nvSpPr>
        <p:spPr>
          <a:xfrm>
            <a:off x="807053" y="2592748"/>
            <a:ext cx="4572000" cy="2236510"/>
          </a:xfrm>
          <a:prstGeom prst="rect">
            <a:avLst/>
          </a:prstGeom>
          <a:noFill/>
        </p:spPr>
        <p:txBody>
          <a:bodyPr wrap="square">
            <a:spAutoFit/>
          </a:bodyPr>
          <a:lstStyle/>
          <a:p>
            <a:pPr rtl="0">
              <a:spcBef>
                <a:spcPts val="360"/>
              </a:spcBef>
              <a:buNone/>
            </a:pPr>
            <a:r>
              <a:rPr lang="en-MY" sz="1800" b="0" i="0" u="none" strike="noStrike" dirty="0">
                <a:solidFill>
                  <a:srgbClr val="000000"/>
                </a:solidFill>
                <a:effectLst/>
                <a:latin typeface="Calibri" panose="020F0502020204030204" pitchFamily="34" charset="0"/>
              </a:rPr>
              <a:t>Beta coefficient / OR</a:t>
            </a:r>
            <a:endParaRPr lang="en-MY" b="0" dirty="0">
              <a:effectLst/>
            </a:endParaRPr>
          </a:p>
          <a:p>
            <a:pPr rtl="0">
              <a:spcBef>
                <a:spcPts val="360"/>
              </a:spcBef>
              <a:buNone/>
            </a:pPr>
            <a:r>
              <a:rPr lang="en-MY" sz="1800" b="0" i="0" u="none" strike="noStrike" dirty="0">
                <a:solidFill>
                  <a:srgbClr val="000000"/>
                </a:solidFill>
                <a:effectLst/>
                <a:latin typeface="Calibri" panose="020F0502020204030204" pitchFamily="34" charset="0"/>
              </a:rPr>
              <a:t>Standard error</a:t>
            </a:r>
            <a:endParaRPr lang="en-MY" b="0" dirty="0">
              <a:effectLst/>
            </a:endParaRPr>
          </a:p>
          <a:p>
            <a:pPr rtl="0">
              <a:spcBef>
                <a:spcPts val="360"/>
              </a:spcBef>
              <a:buNone/>
            </a:pPr>
            <a:r>
              <a:rPr lang="en-MY" sz="1800" b="0" i="0" u="none" strike="noStrike" dirty="0">
                <a:solidFill>
                  <a:srgbClr val="000000"/>
                </a:solidFill>
                <a:effectLst/>
                <a:latin typeface="Calibri" panose="020F0502020204030204" pitchFamily="34" charset="0"/>
              </a:rPr>
              <a:t>t statistics</a:t>
            </a:r>
            <a:endParaRPr lang="en-MY" b="0" dirty="0">
              <a:effectLst/>
            </a:endParaRPr>
          </a:p>
          <a:p>
            <a:pPr rtl="0">
              <a:spcBef>
                <a:spcPts val="360"/>
              </a:spcBef>
              <a:buNone/>
            </a:pPr>
            <a:r>
              <a:rPr lang="en-MY" sz="1800" b="0" i="1" u="none" strike="noStrike" dirty="0">
                <a:solidFill>
                  <a:srgbClr val="000000"/>
                </a:solidFill>
                <a:effectLst/>
                <a:latin typeface="Calibri" panose="020F0502020204030204" pitchFamily="34" charset="0"/>
              </a:rPr>
              <a:t>p</a:t>
            </a:r>
            <a:r>
              <a:rPr lang="en-MY" sz="1800" b="0" i="0" u="none" strike="noStrike" dirty="0">
                <a:solidFill>
                  <a:srgbClr val="000000"/>
                </a:solidFill>
                <a:effectLst/>
                <a:latin typeface="Calibri" panose="020F0502020204030204" pitchFamily="34" charset="0"/>
              </a:rPr>
              <a:t> value</a:t>
            </a:r>
            <a:endParaRPr lang="en-MY" b="0" dirty="0">
              <a:effectLst/>
            </a:endParaRPr>
          </a:p>
          <a:p>
            <a:pPr rtl="0">
              <a:spcBef>
                <a:spcPts val="360"/>
              </a:spcBef>
              <a:buNone/>
            </a:pPr>
            <a:r>
              <a:rPr lang="en-MY" sz="1800" b="0" i="0" u="none" strike="noStrike" dirty="0">
                <a:solidFill>
                  <a:srgbClr val="000000"/>
                </a:solidFill>
                <a:effectLst/>
                <a:latin typeface="Calibri" panose="020F0502020204030204" pitchFamily="34" charset="0"/>
              </a:rPr>
              <a:t>Confidence interval</a:t>
            </a:r>
            <a:endParaRPr lang="en-MY" b="0" dirty="0">
              <a:effectLst/>
            </a:endParaRPr>
          </a:p>
          <a:p>
            <a:pPr>
              <a:buNone/>
            </a:pPr>
            <a:br>
              <a:rPr lang="en-MY" dirty="0"/>
            </a:br>
            <a:endParaRPr lang="en-US" dirty="0"/>
          </a:p>
        </p:txBody>
      </p:sp>
    </p:spTree>
    <p:extLst>
      <p:ext uri="{BB962C8B-B14F-4D97-AF65-F5344CB8AC3E}">
        <p14:creationId xmlns:p14="http://schemas.microsoft.com/office/powerpoint/2010/main" val="3777985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7" name="Freeform: Shape 205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5" name="Isosceles Triangle 206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screenshot of a table&#10;&#10;AI-generated content may be incorrect.">
            <a:extLst>
              <a:ext uri="{FF2B5EF4-FFF2-40B4-BE49-F238E27FC236}">
                <a16:creationId xmlns:a16="http://schemas.microsoft.com/office/drawing/2014/main" id="{4982943C-1B57-1FB5-D33D-508BEDF35B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63546" y="482600"/>
            <a:ext cx="4616906" cy="417829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067" name="Isosceles Triangle 206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7451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62035"/>
          </a:solidFill>
          <a:ln w="12700">
            <a:solidFill>
              <a:srgbClr val="162035"/>
            </a:solidFill>
            <a:prstDash val="solid"/>
          </a:ln>
        </p:spPr>
        <p:txBody>
          <a:bodyPr/>
          <a:lstStyle/>
          <a:p>
            <a:endParaRPr lang="en-US"/>
          </a:p>
        </p:txBody>
      </p:sp>
      <p:sp>
        <p:nvSpPr>
          <p:cNvPr id="3" name="Shape 1"/>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20040" y="457200"/>
            <a:ext cx="5303520" cy="10972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Summary &amp;</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5" name="Shape 3"/>
          <p:cNvSpPr/>
          <p:nvPr/>
        </p:nvSpPr>
        <p:spPr>
          <a:xfrm>
            <a:off x="320040" y="1645920"/>
            <a:ext cx="2743200" cy="41148"/>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320040" y="1920240"/>
            <a:ext cx="292608" cy="292608"/>
          </a:xfrm>
          <a:prstGeom prst="ellipse">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320040" y="19202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31520" y="1938528"/>
            <a:ext cx="4937760" cy="384048"/>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Linear regression models a straight-line relationship between X and Y</a:t>
            </a:r>
            <a:endParaRPr lang="en-US" sz="1150" dirty="0"/>
          </a:p>
        </p:txBody>
      </p:sp>
      <p:sp>
        <p:nvSpPr>
          <p:cNvPr id="9" name="Shape 7"/>
          <p:cNvSpPr/>
          <p:nvPr/>
        </p:nvSpPr>
        <p:spPr>
          <a:xfrm>
            <a:off x="320040" y="2414016"/>
            <a:ext cx="292608" cy="292608"/>
          </a:xfrm>
          <a:prstGeom prst="ellipse">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320040" y="241401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731520" y="2432304"/>
            <a:ext cx="4937760" cy="384048"/>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OLS minimises the Sum of Squared Residuals to find the best-fit line</a:t>
            </a:r>
            <a:endParaRPr lang="en-US" sz="1150" dirty="0"/>
          </a:p>
        </p:txBody>
      </p:sp>
      <p:sp>
        <p:nvSpPr>
          <p:cNvPr id="12" name="Shape 10"/>
          <p:cNvSpPr/>
          <p:nvPr/>
        </p:nvSpPr>
        <p:spPr>
          <a:xfrm>
            <a:off x="320040" y="2907792"/>
            <a:ext cx="292608" cy="292608"/>
          </a:xfrm>
          <a:prstGeom prst="ellipse">
            <a:avLst/>
          </a:prstGeom>
          <a:solidFill>
            <a:srgbClr val="0D9488"/>
          </a:solidFill>
          <a:ln w="12700">
            <a:solidFill>
              <a:srgbClr val="0D9488"/>
            </a:solidFill>
            <a:prstDash val="solid"/>
          </a:ln>
        </p:spPr>
        <p:txBody>
          <a:bodyPr/>
          <a:lstStyle/>
          <a:p>
            <a:endParaRPr lang="en-US"/>
          </a:p>
        </p:txBody>
      </p:sp>
      <p:sp>
        <p:nvSpPr>
          <p:cNvPr id="13" name="Text 11"/>
          <p:cNvSpPr/>
          <p:nvPr/>
        </p:nvSpPr>
        <p:spPr>
          <a:xfrm>
            <a:off x="320040" y="290779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731520" y="2926080"/>
            <a:ext cx="4937760" cy="384048"/>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Always check the 6 assumptions before interpreting results</a:t>
            </a:r>
            <a:endParaRPr lang="en-US" sz="1150" dirty="0"/>
          </a:p>
        </p:txBody>
      </p:sp>
      <p:sp>
        <p:nvSpPr>
          <p:cNvPr id="15" name="Shape 13"/>
          <p:cNvSpPr/>
          <p:nvPr/>
        </p:nvSpPr>
        <p:spPr>
          <a:xfrm>
            <a:off x="320040" y="3401568"/>
            <a:ext cx="292608" cy="292608"/>
          </a:xfrm>
          <a:prstGeom prst="ellipse">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320040" y="340156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731520" y="3419856"/>
            <a:ext cx="4937760" cy="384048"/>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Use lm() in R; plot(model) gives 4 essential diagnostic plots</a:t>
            </a:r>
            <a:endParaRPr lang="en-US" sz="1150" dirty="0"/>
          </a:p>
        </p:txBody>
      </p:sp>
      <p:sp>
        <p:nvSpPr>
          <p:cNvPr id="18" name="Shape 16"/>
          <p:cNvSpPr/>
          <p:nvPr/>
        </p:nvSpPr>
        <p:spPr>
          <a:xfrm>
            <a:off x="320040" y="3895344"/>
            <a:ext cx="292608" cy="292608"/>
          </a:xfrm>
          <a:prstGeom prst="ellipse">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320040" y="38953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731520" y="3913632"/>
            <a:ext cx="4937760" cy="384048"/>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Report F, R², b coefficients, t-values and p-values in APA style</a:t>
            </a:r>
            <a:endParaRPr lang="en-US" sz="1150" dirty="0"/>
          </a:p>
        </p:txBody>
      </p:sp>
      <p:sp>
        <p:nvSpPr>
          <p:cNvPr id="21" name="Shape 19"/>
          <p:cNvSpPr/>
          <p:nvPr/>
        </p:nvSpPr>
        <p:spPr>
          <a:xfrm>
            <a:off x="320040" y="4389120"/>
            <a:ext cx="292608" cy="292608"/>
          </a:xfrm>
          <a:prstGeom prst="ellipse">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320040" y="4389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p:nvPr/>
        </p:nvSpPr>
        <p:spPr>
          <a:xfrm>
            <a:off x="731520" y="4407408"/>
            <a:ext cx="4937760" cy="384048"/>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Field (2013) recommends checking Cook's D &gt; 1 for influential cases</a:t>
            </a:r>
            <a:endParaRPr lang="en-US" sz="1150" dirty="0"/>
          </a:p>
        </p:txBody>
      </p:sp>
      <p:sp>
        <p:nvSpPr>
          <p:cNvPr id="24" name="Shape 22"/>
          <p:cNvSpPr/>
          <p:nvPr/>
        </p:nvSpPr>
        <p:spPr>
          <a:xfrm>
            <a:off x="6126480" y="914400"/>
            <a:ext cx="2834640" cy="3108960"/>
          </a:xfrm>
          <a:prstGeom prst="rect">
            <a:avLst/>
          </a:prstGeom>
          <a:solidFill>
            <a:srgbClr val="1E3A5F"/>
          </a:solidFill>
          <a:ln w="6350">
            <a:solidFill>
              <a:srgbClr val="0D9488"/>
            </a:solidFill>
            <a:prstDash val="solid"/>
          </a:ln>
        </p:spPr>
        <p:txBody>
          <a:bodyPr/>
          <a:lstStyle/>
          <a:p>
            <a:endParaRPr lang="en-US"/>
          </a:p>
        </p:txBody>
      </p:sp>
      <p:sp>
        <p:nvSpPr>
          <p:cNvPr id="25" name="Text 23"/>
          <p:cNvSpPr/>
          <p:nvPr/>
        </p:nvSpPr>
        <p:spPr>
          <a:xfrm>
            <a:off x="6263640" y="1024128"/>
            <a:ext cx="2560320" cy="32004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Key Reference</a:t>
            </a:r>
            <a:endParaRPr lang="en-US" sz="1200" dirty="0"/>
          </a:p>
        </p:txBody>
      </p:sp>
      <p:sp>
        <p:nvSpPr>
          <p:cNvPr id="26" name="Text 24"/>
          <p:cNvSpPr/>
          <p:nvPr/>
        </p:nvSpPr>
        <p:spPr>
          <a:xfrm>
            <a:off x="6263640" y="1371600"/>
            <a:ext cx="2560320" cy="2468880"/>
          </a:xfrm>
          <a:prstGeom prst="rect">
            <a:avLst/>
          </a:prstGeom>
          <a:noFill/>
          <a:ln/>
        </p:spPr>
        <p:txBody>
          <a:bodyPr wrap="square" lIns="0" tIns="0" rIns="0" bIns="0" rtlCol="0" anchor="ctr"/>
          <a:lstStyle/>
          <a:p>
            <a:pPr marL="0" indent="0">
              <a:buNone/>
            </a:pPr>
            <a:r>
              <a:rPr lang="en-US" sz="1200" i="1" dirty="0">
                <a:solidFill>
                  <a:srgbClr val="BFDBFE"/>
                </a:solidFill>
                <a:latin typeface="Calibri" pitchFamily="34" charset="0"/>
                <a:ea typeface="Calibri" pitchFamily="34" charset="-122"/>
                <a:cs typeface="Calibri" pitchFamily="34" charset="-120"/>
              </a:rPr>
              <a:t>Field, A. (2013).</a:t>
            </a:r>
            <a:endParaRPr lang="en-US" sz="1200" dirty="0"/>
          </a:p>
          <a:p>
            <a:pPr marL="0" indent="0">
              <a:buNone/>
            </a:pPr>
            <a:r>
              <a:rPr lang="en-US" sz="1200" i="1" dirty="0">
                <a:solidFill>
                  <a:srgbClr val="BFDBFE"/>
                </a:solidFill>
                <a:latin typeface="Calibri" pitchFamily="34" charset="0"/>
                <a:ea typeface="Calibri" pitchFamily="34" charset="-122"/>
                <a:cs typeface="Calibri" pitchFamily="34" charset="-120"/>
              </a:rPr>
              <a:t>Discovering Statistics</a:t>
            </a:r>
            <a:endParaRPr lang="en-US" sz="1200" dirty="0"/>
          </a:p>
          <a:p>
            <a:pPr marL="0" indent="0">
              <a:buNone/>
            </a:pPr>
            <a:r>
              <a:rPr lang="en-US" sz="1200" i="1" dirty="0">
                <a:solidFill>
                  <a:srgbClr val="BFDBFE"/>
                </a:solidFill>
                <a:latin typeface="Calibri" pitchFamily="34" charset="0"/>
                <a:ea typeface="Calibri" pitchFamily="34" charset="-122"/>
                <a:cs typeface="Calibri" pitchFamily="34" charset="-120"/>
              </a:rPr>
              <a:t>Using R.</a:t>
            </a:r>
            <a:endParaRPr lang="en-US" sz="1200" dirty="0"/>
          </a:p>
          <a:p>
            <a:pPr marL="0" indent="0">
              <a:buNone/>
            </a:pPr>
            <a:r>
              <a:rPr lang="en-US" sz="1200" i="1" dirty="0">
                <a:solidFill>
                  <a:srgbClr val="BFDBFE"/>
                </a:solidFill>
                <a:latin typeface="Calibri" pitchFamily="34" charset="0"/>
                <a:ea typeface="Calibri" pitchFamily="34" charset="-122"/>
                <a:cs typeface="Calibri" pitchFamily="34" charset="-120"/>
              </a:rPr>
              <a:t>SAGE Publications.</a:t>
            </a:r>
            <a:endParaRPr lang="en-US" sz="1200" dirty="0"/>
          </a:p>
          <a:p>
            <a:pPr marL="0" indent="0">
              <a:buNone/>
            </a:pPr>
            <a:endParaRPr lang="en-US" sz="1200" dirty="0"/>
          </a:p>
          <a:p>
            <a:pPr marL="0" indent="0">
              <a:buNone/>
            </a:pPr>
            <a:r>
              <a:rPr lang="en-US" sz="1200" i="1" dirty="0">
                <a:solidFill>
                  <a:srgbClr val="BFDBFE"/>
                </a:solidFill>
                <a:latin typeface="Calibri" pitchFamily="34" charset="0"/>
                <a:ea typeface="Calibri" pitchFamily="34" charset="-122"/>
                <a:cs typeface="Calibri" pitchFamily="34" charset="-120"/>
              </a:rPr>
              <a:t>Chapters 7–8</a:t>
            </a:r>
            <a:endParaRPr lang="en-US" sz="1200" dirty="0"/>
          </a:p>
          <a:p>
            <a:pPr marL="0" indent="0">
              <a:buNone/>
            </a:pPr>
            <a:r>
              <a:rPr lang="en-US" sz="1200" i="1" dirty="0">
                <a:solidFill>
                  <a:srgbClr val="BFDBFE"/>
                </a:solidFill>
                <a:latin typeface="Calibri" pitchFamily="34" charset="0"/>
                <a:ea typeface="Calibri" pitchFamily="34" charset="-122"/>
                <a:cs typeface="Calibri" pitchFamily="34" charset="-120"/>
              </a:rPr>
              <a:t>pp. 183–260</a:t>
            </a:r>
            <a:endParaRPr lang="en-US" sz="1200" dirty="0"/>
          </a:p>
        </p:txBody>
      </p:sp>
      <p:sp>
        <p:nvSpPr>
          <p:cNvPr id="27" name="Text 25"/>
          <p:cNvSpPr/>
          <p:nvPr/>
        </p:nvSpPr>
        <p:spPr>
          <a:xfrm>
            <a:off x="320040" y="4754880"/>
            <a:ext cx="54864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3339</Words>
  <Application>Microsoft Macintosh PowerPoint</Application>
  <PresentationFormat>On-screen Show (16:9)</PresentationFormat>
  <Paragraphs>580</Paragraphs>
  <Slides>25</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Regression – Andy Field</dc:title>
  <dc:subject>PptxGenJS Presentation</dc:subject>
  <dc:creator>PptxGenJS</dc:creator>
  <cp:lastModifiedBy>MUHAMMAD 'ADIL BIN ZAINAL ABIDIN</cp:lastModifiedBy>
  <cp:revision>5</cp:revision>
  <dcterms:created xsi:type="dcterms:W3CDTF">2026-03-10T00:21:21Z</dcterms:created>
  <dcterms:modified xsi:type="dcterms:W3CDTF">2026-03-11T02:07:27Z</dcterms:modified>
</cp:coreProperties>
</file>