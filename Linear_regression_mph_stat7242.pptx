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7" r:id="rId9"/>
    <p:sldId id="269" r:id="rId10"/>
    <p:sldId id="270" r:id="rId11"/>
    <p:sldId id="271" r:id="rId12"/>
    <p:sldId id="268" r:id="rId13"/>
    <p:sldId id="272" r:id="rId14"/>
    <p:sldId id="273" r:id="rId15"/>
    <p:sldId id="274" r:id="rId16"/>
    <p:sldId id="275" r:id="rId17"/>
    <p:sldId id="263" r:id="rId18"/>
    <p:sldId id="265" r:id="rId19"/>
    <p:sldId id="266" r:id="rId20"/>
    <p:sldId id="264"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34"/>
    <p:restoredTop sz="94610"/>
  </p:normalViewPr>
  <p:slideViewPr>
    <p:cSldViewPr snapToGrid="0" snapToObjects="1">
      <p:cViewPr varScale="1">
        <p:scale>
          <a:sx n="169" d="100"/>
          <a:sy n="169" d="100"/>
        </p:scale>
        <p:origin x="19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7566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F4C55-ECD6-3075-CADD-575231513B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713949-F4B1-84B6-4772-E0C8A9909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B902B3-4EB8-36CF-607F-7CA3ABEC2D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C8EFD51-6FB0-B9E6-C8FE-142DE23335CB}"/>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7543014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EB415-2409-BD46-E004-9D37E68452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A41356-E973-2ACC-1F17-DD76439937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5B1EF1-4F8F-4786-025E-CD2A6C7B30E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D97A1C-6E07-8C0B-75F1-20CC8396B103}"/>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4569543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E11D7-7948-BBAA-E5E7-4BE0CBC04D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BBC081-EBEB-99A8-421C-4F2535B911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0BF599-329F-4AED-32F2-3DEE49FFAD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18EF07-4C45-BD1F-249A-0AB9FD9B2EBC}"/>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3557645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67F3B-0BE8-345E-33E8-29F0825F88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5EDF66-13BB-C8B9-8ACD-D6107C3B89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29A330-4149-747F-5531-5BCC5100B4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F1A86B-8D69-8B44-A4AF-1A6CFDB45BA0}"/>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6335939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23B5E-57A4-8037-DEAF-8109C653AC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D398BD-4D40-FB98-2C83-5C13EC38E2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DACCBE-526B-FA4F-F217-06525CE2BF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C819A7-7EB2-3B98-5E7B-4AE666A4A1D5}"/>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683568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37242-3760-7F4A-72AE-8EA3B40FC3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DC6D5E-76CD-D6FE-7C21-B43F26AE57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E5E0BE-6528-8D74-4FA8-0D8FFA1C6E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7A8F7E-5DD2-E89C-3038-1F3A638F1CCF}"/>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554816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FD412-2FCE-0F08-9515-EAF5F4CA2B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19963D-6412-B384-B01A-258D1D67AC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5CF327-1450-6E0A-B5A6-CFC92890016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D915EE-243D-98C7-CCC0-A3A8ABE02A52}"/>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3031405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D8663-828D-FF11-9232-86716136E5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ADE984-209A-3B3E-93F5-928E6F8D90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CE8A08-0797-5B60-A9FE-B10F75E659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0C4D557-9A88-FE60-C116-A6EE65A3D1AC}"/>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8355159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9FC84-4C91-7912-B06F-8B8B93EAE5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013D57-CFF7-ABA2-CC18-C5E46BF58E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61FC5A-C872-582F-9857-D0C7F3FAB4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0395356-A6E4-F2EF-79BC-9D4AB5D6DB01}"/>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9740324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D9488"/>
          </a:solidFill>
          <a:ln w="12700">
            <a:solidFill>
              <a:srgbClr val="0D9488"/>
            </a:solidFill>
            <a:prstDash val="solid"/>
          </a:ln>
        </p:spPr>
        <p:txBody>
          <a:bodyPr/>
          <a:lstStyle/>
          <a:p>
            <a:endParaRPr lang="en-US"/>
          </a:p>
        </p:txBody>
      </p:sp>
      <p:sp>
        <p:nvSpPr>
          <p:cNvPr id="3" name="Shape 1"/>
          <p:cNvSpPr/>
          <p:nvPr/>
        </p:nvSpPr>
        <p:spPr>
          <a:xfrm>
            <a:off x="5943600" y="0"/>
            <a:ext cx="3200400" cy="5143500"/>
          </a:xfrm>
          <a:prstGeom prst="rect">
            <a:avLst/>
          </a:prstGeom>
          <a:solidFill>
            <a:srgbClr val="162035"/>
          </a:solidFill>
          <a:ln w="12700">
            <a:solidFill>
              <a:srgbClr val="162035"/>
            </a:solidFill>
            <a:prstDash val="solid"/>
          </a:ln>
        </p:spPr>
        <p:txBody>
          <a:bodyPr/>
          <a:lstStyle/>
          <a:p>
            <a:endParaRPr lang="en-US"/>
          </a:p>
        </p:txBody>
      </p:sp>
      <p:sp>
        <p:nvSpPr>
          <p:cNvPr id="4" name="Shape 2"/>
          <p:cNvSpPr/>
          <p:nvPr/>
        </p:nvSpPr>
        <p:spPr>
          <a:xfrm>
            <a:off x="6492240" y="1097280"/>
            <a:ext cx="118872" cy="118872"/>
          </a:xfrm>
          <a:prstGeom prst="ellipse">
            <a:avLst/>
          </a:prstGeom>
          <a:solidFill>
            <a:srgbClr val="0D9488">
              <a:alpha val="70000"/>
            </a:srgbClr>
          </a:solidFill>
          <a:ln w="12700">
            <a:solidFill>
              <a:srgbClr val="0D9488"/>
            </a:solidFill>
            <a:prstDash val="solid"/>
          </a:ln>
        </p:spPr>
        <p:txBody>
          <a:bodyPr/>
          <a:lstStyle/>
          <a:p>
            <a:endParaRPr lang="en-US"/>
          </a:p>
        </p:txBody>
      </p:sp>
      <p:sp>
        <p:nvSpPr>
          <p:cNvPr id="5" name="Shape 3"/>
          <p:cNvSpPr/>
          <p:nvPr/>
        </p:nvSpPr>
        <p:spPr>
          <a:xfrm>
            <a:off x="6949440" y="1645920"/>
            <a:ext cx="118872" cy="118872"/>
          </a:xfrm>
          <a:prstGeom prst="ellipse">
            <a:avLst/>
          </a:prstGeom>
          <a:solidFill>
            <a:srgbClr val="0D9488">
              <a:alpha val="70000"/>
            </a:srgbClr>
          </a:solidFill>
          <a:ln w="12700">
            <a:solidFill>
              <a:srgbClr val="0D9488"/>
            </a:solidFill>
            <a:prstDash val="solid"/>
          </a:ln>
        </p:spPr>
        <p:txBody>
          <a:bodyPr/>
          <a:lstStyle/>
          <a:p>
            <a:endParaRPr lang="en-US"/>
          </a:p>
        </p:txBody>
      </p:sp>
      <p:sp>
        <p:nvSpPr>
          <p:cNvPr id="6" name="Shape 4"/>
          <p:cNvSpPr/>
          <p:nvPr/>
        </p:nvSpPr>
        <p:spPr>
          <a:xfrm>
            <a:off x="7406640" y="2011680"/>
            <a:ext cx="118872" cy="118872"/>
          </a:xfrm>
          <a:prstGeom prst="ellipse">
            <a:avLst/>
          </a:prstGeom>
          <a:solidFill>
            <a:srgbClr val="0D9488">
              <a:alpha val="70000"/>
            </a:srgbClr>
          </a:solidFill>
          <a:ln w="12700">
            <a:solidFill>
              <a:srgbClr val="0D9488"/>
            </a:solidFill>
            <a:prstDash val="solid"/>
          </a:ln>
        </p:spPr>
        <p:txBody>
          <a:bodyPr/>
          <a:lstStyle/>
          <a:p>
            <a:endParaRPr lang="en-US"/>
          </a:p>
        </p:txBody>
      </p:sp>
      <p:sp>
        <p:nvSpPr>
          <p:cNvPr id="7" name="Shape 5"/>
          <p:cNvSpPr/>
          <p:nvPr/>
        </p:nvSpPr>
        <p:spPr>
          <a:xfrm>
            <a:off x="7863840" y="2377440"/>
            <a:ext cx="118872" cy="118872"/>
          </a:xfrm>
          <a:prstGeom prst="ellipse">
            <a:avLst/>
          </a:prstGeom>
          <a:solidFill>
            <a:srgbClr val="0D9488">
              <a:alpha val="70000"/>
            </a:srgbClr>
          </a:solidFill>
          <a:ln w="12700">
            <a:solidFill>
              <a:srgbClr val="0D9488"/>
            </a:solidFill>
            <a:prstDash val="solid"/>
          </a:ln>
        </p:spPr>
        <p:txBody>
          <a:bodyPr/>
          <a:lstStyle/>
          <a:p>
            <a:endParaRPr lang="en-US"/>
          </a:p>
        </p:txBody>
      </p:sp>
      <p:sp>
        <p:nvSpPr>
          <p:cNvPr id="8" name="Shape 6"/>
          <p:cNvSpPr/>
          <p:nvPr/>
        </p:nvSpPr>
        <p:spPr>
          <a:xfrm>
            <a:off x="8229600" y="2743200"/>
            <a:ext cx="118872" cy="118872"/>
          </a:xfrm>
          <a:prstGeom prst="ellipse">
            <a:avLst/>
          </a:prstGeom>
          <a:solidFill>
            <a:srgbClr val="0D9488">
              <a:alpha val="70000"/>
            </a:srgbClr>
          </a:solidFill>
          <a:ln w="12700">
            <a:solidFill>
              <a:srgbClr val="0D9488"/>
            </a:solidFill>
            <a:prstDash val="solid"/>
          </a:ln>
        </p:spPr>
        <p:txBody>
          <a:bodyPr/>
          <a:lstStyle/>
          <a:p>
            <a:endParaRPr lang="en-US"/>
          </a:p>
        </p:txBody>
      </p:sp>
      <p:sp>
        <p:nvSpPr>
          <p:cNvPr id="9" name="Shape 7"/>
          <p:cNvSpPr/>
          <p:nvPr/>
        </p:nvSpPr>
        <p:spPr>
          <a:xfrm>
            <a:off x="6675120" y="2194560"/>
            <a:ext cx="118872" cy="118872"/>
          </a:xfrm>
          <a:prstGeom prst="ellipse">
            <a:avLst/>
          </a:prstGeom>
          <a:solidFill>
            <a:srgbClr val="0D9488">
              <a:alpha val="70000"/>
            </a:srgbClr>
          </a:solidFill>
          <a:ln w="12700">
            <a:solidFill>
              <a:srgbClr val="0D9488"/>
            </a:solidFill>
            <a:prstDash val="solid"/>
          </a:ln>
        </p:spPr>
        <p:txBody>
          <a:bodyPr/>
          <a:lstStyle/>
          <a:p>
            <a:endParaRPr lang="en-US"/>
          </a:p>
        </p:txBody>
      </p:sp>
      <p:sp>
        <p:nvSpPr>
          <p:cNvPr id="10" name="Shape 8"/>
          <p:cNvSpPr/>
          <p:nvPr/>
        </p:nvSpPr>
        <p:spPr>
          <a:xfrm>
            <a:off x="7223760" y="2834640"/>
            <a:ext cx="118872" cy="118872"/>
          </a:xfrm>
          <a:prstGeom prst="ellipse">
            <a:avLst/>
          </a:prstGeom>
          <a:solidFill>
            <a:srgbClr val="0D9488">
              <a:alpha val="70000"/>
            </a:srgbClr>
          </a:solidFill>
          <a:ln w="12700">
            <a:solidFill>
              <a:srgbClr val="0D9488"/>
            </a:solidFill>
            <a:prstDash val="solid"/>
          </a:ln>
        </p:spPr>
        <p:txBody>
          <a:bodyPr/>
          <a:lstStyle/>
          <a:p>
            <a:endParaRPr lang="en-US"/>
          </a:p>
        </p:txBody>
      </p:sp>
      <p:sp>
        <p:nvSpPr>
          <p:cNvPr id="11" name="Shape 9"/>
          <p:cNvSpPr/>
          <p:nvPr/>
        </p:nvSpPr>
        <p:spPr>
          <a:xfrm>
            <a:off x="7680960" y="1463040"/>
            <a:ext cx="118872" cy="118872"/>
          </a:xfrm>
          <a:prstGeom prst="ellipse">
            <a:avLst/>
          </a:prstGeom>
          <a:solidFill>
            <a:srgbClr val="0D9488">
              <a:alpha val="70000"/>
            </a:srgbClr>
          </a:solidFill>
          <a:ln w="12700">
            <a:solidFill>
              <a:srgbClr val="0D9488"/>
            </a:solidFill>
            <a:prstDash val="solid"/>
          </a:ln>
        </p:spPr>
        <p:txBody>
          <a:bodyPr/>
          <a:lstStyle/>
          <a:p>
            <a:endParaRPr lang="en-US"/>
          </a:p>
        </p:txBody>
      </p:sp>
      <p:sp>
        <p:nvSpPr>
          <p:cNvPr id="12" name="Shape 10"/>
          <p:cNvSpPr/>
          <p:nvPr/>
        </p:nvSpPr>
        <p:spPr>
          <a:xfrm>
            <a:off x="8138160" y="1828800"/>
            <a:ext cx="118872" cy="118872"/>
          </a:xfrm>
          <a:prstGeom prst="ellipse">
            <a:avLst/>
          </a:prstGeom>
          <a:solidFill>
            <a:srgbClr val="0D9488">
              <a:alpha val="70000"/>
            </a:srgbClr>
          </a:solidFill>
          <a:ln w="12700">
            <a:solidFill>
              <a:srgbClr val="0D9488"/>
            </a:solidFill>
            <a:prstDash val="solid"/>
          </a:ln>
        </p:spPr>
        <p:txBody>
          <a:bodyPr/>
          <a:lstStyle/>
          <a:p>
            <a:endParaRPr lang="en-US"/>
          </a:p>
        </p:txBody>
      </p:sp>
      <p:sp>
        <p:nvSpPr>
          <p:cNvPr id="13" name="Shape 11"/>
          <p:cNvSpPr/>
          <p:nvPr/>
        </p:nvSpPr>
        <p:spPr>
          <a:xfrm>
            <a:off x="6858000" y="3200400"/>
            <a:ext cx="118872" cy="118872"/>
          </a:xfrm>
          <a:prstGeom prst="ellipse">
            <a:avLst/>
          </a:prstGeom>
          <a:solidFill>
            <a:srgbClr val="0D9488">
              <a:alpha val="70000"/>
            </a:srgbClr>
          </a:solidFill>
          <a:ln w="12700">
            <a:solidFill>
              <a:srgbClr val="0D9488"/>
            </a:solidFill>
            <a:prstDash val="solid"/>
          </a:ln>
        </p:spPr>
        <p:txBody>
          <a:bodyPr/>
          <a:lstStyle/>
          <a:p>
            <a:endParaRPr lang="en-US"/>
          </a:p>
        </p:txBody>
      </p:sp>
      <p:sp>
        <p:nvSpPr>
          <p:cNvPr id="14" name="Shape 12"/>
          <p:cNvSpPr/>
          <p:nvPr/>
        </p:nvSpPr>
        <p:spPr>
          <a:xfrm>
            <a:off x="7498080" y="3474720"/>
            <a:ext cx="118872" cy="118872"/>
          </a:xfrm>
          <a:prstGeom prst="ellipse">
            <a:avLst/>
          </a:prstGeom>
          <a:solidFill>
            <a:srgbClr val="0D9488">
              <a:alpha val="70000"/>
            </a:srgbClr>
          </a:solidFill>
          <a:ln w="12700">
            <a:solidFill>
              <a:srgbClr val="0D9488"/>
            </a:solidFill>
            <a:prstDash val="solid"/>
          </a:ln>
        </p:spPr>
        <p:txBody>
          <a:bodyPr/>
          <a:lstStyle/>
          <a:p>
            <a:endParaRPr lang="en-US"/>
          </a:p>
        </p:txBody>
      </p:sp>
      <p:sp>
        <p:nvSpPr>
          <p:cNvPr id="15" name="Shape 13"/>
          <p:cNvSpPr/>
          <p:nvPr/>
        </p:nvSpPr>
        <p:spPr>
          <a:xfrm>
            <a:off x="8321040" y="1280160"/>
            <a:ext cx="118872" cy="118872"/>
          </a:xfrm>
          <a:prstGeom prst="ellipse">
            <a:avLst/>
          </a:prstGeom>
          <a:solidFill>
            <a:srgbClr val="0D9488">
              <a:alpha val="70000"/>
            </a:srgbClr>
          </a:solidFill>
          <a:ln w="12700">
            <a:solidFill>
              <a:srgbClr val="0D9488"/>
            </a:solidFill>
            <a:prstDash val="solid"/>
          </a:ln>
        </p:spPr>
        <p:txBody>
          <a:bodyPr/>
          <a:lstStyle/>
          <a:p>
            <a:endParaRPr lang="en-US"/>
          </a:p>
        </p:txBody>
      </p:sp>
      <p:sp>
        <p:nvSpPr>
          <p:cNvPr id="16" name="Shape 14"/>
          <p:cNvSpPr/>
          <p:nvPr/>
        </p:nvSpPr>
        <p:spPr>
          <a:xfrm>
            <a:off x="6309360" y="3474720"/>
            <a:ext cx="2103120" cy="0"/>
          </a:xfrm>
          <a:prstGeom prst="line">
            <a:avLst/>
          </a:prstGeom>
          <a:noFill/>
          <a:ln w="25400">
            <a:solidFill>
              <a:srgbClr val="F59E0B"/>
            </a:solidFill>
            <a:prstDash val="solid"/>
          </a:ln>
        </p:spPr>
        <p:txBody>
          <a:bodyPr/>
          <a:lstStyle/>
          <a:p>
            <a:endParaRPr lang="en-US"/>
          </a:p>
        </p:txBody>
      </p:sp>
      <p:sp>
        <p:nvSpPr>
          <p:cNvPr id="17" name="Text 15"/>
          <p:cNvSpPr/>
          <p:nvPr/>
        </p:nvSpPr>
        <p:spPr>
          <a:xfrm>
            <a:off x="365760" y="914400"/>
            <a:ext cx="5303520" cy="91440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Linear Regression</a:t>
            </a:r>
            <a:endParaRPr lang="en-US" sz="4000" dirty="0"/>
          </a:p>
        </p:txBody>
      </p:sp>
      <p:sp>
        <p:nvSpPr>
          <p:cNvPr id="18" name="Text 16"/>
          <p:cNvSpPr/>
          <p:nvPr/>
        </p:nvSpPr>
        <p:spPr>
          <a:xfrm>
            <a:off x="365760" y="1920240"/>
            <a:ext cx="5303520" cy="502920"/>
          </a:xfrm>
          <a:prstGeom prst="rect">
            <a:avLst/>
          </a:prstGeom>
          <a:noFill/>
          <a:ln/>
        </p:spPr>
        <p:txBody>
          <a:bodyPr wrap="square" lIns="0" tIns="0" rIns="0" bIns="0" rtlCol="0" anchor="ctr"/>
          <a:lstStyle/>
          <a:p>
            <a:pPr marL="0" indent="0">
              <a:buNone/>
            </a:pPr>
            <a:r>
              <a:rPr lang="en-US" sz="2000" dirty="0">
                <a:solidFill>
                  <a:srgbClr val="BFDBFE"/>
                </a:solidFill>
                <a:latin typeface="Calibri" pitchFamily="34" charset="0"/>
                <a:ea typeface="Calibri" pitchFamily="34" charset="-122"/>
                <a:cs typeface="Calibri" pitchFamily="34" charset="-120"/>
              </a:rPr>
              <a:t>Theory, Assumptions &amp; RStudio</a:t>
            </a:r>
            <a:endParaRPr lang="en-US" sz="2000" dirty="0"/>
          </a:p>
        </p:txBody>
      </p:sp>
      <p:sp>
        <p:nvSpPr>
          <p:cNvPr id="19" name="Shape 17"/>
          <p:cNvSpPr/>
          <p:nvPr/>
        </p:nvSpPr>
        <p:spPr>
          <a:xfrm>
            <a:off x="365760" y="2514600"/>
            <a:ext cx="3200400" cy="41148"/>
          </a:xfrm>
          <a:prstGeom prst="rect">
            <a:avLst/>
          </a:prstGeom>
          <a:solidFill>
            <a:srgbClr val="0D9488"/>
          </a:solidFill>
          <a:ln w="12700">
            <a:solidFill>
              <a:srgbClr val="0D9488"/>
            </a:solidFill>
            <a:prstDash val="solid"/>
          </a:ln>
        </p:spPr>
        <p:txBody>
          <a:bodyPr/>
          <a:lstStyle/>
          <a:p>
            <a:endParaRPr lang="en-US"/>
          </a:p>
        </p:txBody>
      </p:sp>
      <p:sp>
        <p:nvSpPr>
          <p:cNvPr id="20" name="Text 18"/>
          <p:cNvSpPr/>
          <p:nvPr/>
        </p:nvSpPr>
        <p:spPr>
          <a:xfrm>
            <a:off x="365760" y="2697480"/>
            <a:ext cx="5303520" cy="365760"/>
          </a:xfrm>
          <a:prstGeom prst="rect">
            <a:avLst/>
          </a:prstGeom>
          <a:noFill/>
          <a:ln/>
        </p:spPr>
        <p:txBody>
          <a:bodyPr wrap="square" lIns="0" tIns="0" rIns="0" bIns="0" rtlCol="0" anchor="ctr"/>
          <a:lstStyle/>
          <a:p>
            <a:pPr marL="0" indent="0">
              <a:buNone/>
            </a:pPr>
            <a:r>
              <a:rPr lang="en-US" sz="1300" i="1" dirty="0">
                <a:solidFill>
                  <a:srgbClr val="94A3B8"/>
                </a:solidFill>
                <a:latin typeface="Calibri" pitchFamily="34" charset="0"/>
                <a:ea typeface="Calibri" pitchFamily="34" charset="-122"/>
                <a:cs typeface="Calibri" pitchFamily="34" charset="-120"/>
              </a:rPr>
              <a:t>Based on Andy Field – Discovering Statistics Using R</a:t>
            </a:r>
            <a:endParaRPr lang="en-US" sz="1300" dirty="0"/>
          </a:p>
        </p:txBody>
      </p:sp>
      <p:sp>
        <p:nvSpPr>
          <p:cNvPr id="21" name="Text 19"/>
          <p:cNvSpPr/>
          <p:nvPr/>
        </p:nvSpPr>
        <p:spPr>
          <a:xfrm>
            <a:off x="365760" y="4206240"/>
            <a:ext cx="5029200" cy="32004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Muhammad </a:t>
            </a:r>
            <a:r>
              <a:rPr lang="en-US" sz="1100" dirty="0" err="1">
                <a:solidFill>
                  <a:srgbClr val="64748B"/>
                </a:solidFill>
                <a:latin typeface="Calibri" pitchFamily="34" charset="0"/>
                <a:ea typeface="Calibri" pitchFamily="34" charset="-122"/>
                <a:cs typeface="Calibri" pitchFamily="34" charset="-120"/>
              </a:rPr>
              <a:t>adil</a:t>
            </a:r>
            <a:r>
              <a:rPr lang="en-US" sz="1100" dirty="0">
                <a:solidFill>
                  <a:srgbClr val="64748B"/>
                </a:solidFill>
                <a:latin typeface="Calibri" pitchFamily="34" charset="0"/>
                <a:ea typeface="Calibri" pitchFamily="34" charset="-122"/>
                <a:cs typeface="Calibri" pitchFamily="34" charset="-120"/>
              </a:rPr>
              <a:t> </a:t>
            </a:r>
            <a:r>
              <a:rPr lang="en-US" sz="1100" dirty="0" err="1">
                <a:solidFill>
                  <a:srgbClr val="64748B"/>
                </a:solidFill>
                <a:latin typeface="Calibri" pitchFamily="34" charset="0"/>
                <a:ea typeface="Calibri" pitchFamily="34" charset="-122"/>
                <a:cs typeface="Calibri" pitchFamily="34" charset="-120"/>
              </a:rPr>
              <a:t>zainal</a:t>
            </a:r>
            <a:r>
              <a:rPr lang="en-US" sz="1100" dirty="0">
                <a:solidFill>
                  <a:srgbClr val="64748B"/>
                </a:solidFill>
                <a:latin typeface="Calibri" pitchFamily="34" charset="0"/>
                <a:ea typeface="Calibri" pitchFamily="34" charset="-122"/>
                <a:cs typeface="Calibri" pitchFamily="34" charset="-120"/>
              </a:rPr>
              <a:t> </a:t>
            </a:r>
            <a:r>
              <a:rPr lang="en-US" sz="1100" dirty="0" err="1">
                <a:solidFill>
                  <a:srgbClr val="64748B"/>
                </a:solidFill>
                <a:latin typeface="Calibri" pitchFamily="34" charset="0"/>
                <a:ea typeface="Calibri" pitchFamily="34" charset="-122"/>
                <a:cs typeface="Calibri" pitchFamily="34" charset="-120"/>
              </a:rPr>
              <a:t>abidin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p:cNvSpPr/>
          <p:nvPr/>
        </p:nvSpPr>
        <p:spPr>
          <a:xfrm>
            <a:off x="320040" y="45720"/>
            <a:ext cx="8503920" cy="59436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What is Linear Regression?</a:t>
            </a:r>
            <a:endParaRPr lang="en-US" sz="2400" dirty="0"/>
          </a:p>
        </p:txBody>
      </p:sp>
      <p:sp>
        <p:nvSpPr>
          <p:cNvPr id="4" name="Shape 2"/>
          <p:cNvSpPr/>
          <p:nvPr/>
        </p:nvSpPr>
        <p:spPr>
          <a:xfrm>
            <a:off x="0" y="685800"/>
            <a:ext cx="9144000" cy="64008"/>
          </a:xfrm>
          <a:prstGeom prst="rect">
            <a:avLst/>
          </a:prstGeom>
          <a:solidFill>
            <a:srgbClr val="0D9488"/>
          </a:solidFill>
          <a:ln w="12700">
            <a:solidFill>
              <a:srgbClr val="0D9488"/>
            </a:solidFill>
            <a:prstDash val="solid"/>
          </a:ln>
        </p:spPr>
        <p:txBody>
          <a:bodyPr/>
          <a:lstStyle/>
          <a:p>
            <a:endParaRPr lang="en-US"/>
          </a:p>
        </p:txBody>
      </p:sp>
      <p:sp>
        <p:nvSpPr>
          <p:cNvPr id="5" name="Shape 3"/>
          <p:cNvSpPr/>
          <p:nvPr/>
        </p:nvSpPr>
        <p:spPr>
          <a:xfrm>
            <a:off x="274320" y="960120"/>
            <a:ext cx="8595360" cy="1005840"/>
          </a:xfrm>
          <a:prstGeom prst="rect">
            <a:avLst/>
          </a:prstGeom>
          <a:solidFill>
            <a:srgbClr val="CCFBF1"/>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Shape 4"/>
          <p:cNvSpPr/>
          <p:nvPr/>
        </p:nvSpPr>
        <p:spPr>
          <a:xfrm>
            <a:off x="274320" y="960120"/>
            <a:ext cx="64008" cy="1005840"/>
          </a:xfrm>
          <a:prstGeom prst="rect">
            <a:avLst/>
          </a:prstGeom>
          <a:solidFill>
            <a:srgbClr val="0D9488"/>
          </a:solidFill>
          <a:ln w="12700">
            <a:solidFill>
              <a:srgbClr val="0D9488"/>
            </a:solidFill>
            <a:prstDash val="solid"/>
          </a:ln>
        </p:spPr>
        <p:txBody>
          <a:bodyPr/>
          <a:lstStyle/>
          <a:p>
            <a:endParaRPr lang="en-US"/>
          </a:p>
        </p:txBody>
      </p:sp>
      <p:sp>
        <p:nvSpPr>
          <p:cNvPr id="7" name="Text 5"/>
          <p:cNvSpPr/>
          <p:nvPr/>
        </p:nvSpPr>
        <p:spPr>
          <a:xfrm>
            <a:off x="502920" y="1024128"/>
            <a:ext cx="8138160" cy="822960"/>
          </a:xfrm>
          <a:prstGeom prst="rect">
            <a:avLst/>
          </a:prstGeom>
          <a:noFill/>
          <a:ln/>
        </p:spPr>
        <p:txBody>
          <a:bodyPr wrap="square" lIns="0" tIns="0" rIns="0" bIns="0" rtlCol="0" anchor="ctr"/>
          <a:lstStyle/>
          <a:p>
            <a:pPr marL="0" indent="0">
              <a:buNone/>
            </a:pPr>
            <a:r>
              <a:rPr lang="en-US" sz="1400" i="1" dirty="0">
                <a:solidFill>
                  <a:srgbClr val="1B2A4A"/>
                </a:solidFill>
                <a:latin typeface="Calibri" pitchFamily="34" charset="0"/>
                <a:ea typeface="Calibri" pitchFamily="34" charset="-122"/>
                <a:cs typeface="Calibri" pitchFamily="34" charset="-120"/>
              </a:rPr>
              <a:t>"A statistical method that models the relationship between one or more predictor variables and a continuous outcome variable by fitting a straight line.”</a:t>
            </a:r>
          </a:p>
          <a:p>
            <a:pPr marL="0" indent="0">
              <a:buNone/>
            </a:pPr>
            <a:endParaRPr lang="en-US" sz="1400" i="1" dirty="0">
              <a:solidFill>
                <a:srgbClr val="1B2A4A"/>
              </a:solidFill>
              <a:latin typeface="Calibri" pitchFamily="34" charset="0"/>
              <a:cs typeface="Calibri" pitchFamily="34" charset="-120"/>
            </a:endParaRPr>
          </a:p>
          <a:p>
            <a:pPr marL="0" indent="0">
              <a:buNone/>
            </a:pPr>
            <a:r>
              <a:rPr lang="en-US" sz="1400" i="1" dirty="0">
                <a:solidFill>
                  <a:srgbClr val="1B2A4A"/>
                </a:solidFill>
                <a:latin typeface="Calibri" pitchFamily="34" charset="0"/>
                <a:cs typeface="Calibri" pitchFamily="34" charset="-120"/>
              </a:rPr>
              <a:t>For prediction and control for confounder , quantifying the relationship -Simple and multiple (crude and adjusted)</a:t>
            </a:r>
          </a:p>
        </p:txBody>
      </p:sp>
      <p:sp>
        <p:nvSpPr>
          <p:cNvPr id="8" name="Shape 6"/>
          <p:cNvSpPr/>
          <p:nvPr/>
        </p:nvSpPr>
        <p:spPr>
          <a:xfrm>
            <a:off x="274320" y="2148840"/>
            <a:ext cx="2743200" cy="1737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Shape 7"/>
          <p:cNvSpPr/>
          <p:nvPr/>
        </p:nvSpPr>
        <p:spPr>
          <a:xfrm>
            <a:off x="274320" y="2148840"/>
            <a:ext cx="2743200" cy="411480"/>
          </a:xfrm>
          <a:prstGeom prst="rect">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365760" y="2176272"/>
            <a:ext cx="25603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Outcome (Y)</a:t>
            </a:r>
            <a:endParaRPr lang="en-US" sz="1400" dirty="0"/>
          </a:p>
        </p:txBody>
      </p:sp>
      <p:sp>
        <p:nvSpPr>
          <p:cNvPr id="11" name="Text 9"/>
          <p:cNvSpPr/>
          <p:nvPr/>
        </p:nvSpPr>
        <p:spPr>
          <a:xfrm>
            <a:off x="384048" y="2633472"/>
            <a:ext cx="2523744" cy="1188720"/>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The variable we want to predict or explain (dependent variable)</a:t>
            </a:r>
            <a:endParaRPr lang="en-US" sz="1200" dirty="0"/>
          </a:p>
        </p:txBody>
      </p:sp>
      <p:sp>
        <p:nvSpPr>
          <p:cNvPr id="12" name="Shape 10"/>
          <p:cNvSpPr/>
          <p:nvPr/>
        </p:nvSpPr>
        <p:spPr>
          <a:xfrm>
            <a:off x="3200400" y="2148840"/>
            <a:ext cx="2743200" cy="1737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3" name="Shape 11"/>
          <p:cNvSpPr/>
          <p:nvPr/>
        </p:nvSpPr>
        <p:spPr>
          <a:xfrm>
            <a:off x="3200400" y="2148840"/>
            <a:ext cx="2743200" cy="411480"/>
          </a:xfrm>
          <a:prstGeom prst="rect">
            <a:avLst/>
          </a:prstGeom>
          <a:solidFill>
            <a:srgbClr val="0D9488"/>
          </a:solidFill>
          <a:ln w="12700">
            <a:solidFill>
              <a:srgbClr val="0D9488"/>
            </a:solidFill>
            <a:prstDash val="solid"/>
          </a:ln>
        </p:spPr>
        <p:txBody>
          <a:bodyPr/>
          <a:lstStyle/>
          <a:p>
            <a:endParaRPr lang="en-US"/>
          </a:p>
        </p:txBody>
      </p:sp>
      <p:sp>
        <p:nvSpPr>
          <p:cNvPr id="14" name="Text 12"/>
          <p:cNvSpPr/>
          <p:nvPr/>
        </p:nvSpPr>
        <p:spPr>
          <a:xfrm>
            <a:off x="3291840" y="2176272"/>
            <a:ext cx="25603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Predictor (X)</a:t>
            </a:r>
            <a:endParaRPr lang="en-US" sz="1400" dirty="0"/>
          </a:p>
        </p:txBody>
      </p:sp>
      <p:sp>
        <p:nvSpPr>
          <p:cNvPr id="15" name="Text 13"/>
          <p:cNvSpPr/>
          <p:nvPr/>
        </p:nvSpPr>
        <p:spPr>
          <a:xfrm>
            <a:off x="3310128" y="2633472"/>
            <a:ext cx="2523744" cy="1188720"/>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The variable(s) used to predict the outcome (independent variable)</a:t>
            </a:r>
            <a:endParaRPr lang="en-US" sz="1200" dirty="0"/>
          </a:p>
        </p:txBody>
      </p:sp>
      <p:sp>
        <p:nvSpPr>
          <p:cNvPr id="16" name="Shape 14"/>
          <p:cNvSpPr/>
          <p:nvPr/>
        </p:nvSpPr>
        <p:spPr>
          <a:xfrm>
            <a:off x="6126480" y="2148840"/>
            <a:ext cx="2743200" cy="1737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7" name="Shape 15"/>
          <p:cNvSpPr/>
          <p:nvPr/>
        </p:nvSpPr>
        <p:spPr>
          <a:xfrm>
            <a:off x="6126480" y="2148840"/>
            <a:ext cx="2743200" cy="411480"/>
          </a:xfrm>
          <a:prstGeom prst="rect">
            <a:avLst/>
          </a:prstGeom>
          <a:solidFill>
            <a:srgbClr val="F59E0B"/>
          </a:solidFill>
          <a:ln w="12700">
            <a:solidFill>
              <a:srgbClr val="F59E0B"/>
            </a:solidFill>
            <a:prstDash val="solid"/>
          </a:ln>
        </p:spPr>
        <p:txBody>
          <a:bodyPr/>
          <a:lstStyle/>
          <a:p>
            <a:endParaRPr lang="en-US"/>
          </a:p>
        </p:txBody>
      </p:sp>
      <p:sp>
        <p:nvSpPr>
          <p:cNvPr id="18" name="Text 16"/>
          <p:cNvSpPr/>
          <p:nvPr/>
        </p:nvSpPr>
        <p:spPr>
          <a:xfrm>
            <a:off x="6217920" y="2176272"/>
            <a:ext cx="25603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The Line</a:t>
            </a:r>
            <a:endParaRPr lang="en-US" sz="1400" dirty="0"/>
          </a:p>
        </p:txBody>
      </p:sp>
      <p:sp>
        <p:nvSpPr>
          <p:cNvPr id="19" name="Text 17"/>
          <p:cNvSpPr/>
          <p:nvPr/>
        </p:nvSpPr>
        <p:spPr>
          <a:xfrm>
            <a:off x="6236208" y="2633472"/>
            <a:ext cx="2523744" cy="1188720"/>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Best-fit line minimising the sum of squared residuals (OLS method)</a:t>
            </a:r>
          </a:p>
          <a:p>
            <a:pPr marL="0" indent="0">
              <a:buNone/>
            </a:pPr>
            <a:endParaRPr lang="en-US" sz="1200" dirty="0">
              <a:solidFill>
                <a:srgbClr val="475569"/>
              </a:solidFill>
              <a:latin typeface="Calibri" pitchFamily="34" charset="0"/>
              <a:cs typeface="Calibri" pitchFamily="34" charset="-120"/>
            </a:endParaRPr>
          </a:p>
          <a:p>
            <a:pPr marL="0" indent="0">
              <a:buNone/>
            </a:pPr>
            <a:r>
              <a:rPr lang="en-US" sz="1200" dirty="0">
                <a:solidFill>
                  <a:srgbClr val="475569"/>
                </a:solidFill>
                <a:latin typeface="Calibri" pitchFamily="34" charset="0"/>
                <a:cs typeface="Calibri" pitchFamily="34" charset="-120"/>
              </a:rPr>
              <a:t>Other method </a:t>
            </a:r>
          </a:p>
          <a:p>
            <a:pPr marL="0" indent="0">
              <a:buNone/>
            </a:pPr>
            <a:r>
              <a:rPr lang="en-US" sz="1200" dirty="0">
                <a:solidFill>
                  <a:srgbClr val="475569"/>
                </a:solidFill>
                <a:latin typeface="Calibri" pitchFamily="34" charset="0"/>
                <a:cs typeface="Calibri" pitchFamily="34" charset="-120"/>
              </a:rPr>
              <a:t>Maximum Likelihood Estimation (MLE) for logistic regression</a:t>
            </a:r>
          </a:p>
          <a:p>
            <a:pPr marL="0" indent="0">
              <a:buNone/>
            </a:pPr>
            <a:endParaRPr lang="en-US" sz="1200" dirty="0"/>
          </a:p>
        </p:txBody>
      </p:sp>
      <p:sp>
        <p:nvSpPr>
          <p:cNvPr id="20" name="Shape 18"/>
          <p:cNvSpPr/>
          <p:nvPr/>
        </p:nvSpPr>
        <p:spPr>
          <a:xfrm>
            <a:off x="274320" y="4023360"/>
            <a:ext cx="8595360" cy="822960"/>
          </a:xfrm>
          <a:prstGeom prst="rect">
            <a:avLst/>
          </a:prstGeom>
          <a:solidFill>
            <a:srgbClr val="EFF6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1" name="Text 19"/>
          <p:cNvSpPr/>
          <p:nvPr/>
        </p:nvSpPr>
        <p:spPr>
          <a:xfrm>
            <a:off x="457200" y="4069080"/>
            <a:ext cx="2377440" cy="320040"/>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The Regression Equation:</a:t>
            </a:r>
            <a:endParaRPr lang="en-US" sz="1200" dirty="0"/>
          </a:p>
        </p:txBody>
      </p:sp>
      <p:sp>
        <p:nvSpPr>
          <p:cNvPr id="22" name="Text 20"/>
          <p:cNvSpPr/>
          <p:nvPr/>
        </p:nvSpPr>
        <p:spPr>
          <a:xfrm>
            <a:off x="2926080" y="4059936"/>
            <a:ext cx="4114800" cy="365760"/>
          </a:xfrm>
          <a:prstGeom prst="rect">
            <a:avLst/>
          </a:prstGeom>
          <a:noFill/>
          <a:ln/>
        </p:spPr>
        <p:txBody>
          <a:bodyPr wrap="square" lIns="0" tIns="0" rIns="0" bIns="0" rtlCol="0" anchor="ctr"/>
          <a:lstStyle/>
          <a:p>
            <a:pPr marL="0" indent="0">
              <a:buNone/>
            </a:pPr>
            <a:r>
              <a:rPr lang="en-US" sz="1800" b="1" dirty="0">
                <a:solidFill>
                  <a:srgbClr val="2563EB"/>
                </a:solidFill>
                <a:latin typeface="Calibri" pitchFamily="34" charset="0"/>
                <a:ea typeface="Calibri" pitchFamily="34" charset="-122"/>
                <a:cs typeface="Calibri" pitchFamily="34" charset="-120"/>
              </a:rPr>
              <a:t>Ŷᵢ  =  b₀  +  b₁Xᵢ  +  εᵢ</a:t>
            </a:r>
            <a:endParaRPr lang="en-US" sz="1800" dirty="0"/>
          </a:p>
        </p:txBody>
      </p:sp>
      <p:sp>
        <p:nvSpPr>
          <p:cNvPr id="23" name="Text 21"/>
          <p:cNvSpPr/>
          <p:nvPr/>
        </p:nvSpPr>
        <p:spPr>
          <a:xfrm>
            <a:off x="457200" y="4462272"/>
            <a:ext cx="8046720" cy="274320"/>
          </a:xfrm>
          <a:prstGeom prst="rect">
            <a:avLst/>
          </a:prstGeom>
          <a:noFill/>
          <a:ln/>
        </p:spPr>
        <p:txBody>
          <a:bodyPr wrap="square" lIns="0" tIns="0" rIns="0" bIns="0" rtlCol="0" anchor="ctr"/>
          <a:lstStyle/>
          <a:p>
            <a:pPr marL="0" indent="0">
              <a:buNone/>
            </a:pPr>
            <a:r>
              <a:rPr lang="en-US" sz="1000" i="1" dirty="0">
                <a:solidFill>
                  <a:srgbClr val="475569"/>
                </a:solidFill>
                <a:latin typeface="Calibri" pitchFamily="34" charset="0"/>
                <a:ea typeface="Calibri" pitchFamily="34" charset="-122"/>
                <a:cs typeface="Calibri" pitchFamily="34" charset="-120"/>
              </a:rPr>
              <a:t>b₀ = intercept   b₁ = slope/coefficient   εᵢ = error/residual</a:t>
            </a:r>
            <a:endParaRPr lang="en-US" sz="1000" dirty="0"/>
          </a:p>
        </p:txBody>
      </p:sp>
      <p:sp>
        <p:nvSpPr>
          <p:cNvPr id="24" name="Text 22"/>
          <p:cNvSpPr/>
          <p:nvPr/>
        </p:nvSpPr>
        <p:spPr>
          <a:xfrm>
            <a:off x="274320" y="4919472"/>
            <a:ext cx="859536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Discovering Statistics Using R, p. 183</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p:cNvSpPr/>
          <p:nvPr/>
        </p:nvSpPr>
        <p:spPr>
          <a:xfrm>
            <a:off x="320040" y="45720"/>
            <a:ext cx="8503920" cy="59436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Theory: How OLS Works</a:t>
            </a:r>
            <a:endParaRPr lang="en-US" sz="2400" dirty="0"/>
          </a:p>
        </p:txBody>
      </p:sp>
      <p:sp>
        <p:nvSpPr>
          <p:cNvPr id="4" name="Shape 2"/>
          <p:cNvSpPr/>
          <p:nvPr/>
        </p:nvSpPr>
        <p:spPr>
          <a:xfrm>
            <a:off x="0" y="685800"/>
            <a:ext cx="9144000" cy="64008"/>
          </a:xfrm>
          <a:prstGeom prst="rect">
            <a:avLst/>
          </a:prstGeom>
          <a:solidFill>
            <a:srgbClr val="F59E0B"/>
          </a:solidFill>
          <a:ln w="12700">
            <a:solidFill>
              <a:srgbClr val="F59E0B"/>
            </a:solidFill>
            <a:prstDash val="solid"/>
          </a:ln>
        </p:spPr>
        <p:txBody>
          <a:bodyPr/>
          <a:lstStyle/>
          <a:p>
            <a:endParaRPr lang="en-US"/>
          </a:p>
        </p:txBody>
      </p:sp>
      <p:sp>
        <p:nvSpPr>
          <p:cNvPr id="5" name="Shape 3"/>
          <p:cNvSpPr/>
          <p:nvPr/>
        </p:nvSpPr>
        <p:spPr>
          <a:xfrm>
            <a:off x="274320" y="914400"/>
            <a:ext cx="4114800" cy="393192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Shape 4"/>
          <p:cNvSpPr/>
          <p:nvPr/>
        </p:nvSpPr>
        <p:spPr>
          <a:xfrm>
            <a:off x="274320" y="914400"/>
            <a:ext cx="64008" cy="3931920"/>
          </a:xfrm>
          <a:prstGeom prst="rect">
            <a:avLst/>
          </a:prstGeom>
          <a:solidFill>
            <a:srgbClr val="2563EB"/>
          </a:solidFill>
          <a:ln w="12700">
            <a:solidFill>
              <a:srgbClr val="2563EB"/>
            </a:solidFill>
            <a:prstDash val="solid"/>
          </a:ln>
        </p:spPr>
        <p:txBody>
          <a:bodyPr/>
          <a:lstStyle/>
          <a:p>
            <a:endParaRPr lang="en-US"/>
          </a:p>
        </p:txBody>
      </p:sp>
      <p:sp>
        <p:nvSpPr>
          <p:cNvPr id="7" name="Text 5"/>
          <p:cNvSpPr/>
          <p:nvPr/>
        </p:nvSpPr>
        <p:spPr>
          <a:xfrm>
            <a:off x="502920" y="987552"/>
            <a:ext cx="3749040" cy="365760"/>
          </a:xfrm>
          <a:prstGeom prst="rect">
            <a:avLst/>
          </a:prstGeom>
          <a:noFill/>
          <a:ln/>
        </p:spPr>
        <p:txBody>
          <a:bodyPr wrap="square" lIns="0" tIns="0" rIns="0" bIns="0" rtlCol="0" anchor="ctr"/>
          <a:lstStyle/>
          <a:p>
            <a:pPr marL="0" indent="0">
              <a:buNone/>
            </a:pPr>
            <a:r>
              <a:rPr lang="en-US" sz="1500" b="1" dirty="0">
                <a:solidFill>
                  <a:srgbClr val="1B2A4A"/>
                </a:solidFill>
                <a:latin typeface="Calibri" pitchFamily="34" charset="0"/>
                <a:ea typeface="Calibri" pitchFamily="34" charset="-122"/>
                <a:cs typeface="Calibri" pitchFamily="34" charset="-120"/>
              </a:rPr>
              <a:t>Ordinary Least Squares (OLS)</a:t>
            </a:r>
            <a:endParaRPr lang="en-US" sz="1500" dirty="0"/>
          </a:p>
        </p:txBody>
      </p:sp>
      <p:sp>
        <p:nvSpPr>
          <p:cNvPr id="8" name="Text 6"/>
          <p:cNvSpPr/>
          <p:nvPr/>
        </p:nvSpPr>
        <p:spPr>
          <a:xfrm>
            <a:off x="502920" y="1444752"/>
            <a:ext cx="3794760" cy="548640"/>
          </a:xfrm>
          <a:prstGeom prst="rect">
            <a:avLst/>
          </a:prstGeom>
          <a:noFill/>
          <a:ln/>
        </p:spPr>
        <p:txBody>
          <a:bodyPr wrap="square" lIns="0" tIns="0" rIns="0" bIns="0" rtlCol="0" anchor="ctr"/>
          <a:lstStyle/>
          <a:p>
            <a:pPr marL="0" indent="0">
              <a:buNone/>
            </a:pPr>
            <a:r>
              <a:rPr lang="en-US" sz="1200" b="1" dirty="0">
                <a:solidFill>
                  <a:srgbClr val="2563EB"/>
                </a:solidFill>
                <a:latin typeface="Calibri" pitchFamily="34" charset="0"/>
                <a:ea typeface="Calibri" pitchFamily="34" charset="-122"/>
                <a:cs typeface="Calibri" pitchFamily="34" charset="-120"/>
              </a:rPr>
              <a:t>▸  </a:t>
            </a:r>
            <a:r>
              <a:rPr lang="en-US" sz="1200" dirty="0">
                <a:solidFill>
                  <a:srgbClr val="475569"/>
                </a:solidFill>
                <a:latin typeface="Calibri" pitchFamily="34" charset="0"/>
                <a:ea typeface="Calibri" pitchFamily="34" charset="-122"/>
                <a:cs typeface="Calibri" pitchFamily="34" charset="-120"/>
              </a:rPr>
              <a:t>Each data point has a residual: the vertical distance between the observed (Y) and predicted (Ŷ) value</a:t>
            </a:r>
            <a:endParaRPr lang="en-US" sz="1200" dirty="0"/>
          </a:p>
        </p:txBody>
      </p:sp>
      <p:sp>
        <p:nvSpPr>
          <p:cNvPr id="9" name="Text 7"/>
          <p:cNvSpPr/>
          <p:nvPr/>
        </p:nvSpPr>
        <p:spPr>
          <a:xfrm>
            <a:off x="502920" y="2057400"/>
            <a:ext cx="3794760" cy="548640"/>
          </a:xfrm>
          <a:prstGeom prst="rect">
            <a:avLst/>
          </a:prstGeom>
          <a:noFill/>
          <a:ln/>
        </p:spPr>
        <p:txBody>
          <a:bodyPr wrap="square" lIns="0" tIns="0" rIns="0" bIns="0" rtlCol="0" anchor="ctr"/>
          <a:lstStyle/>
          <a:p>
            <a:pPr marL="0" indent="0">
              <a:buNone/>
            </a:pPr>
            <a:r>
              <a:rPr lang="en-US" sz="1200" b="1" dirty="0">
                <a:solidFill>
                  <a:srgbClr val="2563EB"/>
                </a:solidFill>
                <a:latin typeface="Calibri" pitchFamily="34" charset="0"/>
                <a:ea typeface="Calibri" pitchFamily="34" charset="-122"/>
                <a:cs typeface="Calibri" pitchFamily="34" charset="-120"/>
              </a:rPr>
              <a:t>▸  </a:t>
            </a:r>
            <a:r>
              <a:rPr lang="en-US" sz="1200" dirty="0">
                <a:solidFill>
                  <a:srgbClr val="475569"/>
                </a:solidFill>
                <a:latin typeface="Calibri" pitchFamily="34" charset="0"/>
                <a:ea typeface="Calibri" pitchFamily="34" charset="-122"/>
                <a:cs typeface="Calibri" pitchFamily="34" charset="-120"/>
              </a:rPr>
              <a:t>OLS finds the line that minimises the Sum of Squared Residuals (SSR)</a:t>
            </a:r>
            <a:endParaRPr lang="en-US" sz="1200" dirty="0"/>
          </a:p>
        </p:txBody>
      </p:sp>
      <p:sp>
        <p:nvSpPr>
          <p:cNvPr id="10" name="Text 8"/>
          <p:cNvSpPr/>
          <p:nvPr/>
        </p:nvSpPr>
        <p:spPr>
          <a:xfrm>
            <a:off x="502920" y="2670048"/>
            <a:ext cx="3794760" cy="548640"/>
          </a:xfrm>
          <a:prstGeom prst="rect">
            <a:avLst/>
          </a:prstGeom>
          <a:noFill/>
          <a:ln/>
        </p:spPr>
        <p:txBody>
          <a:bodyPr wrap="square" lIns="0" tIns="0" rIns="0" bIns="0" rtlCol="0" anchor="ctr"/>
          <a:lstStyle/>
          <a:p>
            <a:pPr marL="0" indent="0">
              <a:buNone/>
            </a:pPr>
            <a:r>
              <a:rPr lang="en-US" sz="1200" b="1" dirty="0">
                <a:solidFill>
                  <a:srgbClr val="2563EB"/>
                </a:solidFill>
                <a:latin typeface="Calibri" pitchFamily="34" charset="0"/>
                <a:ea typeface="Calibri" pitchFamily="34" charset="-122"/>
                <a:cs typeface="Calibri" pitchFamily="34" charset="-120"/>
              </a:rPr>
              <a:t>▸  </a:t>
            </a:r>
            <a:r>
              <a:rPr lang="en-US" sz="1200" dirty="0">
                <a:solidFill>
                  <a:srgbClr val="475569"/>
                </a:solidFill>
                <a:latin typeface="Calibri" pitchFamily="34" charset="0"/>
                <a:ea typeface="Calibri" pitchFamily="34" charset="-122"/>
                <a:cs typeface="Calibri" pitchFamily="34" charset="-120"/>
              </a:rPr>
              <a:t>SSR = Σ(Yᵢ – Ŷᵢ)²  →  minimised</a:t>
            </a:r>
            <a:endParaRPr lang="en-US" sz="1200" dirty="0"/>
          </a:p>
        </p:txBody>
      </p:sp>
      <p:sp>
        <p:nvSpPr>
          <p:cNvPr id="11" name="Text 9"/>
          <p:cNvSpPr/>
          <p:nvPr/>
        </p:nvSpPr>
        <p:spPr>
          <a:xfrm>
            <a:off x="502920" y="3282696"/>
            <a:ext cx="3794760" cy="548640"/>
          </a:xfrm>
          <a:prstGeom prst="rect">
            <a:avLst/>
          </a:prstGeom>
          <a:noFill/>
          <a:ln/>
        </p:spPr>
        <p:txBody>
          <a:bodyPr wrap="square" lIns="0" tIns="0" rIns="0" bIns="0" rtlCol="0" anchor="ctr"/>
          <a:lstStyle/>
          <a:p>
            <a:pPr marL="0" indent="0">
              <a:buNone/>
            </a:pPr>
            <a:r>
              <a:rPr lang="en-US" sz="1200" b="1" dirty="0">
                <a:solidFill>
                  <a:srgbClr val="2563EB"/>
                </a:solidFill>
                <a:latin typeface="Calibri" pitchFamily="34" charset="0"/>
                <a:ea typeface="Calibri" pitchFamily="34" charset="-122"/>
                <a:cs typeface="Calibri" pitchFamily="34" charset="-120"/>
              </a:rPr>
              <a:t>▸  </a:t>
            </a:r>
            <a:r>
              <a:rPr lang="en-US" sz="1200" dirty="0">
                <a:solidFill>
                  <a:srgbClr val="475569"/>
                </a:solidFill>
                <a:latin typeface="Calibri" pitchFamily="34" charset="0"/>
                <a:ea typeface="Calibri" pitchFamily="34" charset="-122"/>
                <a:cs typeface="Calibri" pitchFamily="34" charset="-120"/>
              </a:rPr>
              <a:t>Squaring ensures negative and positive errors don't cancel out</a:t>
            </a:r>
            <a:endParaRPr lang="en-US" sz="1200" dirty="0"/>
          </a:p>
        </p:txBody>
      </p:sp>
      <p:sp>
        <p:nvSpPr>
          <p:cNvPr id="12" name="Text 10"/>
          <p:cNvSpPr/>
          <p:nvPr/>
        </p:nvSpPr>
        <p:spPr>
          <a:xfrm>
            <a:off x="502920" y="3895344"/>
            <a:ext cx="3794760" cy="548640"/>
          </a:xfrm>
          <a:prstGeom prst="rect">
            <a:avLst/>
          </a:prstGeom>
          <a:noFill/>
          <a:ln/>
        </p:spPr>
        <p:txBody>
          <a:bodyPr wrap="square" lIns="0" tIns="0" rIns="0" bIns="0" rtlCol="0" anchor="ctr"/>
          <a:lstStyle/>
          <a:p>
            <a:pPr marL="0" indent="0">
              <a:buNone/>
            </a:pPr>
            <a:r>
              <a:rPr lang="en-US" sz="1200" b="1" dirty="0">
                <a:solidFill>
                  <a:srgbClr val="2563EB"/>
                </a:solidFill>
                <a:latin typeface="Calibri" pitchFamily="34" charset="0"/>
                <a:ea typeface="Calibri" pitchFamily="34" charset="-122"/>
                <a:cs typeface="Calibri" pitchFamily="34" charset="-120"/>
              </a:rPr>
              <a:t>▸  </a:t>
            </a:r>
            <a:r>
              <a:rPr lang="en-US" sz="1200" dirty="0">
                <a:solidFill>
                  <a:srgbClr val="475569"/>
                </a:solidFill>
                <a:latin typeface="Calibri" pitchFamily="34" charset="0"/>
                <a:ea typeface="Calibri" pitchFamily="34" charset="-122"/>
                <a:cs typeface="Calibri" pitchFamily="34" charset="-120"/>
              </a:rPr>
              <a:t>The resulting b₀ and b₁ are the 'best' linear estimates</a:t>
            </a:r>
            <a:endParaRPr lang="en-US" sz="1200" dirty="0"/>
          </a:p>
        </p:txBody>
      </p:sp>
      <p:sp>
        <p:nvSpPr>
          <p:cNvPr id="13" name="Shape 11"/>
          <p:cNvSpPr/>
          <p:nvPr/>
        </p:nvSpPr>
        <p:spPr>
          <a:xfrm>
            <a:off x="4663440" y="914400"/>
            <a:ext cx="4206240" cy="393192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4" name="Shape 12"/>
          <p:cNvSpPr/>
          <p:nvPr/>
        </p:nvSpPr>
        <p:spPr>
          <a:xfrm>
            <a:off x="4663440" y="914400"/>
            <a:ext cx="64008" cy="3931920"/>
          </a:xfrm>
          <a:prstGeom prst="rect">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4892040" y="987552"/>
            <a:ext cx="3840480" cy="365760"/>
          </a:xfrm>
          <a:prstGeom prst="rect">
            <a:avLst/>
          </a:prstGeom>
          <a:noFill/>
          <a:ln/>
        </p:spPr>
        <p:txBody>
          <a:bodyPr wrap="square" lIns="0" tIns="0" rIns="0" bIns="0" rtlCol="0" anchor="ctr"/>
          <a:lstStyle/>
          <a:p>
            <a:pPr marL="0" indent="0">
              <a:buNone/>
            </a:pPr>
            <a:r>
              <a:rPr lang="en-US" sz="1500" b="1" dirty="0">
                <a:solidFill>
                  <a:srgbClr val="1B2A4A"/>
                </a:solidFill>
                <a:latin typeface="Calibri" pitchFamily="34" charset="0"/>
                <a:ea typeface="Calibri" pitchFamily="34" charset="-122"/>
                <a:cs typeface="Calibri" pitchFamily="34" charset="-120"/>
              </a:rPr>
              <a:t>Model Fit: R²  &amp;  F-ratio</a:t>
            </a:r>
            <a:endParaRPr lang="en-US" sz="1500" dirty="0"/>
          </a:p>
        </p:txBody>
      </p:sp>
      <p:sp>
        <p:nvSpPr>
          <p:cNvPr id="16" name="Shape 14"/>
          <p:cNvSpPr/>
          <p:nvPr/>
        </p:nvSpPr>
        <p:spPr>
          <a:xfrm>
            <a:off x="4800600" y="1463040"/>
            <a:ext cx="3886200" cy="713232"/>
          </a:xfrm>
          <a:prstGeom prst="rect">
            <a:avLst/>
          </a:prstGeom>
          <a:solidFill>
            <a:srgbClr val="F0FDFA"/>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7" name="Text 15"/>
          <p:cNvSpPr/>
          <p:nvPr/>
        </p:nvSpPr>
        <p:spPr>
          <a:xfrm>
            <a:off x="4919472" y="1490472"/>
            <a:ext cx="914400" cy="274320"/>
          </a:xfrm>
          <a:prstGeom prst="rect">
            <a:avLst/>
          </a:prstGeom>
          <a:noFill/>
          <a:ln/>
        </p:spPr>
        <p:txBody>
          <a:bodyPr wrap="square" lIns="0" tIns="0" rIns="0" bIns="0" rtlCol="0" anchor="ctr"/>
          <a:lstStyle/>
          <a:p>
            <a:pPr marL="0" indent="0">
              <a:buNone/>
            </a:pPr>
            <a:r>
              <a:rPr lang="en-US" sz="1300" b="1" dirty="0">
                <a:solidFill>
                  <a:srgbClr val="0D9488"/>
                </a:solidFill>
                <a:latin typeface="Calibri" pitchFamily="34" charset="0"/>
                <a:ea typeface="Calibri" pitchFamily="34" charset="-122"/>
                <a:cs typeface="Calibri" pitchFamily="34" charset="-120"/>
              </a:rPr>
              <a:t>R²</a:t>
            </a:r>
            <a:endParaRPr lang="en-US" sz="1300" dirty="0"/>
          </a:p>
        </p:txBody>
      </p:sp>
      <p:sp>
        <p:nvSpPr>
          <p:cNvPr id="18" name="Text 16"/>
          <p:cNvSpPr/>
          <p:nvPr/>
        </p:nvSpPr>
        <p:spPr>
          <a:xfrm>
            <a:off x="4919472" y="1783080"/>
            <a:ext cx="3657600" cy="384048"/>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Proportion of variance in Y explained by the model. R² = 0.60 → model explains 60% of variance in Y.</a:t>
            </a:r>
            <a:endParaRPr lang="en-US" sz="1050" dirty="0"/>
          </a:p>
        </p:txBody>
      </p:sp>
      <p:sp>
        <p:nvSpPr>
          <p:cNvPr id="19" name="Shape 17"/>
          <p:cNvSpPr/>
          <p:nvPr/>
        </p:nvSpPr>
        <p:spPr>
          <a:xfrm>
            <a:off x="4800600" y="2267712"/>
            <a:ext cx="3886200" cy="713232"/>
          </a:xfrm>
          <a:prstGeom prst="rect">
            <a:avLst/>
          </a:prstGeom>
          <a:solidFill>
            <a:srgbClr val="F0FDFA"/>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0" name="Text 18"/>
          <p:cNvSpPr/>
          <p:nvPr/>
        </p:nvSpPr>
        <p:spPr>
          <a:xfrm>
            <a:off x="4919472" y="2295144"/>
            <a:ext cx="914400" cy="274320"/>
          </a:xfrm>
          <a:prstGeom prst="rect">
            <a:avLst/>
          </a:prstGeom>
          <a:noFill/>
          <a:ln/>
        </p:spPr>
        <p:txBody>
          <a:bodyPr wrap="square" lIns="0" tIns="0" rIns="0" bIns="0" rtlCol="0" anchor="ctr"/>
          <a:lstStyle/>
          <a:p>
            <a:pPr marL="0" indent="0">
              <a:buNone/>
            </a:pPr>
            <a:r>
              <a:rPr lang="en-US" sz="1300" b="1" dirty="0">
                <a:solidFill>
                  <a:srgbClr val="0D9488"/>
                </a:solidFill>
                <a:latin typeface="Calibri" pitchFamily="34" charset="0"/>
                <a:ea typeface="Calibri" pitchFamily="34" charset="-122"/>
                <a:cs typeface="Calibri" pitchFamily="34" charset="-120"/>
              </a:rPr>
              <a:t>Adjusted R²</a:t>
            </a:r>
            <a:endParaRPr lang="en-US" sz="1300" dirty="0"/>
          </a:p>
        </p:txBody>
      </p:sp>
      <p:sp>
        <p:nvSpPr>
          <p:cNvPr id="21" name="Text 19"/>
          <p:cNvSpPr/>
          <p:nvPr/>
        </p:nvSpPr>
        <p:spPr>
          <a:xfrm>
            <a:off x="4919472" y="2587752"/>
            <a:ext cx="3657600" cy="384048"/>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Penalises for extra predictors. Preferred when comparing models (Field, 2013).</a:t>
            </a:r>
            <a:endParaRPr lang="en-US" sz="1050" dirty="0"/>
          </a:p>
        </p:txBody>
      </p:sp>
      <p:sp>
        <p:nvSpPr>
          <p:cNvPr id="22" name="Shape 20"/>
          <p:cNvSpPr/>
          <p:nvPr/>
        </p:nvSpPr>
        <p:spPr>
          <a:xfrm>
            <a:off x="4800600" y="3072384"/>
            <a:ext cx="3886200" cy="713232"/>
          </a:xfrm>
          <a:prstGeom prst="rect">
            <a:avLst/>
          </a:prstGeom>
          <a:solidFill>
            <a:srgbClr val="F0FDFA"/>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3" name="Text 21"/>
          <p:cNvSpPr/>
          <p:nvPr/>
        </p:nvSpPr>
        <p:spPr>
          <a:xfrm>
            <a:off x="4919472" y="3099816"/>
            <a:ext cx="914400" cy="274320"/>
          </a:xfrm>
          <a:prstGeom prst="rect">
            <a:avLst/>
          </a:prstGeom>
          <a:noFill/>
          <a:ln/>
        </p:spPr>
        <p:txBody>
          <a:bodyPr wrap="square" lIns="0" tIns="0" rIns="0" bIns="0" rtlCol="0" anchor="ctr"/>
          <a:lstStyle/>
          <a:p>
            <a:pPr marL="0" indent="0">
              <a:buNone/>
            </a:pPr>
            <a:r>
              <a:rPr lang="en-US" sz="1300" b="1" dirty="0">
                <a:solidFill>
                  <a:srgbClr val="0D9488"/>
                </a:solidFill>
                <a:latin typeface="Calibri" pitchFamily="34" charset="0"/>
                <a:ea typeface="Calibri" pitchFamily="34" charset="-122"/>
                <a:cs typeface="Calibri" pitchFamily="34" charset="-120"/>
              </a:rPr>
              <a:t>F-ratio</a:t>
            </a:r>
            <a:endParaRPr lang="en-US" sz="1300" dirty="0"/>
          </a:p>
        </p:txBody>
      </p:sp>
      <p:sp>
        <p:nvSpPr>
          <p:cNvPr id="24" name="Text 22"/>
          <p:cNvSpPr/>
          <p:nvPr/>
        </p:nvSpPr>
        <p:spPr>
          <a:xfrm>
            <a:off x="4919472" y="3392424"/>
            <a:ext cx="3657600" cy="384048"/>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Tests whether the model significantly improves prediction over the mean alone. F = MSₘ / MSᵣ</a:t>
            </a:r>
            <a:endParaRPr lang="en-US" sz="1050" dirty="0"/>
          </a:p>
        </p:txBody>
      </p:sp>
      <p:sp>
        <p:nvSpPr>
          <p:cNvPr id="25" name="Shape 23"/>
          <p:cNvSpPr/>
          <p:nvPr/>
        </p:nvSpPr>
        <p:spPr>
          <a:xfrm>
            <a:off x="4800600" y="3877056"/>
            <a:ext cx="3886200" cy="713232"/>
          </a:xfrm>
          <a:prstGeom prst="rect">
            <a:avLst/>
          </a:prstGeom>
          <a:solidFill>
            <a:srgbClr val="F0FDFA"/>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6" name="Text 24"/>
          <p:cNvSpPr/>
          <p:nvPr/>
        </p:nvSpPr>
        <p:spPr>
          <a:xfrm>
            <a:off x="4919472" y="3904488"/>
            <a:ext cx="914400" cy="274320"/>
          </a:xfrm>
          <a:prstGeom prst="rect">
            <a:avLst/>
          </a:prstGeom>
          <a:noFill/>
          <a:ln/>
        </p:spPr>
        <p:txBody>
          <a:bodyPr wrap="square" lIns="0" tIns="0" rIns="0" bIns="0" rtlCol="0" anchor="ctr"/>
          <a:lstStyle/>
          <a:p>
            <a:pPr marL="0" indent="0">
              <a:buNone/>
            </a:pPr>
            <a:r>
              <a:rPr lang="en-US" sz="1300" b="1" dirty="0">
                <a:solidFill>
                  <a:srgbClr val="0D9488"/>
                </a:solidFill>
                <a:latin typeface="Calibri" pitchFamily="34" charset="0"/>
                <a:ea typeface="Calibri" pitchFamily="34" charset="-122"/>
                <a:cs typeface="Calibri" pitchFamily="34" charset="-120"/>
              </a:rPr>
              <a:t>β (Beta)</a:t>
            </a:r>
            <a:endParaRPr lang="en-US" sz="1300" dirty="0"/>
          </a:p>
        </p:txBody>
      </p:sp>
      <p:sp>
        <p:nvSpPr>
          <p:cNvPr id="27" name="Text 25"/>
          <p:cNvSpPr/>
          <p:nvPr/>
        </p:nvSpPr>
        <p:spPr>
          <a:xfrm>
            <a:off x="4919472" y="4197096"/>
            <a:ext cx="3657600" cy="384048"/>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Standardised coefficients allow comparison of predictor importance across different scales.</a:t>
            </a:r>
            <a:endParaRPr lang="en-US" sz="1050" dirty="0"/>
          </a:p>
        </p:txBody>
      </p:sp>
      <p:sp>
        <p:nvSpPr>
          <p:cNvPr id="28" name="Text 26"/>
          <p:cNvSpPr/>
          <p:nvPr/>
        </p:nvSpPr>
        <p:spPr>
          <a:xfrm>
            <a:off x="274320" y="4919472"/>
            <a:ext cx="859536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pp. 184–205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p:cNvSpPr/>
          <p:nvPr/>
        </p:nvSpPr>
        <p:spPr>
          <a:xfrm>
            <a:off x="320040" y="45720"/>
            <a:ext cx="8503920" cy="59436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Assumptions of Linear Regression</a:t>
            </a:r>
            <a:endParaRPr lang="en-US" sz="2400" dirty="0"/>
          </a:p>
        </p:txBody>
      </p:sp>
      <p:sp>
        <p:nvSpPr>
          <p:cNvPr id="4" name="Shape 2"/>
          <p:cNvSpPr/>
          <p:nvPr/>
        </p:nvSpPr>
        <p:spPr>
          <a:xfrm>
            <a:off x="0" y="685800"/>
            <a:ext cx="9144000" cy="64008"/>
          </a:xfrm>
          <a:prstGeom prst="rect">
            <a:avLst/>
          </a:prstGeom>
          <a:solidFill>
            <a:srgbClr val="DC2626"/>
          </a:solidFill>
          <a:ln w="12700">
            <a:solidFill>
              <a:srgbClr val="DC2626"/>
            </a:solidFill>
            <a:prstDash val="solid"/>
          </a:ln>
        </p:spPr>
        <p:txBody>
          <a:bodyPr/>
          <a:lstStyle/>
          <a:p>
            <a:endParaRPr lang="en-US"/>
          </a:p>
        </p:txBody>
      </p:sp>
      <p:sp>
        <p:nvSpPr>
          <p:cNvPr id="5" name="Shape 3"/>
          <p:cNvSpPr/>
          <p:nvPr/>
        </p:nvSpPr>
        <p:spPr>
          <a:xfrm>
            <a:off x="228600" y="914400"/>
            <a:ext cx="4297680" cy="118872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Shape 4"/>
          <p:cNvSpPr/>
          <p:nvPr/>
        </p:nvSpPr>
        <p:spPr>
          <a:xfrm>
            <a:off x="365760" y="1234440"/>
            <a:ext cx="457200" cy="457200"/>
          </a:xfrm>
          <a:prstGeom prst="ellipse">
            <a:avLst/>
          </a:prstGeom>
          <a:solidFill>
            <a:srgbClr val="2563EB"/>
          </a:solidFill>
          <a:ln w="12700">
            <a:solidFill>
              <a:srgbClr val="2563EB"/>
            </a:solidFill>
            <a:prstDash val="solid"/>
          </a:ln>
        </p:spPr>
        <p:txBody>
          <a:bodyPr/>
          <a:lstStyle/>
          <a:p>
            <a:endParaRPr lang="en-US"/>
          </a:p>
        </p:txBody>
      </p:sp>
      <p:sp>
        <p:nvSpPr>
          <p:cNvPr id="7" name="Text 5"/>
          <p:cNvSpPr/>
          <p:nvPr/>
        </p:nvSpPr>
        <p:spPr>
          <a:xfrm>
            <a:off x="365760" y="123444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941832" y="987552"/>
            <a:ext cx="3429000" cy="320040"/>
          </a:xfrm>
          <a:prstGeom prst="rect">
            <a:avLst/>
          </a:prstGeom>
          <a:noFill/>
          <a:ln/>
        </p:spPr>
        <p:txBody>
          <a:bodyPr wrap="square" lIns="0" tIns="0" rIns="0" bIns="0" rtlCol="0" anchor="ctr"/>
          <a:lstStyle/>
          <a:p>
            <a:pPr marL="0" indent="0">
              <a:buNone/>
            </a:pPr>
            <a:r>
              <a:rPr lang="en-US" sz="1300" b="1" dirty="0">
                <a:solidFill>
                  <a:srgbClr val="2563EB"/>
                </a:solidFill>
                <a:latin typeface="Calibri" pitchFamily="34" charset="0"/>
                <a:ea typeface="Calibri" pitchFamily="34" charset="-122"/>
                <a:cs typeface="Calibri" pitchFamily="34" charset="-120"/>
              </a:rPr>
              <a:t>Linearity</a:t>
            </a:r>
            <a:endParaRPr lang="en-US" sz="1300" dirty="0"/>
          </a:p>
        </p:txBody>
      </p:sp>
      <p:sp>
        <p:nvSpPr>
          <p:cNvPr id="9" name="Text 7"/>
          <p:cNvSpPr/>
          <p:nvPr/>
        </p:nvSpPr>
        <p:spPr>
          <a:xfrm>
            <a:off x="941832" y="1325880"/>
            <a:ext cx="3429000" cy="713232"/>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Relationship between X and Y must be linear. Check: scatterplot of X vs Y; residuals vs fitted plot.</a:t>
            </a:r>
            <a:endParaRPr lang="en-US" sz="1050" dirty="0"/>
          </a:p>
        </p:txBody>
      </p:sp>
      <p:sp>
        <p:nvSpPr>
          <p:cNvPr id="10" name="Shape 8"/>
          <p:cNvSpPr/>
          <p:nvPr/>
        </p:nvSpPr>
        <p:spPr>
          <a:xfrm>
            <a:off x="4709160" y="914400"/>
            <a:ext cx="4297680" cy="118872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1" name="Shape 9"/>
          <p:cNvSpPr/>
          <p:nvPr/>
        </p:nvSpPr>
        <p:spPr>
          <a:xfrm>
            <a:off x="4846320" y="1234440"/>
            <a:ext cx="457200" cy="457200"/>
          </a:xfrm>
          <a:prstGeom prst="ellipse">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4846320" y="123444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5422392" y="987552"/>
            <a:ext cx="3429000" cy="320040"/>
          </a:xfrm>
          <a:prstGeom prst="rect">
            <a:avLst/>
          </a:prstGeom>
          <a:noFill/>
          <a:ln/>
        </p:spPr>
        <p:txBody>
          <a:bodyPr wrap="square" lIns="0" tIns="0" rIns="0" bIns="0" rtlCol="0" anchor="ctr"/>
          <a:lstStyle/>
          <a:p>
            <a:pPr marL="0" indent="0">
              <a:buNone/>
            </a:pPr>
            <a:r>
              <a:rPr lang="en-US" sz="1300" b="1" dirty="0">
                <a:solidFill>
                  <a:srgbClr val="0D9488"/>
                </a:solidFill>
                <a:latin typeface="Calibri" pitchFamily="34" charset="0"/>
                <a:ea typeface="Calibri" pitchFamily="34" charset="-122"/>
                <a:cs typeface="Calibri" pitchFamily="34" charset="-120"/>
              </a:rPr>
              <a:t>Independence</a:t>
            </a:r>
            <a:endParaRPr lang="en-US" sz="1300" dirty="0"/>
          </a:p>
        </p:txBody>
      </p:sp>
      <p:sp>
        <p:nvSpPr>
          <p:cNvPr id="14" name="Text 12"/>
          <p:cNvSpPr/>
          <p:nvPr/>
        </p:nvSpPr>
        <p:spPr>
          <a:xfrm>
            <a:off x="5422392" y="1325880"/>
            <a:ext cx="3429000" cy="713232"/>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Observations must be independent of each other. Check: study design; Durbin-Watson test (≈2 = no autocorrelation).</a:t>
            </a:r>
            <a:endParaRPr lang="en-US" sz="1050" dirty="0"/>
          </a:p>
        </p:txBody>
      </p:sp>
      <p:sp>
        <p:nvSpPr>
          <p:cNvPr id="15" name="Shape 13"/>
          <p:cNvSpPr/>
          <p:nvPr/>
        </p:nvSpPr>
        <p:spPr>
          <a:xfrm>
            <a:off x="228600" y="2286000"/>
            <a:ext cx="4297680" cy="118872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6" name="Shape 14"/>
          <p:cNvSpPr/>
          <p:nvPr/>
        </p:nvSpPr>
        <p:spPr>
          <a:xfrm>
            <a:off x="365760" y="2606040"/>
            <a:ext cx="457200" cy="457200"/>
          </a:xfrm>
          <a:prstGeom prst="ellipse">
            <a:avLst/>
          </a:prstGeom>
          <a:solidFill>
            <a:srgbClr val="F59E0B"/>
          </a:solidFill>
          <a:ln w="12700">
            <a:solidFill>
              <a:srgbClr val="F59E0B"/>
            </a:solidFill>
            <a:prstDash val="solid"/>
          </a:ln>
        </p:spPr>
        <p:txBody>
          <a:bodyPr/>
          <a:lstStyle/>
          <a:p>
            <a:endParaRPr lang="en-US"/>
          </a:p>
        </p:txBody>
      </p:sp>
      <p:sp>
        <p:nvSpPr>
          <p:cNvPr id="17" name="Text 15"/>
          <p:cNvSpPr/>
          <p:nvPr/>
        </p:nvSpPr>
        <p:spPr>
          <a:xfrm>
            <a:off x="365760" y="260604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p:nvPr/>
        </p:nvSpPr>
        <p:spPr>
          <a:xfrm>
            <a:off x="941832" y="2359152"/>
            <a:ext cx="3429000" cy="320040"/>
          </a:xfrm>
          <a:prstGeom prst="rect">
            <a:avLst/>
          </a:prstGeom>
          <a:noFill/>
          <a:ln/>
        </p:spPr>
        <p:txBody>
          <a:bodyPr wrap="square" lIns="0" tIns="0" rIns="0" bIns="0" rtlCol="0" anchor="ctr"/>
          <a:lstStyle/>
          <a:p>
            <a:pPr marL="0" indent="0">
              <a:buNone/>
            </a:pPr>
            <a:r>
              <a:rPr lang="en-US" sz="1300" b="1" dirty="0">
                <a:solidFill>
                  <a:srgbClr val="F59E0B"/>
                </a:solidFill>
                <a:latin typeface="Calibri" pitchFamily="34" charset="0"/>
                <a:ea typeface="Calibri" pitchFamily="34" charset="-122"/>
                <a:cs typeface="Calibri" pitchFamily="34" charset="-120"/>
              </a:rPr>
              <a:t>Homoscedasticity</a:t>
            </a:r>
            <a:endParaRPr lang="en-US" sz="1300" dirty="0"/>
          </a:p>
        </p:txBody>
      </p:sp>
      <p:sp>
        <p:nvSpPr>
          <p:cNvPr id="19" name="Text 17"/>
          <p:cNvSpPr/>
          <p:nvPr/>
        </p:nvSpPr>
        <p:spPr>
          <a:xfrm>
            <a:off x="941832" y="2697480"/>
            <a:ext cx="3429000" cy="713232"/>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Residuals should have constant variance across levels of X. Check: residuals vs fitted plot — no funnel shape.</a:t>
            </a:r>
            <a:endParaRPr lang="en-US" sz="1050" dirty="0"/>
          </a:p>
        </p:txBody>
      </p:sp>
      <p:sp>
        <p:nvSpPr>
          <p:cNvPr id="20" name="Shape 18"/>
          <p:cNvSpPr/>
          <p:nvPr/>
        </p:nvSpPr>
        <p:spPr>
          <a:xfrm>
            <a:off x="4709160" y="2286000"/>
            <a:ext cx="4297680" cy="118872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1" name="Shape 19"/>
          <p:cNvSpPr/>
          <p:nvPr/>
        </p:nvSpPr>
        <p:spPr>
          <a:xfrm>
            <a:off x="4846320" y="2606040"/>
            <a:ext cx="457200" cy="457200"/>
          </a:xfrm>
          <a:prstGeom prst="ellipse">
            <a:avLst/>
          </a:prstGeom>
          <a:solidFill>
            <a:srgbClr val="16A34A"/>
          </a:solidFill>
          <a:ln w="12700">
            <a:solidFill>
              <a:srgbClr val="16A34A"/>
            </a:solidFill>
            <a:prstDash val="solid"/>
          </a:ln>
        </p:spPr>
        <p:txBody>
          <a:bodyPr/>
          <a:lstStyle/>
          <a:p>
            <a:endParaRPr lang="en-US"/>
          </a:p>
        </p:txBody>
      </p:sp>
      <p:sp>
        <p:nvSpPr>
          <p:cNvPr id="22" name="Text 20"/>
          <p:cNvSpPr/>
          <p:nvPr/>
        </p:nvSpPr>
        <p:spPr>
          <a:xfrm>
            <a:off x="4846320" y="260604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p:nvPr/>
        </p:nvSpPr>
        <p:spPr>
          <a:xfrm>
            <a:off x="5422392" y="2359152"/>
            <a:ext cx="3429000" cy="320040"/>
          </a:xfrm>
          <a:prstGeom prst="rect">
            <a:avLst/>
          </a:prstGeom>
          <a:noFill/>
          <a:ln/>
        </p:spPr>
        <p:txBody>
          <a:bodyPr wrap="square" lIns="0" tIns="0" rIns="0" bIns="0" rtlCol="0" anchor="ctr"/>
          <a:lstStyle/>
          <a:p>
            <a:pPr marL="0" indent="0">
              <a:buNone/>
            </a:pPr>
            <a:r>
              <a:rPr lang="en-US" sz="1300" b="1" dirty="0">
                <a:solidFill>
                  <a:srgbClr val="16A34A"/>
                </a:solidFill>
                <a:latin typeface="Calibri" pitchFamily="34" charset="0"/>
                <a:ea typeface="Calibri" pitchFamily="34" charset="-122"/>
                <a:cs typeface="Calibri" pitchFamily="34" charset="-120"/>
              </a:rPr>
              <a:t>Normality of Residuals</a:t>
            </a:r>
            <a:endParaRPr lang="en-US" sz="1300" dirty="0"/>
          </a:p>
        </p:txBody>
      </p:sp>
      <p:sp>
        <p:nvSpPr>
          <p:cNvPr id="24" name="Text 22"/>
          <p:cNvSpPr/>
          <p:nvPr/>
        </p:nvSpPr>
        <p:spPr>
          <a:xfrm>
            <a:off x="5422392" y="2697480"/>
            <a:ext cx="3429000" cy="713232"/>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Residuals should be normally distributed. Check: Q-Q plot, histogram of residuals, Shapiro-Wilk test.</a:t>
            </a:r>
            <a:endParaRPr lang="en-US" sz="1050" dirty="0"/>
          </a:p>
        </p:txBody>
      </p:sp>
      <p:sp>
        <p:nvSpPr>
          <p:cNvPr id="25" name="Shape 23"/>
          <p:cNvSpPr/>
          <p:nvPr/>
        </p:nvSpPr>
        <p:spPr>
          <a:xfrm>
            <a:off x="228600" y="3657600"/>
            <a:ext cx="4297680" cy="118872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6" name="Shape 24"/>
          <p:cNvSpPr/>
          <p:nvPr/>
        </p:nvSpPr>
        <p:spPr>
          <a:xfrm>
            <a:off x="365760" y="3977640"/>
            <a:ext cx="457200" cy="457200"/>
          </a:xfrm>
          <a:prstGeom prst="ellipse">
            <a:avLst/>
          </a:prstGeom>
          <a:solidFill>
            <a:srgbClr val="DC2626"/>
          </a:solidFill>
          <a:ln w="12700">
            <a:solidFill>
              <a:srgbClr val="DC2626"/>
            </a:solidFill>
            <a:prstDash val="solid"/>
          </a:ln>
        </p:spPr>
        <p:txBody>
          <a:bodyPr/>
          <a:lstStyle/>
          <a:p>
            <a:endParaRPr lang="en-US"/>
          </a:p>
        </p:txBody>
      </p:sp>
      <p:sp>
        <p:nvSpPr>
          <p:cNvPr id="27" name="Text 25"/>
          <p:cNvSpPr/>
          <p:nvPr/>
        </p:nvSpPr>
        <p:spPr>
          <a:xfrm>
            <a:off x="365760" y="397764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6"/>
          <p:cNvSpPr/>
          <p:nvPr/>
        </p:nvSpPr>
        <p:spPr>
          <a:xfrm>
            <a:off x="941832" y="3730752"/>
            <a:ext cx="3429000" cy="320040"/>
          </a:xfrm>
          <a:prstGeom prst="rect">
            <a:avLst/>
          </a:prstGeom>
          <a:noFill/>
          <a:ln/>
        </p:spPr>
        <p:txBody>
          <a:bodyPr wrap="square" lIns="0" tIns="0" rIns="0" bIns="0" rtlCol="0" anchor="ctr"/>
          <a:lstStyle/>
          <a:p>
            <a:pPr marL="0" indent="0">
              <a:buNone/>
            </a:pPr>
            <a:r>
              <a:rPr lang="en-US" sz="1300" b="1" dirty="0">
                <a:solidFill>
                  <a:srgbClr val="DC2626"/>
                </a:solidFill>
                <a:latin typeface="Calibri" pitchFamily="34" charset="0"/>
                <a:ea typeface="Calibri" pitchFamily="34" charset="-122"/>
                <a:cs typeface="Calibri" pitchFamily="34" charset="-120"/>
              </a:rPr>
              <a:t>No Multicollinearity</a:t>
            </a:r>
            <a:endParaRPr lang="en-US" sz="1300" dirty="0"/>
          </a:p>
        </p:txBody>
      </p:sp>
      <p:sp>
        <p:nvSpPr>
          <p:cNvPr id="29" name="Text 27"/>
          <p:cNvSpPr/>
          <p:nvPr/>
        </p:nvSpPr>
        <p:spPr>
          <a:xfrm>
            <a:off x="941832" y="4069080"/>
            <a:ext cx="3429000" cy="713232"/>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Predictors should not be too highly correlated (multiple regression). Check: VIF &lt; 10; Tolerance &gt; 0.1 (Field, 2013).</a:t>
            </a:r>
            <a:endParaRPr lang="en-US" sz="1050" dirty="0"/>
          </a:p>
        </p:txBody>
      </p:sp>
      <p:sp>
        <p:nvSpPr>
          <p:cNvPr id="30" name="Shape 28"/>
          <p:cNvSpPr/>
          <p:nvPr/>
        </p:nvSpPr>
        <p:spPr>
          <a:xfrm>
            <a:off x="4709160" y="3657600"/>
            <a:ext cx="4297680" cy="118872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31" name="Shape 29"/>
          <p:cNvSpPr/>
          <p:nvPr/>
        </p:nvSpPr>
        <p:spPr>
          <a:xfrm>
            <a:off x="4846320" y="3977640"/>
            <a:ext cx="457200" cy="457200"/>
          </a:xfrm>
          <a:prstGeom prst="ellipse">
            <a:avLst/>
          </a:prstGeom>
          <a:solidFill>
            <a:srgbClr val="7C3AED"/>
          </a:solidFill>
          <a:ln w="12700">
            <a:solidFill>
              <a:srgbClr val="7C3AED"/>
            </a:solidFill>
            <a:prstDash val="solid"/>
          </a:ln>
        </p:spPr>
        <p:txBody>
          <a:bodyPr/>
          <a:lstStyle/>
          <a:p>
            <a:endParaRPr lang="en-US"/>
          </a:p>
        </p:txBody>
      </p:sp>
      <p:sp>
        <p:nvSpPr>
          <p:cNvPr id="32" name="Text 30"/>
          <p:cNvSpPr/>
          <p:nvPr/>
        </p:nvSpPr>
        <p:spPr>
          <a:xfrm>
            <a:off x="4846320" y="397764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3" name="Text 31"/>
          <p:cNvSpPr/>
          <p:nvPr/>
        </p:nvSpPr>
        <p:spPr>
          <a:xfrm>
            <a:off x="5422392" y="3730752"/>
            <a:ext cx="3429000" cy="320040"/>
          </a:xfrm>
          <a:prstGeom prst="rect">
            <a:avLst/>
          </a:prstGeom>
          <a:noFill/>
          <a:ln/>
        </p:spPr>
        <p:txBody>
          <a:bodyPr wrap="square" lIns="0" tIns="0" rIns="0" bIns="0" rtlCol="0" anchor="ctr"/>
          <a:lstStyle/>
          <a:p>
            <a:pPr marL="0" indent="0">
              <a:buNone/>
            </a:pPr>
            <a:r>
              <a:rPr lang="en-US" sz="1300" b="1" dirty="0">
                <a:solidFill>
                  <a:srgbClr val="7C3AED"/>
                </a:solidFill>
                <a:latin typeface="Calibri" pitchFamily="34" charset="0"/>
                <a:ea typeface="Calibri" pitchFamily="34" charset="-122"/>
                <a:cs typeface="Calibri" pitchFamily="34" charset="-120"/>
              </a:rPr>
              <a:t>No Influential Outliers</a:t>
            </a:r>
            <a:endParaRPr lang="en-US" sz="1300" dirty="0"/>
          </a:p>
        </p:txBody>
      </p:sp>
      <p:sp>
        <p:nvSpPr>
          <p:cNvPr id="34" name="Text 32"/>
          <p:cNvSpPr/>
          <p:nvPr/>
        </p:nvSpPr>
        <p:spPr>
          <a:xfrm>
            <a:off x="5422392" y="4069080"/>
            <a:ext cx="3429000" cy="713232"/>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Extreme cases unduly influence the model. Check: Cook's Distance &gt; 1 suggests influential cases (Field, 2013).</a:t>
            </a:r>
            <a:endParaRPr lang="en-US" sz="1050" dirty="0"/>
          </a:p>
        </p:txBody>
      </p:sp>
      <p:sp>
        <p:nvSpPr>
          <p:cNvPr id="35" name="Text 33"/>
          <p:cNvSpPr/>
          <p:nvPr/>
        </p:nvSpPr>
        <p:spPr>
          <a:xfrm>
            <a:off x="228600" y="4892040"/>
            <a:ext cx="8686800" cy="201168"/>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Chapter 7 – All assumptions must be met for valid inference.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p:cNvSpPr/>
          <p:nvPr/>
        </p:nvSpPr>
        <p:spPr>
          <a:xfrm>
            <a:off x="320040" y="45720"/>
            <a:ext cx="8503920" cy="59436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Running Linear Regression in RStudio  (Step 1–3)</a:t>
            </a:r>
            <a:endParaRPr lang="en-US" sz="2200" dirty="0"/>
          </a:p>
        </p:txBody>
      </p:sp>
      <p:sp>
        <p:nvSpPr>
          <p:cNvPr id="4" name="Shape 2"/>
          <p:cNvSpPr/>
          <p:nvPr/>
        </p:nvSpPr>
        <p:spPr>
          <a:xfrm>
            <a:off x="0" y="685800"/>
            <a:ext cx="9144000" cy="64008"/>
          </a:xfrm>
          <a:prstGeom prst="rect">
            <a:avLst/>
          </a:prstGeom>
          <a:solidFill>
            <a:srgbClr val="16A34A"/>
          </a:solidFill>
          <a:ln w="12700">
            <a:solidFill>
              <a:srgbClr val="16A34A"/>
            </a:solidFill>
            <a:prstDash val="solid"/>
          </a:ln>
        </p:spPr>
        <p:txBody>
          <a:bodyPr/>
          <a:lstStyle/>
          <a:p>
            <a:endParaRPr lang="en-US"/>
          </a:p>
        </p:txBody>
      </p:sp>
      <p:sp>
        <p:nvSpPr>
          <p:cNvPr id="5" name="Shape 3"/>
          <p:cNvSpPr/>
          <p:nvPr/>
        </p:nvSpPr>
        <p:spPr>
          <a:xfrm>
            <a:off x="228600" y="914400"/>
            <a:ext cx="2788920" cy="397764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Shape 4"/>
          <p:cNvSpPr/>
          <p:nvPr/>
        </p:nvSpPr>
        <p:spPr>
          <a:xfrm>
            <a:off x="228600" y="914400"/>
            <a:ext cx="2788920" cy="384048"/>
          </a:xfrm>
          <a:prstGeom prst="rect">
            <a:avLst/>
          </a:prstGeom>
          <a:solidFill>
            <a:srgbClr val="1B2A4A"/>
          </a:solidFill>
          <a:ln w="12700">
            <a:solidFill>
              <a:srgbClr val="1B2A4A"/>
            </a:solidFill>
            <a:prstDash val="solid"/>
          </a:ln>
        </p:spPr>
        <p:txBody>
          <a:bodyPr/>
          <a:lstStyle/>
          <a:p>
            <a:endParaRPr lang="en-US"/>
          </a:p>
        </p:txBody>
      </p:sp>
      <p:sp>
        <p:nvSpPr>
          <p:cNvPr id="7" name="Text 5"/>
          <p:cNvSpPr/>
          <p:nvPr/>
        </p:nvSpPr>
        <p:spPr>
          <a:xfrm>
            <a:off x="320040" y="932688"/>
            <a:ext cx="2606040" cy="347472"/>
          </a:xfrm>
          <a:prstGeom prst="rect">
            <a:avLst/>
          </a:prstGeom>
          <a:noFill/>
          <a:ln/>
        </p:spPr>
        <p:txBody>
          <a:bodyPr wrap="square" lIns="0" tIns="0" rIns="0" bIns="0" rtlCol="0" anchor="ctr"/>
          <a:lstStyle/>
          <a:p>
            <a:pPr marL="0" indent="0" algn="ctr">
              <a:buNone/>
            </a:pPr>
            <a:r>
              <a:rPr lang="en-US" sz="1200" b="1" dirty="0">
                <a:solidFill>
                  <a:srgbClr val="0D9488"/>
                </a:solidFill>
                <a:latin typeface="Calibri" pitchFamily="34" charset="0"/>
                <a:ea typeface="Calibri" pitchFamily="34" charset="-122"/>
                <a:cs typeface="Calibri" pitchFamily="34" charset="-120"/>
              </a:rPr>
              <a:t>STEP 01</a:t>
            </a:r>
            <a:endParaRPr lang="en-US" sz="1200" dirty="0"/>
          </a:p>
        </p:txBody>
      </p:sp>
      <p:sp>
        <p:nvSpPr>
          <p:cNvPr id="8" name="Text 6"/>
          <p:cNvSpPr/>
          <p:nvPr/>
        </p:nvSpPr>
        <p:spPr>
          <a:xfrm>
            <a:off x="320040" y="1371600"/>
            <a:ext cx="2606040" cy="384048"/>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Load &amp; Inspect Your Data</a:t>
            </a:r>
            <a:endParaRPr lang="en-US" sz="1200" dirty="0"/>
          </a:p>
        </p:txBody>
      </p:sp>
      <p:sp>
        <p:nvSpPr>
          <p:cNvPr id="9" name="Shape 7"/>
          <p:cNvSpPr/>
          <p:nvPr/>
        </p:nvSpPr>
        <p:spPr>
          <a:xfrm>
            <a:off x="320040" y="1783080"/>
            <a:ext cx="2606040" cy="1783080"/>
          </a:xfrm>
          <a:prstGeom prst="rect">
            <a:avLst/>
          </a:prstGeom>
          <a:solidFill>
            <a:srgbClr val="1E293B"/>
          </a:solidFill>
          <a:ln w="6350">
            <a:solidFill>
              <a:srgbClr val="334155"/>
            </a:solidFill>
            <a:prstDash val="solid"/>
          </a:ln>
        </p:spPr>
        <p:txBody>
          <a:bodyPr/>
          <a:lstStyle/>
          <a:p>
            <a:endParaRPr lang="en-US"/>
          </a:p>
        </p:txBody>
      </p:sp>
      <p:sp>
        <p:nvSpPr>
          <p:cNvPr id="10" name="Text 8"/>
          <p:cNvSpPr/>
          <p:nvPr/>
        </p:nvSpPr>
        <p:spPr>
          <a:xfrm>
            <a:off x="374904" y="1828800"/>
            <a:ext cx="2496312" cy="1691640"/>
          </a:xfrm>
          <a:prstGeom prst="rect">
            <a:avLst/>
          </a:prstGeom>
          <a:noFill/>
          <a:ln/>
        </p:spPr>
        <p:txBody>
          <a:bodyPr wrap="square" lIns="0" tIns="0" rIns="0" bIns="0" rtlCol="0" anchor="ctr"/>
          <a:lstStyle/>
          <a:p>
            <a:pPr marL="0" indent="0">
              <a:buNone/>
            </a:pPr>
            <a:r>
              <a:rPr lang="en-US" sz="900" dirty="0">
                <a:solidFill>
                  <a:srgbClr val="7DD3FC"/>
                </a:solidFill>
                <a:latin typeface="Consolas" pitchFamily="34" charset="0"/>
                <a:ea typeface="Consolas" pitchFamily="34" charset="-122"/>
                <a:cs typeface="Consolas" pitchFamily="34" charset="-120"/>
              </a:rPr>
              <a:t># Load data</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library(tidyverse)</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data &lt;- read.csv("mydata.csv")</a:t>
            </a:r>
            <a:endParaRPr lang="en-US" sz="900" dirty="0"/>
          </a:p>
          <a:p>
            <a:pPr marL="0" indent="0">
              <a:buNone/>
            </a:pP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 Inspect</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head(data)</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str(data)</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summary(data)</a:t>
            </a:r>
            <a:endParaRPr lang="en-US" sz="900" dirty="0"/>
          </a:p>
        </p:txBody>
      </p:sp>
      <p:sp>
        <p:nvSpPr>
          <p:cNvPr id="11" name="Shape 9"/>
          <p:cNvSpPr/>
          <p:nvPr/>
        </p:nvSpPr>
        <p:spPr>
          <a:xfrm>
            <a:off x="320040" y="3657600"/>
            <a:ext cx="2606040" cy="256032"/>
          </a:xfrm>
          <a:prstGeom prst="rect">
            <a:avLst/>
          </a:prstGeom>
          <a:solidFill>
            <a:srgbClr val="CCFBF1"/>
          </a:solidFill>
          <a:ln w="12700">
            <a:solidFill>
              <a:srgbClr val="CCFBF1"/>
            </a:solidFill>
            <a:prstDash val="solid"/>
          </a:ln>
        </p:spPr>
        <p:txBody>
          <a:bodyPr/>
          <a:lstStyle/>
          <a:p>
            <a:endParaRPr lang="en-US"/>
          </a:p>
        </p:txBody>
      </p:sp>
      <p:sp>
        <p:nvSpPr>
          <p:cNvPr id="12" name="Text 10"/>
          <p:cNvSpPr/>
          <p:nvPr/>
        </p:nvSpPr>
        <p:spPr>
          <a:xfrm>
            <a:off x="338328" y="3675888"/>
            <a:ext cx="2569464" cy="228600"/>
          </a:xfrm>
          <a:prstGeom prst="rect">
            <a:avLst/>
          </a:prstGeom>
          <a:noFill/>
          <a:ln/>
        </p:spPr>
        <p:txBody>
          <a:bodyPr wrap="square" lIns="0" tIns="0" rIns="0" bIns="0" rtlCol="0" anchor="ctr"/>
          <a:lstStyle/>
          <a:p>
            <a:pPr marL="0" indent="0">
              <a:buNone/>
            </a:pPr>
            <a:r>
              <a:rPr lang="en-US" sz="900" i="1" dirty="0">
                <a:solidFill>
                  <a:srgbClr val="0D9488"/>
                </a:solidFill>
                <a:latin typeface="Calibri" pitchFamily="34" charset="0"/>
                <a:ea typeface="Calibri" pitchFamily="34" charset="-122"/>
                <a:cs typeface="Calibri" pitchFamily="34" charset="-120"/>
              </a:rPr>
              <a:t>💡 Ensure outcome is continuous and predictors are correctly coded.</a:t>
            </a:r>
            <a:endParaRPr lang="en-US" sz="900" dirty="0"/>
          </a:p>
        </p:txBody>
      </p:sp>
      <p:sp>
        <p:nvSpPr>
          <p:cNvPr id="13" name="Shape 11"/>
          <p:cNvSpPr/>
          <p:nvPr/>
        </p:nvSpPr>
        <p:spPr>
          <a:xfrm>
            <a:off x="3200400" y="914400"/>
            <a:ext cx="2788920" cy="397764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4" name="Shape 12"/>
          <p:cNvSpPr/>
          <p:nvPr/>
        </p:nvSpPr>
        <p:spPr>
          <a:xfrm>
            <a:off x="3200400" y="914400"/>
            <a:ext cx="2788920" cy="384048"/>
          </a:xfrm>
          <a:prstGeom prst="rect">
            <a:avLst/>
          </a:prstGeom>
          <a:solidFill>
            <a:srgbClr val="1B2A4A"/>
          </a:solidFill>
          <a:ln w="12700">
            <a:solidFill>
              <a:srgbClr val="1B2A4A"/>
            </a:solidFill>
            <a:prstDash val="solid"/>
          </a:ln>
        </p:spPr>
        <p:txBody>
          <a:bodyPr/>
          <a:lstStyle/>
          <a:p>
            <a:endParaRPr lang="en-US"/>
          </a:p>
        </p:txBody>
      </p:sp>
      <p:sp>
        <p:nvSpPr>
          <p:cNvPr id="15" name="Text 13"/>
          <p:cNvSpPr/>
          <p:nvPr/>
        </p:nvSpPr>
        <p:spPr>
          <a:xfrm>
            <a:off x="3291840" y="932688"/>
            <a:ext cx="2606040" cy="347472"/>
          </a:xfrm>
          <a:prstGeom prst="rect">
            <a:avLst/>
          </a:prstGeom>
          <a:noFill/>
          <a:ln/>
        </p:spPr>
        <p:txBody>
          <a:bodyPr wrap="square" lIns="0" tIns="0" rIns="0" bIns="0" rtlCol="0" anchor="ctr"/>
          <a:lstStyle/>
          <a:p>
            <a:pPr marL="0" indent="0" algn="ctr">
              <a:buNone/>
            </a:pPr>
            <a:r>
              <a:rPr lang="en-US" sz="1200" b="1" dirty="0">
                <a:solidFill>
                  <a:srgbClr val="0D9488"/>
                </a:solidFill>
                <a:latin typeface="Calibri" pitchFamily="34" charset="0"/>
                <a:ea typeface="Calibri" pitchFamily="34" charset="-122"/>
                <a:cs typeface="Calibri" pitchFamily="34" charset="-120"/>
              </a:rPr>
              <a:t>STEP 02</a:t>
            </a:r>
            <a:endParaRPr lang="en-US" sz="1200" dirty="0"/>
          </a:p>
        </p:txBody>
      </p:sp>
      <p:sp>
        <p:nvSpPr>
          <p:cNvPr id="16" name="Text 14"/>
          <p:cNvSpPr/>
          <p:nvPr/>
        </p:nvSpPr>
        <p:spPr>
          <a:xfrm>
            <a:off x="3291840" y="1371600"/>
            <a:ext cx="2606040" cy="384048"/>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Visualise the Relationship</a:t>
            </a:r>
            <a:endParaRPr lang="en-US" sz="1200" dirty="0"/>
          </a:p>
        </p:txBody>
      </p:sp>
      <p:sp>
        <p:nvSpPr>
          <p:cNvPr id="17" name="Shape 15"/>
          <p:cNvSpPr/>
          <p:nvPr/>
        </p:nvSpPr>
        <p:spPr>
          <a:xfrm>
            <a:off x="3291840" y="1783080"/>
            <a:ext cx="2606040" cy="1783080"/>
          </a:xfrm>
          <a:prstGeom prst="rect">
            <a:avLst/>
          </a:prstGeom>
          <a:solidFill>
            <a:srgbClr val="1E293B"/>
          </a:solidFill>
          <a:ln w="6350">
            <a:solidFill>
              <a:srgbClr val="334155"/>
            </a:solidFill>
            <a:prstDash val="solid"/>
          </a:ln>
        </p:spPr>
        <p:txBody>
          <a:bodyPr/>
          <a:lstStyle/>
          <a:p>
            <a:endParaRPr lang="en-US"/>
          </a:p>
        </p:txBody>
      </p:sp>
      <p:sp>
        <p:nvSpPr>
          <p:cNvPr id="18" name="Text 16"/>
          <p:cNvSpPr/>
          <p:nvPr/>
        </p:nvSpPr>
        <p:spPr>
          <a:xfrm>
            <a:off x="3346704" y="1828800"/>
            <a:ext cx="2496312" cy="1691640"/>
          </a:xfrm>
          <a:prstGeom prst="rect">
            <a:avLst/>
          </a:prstGeom>
          <a:noFill/>
          <a:ln/>
        </p:spPr>
        <p:txBody>
          <a:bodyPr wrap="square" lIns="0" tIns="0" rIns="0" bIns="0" rtlCol="0" anchor="ctr"/>
          <a:lstStyle/>
          <a:p>
            <a:pPr marL="0" indent="0">
              <a:buNone/>
            </a:pPr>
            <a:r>
              <a:rPr lang="en-US" sz="900" dirty="0">
                <a:solidFill>
                  <a:srgbClr val="7DD3FC"/>
                </a:solidFill>
                <a:latin typeface="Consolas" pitchFamily="34" charset="0"/>
                <a:ea typeface="Consolas" pitchFamily="34" charset="-122"/>
                <a:cs typeface="Consolas" pitchFamily="34" charset="-120"/>
              </a:rPr>
              <a:t># Scatterplot</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ggplot(data, aes(x = predictor,</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                 y = outcome)) +</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  geom_point(colour = "steelblue") +</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  geom_smooth(method = "lm",</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              se = TRUE) +</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  theme_minimal()</a:t>
            </a:r>
            <a:endParaRPr lang="en-US" sz="900" dirty="0"/>
          </a:p>
        </p:txBody>
      </p:sp>
      <p:sp>
        <p:nvSpPr>
          <p:cNvPr id="19" name="Shape 17"/>
          <p:cNvSpPr/>
          <p:nvPr/>
        </p:nvSpPr>
        <p:spPr>
          <a:xfrm>
            <a:off x="3291840" y="3657600"/>
            <a:ext cx="2606040" cy="256032"/>
          </a:xfrm>
          <a:prstGeom prst="rect">
            <a:avLst/>
          </a:prstGeom>
          <a:solidFill>
            <a:srgbClr val="CCFBF1"/>
          </a:solidFill>
          <a:ln w="12700">
            <a:solidFill>
              <a:srgbClr val="CCFBF1"/>
            </a:solidFill>
            <a:prstDash val="solid"/>
          </a:ln>
        </p:spPr>
        <p:txBody>
          <a:bodyPr/>
          <a:lstStyle/>
          <a:p>
            <a:endParaRPr lang="en-US" dirty="0"/>
          </a:p>
        </p:txBody>
      </p:sp>
      <p:sp>
        <p:nvSpPr>
          <p:cNvPr id="20" name="Text 18"/>
          <p:cNvSpPr/>
          <p:nvPr/>
        </p:nvSpPr>
        <p:spPr>
          <a:xfrm>
            <a:off x="3310128" y="3675888"/>
            <a:ext cx="2569464" cy="228600"/>
          </a:xfrm>
          <a:prstGeom prst="rect">
            <a:avLst/>
          </a:prstGeom>
          <a:noFill/>
          <a:ln/>
        </p:spPr>
        <p:txBody>
          <a:bodyPr wrap="square" lIns="0" tIns="0" rIns="0" bIns="0" rtlCol="0" anchor="ctr"/>
          <a:lstStyle/>
          <a:p>
            <a:pPr marL="0" indent="0">
              <a:buNone/>
            </a:pPr>
            <a:r>
              <a:rPr lang="en-US" sz="900" i="1" dirty="0">
                <a:solidFill>
                  <a:srgbClr val="0D9488"/>
                </a:solidFill>
                <a:latin typeface="Calibri" pitchFamily="34" charset="0"/>
                <a:ea typeface="Calibri" pitchFamily="34" charset="-122"/>
                <a:cs typeface="Calibri" pitchFamily="34" charset="-120"/>
              </a:rPr>
              <a:t>💡 Look for linear trend before fitting the model.</a:t>
            </a:r>
            <a:endParaRPr lang="en-US" sz="900" dirty="0"/>
          </a:p>
        </p:txBody>
      </p:sp>
      <p:sp>
        <p:nvSpPr>
          <p:cNvPr id="21" name="Shape 19"/>
          <p:cNvSpPr/>
          <p:nvPr/>
        </p:nvSpPr>
        <p:spPr>
          <a:xfrm>
            <a:off x="6172200" y="914400"/>
            <a:ext cx="2788920" cy="397764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2" name="Shape 20"/>
          <p:cNvSpPr/>
          <p:nvPr/>
        </p:nvSpPr>
        <p:spPr>
          <a:xfrm>
            <a:off x="6172200" y="914400"/>
            <a:ext cx="2788920" cy="384048"/>
          </a:xfrm>
          <a:prstGeom prst="rect">
            <a:avLst/>
          </a:prstGeom>
          <a:solidFill>
            <a:srgbClr val="1B2A4A"/>
          </a:solidFill>
          <a:ln w="12700">
            <a:solidFill>
              <a:srgbClr val="1B2A4A"/>
            </a:solidFill>
            <a:prstDash val="solid"/>
          </a:ln>
        </p:spPr>
        <p:txBody>
          <a:bodyPr/>
          <a:lstStyle/>
          <a:p>
            <a:endParaRPr lang="en-US"/>
          </a:p>
        </p:txBody>
      </p:sp>
      <p:sp>
        <p:nvSpPr>
          <p:cNvPr id="23" name="Text 21"/>
          <p:cNvSpPr/>
          <p:nvPr/>
        </p:nvSpPr>
        <p:spPr>
          <a:xfrm>
            <a:off x="6263640" y="932688"/>
            <a:ext cx="2606040" cy="347472"/>
          </a:xfrm>
          <a:prstGeom prst="rect">
            <a:avLst/>
          </a:prstGeom>
          <a:noFill/>
          <a:ln/>
        </p:spPr>
        <p:txBody>
          <a:bodyPr wrap="square" lIns="0" tIns="0" rIns="0" bIns="0" rtlCol="0" anchor="ctr"/>
          <a:lstStyle/>
          <a:p>
            <a:pPr marL="0" indent="0" algn="ctr">
              <a:buNone/>
            </a:pPr>
            <a:r>
              <a:rPr lang="en-US" sz="1200" b="1" dirty="0">
                <a:solidFill>
                  <a:srgbClr val="0D9488"/>
                </a:solidFill>
                <a:latin typeface="Calibri" pitchFamily="34" charset="0"/>
                <a:ea typeface="Calibri" pitchFamily="34" charset="-122"/>
                <a:cs typeface="Calibri" pitchFamily="34" charset="-120"/>
              </a:rPr>
              <a:t>STEP 03</a:t>
            </a:r>
            <a:endParaRPr lang="en-US" sz="1200" dirty="0"/>
          </a:p>
        </p:txBody>
      </p:sp>
      <p:sp>
        <p:nvSpPr>
          <p:cNvPr id="24" name="Text 22"/>
          <p:cNvSpPr/>
          <p:nvPr/>
        </p:nvSpPr>
        <p:spPr>
          <a:xfrm>
            <a:off x="6263640" y="1371600"/>
            <a:ext cx="2606040" cy="384048"/>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Fit the Regression Model</a:t>
            </a:r>
            <a:endParaRPr lang="en-US" sz="1200" dirty="0"/>
          </a:p>
        </p:txBody>
      </p:sp>
      <p:sp>
        <p:nvSpPr>
          <p:cNvPr id="25" name="Shape 23"/>
          <p:cNvSpPr/>
          <p:nvPr/>
        </p:nvSpPr>
        <p:spPr>
          <a:xfrm>
            <a:off x="6263640" y="1783080"/>
            <a:ext cx="2606040" cy="1783080"/>
          </a:xfrm>
          <a:prstGeom prst="rect">
            <a:avLst/>
          </a:prstGeom>
          <a:solidFill>
            <a:srgbClr val="1E293B"/>
          </a:solidFill>
          <a:ln w="6350">
            <a:solidFill>
              <a:srgbClr val="334155"/>
            </a:solidFill>
            <a:prstDash val="solid"/>
          </a:ln>
        </p:spPr>
        <p:txBody>
          <a:bodyPr/>
          <a:lstStyle/>
          <a:p>
            <a:endParaRPr lang="en-US"/>
          </a:p>
        </p:txBody>
      </p:sp>
      <p:sp>
        <p:nvSpPr>
          <p:cNvPr id="26" name="Text 24"/>
          <p:cNvSpPr/>
          <p:nvPr/>
        </p:nvSpPr>
        <p:spPr>
          <a:xfrm>
            <a:off x="6318504" y="1828800"/>
            <a:ext cx="2496312" cy="1691640"/>
          </a:xfrm>
          <a:prstGeom prst="rect">
            <a:avLst/>
          </a:prstGeom>
          <a:noFill/>
          <a:ln/>
        </p:spPr>
        <p:txBody>
          <a:bodyPr wrap="square" lIns="0" tIns="0" rIns="0" bIns="0" rtlCol="0" anchor="ctr"/>
          <a:lstStyle/>
          <a:p>
            <a:pPr marL="0" indent="0">
              <a:buNone/>
            </a:pPr>
            <a:r>
              <a:rPr lang="en-US" sz="900" dirty="0">
                <a:solidFill>
                  <a:srgbClr val="7DD3FC"/>
                </a:solidFill>
                <a:latin typeface="Consolas" pitchFamily="34" charset="0"/>
                <a:ea typeface="Consolas" pitchFamily="34" charset="-122"/>
                <a:cs typeface="Consolas" pitchFamily="34" charset="-120"/>
              </a:rPr>
              <a:t># Simple linear regression</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model &lt;- lm(outcome ~ predictor,</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            data = data)</a:t>
            </a:r>
            <a:endParaRPr lang="en-US" sz="900" dirty="0"/>
          </a:p>
          <a:p>
            <a:pPr marL="0" indent="0">
              <a:buNone/>
            </a:pP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 View full output</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summary(model)</a:t>
            </a:r>
            <a:endParaRPr lang="en-US" sz="900" dirty="0"/>
          </a:p>
        </p:txBody>
      </p:sp>
      <p:sp>
        <p:nvSpPr>
          <p:cNvPr id="27" name="Shape 25"/>
          <p:cNvSpPr/>
          <p:nvPr/>
        </p:nvSpPr>
        <p:spPr>
          <a:xfrm>
            <a:off x="6263640" y="3657600"/>
            <a:ext cx="2606040" cy="256032"/>
          </a:xfrm>
          <a:prstGeom prst="rect">
            <a:avLst/>
          </a:prstGeom>
          <a:solidFill>
            <a:srgbClr val="CCFBF1"/>
          </a:solidFill>
          <a:ln w="12700">
            <a:solidFill>
              <a:srgbClr val="CCFBF1"/>
            </a:solidFill>
            <a:prstDash val="solid"/>
          </a:ln>
        </p:spPr>
        <p:txBody>
          <a:bodyPr/>
          <a:lstStyle/>
          <a:p>
            <a:endParaRPr lang="en-US"/>
          </a:p>
        </p:txBody>
      </p:sp>
      <p:sp>
        <p:nvSpPr>
          <p:cNvPr id="28" name="Text 26"/>
          <p:cNvSpPr/>
          <p:nvPr/>
        </p:nvSpPr>
        <p:spPr>
          <a:xfrm>
            <a:off x="6281928" y="3675888"/>
            <a:ext cx="2569464" cy="228600"/>
          </a:xfrm>
          <a:prstGeom prst="rect">
            <a:avLst/>
          </a:prstGeom>
          <a:noFill/>
          <a:ln/>
        </p:spPr>
        <p:txBody>
          <a:bodyPr wrap="square" lIns="0" tIns="0" rIns="0" bIns="0" rtlCol="0" anchor="ctr"/>
          <a:lstStyle/>
          <a:p>
            <a:pPr marL="0" indent="0">
              <a:buNone/>
            </a:pPr>
            <a:r>
              <a:rPr lang="en-US" sz="900" i="1" dirty="0">
                <a:solidFill>
                  <a:srgbClr val="0D9488"/>
                </a:solidFill>
                <a:latin typeface="Calibri" pitchFamily="34" charset="0"/>
                <a:ea typeface="Calibri" pitchFamily="34" charset="-122"/>
                <a:cs typeface="Calibri" pitchFamily="34" charset="-120"/>
              </a:rPr>
              <a:t>💡 lm() = linear model. Outcome ~ Predictor syntax follows R formula notation.</a:t>
            </a:r>
            <a:endParaRPr lang="en-US" sz="900" dirty="0"/>
          </a:p>
        </p:txBody>
      </p:sp>
      <p:sp>
        <p:nvSpPr>
          <p:cNvPr id="29" name="Text 27"/>
          <p:cNvSpPr/>
          <p:nvPr/>
        </p:nvSpPr>
        <p:spPr>
          <a:xfrm>
            <a:off x="228600" y="4919472"/>
            <a:ext cx="868680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pp. 211–220  |  Code adapted for R / tidyverse</a:t>
            </a:r>
            <a:endParaRPr lang="en-US" sz="900" dirty="0"/>
          </a:p>
        </p:txBody>
      </p:sp>
      <p:sp>
        <p:nvSpPr>
          <p:cNvPr id="31" name="TextBox 30">
            <a:extLst>
              <a:ext uri="{FF2B5EF4-FFF2-40B4-BE49-F238E27FC236}">
                <a16:creationId xmlns:a16="http://schemas.microsoft.com/office/drawing/2014/main" id="{5A64B852-04ED-B172-FEA2-2A786F47323D}"/>
              </a:ext>
            </a:extLst>
          </p:cNvPr>
          <p:cNvSpPr txBox="1"/>
          <p:nvPr/>
        </p:nvSpPr>
        <p:spPr>
          <a:xfrm>
            <a:off x="3608102" y="4001500"/>
            <a:ext cx="1825399" cy="646331"/>
          </a:xfrm>
          <a:prstGeom prst="rect">
            <a:avLst/>
          </a:prstGeom>
          <a:noFill/>
        </p:spPr>
        <p:txBody>
          <a:bodyPr wrap="square">
            <a:spAutoFit/>
          </a:bodyPr>
          <a:lstStyle/>
          <a:p>
            <a:pPr marL="0" indent="0">
              <a:buNone/>
            </a:pPr>
            <a:r>
              <a:rPr lang="en-US" sz="1800" b="1" dirty="0">
                <a:solidFill>
                  <a:srgbClr val="2563EB"/>
                </a:solidFill>
                <a:latin typeface="Calibri" pitchFamily="34" charset="0"/>
                <a:ea typeface="Calibri" pitchFamily="34" charset="-122"/>
                <a:cs typeface="Calibri" pitchFamily="34" charset="-120"/>
              </a:rPr>
              <a:t>Assumption 1 </a:t>
            </a:r>
          </a:p>
          <a:p>
            <a:pPr marL="0" indent="0">
              <a:buNone/>
            </a:pPr>
            <a:r>
              <a:rPr lang="en-US" sz="1800" b="1" dirty="0">
                <a:solidFill>
                  <a:srgbClr val="2563EB"/>
                </a:solidFill>
                <a:latin typeface="Calibri" pitchFamily="34" charset="0"/>
                <a:ea typeface="Calibri" pitchFamily="34" charset="-122"/>
                <a:cs typeface="Calibri" pitchFamily="34" charset="-120"/>
              </a:rPr>
              <a:t>Linearity</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p:cNvSpPr/>
          <p:nvPr/>
        </p:nvSpPr>
        <p:spPr>
          <a:xfrm>
            <a:off x="320040" y="45720"/>
            <a:ext cx="8503920" cy="59436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Interpreting the summary() Output</a:t>
            </a:r>
            <a:endParaRPr lang="en-US" sz="2200" dirty="0"/>
          </a:p>
        </p:txBody>
      </p:sp>
      <p:sp>
        <p:nvSpPr>
          <p:cNvPr id="4" name="Shape 2"/>
          <p:cNvSpPr/>
          <p:nvPr/>
        </p:nvSpPr>
        <p:spPr>
          <a:xfrm>
            <a:off x="0" y="685800"/>
            <a:ext cx="9144000" cy="64008"/>
          </a:xfrm>
          <a:prstGeom prst="rect">
            <a:avLst/>
          </a:prstGeom>
          <a:solidFill>
            <a:srgbClr val="2563EB"/>
          </a:solidFill>
          <a:ln w="12700">
            <a:solidFill>
              <a:srgbClr val="2563EB"/>
            </a:solidFill>
            <a:prstDash val="solid"/>
          </a:ln>
        </p:spPr>
        <p:txBody>
          <a:bodyPr/>
          <a:lstStyle/>
          <a:p>
            <a:endParaRPr lang="en-US"/>
          </a:p>
        </p:txBody>
      </p:sp>
      <p:sp>
        <p:nvSpPr>
          <p:cNvPr id="5" name="Shape 3"/>
          <p:cNvSpPr/>
          <p:nvPr/>
        </p:nvSpPr>
        <p:spPr>
          <a:xfrm>
            <a:off x="228600" y="914400"/>
            <a:ext cx="4114800" cy="4023360"/>
          </a:xfrm>
          <a:prstGeom prst="rect">
            <a:avLst/>
          </a:prstGeom>
          <a:solidFill>
            <a:srgbClr val="0F172A"/>
          </a:solidFill>
          <a:ln w="6350">
            <a:solidFill>
              <a:srgbClr val="334155"/>
            </a:solidFill>
            <a:prstDash val="solid"/>
          </a:ln>
          <a:effectLst>
            <a:outerShdw blurRad="101600" dist="38100" dir="8100000" algn="bl" rotWithShape="0">
              <a:srgbClr val="000000">
                <a:alpha val="10000"/>
              </a:srgbClr>
            </a:outerShdw>
          </a:effectLst>
        </p:spPr>
        <p:txBody>
          <a:bodyPr/>
          <a:lstStyle/>
          <a:p>
            <a:endParaRPr lang="en-US"/>
          </a:p>
        </p:txBody>
      </p:sp>
      <p:sp>
        <p:nvSpPr>
          <p:cNvPr id="6" name="Text 4"/>
          <p:cNvSpPr/>
          <p:nvPr/>
        </p:nvSpPr>
        <p:spPr>
          <a:xfrm>
            <a:off x="347472" y="987552"/>
            <a:ext cx="3840480" cy="274320"/>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Coefficients:</a:t>
            </a:r>
            <a:endParaRPr lang="en-US" sz="1000" dirty="0"/>
          </a:p>
        </p:txBody>
      </p:sp>
      <p:sp>
        <p:nvSpPr>
          <p:cNvPr id="7" name="Text 5"/>
          <p:cNvSpPr/>
          <p:nvPr/>
        </p:nvSpPr>
        <p:spPr>
          <a:xfrm>
            <a:off x="347472" y="1298448"/>
            <a:ext cx="3840480" cy="2651760"/>
          </a:xfrm>
          <a:prstGeom prst="rect">
            <a:avLst/>
          </a:prstGeom>
          <a:noFill/>
          <a:ln/>
        </p:spPr>
        <p:txBody>
          <a:bodyPr wrap="square" lIns="0" tIns="0" rIns="0" bIns="0" rtlCol="0" anchor="ctr"/>
          <a:lstStyle/>
          <a:p>
            <a:pPr marL="0" indent="0">
              <a:buNone/>
            </a:pPr>
            <a:r>
              <a:rPr lang="en-US" sz="850" dirty="0">
                <a:solidFill>
                  <a:srgbClr val="7DD3FC"/>
                </a:solidFill>
                <a:latin typeface="Consolas" pitchFamily="34" charset="0"/>
                <a:ea typeface="Consolas" pitchFamily="34" charset="-122"/>
                <a:cs typeface="Consolas" pitchFamily="34" charset="-120"/>
              </a:rPr>
              <a:t>            Estimate  Std.Error  t value   Pr(&gt;|t|)</a:t>
            </a:r>
            <a:endParaRPr lang="en-US" sz="850" dirty="0"/>
          </a:p>
          <a:p>
            <a:pPr marL="0" indent="0">
              <a:buNone/>
            </a:pPr>
            <a:r>
              <a:rPr lang="en-US" sz="850" dirty="0">
                <a:solidFill>
                  <a:srgbClr val="7DD3FC"/>
                </a:solidFill>
                <a:latin typeface="Consolas" pitchFamily="34" charset="0"/>
                <a:ea typeface="Consolas" pitchFamily="34" charset="-122"/>
                <a:cs typeface="Consolas" pitchFamily="34" charset="-120"/>
              </a:rPr>
              <a:t>(Intercept)  10.543     1.234     8.543    &lt;0.001 ***</a:t>
            </a:r>
            <a:endParaRPr lang="en-US" sz="850" dirty="0"/>
          </a:p>
          <a:p>
            <a:pPr marL="0" indent="0">
              <a:buNone/>
            </a:pPr>
            <a:r>
              <a:rPr lang="en-US" sz="850" dirty="0">
                <a:solidFill>
                  <a:srgbClr val="7DD3FC"/>
                </a:solidFill>
                <a:latin typeface="Consolas" pitchFamily="34" charset="0"/>
                <a:ea typeface="Consolas" pitchFamily="34" charset="-122"/>
                <a:cs typeface="Consolas" pitchFamily="34" charset="-120"/>
              </a:rPr>
              <a:t>predictor     0.621     0.087     7.138    &lt;0.001 ***</a:t>
            </a:r>
            <a:endParaRPr lang="en-US" sz="850" dirty="0"/>
          </a:p>
          <a:p>
            <a:pPr marL="0" indent="0">
              <a:buNone/>
            </a:pPr>
            <a:endParaRPr lang="en-US" sz="850" dirty="0"/>
          </a:p>
          <a:p>
            <a:pPr marL="0" indent="0">
              <a:buNone/>
            </a:pPr>
            <a:r>
              <a:rPr lang="en-US" sz="850" dirty="0">
                <a:solidFill>
                  <a:srgbClr val="7DD3FC"/>
                </a:solidFill>
                <a:latin typeface="Consolas" pitchFamily="34" charset="0"/>
                <a:ea typeface="Consolas" pitchFamily="34" charset="-122"/>
                <a:cs typeface="Consolas" pitchFamily="34" charset="-120"/>
              </a:rPr>
              <a:t>---</a:t>
            </a:r>
            <a:endParaRPr lang="en-US" sz="850" dirty="0"/>
          </a:p>
          <a:p>
            <a:pPr marL="0" indent="0">
              <a:buNone/>
            </a:pPr>
            <a:r>
              <a:rPr lang="en-US" sz="850" dirty="0">
                <a:solidFill>
                  <a:srgbClr val="7DD3FC"/>
                </a:solidFill>
                <a:latin typeface="Consolas" pitchFamily="34" charset="0"/>
                <a:ea typeface="Consolas" pitchFamily="34" charset="-122"/>
                <a:cs typeface="Consolas" pitchFamily="34" charset="-120"/>
              </a:rPr>
              <a:t>Signif. codes: 0 '***' 0.001 '**' 0.01 '*' 0.05</a:t>
            </a:r>
            <a:endParaRPr lang="en-US" sz="850" dirty="0"/>
          </a:p>
          <a:p>
            <a:pPr marL="0" indent="0">
              <a:buNone/>
            </a:pPr>
            <a:endParaRPr lang="en-US" sz="850" dirty="0"/>
          </a:p>
          <a:p>
            <a:pPr marL="0" indent="0">
              <a:buNone/>
            </a:pPr>
            <a:r>
              <a:rPr lang="en-US" sz="850" dirty="0">
                <a:solidFill>
                  <a:srgbClr val="7DD3FC"/>
                </a:solidFill>
                <a:latin typeface="Consolas" pitchFamily="34" charset="0"/>
                <a:ea typeface="Consolas" pitchFamily="34" charset="-122"/>
                <a:cs typeface="Consolas" pitchFamily="34" charset="-120"/>
              </a:rPr>
              <a:t>Residual standard error: 3.21 on 98 df</a:t>
            </a:r>
            <a:endParaRPr lang="en-US" sz="850" dirty="0"/>
          </a:p>
          <a:p>
            <a:pPr marL="0" indent="0">
              <a:buNone/>
            </a:pPr>
            <a:r>
              <a:rPr lang="en-US" sz="850" dirty="0">
                <a:solidFill>
                  <a:srgbClr val="7DD3FC"/>
                </a:solidFill>
                <a:latin typeface="Consolas" pitchFamily="34" charset="0"/>
                <a:ea typeface="Consolas" pitchFamily="34" charset="-122"/>
                <a:cs typeface="Consolas" pitchFamily="34" charset="-120"/>
              </a:rPr>
              <a:t>Multiple R-squared:  0.612</a:t>
            </a:r>
            <a:endParaRPr lang="en-US" sz="850" dirty="0"/>
          </a:p>
          <a:p>
            <a:pPr marL="0" indent="0">
              <a:buNone/>
            </a:pPr>
            <a:r>
              <a:rPr lang="en-US" sz="850" dirty="0">
                <a:solidFill>
                  <a:srgbClr val="7DD3FC"/>
                </a:solidFill>
                <a:latin typeface="Consolas" pitchFamily="34" charset="0"/>
                <a:ea typeface="Consolas" pitchFamily="34" charset="-122"/>
                <a:cs typeface="Consolas" pitchFamily="34" charset="-120"/>
              </a:rPr>
              <a:t>Adjusted R-squared:  0.608</a:t>
            </a:r>
            <a:endParaRPr lang="en-US" sz="850" dirty="0"/>
          </a:p>
          <a:p>
            <a:pPr marL="0" indent="0">
              <a:buNone/>
            </a:pPr>
            <a:r>
              <a:rPr lang="en-US" sz="850" dirty="0">
                <a:solidFill>
                  <a:srgbClr val="7DD3FC"/>
                </a:solidFill>
                <a:latin typeface="Consolas" pitchFamily="34" charset="0"/>
                <a:ea typeface="Consolas" pitchFamily="34" charset="-122"/>
                <a:cs typeface="Consolas" pitchFamily="34" charset="-120"/>
              </a:rPr>
              <a:t>F-statistic: 51.95 on 1 and 98 DF</a:t>
            </a:r>
            <a:endParaRPr lang="en-US" sz="850" dirty="0"/>
          </a:p>
          <a:p>
            <a:pPr marL="0" indent="0">
              <a:buNone/>
            </a:pPr>
            <a:r>
              <a:rPr lang="en-US" sz="850" dirty="0">
                <a:solidFill>
                  <a:srgbClr val="7DD3FC"/>
                </a:solidFill>
                <a:latin typeface="Consolas" pitchFamily="34" charset="0"/>
                <a:ea typeface="Consolas" pitchFamily="34" charset="-122"/>
                <a:cs typeface="Consolas" pitchFamily="34" charset="-120"/>
              </a:rPr>
              <a:t>p-value: &lt; 2.2e-16</a:t>
            </a:r>
            <a:endParaRPr lang="en-US" sz="850" dirty="0"/>
          </a:p>
        </p:txBody>
      </p:sp>
      <p:sp>
        <p:nvSpPr>
          <p:cNvPr id="8" name="Shape 6"/>
          <p:cNvSpPr/>
          <p:nvPr/>
        </p:nvSpPr>
        <p:spPr>
          <a:xfrm>
            <a:off x="4343400" y="1554480"/>
            <a:ext cx="457200" cy="0"/>
          </a:xfrm>
          <a:prstGeom prst="line">
            <a:avLst/>
          </a:prstGeom>
          <a:noFill/>
          <a:ln w="15240">
            <a:solidFill>
              <a:srgbClr val="F59E0B"/>
            </a:solidFill>
            <a:prstDash val="dash"/>
          </a:ln>
        </p:spPr>
        <p:txBody>
          <a:bodyPr/>
          <a:lstStyle/>
          <a:p>
            <a:endParaRPr lang="en-US"/>
          </a:p>
        </p:txBody>
      </p:sp>
      <p:sp>
        <p:nvSpPr>
          <p:cNvPr id="9" name="Shape 7"/>
          <p:cNvSpPr/>
          <p:nvPr/>
        </p:nvSpPr>
        <p:spPr>
          <a:xfrm>
            <a:off x="4800600" y="1444752"/>
            <a:ext cx="3977640" cy="50292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0" name="Shape 8"/>
          <p:cNvSpPr/>
          <p:nvPr/>
        </p:nvSpPr>
        <p:spPr>
          <a:xfrm>
            <a:off x="4800600" y="1444752"/>
            <a:ext cx="64008" cy="502920"/>
          </a:xfrm>
          <a:prstGeom prst="rect">
            <a:avLst/>
          </a:prstGeom>
          <a:solidFill>
            <a:srgbClr val="F59E0B"/>
          </a:solidFill>
          <a:ln w="12700">
            <a:solidFill>
              <a:srgbClr val="F59E0B"/>
            </a:solidFill>
            <a:prstDash val="solid"/>
          </a:ln>
        </p:spPr>
        <p:txBody>
          <a:bodyPr/>
          <a:lstStyle/>
          <a:p>
            <a:endParaRPr lang="en-US"/>
          </a:p>
        </p:txBody>
      </p:sp>
      <p:sp>
        <p:nvSpPr>
          <p:cNvPr id="11" name="Text 9"/>
          <p:cNvSpPr/>
          <p:nvPr/>
        </p:nvSpPr>
        <p:spPr>
          <a:xfrm>
            <a:off x="5010912" y="1481328"/>
            <a:ext cx="3611880" cy="210312"/>
          </a:xfrm>
          <a:prstGeom prst="rect">
            <a:avLst/>
          </a:prstGeom>
          <a:noFill/>
          <a:ln/>
        </p:spPr>
        <p:txBody>
          <a:bodyPr wrap="square" lIns="0" tIns="0" rIns="0" bIns="0" rtlCol="0" anchor="ctr"/>
          <a:lstStyle/>
          <a:p>
            <a:pPr marL="0" indent="0">
              <a:buNone/>
            </a:pPr>
            <a:r>
              <a:rPr lang="en-US" sz="1100" b="1" dirty="0">
                <a:solidFill>
                  <a:srgbClr val="F59E0B"/>
                </a:solidFill>
                <a:latin typeface="Calibri" pitchFamily="34" charset="0"/>
                <a:ea typeface="Calibri" pitchFamily="34" charset="-122"/>
                <a:cs typeface="Calibri" pitchFamily="34" charset="-120"/>
              </a:rPr>
              <a:t>Intercept (b₀)</a:t>
            </a:r>
            <a:endParaRPr lang="en-US" sz="1100" dirty="0"/>
          </a:p>
        </p:txBody>
      </p:sp>
      <p:sp>
        <p:nvSpPr>
          <p:cNvPr id="12" name="Text 10"/>
          <p:cNvSpPr/>
          <p:nvPr/>
        </p:nvSpPr>
        <p:spPr>
          <a:xfrm>
            <a:off x="5010912" y="1700784"/>
            <a:ext cx="3611880" cy="201168"/>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Predicted Y when X = 0</a:t>
            </a:r>
            <a:endParaRPr lang="en-US" sz="1000" dirty="0"/>
          </a:p>
        </p:txBody>
      </p:sp>
      <p:sp>
        <p:nvSpPr>
          <p:cNvPr id="13" name="Shape 11"/>
          <p:cNvSpPr/>
          <p:nvPr/>
        </p:nvSpPr>
        <p:spPr>
          <a:xfrm>
            <a:off x="4343400" y="2167128"/>
            <a:ext cx="457200" cy="0"/>
          </a:xfrm>
          <a:prstGeom prst="line">
            <a:avLst/>
          </a:prstGeom>
          <a:noFill/>
          <a:ln w="15240">
            <a:solidFill>
              <a:srgbClr val="16A34A"/>
            </a:solidFill>
            <a:prstDash val="dash"/>
          </a:ln>
        </p:spPr>
        <p:txBody>
          <a:bodyPr/>
          <a:lstStyle/>
          <a:p>
            <a:endParaRPr lang="en-US"/>
          </a:p>
        </p:txBody>
      </p:sp>
      <p:sp>
        <p:nvSpPr>
          <p:cNvPr id="14" name="Shape 12"/>
          <p:cNvSpPr/>
          <p:nvPr/>
        </p:nvSpPr>
        <p:spPr>
          <a:xfrm>
            <a:off x="4800600" y="2057400"/>
            <a:ext cx="3977640" cy="50292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5" name="Shape 13"/>
          <p:cNvSpPr/>
          <p:nvPr/>
        </p:nvSpPr>
        <p:spPr>
          <a:xfrm>
            <a:off x="4800600" y="2057400"/>
            <a:ext cx="64008" cy="502920"/>
          </a:xfrm>
          <a:prstGeom prst="rect">
            <a:avLst/>
          </a:prstGeom>
          <a:solidFill>
            <a:srgbClr val="16A34A"/>
          </a:solidFill>
          <a:ln w="12700">
            <a:solidFill>
              <a:srgbClr val="16A34A"/>
            </a:solidFill>
            <a:prstDash val="solid"/>
          </a:ln>
        </p:spPr>
        <p:txBody>
          <a:bodyPr/>
          <a:lstStyle/>
          <a:p>
            <a:endParaRPr lang="en-US"/>
          </a:p>
        </p:txBody>
      </p:sp>
      <p:sp>
        <p:nvSpPr>
          <p:cNvPr id="16" name="Text 14"/>
          <p:cNvSpPr/>
          <p:nvPr/>
        </p:nvSpPr>
        <p:spPr>
          <a:xfrm>
            <a:off x="5010912" y="2093976"/>
            <a:ext cx="3611880" cy="210312"/>
          </a:xfrm>
          <a:prstGeom prst="rect">
            <a:avLst/>
          </a:prstGeom>
          <a:noFill/>
          <a:ln/>
        </p:spPr>
        <p:txBody>
          <a:bodyPr wrap="square" lIns="0" tIns="0" rIns="0" bIns="0" rtlCol="0" anchor="ctr"/>
          <a:lstStyle/>
          <a:p>
            <a:pPr marL="0" indent="0">
              <a:buNone/>
            </a:pPr>
            <a:r>
              <a:rPr lang="en-US" sz="1100" b="1" dirty="0">
                <a:solidFill>
                  <a:srgbClr val="16A34A"/>
                </a:solidFill>
                <a:latin typeface="Calibri" pitchFamily="34" charset="0"/>
                <a:ea typeface="Calibri" pitchFamily="34" charset="-122"/>
                <a:cs typeface="Calibri" pitchFamily="34" charset="-120"/>
              </a:rPr>
              <a:t>Slope (b₁ = 0.621)</a:t>
            </a:r>
            <a:endParaRPr lang="en-US" sz="1100" dirty="0"/>
          </a:p>
        </p:txBody>
      </p:sp>
      <p:sp>
        <p:nvSpPr>
          <p:cNvPr id="17" name="Text 15"/>
          <p:cNvSpPr/>
          <p:nvPr/>
        </p:nvSpPr>
        <p:spPr>
          <a:xfrm>
            <a:off x="5010912" y="2313432"/>
            <a:ext cx="3611880" cy="201168"/>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For each 1-unit ↑ in X, Y increases by 0.621</a:t>
            </a:r>
            <a:endParaRPr lang="en-US" sz="1000" dirty="0"/>
          </a:p>
        </p:txBody>
      </p:sp>
      <p:sp>
        <p:nvSpPr>
          <p:cNvPr id="18" name="Shape 16"/>
          <p:cNvSpPr/>
          <p:nvPr/>
        </p:nvSpPr>
        <p:spPr>
          <a:xfrm>
            <a:off x="4343400" y="2761488"/>
            <a:ext cx="457200" cy="0"/>
          </a:xfrm>
          <a:prstGeom prst="line">
            <a:avLst/>
          </a:prstGeom>
          <a:noFill/>
          <a:ln w="15240">
            <a:solidFill>
              <a:srgbClr val="DC2626"/>
            </a:solidFill>
            <a:prstDash val="dash"/>
          </a:ln>
        </p:spPr>
        <p:txBody>
          <a:bodyPr/>
          <a:lstStyle/>
          <a:p>
            <a:endParaRPr lang="en-US"/>
          </a:p>
        </p:txBody>
      </p:sp>
      <p:sp>
        <p:nvSpPr>
          <p:cNvPr id="19" name="Shape 17"/>
          <p:cNvSpPr/>
          <p:nvPr/>
        </p:nvSpPr>
        <p:spPr>
          <a:xfrm>
            <a:off x="4800600" y="2651760"/>
            <a:ext cx="3977640" cy="50292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0" name="Shape 18"/>
          <p:cNvSpPr/>
          <p:nvPr/>
        </p:nvSpPr>
        <p:spPr>
          <a:xfrm>
            <a:off x="4800600" y="2651760"/>
            <a:ext cx="64008" cy="502920"/>
          </a:xfrm>
          <a:prstGeom prst="rect">
            <a:avLst/>
          </a:prstGeom>
          <a:solidFill>
            <a:srgbClr val="DC2626"/>
          </a:solidFill>
          <a:ln w="12700">
            <a:solidFill>
              <a:srgbClr val="DC2626"/>
            </a:solidFill>
            <a:prstDash val="solid"/>
          </a:ln>
        </p:spPr>
        <p:txBody>
          <a:bodyPr/>
          <a:lstStyle/>
          <a:p>
            <a:endParaRPr lang="en-US"/>
          </a:p>
        </p:txBody>
      </p:sp>
      <p:sp>
        <p:nvSpPr>
          <p:cNvPr id="21" name="Text 19"/>
          <p:cNvSpPr/>
          <p:nvPr/>
        </p:nvSpPr>
        <p:spPr>
          <a:xfrm>
            <a:off x="5010912" y="2688336"/>
            <a:ext cx="3611880" cy="210312"/>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p-value &lt; .001</a:t>
            </a:r>
            <a:endParaRPr lang="en-US" sz="1100" dirty="0"/>
          </a:p>
        </p:txBody>
      </p:sp>
      <p:sp>
        <p:nvSpPr>
          <p:cNvPr id="22" name="Text 20"/>
          <p:cNvSpPr/>
          <p:nvPr/>
        </p:nvSpPr>
        <p:spPr>
          <a:xfrm>
            <a:off x="5010912" y="2907792"/>
            <a:ext cx="3611880" cy="201168"/>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Predictor is statistically significant</a:t>
            </a:r>
            <a:endParaRPr lang="en-US" sz="1000" dirty="0"/>
          </a:p>
        </p:txBody>
      </p:sp>
      <p:sp>
        <p:nvSpPr>
          <p:cNvPr id="23" name="Shape 21"/>
          <p:cNvSpPr/>
          <p:nvPr/>
        </p:nvSpPr>
        <p:spPr>
          <a:xfrm>
            <a:off x="4343400" y="3355848"/>
            <a:ext cx="457200" cy="0"/>
          </a:xfrm>
          <a:prstGeom prst="line">
            <a:avLst/>
          </a:prstGeom>
          <a:noFill/>
          <a:ln w="15240">
            <a:solidFill>
              <a:srgbClr val="2563EB"/>
            </a:solidFill>
            <a:prstDash val="dash"/>
          </a:ln>
        </p:spPr>
        <p:txBody>
          <a:bodyPr/>
          <a:lstStyle/>
          <a:p>
            <a:endParaRPr lang="en-US"/>
          </a:p>
        </p:txBody>
      </p:sp>
      <p:sp>
        <p:nvSpPr>
          <p:cNvPr id="24" name="Shape 22"/>
          <p:cNvSpPr/>
          <p:nvPr/>
        </p:nvSpPr>
        <p:spPr>
          <a:xfrm>
            <a:off x="4800600" y="3246120"/>
            <a:ext cx="3977640" cy="50292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5" name="Shape 23"/>
          <p:cNvSpPr/>
          <p:nvPr/>
        </p:nvSpPr>
        <p:spPr>
          <a:xfrm>
            <a:off x="4800600" y="3246120"/>
            <a:ext cx="64008" cy="502920"/>
          </a:xfrm>
          <a:prstGeom prst="rect">
            <a:avLst/>
          </a:prstGeom>
          <a:solidFill>
            <a:srgbClr val="2563EB"/>
          </a:solidFill>
          <a:ln w="12700">
            <a:solidFill>
              <a:srgbClr val="2563EB"/>
            </a:solidFill>
            <a:prstDash val="solid"/>
          </a:ln>
        </p:spPr>
        <p:txBody>
          <a:bodyPr/>
          <a:lstStyle/>
          <a:p>
            <a:endParaRPr lang="en-US"/>
          </a:p>
        </p:txBody>
      </p:sp>
      <p:sp>
        <p:nvSpPr>
          <p:cNvPr id="26" name="Text 24"/>
          <p:cNvSpPr/>
          <p:nvPr/>
        </p:nvSpPr>
        <p:spPr>
          <a:xfrm>
            <a:off x="5010912" y="3282696"/>
            <a:ext cx="3611880" cy="210312"/>
          </a:xfrm>
          <a:prstGeom prst="rect">
            <a:avLst/>
          </a:prstGeom>
          <a:noFill/>
          <a:ln/>
        </p:spPr>
        <p:txBody>
          <a:bodyPr wrap="square" lIns="0" tIns="0" rIns="0" bIns="0" rtlCol="0" anchor="ctr"/>
          <a:lstStyle/>
          <a:p>
            <a:pPr marL="0" indent="0">
              <a:buNone/>
            </a:pPr>
            <a:r>
              <a:rPr lang="en-US" sz="1100" b="1" dirty="0">
                <a:solidFill>
                  <a:srgbClr val="2563EB"/>
                </a:solidFill>
                <a:latin typeface="Calibri" pitchFamily="34" charset="0"/>
                <a:ea typeface="Calibri" pitchFamily="34" charset="-122"/>
                <a:cs typeface="Calibri" pitchFamily="34" charset="-120"/>
              </a:rPr>
              <a:t>R² = 0.612</a:t>
            </a:r>
            <a:endParaRPr lang="en-US" sz="1100" dirty="0"/>
          </a:p>
        </p:txBody>
      </p:sp>
      <p:sp>
        <p:nvSpPr>
          <p:cNvPr id="27" name="Text 25"/>
          <p:cNvSpPr/>
          <p:nvPr/>
        </p:nvSpPr>
        <p:spPr>
          <a:xfrm>
            <a:off x="5010912" y="3502152"/>
            <a:ext cx="3611880" cy="201168"/>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Model explains 61.2% of variance in outcome</a:t>
            </a:r>
            <a:endParaRPr lang="en-US" sz="1000" dirty="0"/>
          </a:p>
        </p:txBody>
      </p:sp>
      <p:sp>
        <p:nvSpPr>
          <p:cNvPr id="28" name="Shape 26"/>
          <p:cNvSpPr/>
          <p:nvPr/>
        </p:nvSpPr>
        <p:spPr>
          <a:xfrm>
            <a:off x="4343400" y="3931920"/>
            <a:ext cx="457200" cy="0"/>
          </a:xfrm>
          <a:prstGeom prst="line">
            <a:avLst/>
          </a:prstGeom>
          <a:noFill/>
          <a:ln w="15240">
            <a:solidFill>
              <a:srgbClr val="0D9488"/>
            </a:solidFill>
            <a:prstDash val="dash"/>
          </a:ln>
        </p:spPr>
        <p:txBody>
          <a:bodyPr/>
          <a:lstStyle/>
          <a:p>
            <a:endParaRPr lang="en-US"/>
          </a:p>
        </p:txBody>
      </p:sp>
      <p:sp>
        <p:nvSpPr>
          <p:cNvPr id="29" name="Shape 27"/>
          <p:cNvSpPr/>
          <p:nvPr/>
        </p:nvSpPr>
        <p:spPr>
          <a:xfrm>
            <a:off x="4800600" y="3822192"/>
            <a:ext cx="3977640" cy="50292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30" name="Shape 28"/>
          <p:cNvSpPr/>
          <p:nvPr/>
        </p:nvSpPr>
        <p:spPr>
          <a:xfrm>
            <a:off x="4800600" y="3822192"/>
            <a:ext cx="64008" cy="502920"/>
          </a:xfrm>
          <a:prstGeom prst="rect">
            <a:avLst/>
          </a:prstGeom>
          <a:solidFill>
            <a:srgbClr val="0D9488"/>
          </a:solidFill>
          <a:ln w="12700">
            <a:solidFill>
              <a:srgbClr val="0D9488"/>
            </a:solidFill>
            <a:prstDash val="solid"/>
          </a:ln>
        </p:spPr>
        <p:txBody>
          <a:bodyPr/>
          <a:lstStyle/>
          <a:p>
            <a:endParaRPr lang="en-US"/>
          </a:p>
        </p:txBody>
      </p:sp>
      <p:sp>
        <p:nvSpPr>
          <p:cNvPr id="31" name="Text 29"/>
          <p:cNvSpPr/>
          <p:nvPr/>
        </p:nvSpPr>
        <p:spPr>
          <a:xfrm>
            <a:off x="5010912" y="3858768"/>
            <a:ext cx="3611880" cy="210312"/>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F-statistic</a:t>
            </a:r>
            <a:endParaRPr lang="en-US" sz="1100" dirty="0"/>
          </a:p>
        </p:txBody>
      </p:sp>
      <p:sp>
        <p:nvSpPr>
          <p:cNvPr id="32" name="Text 30"/>
          <p:cNvSpPr/>
          <p:nvPr/>
        </p:nvSpPr>
        <p:spPr>
          <a:xfrm>
            <a:off x="5010912" y="4078224"/>
            <a:ext cx="3611880" cy="201168"/>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Overall model is significant (p &lt; .001)</a:t>
            </a:r>
            <a:endParaRPr lang="en-US" sz="1000" dirty="0"/>
          </a:p>
        </p:txBody>
      </p:sp>
      <p:sp>
        <p:nvSpPr>
          <p:cNvPr id="33" name="Text 31"/>
          <p:cNvSpPr/>
          <p:nvPr/>
        </p:nvSpPr>
        <p:spPr>
          <a:xfrm>
            <a:off x="228600" y="4919472"/>
            <a:ext cx="868680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pp. 221–235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p:cNvSpPr/>
          <p:nvPr/>
        </p:nvSpPr>
        <p:spPr>
          <a:xfrm>
            <a:off x="320040" y="45720"/>
            <a:ext cx="8503920" cy="59436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Checking Assumptions in RStudio  (Step 4)</a:t>
            </a:r>
            <a:endParaRPr lang="en-US" sz="2200" dirty="0"/>
          </a:p>
        </p:txBody>
      </p:sp>
      <p:sp>
        <p:nvSpPr>
          <p:cNvPr id="4" name="Shape 2"/>
          <p:cNvSpPr/>
          <p:nvPr/>
        </p:nvSpPr>
        <p:spPr>
          <a:xfrm>
            <a:off x="0" y="685800"/>
            <a:ext cx="9144000" cy="64008"/>
          </a:xfrm>
          <a:prstGeom prst="rect">
            <a:avLst/>
          </a:prstGeom>
          <a:solidFill>
            <a:srgbClr val="DC2626"/>
          </a:solidFill>
          <a:ln w="12700">
            <a:solidFill>
              <a:srgbClr val="DC2626"/>
            </a:solidFill>
            <a:prstDash val="solid"/>
          </a:ln>
        </p:spPr>
        <p:txBody>
          <a:bodyPr/>
          <a:lstStyle/>
          <a:p>
            <a:endParaRPr lang="en-US"/>
          </a:p>
        </p:txBody>
      </p:sp>
      <p:sp>
        <p:nvSpPr>
          <p:cNvPr id="5" name="Shape 3"/>
          <p:cNvSpPr/>
          <p:nvPr/>
        </p:nvSpPr>
        <p:spPr>
          <a:xfrm>
            <a:off x="228600" y="914400"/>
            <a:ext cx="4114800" cy="4023360"/>
          </a:xfrm>
          <a:prstGeom prst="rect">
            <a:avLst/>
          </a:prstGeom>
          <a:solidFill>
            <a:srgbClr val="0F172A"/>
          </a:solidFill>
          <a:ln w="6350">
            <a:solidFill>
              <a:srgbClr val="334155"/>
            </a:solidFill>
            <a:prstDash val="solid"/>
          </a:ln>
          <a:effectLst>
            <a:outerShdw blurRad="101600" dist="38100" dir="8100000" algn="bl" rotWithShape="0">
              <a:srgbClr val="000000">
                <a:alpha val="10000"/>
              </a:srgbClr>
            </a:outerShdw>
          </a:effectLst>
        </p:spPr>
        <p:txBody>
          <a:bodyPr/>
          <a:lstStyle/>
          <a:p>
            <a:endParaRPr lang="en-US"/>
          </a:p>
        </p:txBody>
      </p:sp>
      <p:sp>
        <p:nvSpPr>
          <p:cNvPr id="6" name="Text 4"/>
          <p:cNvSpPr/>
          <p:nvPr/>
        </p:nvSpPr>
        <p:spPr>
          <a:xfrm>
            <a:off x="347472" y="987552"/>
            <a:ext cx="3840480" cy="3840480"/>
          </a:xfrm>
          <a:prstGeom prst="rect">
            <a:avLst/>
          </a:prstGeom>
          <a:noFill/>
          <a:ln/>
        </p:spPr>
        <p:txBody>
          <a:bodyPr wrap="square" lIns="0" tIns="0" rIns="0" bIns="0" rtlCol="0" anchor="ctr"/>
          <a:lstStyle/>
          <a:p>
            <a:r>
              <a:rPr lang="en-US" sz="900" dirty="0">
                <a:solidFill>
                  <a:srgbClr val="7DD3FC"/>
                </a:solidFill>
                <a:latin typeface="Consolas" pitchFamily="34" charset="0"/>
                <a:ea typeface="Consolas" pitchFamily="34" charset="-122"/>
                <a:cs typeface="Consolas" pitchFamily="34" charset="-120"/>
              </a:rPr>
              <a:t># ── Dubin </a:t>
            </a:r>
            <a:r>
              <a:rPr lang="en-US" sz="900" dirty="0" err="1">
                <a:solidFill>
                  <a:srgbClr val="7DD3FC"/>
                </a:solidFill>
                <a:latin typeface="Consolas" pitchFamily="34" charset="0"/>
                <a:ea typeface="Consolas" pitchFamily="34" charset="-122"/>
                <a:cs typeface="Consolas" pitchFamily="34" charset="-120"/>
              </a:rPr>
              <a:t>watson</a:t>
            </a:r>
            <a:r>
              <a:rPr lang="en-US" sz="900" dirty="0">
                <a:solidFill>
                  <a:srgbClr val="7DD3FC"/>
                </a:solidFill>
                <a:latin typeface="Consolas" pitchFamily="34" charset="0"/>
                <a:ea typeface="Consolas" pitchFamily="34" charset="-122"/>
                <a:cs typeface="Consolas" pitchFamily="34" charset="-120"/>
              </a:rPr>
              <a:t> test ──────────────────</a:t>
            </a:r>
            <a:endParaRPr lang="en-US" sz="900" dirty="0"/>
          </a:p>
          <a:p>
            <a:r>
              <a:rPr lang="en-US" sz="900" dirty="0" err="1">
                <a:solidFill>
                  <a:srgbClr val="7DD3FC"/>
                </a:solidFill>
                <a:latin typeface="Consolas" pitchFamily="34" charset="0"/>
                <a:ea typeface="Consolas" pitchFamily="34" charset="-122"/>
                <a:cs typeface="Consolas" pitchFamily="34" charset="-120"/>
              </a:rPr>
              <a:t>dwtest</a:t>
            </a:r>
            <a:r>
              <a:rPr lang="en-US" sz="900" dirty="0">
                <a:solidFill>
                  <a:srgbClr val="7DD3FC"/>
                </a:solidFill>
                <a:latin typeface="Consolas" pitchFamily="34" charset="0"/>
                <a:ea typeface="Consolas" pitchFamily="34" charset="-122"/>
                <a:cs typeface="Consolas" pitchFamily="34" charset="-120"/>
              </a:rPr>
              <a:t>(model)</a:t>
            </a:r>
            <a:endParaRPr lang="en-US" sz="900" dirty="0"/>
          </a:p>
          <a:p>
            <a:pPr marL="0" indent="0">
              <a:buNone/>
            </a:pPr>
            <a:endParaRPr lang="en-US" sz="900" dirty="0">
              <a:solidFill>
                <a:srgbClr val="7DD3FC"/>
              </a:solidFill>
              <a:latin typeface="Consolas" pitchFamily="34" charset="0"/>
              <a:ea typeface="Consolas" pitchFamily="34" charset="-122"/>
              <a:cs typeface="Consolas" pitchFamily="34" charset="-120"/>
            </a:endParaRPr>
          </a:p>
          <a:p>
            <a:pPr marL="0" indent="0">
              <a:buNone/>
            </a:pPr>
            <a:r>
              <a:rPr lang="en-US" sz="900" dirty="0">
                <a:solidFill>
                  <a:srgbClr val="7DD3FC"/>
                </a:solidFill>
                <a:latin typeface="Consolas" pitchFamily="34" charset="0"/>
                <a:ea typeface="Consolas" pitchFamily="34" charset="-122"/>
                <a:cs typeface="Consolas" pitchFamily="34" charset="-120"/>
              </a:rPr>
              <a:t># ── Diagnostic Plots ──────────────────</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 Base R: 4 plots in one window</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par(mfrow = c(2,2))</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plot(model)</a:t>
            </a:r>
            <a:endParaRPr lang="en-US" sz="900" dirty="0"/>
          </a:p>
          <a:p>
            <a:pPr marL="0" indent="0">
              <a:buNone/>
            </a:pPr>
            <a:endParaRPr lang="en-US" sz="900" dirty="0"/>
          </a:p>
          <a:p>
            <a:r>
              <a:rPr lang="en-US" sz="900" dirty="0">
                <a:solidFill>
                  <a:srgbClr val="7DD3FC"/>
                </a:solidFill>
                <a:latin typeface="Consolas" pitchFamily="34" charset="0"/>
                <a:ea typeface="Consolas" pitchFamily="34" charset="-122"/>
                <a:cs typeface="Consolas" pitchFamily="34" charset="-120"/>
              </a:rPr>
              <a:t># ── Homoscedasticity ───────────────────</a:t>
            </a:r>
            <a:endParaRPr lang="en-US" sz="900" dirty="0"/>
          </a:p>
          <a:p>
            <a:r>
              <a:rPr lang="en-US" sz="900" dirty="0">
                <a:solidFill>
                  <a:srgbClr val="7DD3FC"/>
                </a:solidFill>
                <a:latin typeface="Consolas" pitchFamily="34" charset="0"/>
                <a:ea typeface="Consolas" pitchFamily="34" charset="-122"/>
                <a:cs typeface="Consolas" pitchFamily="34" charset="-120"/>
              </a:rPr>
              <a:t>library(</a:t>
            </a:r>
            <a:r>
              <a:rPr lang="en-US" sz="900" dirty="0" err="1">
                <a:solidFill>
                  <a:srgbClr val="7DD3FC"/>
                </a:solidFill>
                <a:latin typeface="Consolas" pitchFamily="34" charset="0"/>
                <a:ea typeface="Consolas" pitchFamily="34" charset="-122"/>
                <a:cs typeface="Consolas" pitchFamily="34" charset="-120"/>
              </a:rPr>
              <a:t>lmtest</a:t>
            </a:r>
            <a:r>
              <a:rPr lang="en-US" sz="900" dirty="0">
                <a:solidFill>
                  <a:srgbClr val="7DD3FC"/>
                </a:solidFill>
                <a:latin typeface="Consolas" pitchFamily="34" charset="0"/>
                <a:ea typeface="Consolas" pitchFamily="34" charset="-122"/>
                <a:cs typeface="Consolas" pitchFamily="34" charset="-120"/>
              </a:rPr>
              <a:t>)</a:t>
            </a:r>
            <a:endParaRPr lang="en-US" sz="900" dirty="0"/>
          </a:p>
          <a:p>
            <a:r>
              <a:rPr lang="en-US" sz="900" dirty="0" err="1">
                <a:solidFill>
                  <a:srgbClr val="7DD3FC"/>
                </a:solidFill>
                <a:latin typeface="Consolas" pitchFamily="34" charset="0"/>
                <a:ea typeface="Consolas" pitchFamily="34" charset="-122"/>
                <a:cs typeface="Consolas" pitchFamily="34" charset="-120"/>
              </a:rPr>
              <a:t>bptest</a:t>
            </a:r>
            <a:r>
              <a:rPr lang="en-US" sz="900" dirty="0">
                <a:solidFill>
                  <a:srgbClr val="7DD3FC"/>
                </a:solidFill>
                <a:latin typeface="Consolas" pitchFamily="34" charset="0"/>
                <a:ea typeface="Consolas" pitchFamily="34" charset="-122"/>
                <a:cs typeface="Consolas" pitchFamily="34" charset="-120"/>
              </a:rPr>
              <a:t>(model)  # Breusch-Pagan test</a:t>
            </a:r>
            <a:endParaRPr lang="en-US" sz="900" dirty="0"/>
          </a:p>
          <a:p>
            <a:pPr marL="0" indent="0">
              <a:buNone/>
            </a:pPr>
            <a:endParaRPr lang="en-US" sz="900" dirty="0">
              <a:solidFill>
                <a:srgbClr val="7DD3FC"/>
              </a:solidFill>
              <a:latin typeface="Consolas" pitchFamily="34" charset="0"/>
              <a:ea typeface="Consolas" pitchFamily="34" charset="-122"/>
              <a:cs typeface="Consolas" pitchFamily="34" charset="-120"/>
            </a:endParaRPr>
          </a:p>
          <a:p>
            <a:pPr marL="0" indent="0">
              <a:buNone/>
            </a:pPr>
            <a:r>
              <a:rPr lang="en-US" sz="900" dirty="0">
                <a:solidFill>
                  <a:srgbClr val="7DD3FC"/>
                </a:solidFill>
                <a:latin typeface="Consolas" pitchFamily="34" charset="0"/>
                <a:ea typeface="Consolas" pitchFamily="34" charset="-122"/>
                <a:cs typeface="Consolas" pitchFamily="34" charset="-120"/>
              </a:rPr>
              <a:t># ── Normality of Residuals ─────────────</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shapiro.test(residuals(model))</a:t>
            </a:r>
            <a:endParaRPr lang="en-US" sz="900" dirty="0"/>
          </a:p>
          <a:p>
            <a:pPr marL="0" indent="0">
              <a:buNone/>
            </a:pP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 ── Multicollinearity (if multiple X) ──</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library(car)</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vif(model)       # VIF &lt; 10 = acceptable</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tolerance &lt;- 1/vif(model)  # &gt; 0.1</a:t>
            </a:r>
            <a:endParaRPr lang="en-US" sz="900" dirty="0"/>
          </a:p>
          <a:p>
            <a:pPr marL="0" indent="0">
              <a:buNone/>
            </a:pP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 ── Influential Cases ──────────────────</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cooksD &lt;- cooks.distance(model)</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plot(cooksD, type="h")</a:t>
            </a:r>
            <a:endParaRPr lang="en-US" sz="900" dirty="0"/>
          </a:p>
          <a:p>
            <a:pPr marL="0" indent="0">
              <a:buNone/>
            </a:pPr>
            <a:r>
              <a:rPr lang="en-US" sz="900" dirty="0">
                <a:solidFill>
                  <a:srgbClr val="7DD3FC"/>
                </a:solidFill>
                <a:latin typeface="Consolas" pitchFamily="34" charset="0"/>
                <a:ea typeface="Consolas" pitchFamily="34" charset="-122"/>
                <a:cs typeface="Consolas" pitchFamily="34" charset="-120"/>
              </a:rPr>
              <a:t>abline(h = 1, col="red", lty=2)</a:t>
            </a:r>
          </a:p>
          <a:p>
            <a:pPr marL="0" indent="0">
              <a:buNone/>
            </a:pPr>
            <a:endParaRPr lang="en-US" sz="900" dirty="0">
              <a:solidFill>
                <a:srgbClr val="7DD3FC"/>
              </a:solidFill>
              <a:latin typeface="Consolas" pitchFamily="34" charset="0"/>
              <a:cs typeface="Consolas" pitchFamily="34" charset="-120"/>
            </a:endParaRPr>
          </a:p>
        </p:txBody>
      </p:sp>
      <p:sp>
        <p:nvSpPr>
          <p:cNvPr id="7" name="Text 5"/>
          <p:cNvSpPr/>
          <p:nvPr/>
        </p:nvSpPr>
        <p:spPr>
          <a:xfrm>
            <a:off x="644652" y="685800"/>
            <a:ext cx="4206240" cy="32004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What to Look For:</a:t>
            </a:r>
            <a:endParaRPr lang="en-US" sz="1300" dirty="0"/>
          </a:p>
        </p:txBody>
      </p:sp>
      <p:sp>
        <p:nvSpPr>
          <p:cNvPr id="8" name="Shape 6"/>
          <p:cNvSpPr/>
          <p:nvPr/>
        </p:nvSpPr>
        <p:spPr>
          <a:xfrm>
            <a:off x="4617720" y="1325880"/>
            <a:ext cx="4251960" cy="62179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Shape 7"/>
          <p:cNvSpPr/>
          <p:nvPr/>
        </p:nvSpPr>
        <p:spPr>
          <a:xfrm>
            <a:off x="4617720" y="1325880"/>
            <a:ext cx="64008" cy="621792"/>
          </a:xfrm>
          <a:prstGeom prst="rect">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4800600" y="1353312"/>
            <a:ext cx="3931920" cy="228600"/>
          </a:xfrm>
          <a:prstGeom prst="rect">
            <a:avLst/>
          </a:prstGeom>
          <a:noFill/>
          <a:ln/>
        </p:spPr>
        <p:txBody>
          <a:bodyPr wrap="square" lIns="0" tIns="0" rIns="0" bIns="0" rtlCol="0" anchor="ctr"/>
          <a:lstStyle/>
          <a:p>
            <a:pPr marL="0" indent="0">
              <a:buNone/>
            </a:pPr>
            <a:r>
              <a:rPr lang="en-US" sz="1100" b="1" dirty="0">
                <a:solidFill>
                  <a:srgbClr val="2563EB"/>
                </a:solidFill>
                <a:latin typeface="Calibri" pitchFamily="34" charset="0"/>
                <a:ea typeface="Calibri" pitchFamily="34" charset="-122"/>
                <a:cs typeface="Calibri" pitchFamily="34" charset="-120"/>
              </a:rPr>
              <a:t>Residuals vs Fitted</a:t>
            </a:r>
            <a:endParaRPr lang="en-US" sz="1100" dirty="0"/>
          </a:p>
        </p:txBody>
      </p:sp>
      <p:sp>
        <p:nvSpPr>
          <p:cNvPr id="11" name="Text 9"/>
          <p:cNvSpPr/>
          <p:nvPr/>
        </p:nvSpPr>
        <p:spPr>
          <a:xfrm>
            <a:off x="4800600" y="1581912"/>
            <a:ext cx="3931920" cy="32004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Random scatter around zero → linearity &amp; homoscedasticity OK (Assumption 3)</a:t>
            </a:r>
            <a:endParaRPr lang="en-US" sz="1000" dirty="0"/>
          </a:p>
        </p:txBody>
      </p:sp>
      <p:sp>
        <p:nvSpPr>
          <p:cNvPr id="12" name="Shape 10"/>
          <p:cNvSpPr/>
          <p:nvPr/>
        </p:nvSpPr>
        <p:spPr>
          <a:xfrm>
            <a:off x="4617720" y="2039112"/>
            <a:ext cx="4251960" cy="62179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3" name="Shape 11"/>
          <p:cNvSpPr/>
          <p:nvPr/>
        </p:nvSpPr>
        <p:spPr>
          <a:xfrm>
            <a:off x="4617720" y="2039112"/>
            <a:ext cx="64008" cy="621792"/>
          </a:xfrm>
          <a:prstGeom prst="rect">
            <a:avLst/>
          </a:prstGeom>
          <a:solidFill>
            <a:srgbClr val="16A34A"/>
          </a:solidFill>
          <a:ln w="12700">
            <a:solidFill>
              <a:srgbClr val="16A34A"/>
            </a:solidFill>
            <a:prstDash val="solid"/>
          </a:ln>
        </p:spPr>
        <p:txBody>
          <a:bodyPr/>
          <a:lstStyle/>
          <a:p>
            <a:endParaRPr lang="en-US"/>
          </a:p>
        </p:txBody>
      </p:sp>
      <p:sp>
        <p:nvSpPr>
          <p:cNvPr id="16" name="Shape 14"/>
          <p:cNvSpPr/>
          <p:nvPr/>
        </p:nvSpPr>
        <p:spPr>
          <a:xfrm>
            <a:off x="4617720" y="2752344"/>
            <a:ext cx="4251960" cy="62179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7" name="Shape 15"/>
          <p:cNvSpPr/>
          <p:nvPr/>
        </p:nvSpPr>
        <p:spPr>
          <a:xfrm>
            <a:off x="4617720" y="2752344"/>
            <a:ext cx="64008" cy="621792"/>
          </a:xfrm>
          <a:prstGeom prst="rect">
            <a:avLst/>
          </a:prstGeom>
          <a:solidFill>
            <a:srgbClr val="F59E0B"/>
          </a:solidFill>
          <a:ln w="12700">
            <a:solidFill>
              <a:srgbClr val="F59E0B"/>
            </a:solidFill>
            <a:prstDash val="solid"/>
          </a:ln>
        </p:spPr>
        <p:txBody>
          <a:bodyPr/>
          <a:lstStyle/>
          <a:p>
            <a:endParaRPr lang="en-US"/>
          </a:p>
        </p:txBody>
      </p:sp>
      <p:sp>
        <p:nvSpPr>
          <p:cNvPr id="18" name="Text 16"/>
          <p:cNvSpPr/>
          <p:nvPr/>
        </p:nvSpPr>
        <p:spPr>
          <a:xfrm>
            <a:off x="4752991" y="2061972"/>
            <a:ext cx="3931920" cy="228600"/>
          </a:xfrm>
          <a:prstGeom prst="rect">
            <a:avLst/>
          </a:prstGeom>
          <a:noFill/>
          <a:ln/>
        </p:spPr>
        <p:txBody>
          <a:bodyPr wrap="square" lIns="0" tIns="0" rIns="0" bIns="0" rtlCol="0" anchor="ctr"/>
          <a:lstStyle/>
          <a:p>
            <a:pPr marL="0" indent="0">
              <a:buNone/>
            </a:pPr>
            <a:r>
              <a:rPr lang="en-US" sz="1100" b="1" dirty="0">
                <a:solidFill>
                  <a:srgbClr val="F59E0B"/>
                </a:solidFill>
                <a:latin typeface="Calibri" pitchFamily="34" charset="0"/>
                <a:ea typeface="Calibri" pitchFamily="34" charset="-122"/>
                <a:cs typeface="Calibri" pitchFamily="34" charset="-120"/>
              </a:rPr>
              <a:t>Scale-Location</a:t>
            </a:r>
            <a:endParaRPr lang="en-US" sz="1100" dirty="0"/>
          </a:p>
        </p:txBody>
      </p:sp>
      <p:sp>
        <p:nvSpPr>
          <p:cNvPr id="19" name="Text 17"/>
          <p:cNvSpPr/>
          <p:nvPr/>
        </p:nvSpPr>
        <p:spPr>
          <a:xfrm>
            <a:off x="4752991" y="2290572"/>
            <a:ext cx="3931920" cy="32004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Horizontal band → constant variance (homoscedasticity)</a:t>
            </a:r>
          </a:p>
          <a:p>
            <a:pPr marL="0" indent="0">
              <a:buNone/>
            </a:pPr>
            <a:r>
              <a:rPr lang="en-US" sz="1000" dirty="0">
                <a:solidFill>
                  <a:srgbClr val="475569"/>
                </a:solidFill>
                <a:latin typeface="Calibri" pitchFamily="34" charset="0"/>
                <a:cs typeface="Calibri" pitchFamily="34" charset="-120"/>
              </a:rPr>
              <a:t>(Assumption 3) p value should be not significant</a:t>
            </a:r>
            <a:endParaRPr lang="en-US" sz="1000" dirty="0"/>
          </a:p>
        </p:txBody>
      </p:sp>
      <p:sp>
        <p:nvSpPr>
          <p:cNvPr id="20" name="Shape 18"/>
          <p:cNvSpPr/>
          <p:nvPr/>
        </p:nvSpPr>
        <p:spPr>
          <a:xfrm>
            <a:off x="4640580" y="3465576"/>
            <a:ext cx="4251960" cy="62179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1" name="Shape 19"/>
          <p:cNvSpPr/>
          <p:nvPr/>
        </p:nvSpPr>
        <p:spPr>
          <a:xfrm>
            <a:off x="4617720" y="3465576"/>
            <a:ext cx="64008" cy="621792"/>
          </a:xfrm>
          <a:prstGeom prst="rect">
            <a:avLst/>
          </a:prstGeom>
          <a:solidFill>
            <a:srgbClr val="DC2626"/>
          </a:solidFill>
          <a:ln w="12700">
            <a:solidFill>
              <a:srgbClr val="DC2626"/>
            </a:solidFill>
            <a:prstDash val="solid"/>
          </a:ln>
        </p:spPr>
        <p:txBody>
          <a:bodyPr/>
          <a:lstStyle/>
          <a:p>
            <a:endParaRPr lang="en-US"/>
          </a:p>
        </p:txBody>
      </p:sp>
      <p:sp>
        <p:nvSpPr>
          <p:cNvPr id="24" name="Shape 22"/>
          <p:cNvSpPr/>
          <p:nvPr/>
        </p:nvSpPr>
        <p:spPr>
          <a:xfrm>
            <a:off x="4617720" y="4178808"/>
            <a:ext cx="4251960" cy="62179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5" name="Shape 23"/>
          <p:cNvSpPr/>
          <p:nvPr/>
        </p:nvSpPr>
        <p:spPr>
          <a:xfrm>
            <a:off x="4617720" y="4178808"/>
            <a:ext cx="64008" cy="621792"/>
          </a:xfrm>
          <a:prstGeom prst="rect">
            <a:avLst/>
          </a:prstGeom>
          <a:solidFill>
            <a:srgbClr val="0D9488"/>
          </a:solidFill>
          <a:ln w="12700">
            <a:solidFill>
              <a:srgbClr val="0D9488"/>
            </a:solidFill>
            <a:prstDash val="solid"/>
          </a:ln>
        </p:spPr>
        <p:txBody>
          <a:bodyPr/>
          <a:lstStyle/>
          <a:p>
            <a:endParaRPr lang="en-US"/>
          </a:p>
        </p:txBody>
      </p:sp>
      <p:sp>
        <p:nvSpPr>
          <p:cNvPr id="26" name="Text 24"/>
          <p:cNvSpPr/>
          <p:nvPr/>
        </p:nvSpPr>
        <p:spPr>
          <a:xfrm>
            <a:off x="4800600" y="3497580"/>
            <a:ext cx="393192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VIF / Tolerance</a:t>
            </a:r>
            <a:endParaRPr lang="en-US" sz="1100" dirty="0"/>
          </a:p>
        </p:txBody>
      </p:sp>
      <p:sp>
        <p:nvSpPr>
          <p:cNvPr id="27" name="Text 25"/>
          <p:cNvSpPr/>
          <p:nvPr/>
        </p:nvSpPr>
        <p:spPr>
          <a:xfrm>
            <a:off x="4777740" y="3739896"/>
            <a:ext cx="3931920" cy="32004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VIF &lt; 10 and Tolerance &gt; 0.1 → no multicollinearity (Assumption 5)</a:t>
            </a:r>
            <a:endParaRPr lang="en-US" sz="1000" dirty="0"/>
          </a:p>
        </p:txBody>
      </p:sp>
      <p:sp>
        <p:nvSpPr>
          <p:cNvPr id="28" name="Text 26"/>
          <p:cNvSpPr/>
          <p:nvPr/>
        </p:nvSpPr>
        <p:spPr>
          <a:xfrm>
            <a:off x="228600" y="4919472"/>
            <a:ext cx="868680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pp. 236–255  |  car package by Fox &amp; Weisberg (2019)</a:t>
            </a:r>
            <a:endParaRPr lang="en-US" sz="900" dirty="0"/>
          </a:p>
        </p:txBody>
      </p:sp>
      <p:sp>
        <p:nvSpPr>
          <p:cNvPr id="22" name="Text 20"/>
          <p:cNvSpPr/>
          <p:nvPr/>
        </p:nvSpPr>
        <p:spPr>
          <a:xfrm>
            <a:off x="4754880" y="4202084"/>
            <a:ext cx="3931920" cy="22860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Cook's Distance</a:t>
            </a:r>
            <a:endParaRPr lang="en-US" sz="1100" dirty="0"/>
          </a:p>
        </p:txBody>
      </p:sp>
      <p:sp>
        <p:nvSpPr>
          <p:cNvPr id="23" name="Text 21"/>
          <p:cNvSpPr/>
          <p:nvPr/>
        </p:nvSpPr>
        <p:spPr>
          <a:xfrm>
            <a:off x="4752991" y="4390406"/>
            <a:ext cx="3931920" cy="32004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No points above 1 → no unduly influential cases (Assumption 6)</a:t>
            </a:r>
            <a:endParaRPr lang="en-US" sz="1000" dirty="0"/>
          </a:p>
        </p:txBody>
      </p:sp>
      <p:sp>
        <p:nvSpPr>
          <p:cNvPr id="29" name="Shape 6">
            <a:extLst>
              <a:ext uri="{FF2B5EF4-FFF2-40B4-BE49-F238E27FC236}">
                <a16:creationId xmlns:a16="http://schemas.microsoft.com/office/drawing/2014/main" id="{68FB490D-8F11-9FDB-40D0-A1442959B6F1}"/>
              </a:ext>
            </a:extLst>
          </p:cNvPr>
          <p:cNvSpPr/>
          <p:nvPr/>
        </p:nvSpPr>
        <p:spPr>
          <a:xfrm>
            <a:off x="4617720" y="777240"/>
            <a:ext cx="4251960" cy="50749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30" name="Shape 7">
            <a:extLst>
              <a:ext uri="{FF2B5EF4-FFF2-40B4-BE49-F238E27FC236}">
                <a16:creationId xmlns:a16="http://schemas.microsoft.com/office/drawing/2014/main" id="{2B8AB58B-D2AB-2ED6-74D2-D6F1C0383E29}"/>
              </a:ext>
            </a:extLst>
          </p:cNvPr>
          <p:cNvSpPr/>
          <p:nvPr/>
        </p:nvSpPr>
        <p:spPr>
          <a:xfrm>
            <a:off x="4649724" y="775597"/>
            <a:ext cx="50292" cy="501634"/>
          </a:xfrm>
          <a:prstGeom prst="rect">
            <a:avLst/>
          </a:prstGeom>
          <a:solidFill>
            <a:srgbClr val="2563EB"/>
          </a:solidFill>
          <a:ln w="12700">
            <a:solidFill>
              <a:srgbClr val="2563EB"/>
            </a:solidFill>
            <a:prstDash val="solid"/>
          </a:ln>
        </p:spPr>
        <p:txBody>
          <a:bodyPr/>
          <a:lstStyle/>
          <a:p>
            <a:endParaRPr lang="en-US"/>
          </a:p>
        </p:txBody>
      </p:sp>
      <p:sp>
        <p:nvSpPr>
          <p:cNvPr id="31" name="Text 8">
            <a:extLst>
              <a:ext uri="{FF2B5EF4-FFF2-40B4-BE49-F238E27FC236}">
                <a16:creationId xmlns:a16="http://schemas.microsoft.com/office/drawing/2014/main" id="{B994409D-3BA6-D097-583A-D8385C74EB74}"/>
              </a:ext>
            </a:extLst>
          </p:cNvPr>
          <p:cNvSpPr/>
          <p:nvPr/>
        </p:nvSpPr>
        <p:spPr>
          <a:xfrm>
            <a:off x="4741164" y="736092"/>
            <a:ext cx="3931920" cy="228600"/>
          </a:xfrm>
          <a:prstGeom prst="rect">
            <a:avLst/>
          </a:prstGeom>
          <a:noFill/>
          <a:ln/>
        </p:spPr>
        <p:txBody>
          <a:bodyPr wrap="square" lIns="0" tIns="0" rIns="0" bIns="0" rtlCol="0" anchor="ctr"/>
          <a:lstStyle/>
          <a:p>
            <a:pPr marL="0" indent="0">
              <a:buNone/>
            </a:pPr>
            <a:r>
              <a:rPr lang="en-US" sz="1100" b="1" dirty="0">
                <a:solidFill>
                  <a:srgbClr val="2563EB"/>
                </a:solidFill>
                <a:latin typeface="Calibri" pitchFamily="34" charset="0"/>
                <a:ea typeface="Calibri" pitchFamily="34" charset="-122"/>
                <a:cs typeface="Calibri" pitchFamily="34" charset="-120"/>
              </a:rPr>
              <a:t>Independence</a:t>
            </a:r>
            <a:endParaRPr lang="en-US" sz="1100" dirty="0"/>
          </a:p>
        </p:txBody>
      </p:sp>
      <p:sp>
        <p:nvSpPr>
          <p:cNvPr id="32" name="Text 9">
            <a:extLst>
              <a:ext uri="{FF2B5EF4-FFF2-40B4-BE49-F238E27FC236}">
                <a16:creationId xmlns:a16="http://schemas.microsoft.com/office/drawing/2014/main" id="{C97EE7A3-BBC4-7F39-B968-462A3CF6EA06}"/>
              </a:ext>
            </a:extLst>
          </p:cNvPr>
          <p:cNvSpPr/>
          <p:nvPr/>
        </p:nvSpPr>
        <p:spPr>
          <a:xfrm>
            <a:off x="4782312" y="927473"/>
            <a:ext cx="3931920" cy="32004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Dubin Watson test – p value not significant and value ~ 2 (Assumption 2)</a:t>
            </a:r>
            <a:endParaRPr lang="en-US" sz="1000" dirty="0"/>
          </a:p>
        </p:txBody>
      </p:sp>
      <p:sp>
        <p:nvSpPr>
          <p:cNvPr id="14" name="Text 12"/>
          <p:cNvSpPr/>
          <p:nvPr/>
        </p:nvSpPr>
        <p:spPr>
          <a:xfrm>
            <a:off x="4741164" y="2753308"/>
            <a:ext cx="3931920" cy="228600"/>
          </a:xfrm>
          <a:prstGeom prst="rect">
            <a:avLst/>
          </a:prstGeom>
          <a:noFill/>
          <a:ln/>
        </p:spPr>
        <p:txBody>
          <a:bodyPr wrap="square" lIns="0" tIns="0" rIns="0" bIns="0" rtlCol="0" anchor="ctr"/>
          <a:lstStyle/>
          <a:p>
            <a:pPr marL="0" indent="0">
              <a:buNone/>
            </a:pPr>
            <a:r>
              <a:rPr lang="en-US" sz="1100" b="1" dirty="0">
                <a:solidFill>
                  <a:srgbClr val="16A34A"/>
                </a:solidFill>
                <a:latin typeface="Calibri" pitchFamily="34" charset="0"/>
                <a:ea typeface="Calibri" pitchFamily="34" charset="-122"/>
                <a:cs typeface="Calibri" pitchFamily="34" charset="-120"/>
              </a:rPr>
              <a:t>Normal Q-Q Plot</a:t>
            </a:r>
            <a:endParaRPr lang="en-US" sz="1100" dirty="0"/>
          </a:p>
        </p:txBody>
      </p:sp>
      <p:sp>
        <p:nvSpPr>
          <p:cNvPr id="15" name="Text 13"/>
          <p:cNvSpPr/>
          <p:nvPr/>
        </p:nvSpPr>
        <p:spPr>
          <a:xfrm>
            <a:off x="4718304" y="3027628"/>
            <a:ext cx="3931920" cy="32004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Points on diagonal line → residuals are normally distributed</a:t>
            </a:r>
          </a:p>
          <a:p>
            <a:pPr marL="0" indent="0">
              <a:buNone/>
            </a:pPr>
            <a:r>
              <a:rPr lang="en-US" sz="1000" dirty="0">
                <a:solidFill>
                  <a:srgbClr val="475569"/>
                </a:solidFill>
                <a:latin typeface="Calibri" pitchFamily="34" charset="0"/>
                <a:ea typeface="Calibri" pitchFamily="34" charset="-122"/>
                <a:cs typeface="Calibri" pitchFamily="34" charset="-120"/>
              </a:rPr>
              <a:t> (Assumption 4)</a:t>
            </a:r>
          </a:p>
          <a:p>
            <a:pPr marL="0" indent="0">
              <a:buNone/>
            </a:pP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07878-4967-1555-E908-5621252F12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52B9E74-8B9F-4209-77FB-909E55288279}"/>
              </a:ext>
            </a:extLst>
          </p:cNvPr>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a:extLst>
              <a:ext uri="{FF2B5EF4-FFF2-40B4-BE49-F238E27FC236}">
                <a16:creationId xmlns:a16="http://schemas.microsoft.com/office/drawing/2014/main" id="{001FFACB-1EEB-8038-28AE-4849A1059ADC}"/>
              </a:ext>
            </a:extLst>
          </p:cNvPr>
          <p:cNvSpPr/>
          <p:nvPr/>
        </p:nvSpPr>
        <p:spPr>
          <a:xfrm>
            <a:off x="320040" y="45720"/>
            <a:ext cx="8503920" cy="59436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VIOLATION 1 LINEARITY </a:t>
            </a:r>
            <a:endParaRPr lang="en-US" sz="2200" dirty="0"/>
          </a:p>
        </p:txBody>
      </p:sp>
      <p:sp>
        <p:nvSpPr>
          <p:cNvPr id="4" name="Shape 2">
            <a:extLst>
              <a:ext uri="{FF2B5EF4-FFF2-40B4-BE49-F238E27FC236}">
                <a16:creationId xmlns:a16="http://schemas.microsoft.com/office/drawing/2014/main" id="{99783F0A-8168-6BF0-884D-71BDF498A53C}"/>
              </a:ext>
            </a:extLst>
          </p:cNvPr>
          <p:cNvSpPr/>
          <p:nvPr/>
        </p:nvSpPr>
        <p:spPr>
          <a:xfrm>
            <a:off x="0" y="685800"/>
            <a:ext cx="9144000" cy="64008"/>
          </a:xfrm>
          <a:prstGeom prst="rect">
            <a:avLst/>
          </a:prstGeom>
          <a:solidFill>
            <a:srgbClr val="F59E0B"/>
          </a:solidFill>
          <a:ln w="12700">
            <a:solidFill>
              <a:srgbClr val="F59E0B"/>
            </a:solidFill>
            <a:prstDash val="solid"/>
          </a:ln>
        </p:spPr>
        <p:txBody>
          <a:bodyPr/>
          <a:lstStyle/>
          <a:p>
            <a:endParaRPr lang="en-US"/>
          </a:p>
        </p:txBody>
      </p:sp>
      <p:sp>
        <p:nvSpPr>
          <p:cNvPr id="5" name="Shape 3">
            <a:extLst>
              <a:ext uri="{FF2B5EF4-FFF2-40B4-BE49-F238E27FC236}">
                <a16:creationId xmlns:a16="http://schemas.microsoft.com/office/drawing/2014/main" id="{4C51BEBD-B3FB-5C8A-943D-0541E990D9CE}"/>
              </a:ext>
            </a:extLst>
          </p:cNvPr>
          <p:cNvSpPr/>
          <p:nvPr/>
        </p:nvSpPr>
        <p:spPr>
          <a:xfrm>
            <a:off x="228600" y="914400"/>
            <a:ext cx="8686800" cy="2011680"/>
          </a:xfrm>
          <a:prstGeom prst="rect">
            <a:avLst/>
          </a:prstGeom>
          <a:solidFill>
            <a:srgbClr val="FFFBEB"/>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Shape 4">
            <a:extLst>
              <a:ext uri="{FF2B5EF4-FFF2-40B4-BE49-F238E27FC236}">
                <a16:creationId xmlns:a16="http://schemas.microsoft.com/office/drawing/2014/main" id="{C535C251-1E42-1565-6105-20B8753AD3B4}"/>
              </a:ext>
            </a:extLst>
          </p:cNvPr>
          <p:cNvSpPr/>
          <p:nvPr/>
        </p:nvSpPr>
        <p:spPr>
          <a:xfrm>
            <a:off x="228600" y="914400"/>
            <a:ext cx="64008" cy="2011680"/>
          </a:xfrm>
          <a:prstGeom prst="rect">
            <a:avLst/>
          </a:prstGeom>
          <a:solidFill>
            <a:srgbClr val="F59E0B"/>
          </a:solidFill>
          <a:ln w="12700">
            <a:solidFill>
              <a:srgbClr val="F59E0B"/>
            </a:solidFill>
            <a:prstDash val="solid"/>
          </a:ln>
        </p:spPr>
        <p:txBody>
          <a:bodyPr/>
          <a:lstStyle/>
          <a:p>
            <a:endParaRPr lang="en-US"/>
          </a:p>
        </p:txBody>
      </p:sp>
      <p:sp>
        <p:nvSpPr>
          <p:cNvPr id="7" name="Text 5">
            <a:extLst>
              <a:ext uri="{FF2B5EF4-FFF2-40B4-BE49-F238E27FC236}">
                <a16:creationId xmlns:a16="http://schemas.microsoft.com/office/drawing/2014/main" id="{F8B72E48-B1BF-726D-AAEC-76876D3615D9}"/>
              </a:ext>
            </a:extLst>
          </p:cNvPr>
          <p:cNvSpPr/>
          <p:nvPr/>
        </p:nvSpPr>
        <p:spPr>
          <a:xfrm>
            <a:off x="457200" y="969264"/>
            <a:ext cx="8229600" cy="32004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cs typeface="Calibri" pitchFamily="34" charset="-120"/>
              </a:rPr>
              <a:t>SITUATION</a:t>
            </a:r>
            <a:endParaRPr lang="en-US" sz="1300" dirty="0"/>
          </a:p>
        </p:txBody>
      </p:sp>
      <p:sp>
        <p:nvSpPr>
          <p:cNvPr id="8" name="Text 6">
            <a:extLst>
              <a:ext uri="{FF2B5EF4-FFF2-40B4-BE49-F238E27FC236}">
                <a16:creationId xmlns:a16="http://schemas.microsoft.com/office/drawing/2014/main" id="{DFCA7D9E-A7FC-7FC8-AEBA-2E4EDBF92EA8}"/>
              </a:ext>
            </a:extLst>
          </p:cNvPr>
          <p:cNvSpPr/>
          <p:nvPr/>
        </p:nvSpPr>
        <p:spPr>
          <a:xfrm>
            <a:off x="457200" y="1325880"/>
            <a:ext cx="8229600" cy="1508760"/>
          </a:xfrm>
          <a:prstGeom prst="rect">
            <a:avLst/>
          </a:prstGeom>
          <a:noFill/>
          <a:ln/>
        </p:spPr>
        <p:txBody>
          <a:bodyPr wrap="square" lIns="0" tIns="0" rIns="0" bIns="0" rtlCol="0" anchor="ctr"/>
          <a:lstStyle/>
          <a:p>
            <a:pPr marL="0" indent="0">
              <a:buNone/>
            </a:pPr>
            <a:r>
              <a:rPr lang="en-US" sz="1200" i="1" dirty="0">
                <a:solidFill>
                  <a:srgbClr val="475569"/>
                </a:solidFill>
                <a:latin typeface="Calibri" pitchFamily="34" charset="0"/>
                <a:cs typeface="Calibri" pitchFamily="34" charset="-120"/>
              </a:rPr>
              <a:t>Look visually at scatter plot and residual plot </a:t>
            </a:r>
          </a:p>
          <a:p>
            <a:pPr marL="0" indent="0">
              <a:buNone/>
            </a:pPr>
            <a:r>
              <a:rPr lang="en-US" sz="1200" i="1" dirty="0">
                <a:solidFill>
                  <a:srgbClr val="475569"/>
                </a:solidFill>
                <a:latin typeface="Calibri" pitchFamily="34" charset="0"/>
                <a:cs typeface="Calibri" pitchFamily="34" charset="-120"/>
              </a:rPr>
              <a:t>Scatter plot – DV vs IV</a:t>
            </a:r>
          </a:p>
          <a:p>
            <a:pPr marL="0" indent="0">
              <a:buNone/>
            </a:pPr>
            <a:r>
              <a:rPr lang="en-US" sz="1200" i="1" dirty="0">
                <a:solidFill>
                  <a:srgbClr val="475569"/>
                </a:solidFill>
                <a:latin typeface="Calibri" pitchFamily="34" charset="0"/>
                <a:cs typeface="Calibri" pitchFamily="34" charset="-120"/>
              </a:rPr>
              <a:t>Residual plot – residual vs fitted values</a:t>
            </a:r>
          </a:p>
          <a:p>
            <a:pPr marL="0" indent="0">
              <a:buNone/>
            </a:pPr>
            <a:endParaRPr lang="en-US" sz="1200" i="1" dirty="0">
              <a:solidFill>
                <a:srgbClr val="475569"/>
              </a:solidFill>
              <a:latin typeface="Calibri" pitchFamily="34" charset="0"/>
              <a:cs typeface="Calibri" pitchFamily="34" charset="-120"/>
            </a:endParaRPr>
          </a:p>
          <a:p>
            <a:pPr marL="0" indent="0">
              <a:buNone/>
            </a:pPr>
            <a:r>
              <a:rPr lang="en-US" sz="1200" i="1" dirty="0">
                <a:solidFill>
                  <a:srgbClr val="475569"/>
                </a:solidFill>
                <a:latin typeface="Calibri" pitchFamily="34" charset="0"/>
                <a:cs typeface="Calibri" pitchFamily="34" charset="-120"/>
              </a:rPr>
              <a:t>Either transform </a:t>
            </a:r>
          </a:p>
          <a:p>
            <a:pPr marL="0" indent="0">
              <a:buNone/>
            </a:pPr>
            <a:endParaRPr lang="en-US" sz="1200" i="1" dirty="0">
              <a:solidFill>
                <a:srgbClr val="475569"/>
              </a:solidFill>
              <a:latin typeface="Calibri" pitchFamily="34" charset="0"/>
              <a:cs typeface="Calibri" pitchFamily="34" charset="-120"/>
            </a:endParaRPr>
          </a:p>
          <a:p>
            <a:pPr marL="0" indent="0">
              <a:buNone/>
            </a:pPr>
            <a:r>
              <a:rPr lang="en-US" sz="1200" i="1" dirty="0">
                <a:solidFill>
                  <a:srgbClr val="475569"/>
                </a:solidFill>
                <a:latin typeface="Calibri" pitchFamily="34" charset="0"/>
                <a:cs typeface="Calibri" pitchFamily="34" charset="-120"/>
              </a:rPr>
              <a:t>Or use non-linear regression</a:t>
            </a:r>
          </a:p>
        </p:txBody>
      </p:sp>
      <p:sp>
        <p:nvSpPr>
          <p:cNvPr id="9" name="Text 7">
            <a:extLst>
              <a:ext uri="{FF2B5EF4-FFF2-40B4-BE49-F238E27FC236}">
                <a16:creationId xmlns:a16="http://schemas.microsoft.com/office/drawing/2014/main" id="{F28258C3-83A6-6872-D946-F98CE1401537}"/>
              </a:ext>
            </a:extLst>
          </p:cNvPr>
          <p:cNvSpPr/>
          <p:nvPr/>
        </p:nvSpPr>
        <p:spPr>
          <a:xfrm>
            <a:off x="228600" y="3063240"/>
            <a:ext cx="8686800" cy="347472"/>
          </a:xfrm>
          <a:prstGeom prst="rect">
            <a:avLst/>
          </a:prstGeom>
          <a:noFill/>
          <a:ln/>
        </p:spPr>
        <p:txBody>
          <a:bodyPr wrap="square" lIns="0" tIns="0" rIns="0" bIns="0" rtlCol="0" anchor="ctr"/>
          <a:lstStyle/>
          <a:p>
            <a:pPr marL="0" indent="0">
              <a:buNone/>
            </a:pPr>
            <a:r>
              <a:rPr lang="en-US" sz="1400" b="1" dirty="0">
                <a:solidFill>
                  <a:srgbClr val="1B2A4A"/>
                </a:solidFill>
                <a:latin typeface="Calibri" pitchFamily="34" charset="0"/>
                <a:cs typeface="Calibri" pitchFamily="34" charset="-120"/>
              </a:rPr>
              <a:t>WHAT CAN YOU DO </a:t>
            </a:r>
            <a:endParaRPr lang="en-US" sz="1400" dirty="0"/>
          </a:p>
        </p:txBody>
      </p:sp>
      <p:sp>
        <p:nvSpPr>
          <p:cNvPr id="10" name="Shape 8">
            <a:extLst>
              <a:ext uri="{FF2B5EF4-FFF2-40B4-BE49-F238E27FC236}">
                <a16:creationId xmlns:a16="http://schemas.microsoft.com/office/drawing/2014/main" id="{B32926A0-D02A-988F-EADB-71B17EA3BB5C}"/>
              </a:ext>
            </a:extLst>
          </p:cNvPr>
          <p:cNvSpPr/>
          <p:nvPr/>
        </p:nvSpPr>
        <p:spPr>
          <a:xfrm>
            <a:off x="228600" y="3566160"/>
            <a:ext cx="320040" cy="320040"/>
          </a:xfrm>
          <a:prstGeom prst="ellipse">
            <a:avLst/>
          </a:prstGeom>
          <a:solidFill>
            <a:srgbClr val="16A34A"/>
          </a:solidFill>
          <a:ln w="12700">
            <a:solidFill>
              <a:srgbClr val="16A34A"/>
            </a:solidFill>
            <a:prstDash val="solid"/>
          </a:ln>
        </p:spPr>
        <p:txBody>
          <a:bodyPr/>
          <a:lstStyle/>
          <a:p>
            <a:endParaRPr lang="en-US"/>
          </a:p>
        </p:txBody>
      </p:sp>
      <p:sp>
        <p:nvSpPr>
          <p:cNvPr id="11" name="Text 9">
            <a:extLst>
              <a:ext uri="{FF2B5EF4-FFF2-40B4-BE49-F238E27FC236}">
                <a16:creationId xmlns:a16="http://schemas.microsoft.com/office/drawing/2014/main" id="{5EA6942F-B27A-2C9B-E2F0-E9F6E4ED8396}"/>
              </a:ext>
            </a:extLst>
          </p:cNvPr>
          <p:cNvSpPr/>
          <p:nvPr/>
        </p:nvSpPr>
        <p:spPr>
          <a:xfrm>
            <a:off x="22860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a:extLst>
              <a:ext uri="{FF2B5EF4-FFF2-40B4-BE49-F238E27FC236}">
                <a16:creationId xmlns:a16="http://schemas.microsoft.com/office/drawing/2014/main" id="{C40011EF-EC64-9048-27F7-799339B595CA}"/>
              </a:ext>
            </a:extLst>
          </p:cNvPr>
          <p:cNvSpPr/>
          <p:nvPr/>
        </p:nvSpPr>
        <p:spPr>
          <a:xfrm>
            <a:off x="640080" y="3566160"/>
            <a:ext cx="4069080" cy="3657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Use polynomial regression</a:t>
            </a:r>
            <a:endParaRPr lang="en-US" sz="1100" dirty="0"/>
          </a:p>
        </p:txBody>
      </p:sp>
      <p:sp>
        <p:nvSpPr>
          <p:cNvPr id="13" name="Shape 11">
            <a:extLst>
              <a:ext uri="{FF2B5EF4-FFF2-40B4-BE49-F238E27FC236}">
                <a16:creationId xmlns:a16="http://schemas.microsoft.com/office/drawing/2014/main" id="{232C730C-F471-17A7-4B7C-3392D5671BD5}"/>
              </a:ext>
            </a:extLst>
          </p:cNvPr>
          <p:cNvSpPr/>
          <p:nvPr/>
        </p:nvSpPr>
        <p:spPr>
          <a:xfrm>
            <a:off x="228600" y="4069080"/>
            <a:ext cx="320040" cy="320040"/>
          </a:xfrm>
          <a:prstGeom prst="ellipse">
            <a:avLst/>
          </a:prstGeom>
          <a:solidFill>
            <a:srgbClr val="2563EB"/>
          </a:solidFill>
          <a:ln w="12700">
            <a:solidFill>
              <a:srgbClr val="2563EB"/>
            </a:solidFill>
            <a:prstDash val="solid"/>
          </a:ln>
        </p:spPr>
        <p:txBody>
          <a:bodyPr/>
          <a:lstStyle/>
          <a:p>
            <a:endParaRPr lang="en-US"/>
          </a:p>
        </p:txBody>
      </p:sp>
      <p:sp>
        <p:nvSpPr>
          <p:cNvPr id="14" name="Text 12">
            <a:extLst>
              <a:ext uri="{FF2B5EF4-FFF2-40B4-BE49-F238E27FC236}">
                <a16:creationId xmlns:a16="http://schemas.microsoft.com/office/drawing/2014/main" id="{53CC94F7-D474-1D13-20C7-67AEB1A5233F}"/>
              </a:ext>
            </a:extLst>
          </p:cNvPr>
          <p:cNvSpPr/>
          <p:nvPr/>
        </p:nvSpPr>
        <p:spPr>
          <a:xfrm>
            <a:off x="22860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5" name="Text 13">
            <a:extLst>
              <a:ext uri="{FF2B5EF4-FFF2-40B4-BE49-F238E27FC236}">
                <a16:creationId xmlns:a16="http://schemas.microsoft.com/office/drawing/2014/main" id="{F4C62379-1F07-63B2-0A5C-41ED5AD578F0}"/>
              </a:ext>
            </a:extLst>
          </p:cNvPr>
          <p:cNvSpPr/>
          <p:nvPr/>
        </p:nvSpPr>
        <p:spPr>
          <a:xfrm>
            <a:off x="640080" y="4069080"/>
            <a:ext cx="4069080" cy="3657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Use spline regression </a:t>
            </a:r>
            <a:endParaRPr lang="en-US" sz="1100" dirty="0"/>
          </a:p>
        </p:txBody>
      </p:sp>
      <p:sp>
        <p:nvSpPr>
          <p:cNvPr id="16" name="Shape 14">
            <a:extLst>
              <a:ext uri="{FF2B5EF4-FFF2-40B4-BE49-F238E27FC236}">
                <a16:creationId xmlns:a16="http://schemas.microsoft.com/office/drawing/2014/main" id="{05B91668-637C-78AE-BACD-33189C573693}"/>
              </a:ext>
            </a:extLst>
          </p:cNvPr>
          <p:cNvSpPr/>
          <p:nvPr/>
        </p:nvSpPr>
        <p:spPr>
          <a:xfrm>
            <a:off x="228600" y="4572000"/>
            <a:ext cx="320040" cy="320040"/>
          </a:xfrm>
          <a:prstGeom prst="ellipse">
            <a:avLst/>
          </a:prstGeom>
          <a:solidFill>
            <a:srgbClr val="0D9488"/>
          </a:solidFill>
          <a:ln w="12700">
            <a:solidFill>
              <a:srgbClr val="0D9488"/>
            </a:solidFill>
            <a:prstDash val="solid"/>
          </a:ln>
        </p:spPr>
        <p:txBody>
          <a:bodyPr/>
          <a:lstStyle/>
          <a:p>
            <a:endParaRPr lang="en-US"/>
          </a:p>
        </p:txBody>
      </p:sp>
      <p:sp>
        <p:nvSpPr>
          <p:cNvPr id="17" name="Text 15">
            <a:extLst>
              <a:ext uri="{FF2B5EF4-FFF2-40B4-BE49-F238E27FC236}">
                <a16:creationId xmlns:a16="http://schemas.microsoft.com/office/drawing/2014/main" id="{040BF4F8-5594-A576-B43F-3B9A11729B05}"/>
              </a:ext>
            </a:extLst>
          </p:cNvPr>
          <p:cNvSpPr/>
          <p:nvPr/>
        </p:nvSpPr>
        <p:spPr>
          <a:xfrm>
            <a:off x="228600" y="457200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8" name="Text 16">
            <a:extLst>
              <a:ext uri="{FF2B5EF4-FFF2-40B4-BE49-F238E27FC236}">
                <a16:creationId xmlns:a16="http://schemas.microsoft.com/office/drawing/2014/main" id="{3D41AA3C-EB37-B2BD-9656-852B562E1316}"/>
              </a:ext>
            </a:extLst>
          </p:cNvPr>
          <p:cNvSpPr/>
          <p:nvPr/>
        </p:nvSpPr>
        <p:spPr>
          <a:xfrm>
            <a:off x="640080" y="4572000"/>
            <a:ext cx="4069080" cy="3657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Use transformation (</a:t>
            </a:r>
            <a:r>
              <a:rPr lang="en-US" sz="1100" dirty="0" err="1">
                <a:solidFill>
                  <a:srgbClr val="475569"/>
                </a:solidFill>
                <a:latin typeface="Calibri" pitchFamily="34" charset="0"/>
                <a:ea typeface="Calibri" pitchFamily="34" charset="-122"/>
                <a:cs typeface="Calibri" pitchFamily="34" charset="-120"/>
              </a:rPr>
              <a:t>i.e</a:t>
            </a:r>
            <a:r>
              <a:rPr lang="en-US" sz="1100" dirty="0">
                <a:solidFill>
                  <a:srgbClr val="475569"/>
                </a:solidFill>
                <a:latin typeface="Calibri" pitchFamily="34" charset="0"/>
                <a:ea typeface="Calibri" pitchFamily="34" charset="-122"/>
                <a:cs typeface="Calibri" pitchFamily="34" charset="-120"/>
              </a:rPr>
              <a:t> log / square root)</a:t>
            </a:r>
            <a:endParaRPr lang="en-US" sz="1100" dirty="0"/>
          </a:p>
        </p:txBody>
      </p:sp>
      <p:sp>
        <p:nvSpPr>
          <p:cNvPr id="20" name="Text 18">
            <a:extLst>
              <a:ext uri="{FF2B5EF4-FFF2-40B4-BE49-F238E27FC236}">
                <a16:creationId xmlns:a16="http://schemas.microsoft.com/office/drawing/2014/main" id="{CC5A1212-68E3-2C39-5775-1630BB57C16A}"/>
              </a:ext>
            </a:extLst>
          </p:cNvPr>
          <p:cNvSpPr/>
          <p:nvPr/>
        </p:nvSpPr>
        <p:spPr>
          <a:xfrm>
            <a:off x="470916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1" name="Text 19">
            <a:extLst>
              <a:ext uri="{FF2B5EF4-FFF2-40B4-BE49-F238E27FC236}">
                <a16:creationId xmlns:a16="http://schemas.microsoft.com/office/drawing/2014/main" id="{9180828F-7AD4-030A-714E-93D0869D387D}"/>
              </a:ext>
            </a:extLst>
          </p:cNvPr>
          <p:cNvSpPr/>
          <p:nvPr/>
        </p:nvSpPr>
        <p:spPr>
          <a:xfrm>
            <a:off x="3393077" y="3355748"/>
            <a:ext cx="4069080" cy="365760"/>
          </a:xfrm>
          <a:prstGeom prst="rect">
            <a:avLst/>
          </a:prstGeom>
          <a:noFill/>
          <a:ln/>
        </p:spPr>
        <p:txBody>
          <a:bodyPr wrap="square" lIns="0" tIns="0" rIns="0" bIns="0" rtlCol="0" anchor="ctr"/>
          <a:lstStyle/>
          <a:p>
            <a:pPr latinLnBrk="1"/>
            <a:r>
              <a:rPr lang="en-MY" dirty="0" err="1"/>
              <a:t>poly_model</a:t>
            </a:r>
            <a:r>
              <a:rPr lang="en-MY" dirty="0"/>
              <a:t> &lt;- </a:t>
            </a:r>
            <a:r>
              <a:rPr lang="en-MY" dirty="0" err="1"/>
              <a:t>lm</a:t>
            </a:r>
            <a:r>
              <a:rPr lang="en-MY" dirty="0"/>
              <a:t>(y ~ poly(x, 2))</a:t>
            </a:r>
          </a:p>
          <a:p>
            <a:pPr latinLnBrk="1"/>
            <a:r>
              <a:rPr lang="en-MY" dirty="0"/>
              <a:t>plot(x, fitted(</a:t>
            </a:r>
            <a:r>
              <a:rPr lang="en-MY" dirty="0" err="1"/>
              <a:t>poly_model</a:t>
            </a:r>
            <a:r>
              <a:rPr lang="en-MY" dirty="0"/>
              <a:t>))</a:t>
            </a:r>
          </a:p>
        </p:txBody>
      </p:sp>
      <p:sp>
        <p:nvSpPr>
          <p:cNvPr id="23" name="Text 21">
            <a:extLst>
              <a:ext uri="{FF2B5EF4-FFF2-40B4-BE49-F238E27FC236}">
                <a16:creationId xmlns:a16="http://schemas.microsoft.com/office/drawing/2014/main" id="{559E3CBF-5060-BB24-FDF1-858BF872513D}"/>
              </a:ext>
            </a:extLst>
          </p:cNvPr>
          <p:cNvSpPr/>
          <p:nvPr/>
        </p:nvSpPr>
        <p:spPr>
          <a:xfrm>
            <a:off x="470916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4" name="Text 22">
            <a:extLst>
              <a:ext uri="{FF2B5EF4-FFF2-40B4-BE49-F238E27FC236}">
                <a16:creationId xmlns:a16="http://schemas.microsoft.com/office/drawing/2014/main" id="{28A31F8C-F690-09E5-C849-2D04969EFE63}"/>
              </a:ext>
            </a:extLst>
          </p:cNvPr>
          <p:cNvSpPr/>
          <p:nvPr/>
        </p:nvSpPr>
        <p:spPr>
          <a:xfrm>
            <a:off x="3393077" y="3938753"/>
            <a:ext cx="4069080" cy="365760"/>
          </a:xfrm>
          <a:prstGeom prst="rect">
            <a:avLst/>
          </a:prstGeom>
          <a:noFill/>
          <a:ln/>
        </p:spPr>
        <p:txBody>
          <a:bodyPr wrap="square" lIns="0" tIns="0" rIns="0" bIns="0" rtlCol="0" anchor="ctr"/>
          <a:lstStyle/>
          <a:p>
            <a:pPr latinLnBrk="1"/>
            <a:r>
              <a:rPr lang="en-MY" dirty="0" err="1"/>
              <a:t>spline_model</a:t>
            </a:r>
            <a:r>
              <a:rPr lang="en-MY" dirty="0"/>
              <a:t> &lt;- </a:t>
            </a:r>
            <a:r>
              <a:rPr lang="en-MY" dirty="0" err="1"/>
              <a:t>lm</a:t>
            </a:r>
            <a:r>
              <a:rPr lang="en-MY" dirty="0"/>
              <a:t>(y ~ ns(x, </a:t>
            </a:r>
            <a:r>
              <a:rPr lang="en-MY" dirty="0" err="1"/>
              <a:t>df</a:t>
            </a:r>
            <a:r>
              <a:rPr lang="en-MY" dirty="0"/>
              <a:t>=5))</a:t>
            </a:r>
          </a:p>
          <a:p>
            <a:pPr latinLnBrk="1"/>
            <a:r>
              <a:rPr lang="en-MY" dirty="0"/>
              <a:t>plot(x, fitted(</a:t>
            </a:r>
            <a:r>
              <a:rPr lang="en-MY" dirty="0" err="1"/>
              <a:t>spline_model</a:t>
            </a:r>
            <a:r>
              <a:rPr lang="en-MY" dirty="0"/>
              <a:t>))</a:t>
            </a:r>
          </a:p>
        </p:txBody>
      </p:sp>
      <p:sp>
        <p:nvSpPr>
          <p:cNvPr id="26" name="Text 24">
            <a:extLst>
              <a:ext uri="{FF2B5EF4-FFF2-40B4-BE49-F238E27FC236}">
                <a16:creationId xmlns:a16="http://schemas.microsoft.com/office/drawing/2014/main" id="{E1C3EB60-B14E-93E8-DB11-278CD8599BE6}"/>
              </a:ext>
            </a:extLst>
          </p:cNvPr>
          <p:cNvSpPr/>
          <p:nvPr/>
        </p:nvSpPr>
        <p:spPr>
          <a:xfrm>
            <a:off x="4709160" y="457200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a:extLst>
              <a:ext uri="{FF2B5EF4-FFF2-40B4-BE49-F238E27FC236}">
                <a16:creationId xmlns:a16="http://schemas.microsoft.com/office/drawing/2014/main" id="{8C25A8B5-DA09-8575-495D-25865EFA906B}"/>
              </a:ext>
            </a:extLst>
          </p:cNvPr>
          <p:cNvSpPr/>
          <p:nvPr/>
        </p:nvSpPr>
        <p:spPr>
          <a:xfrm>
            <a:off x="3432517" y="4679015"/>
            <a:ext cx="4069080" cy="365760"/>
          </a:xfrm>
          <a:prstGeom prst="rect">
            <a:avLst/>
          </a:prstGeom>
          <a:noFill/>
          <a:ln/>
        </p:spPr>
        <p:txBody>
          <a:bodyPr wrap="square" lIns="0" tIns="0" rIns="0" bIns="0" rtlCol="0" anchor="ctr"/>
          <a:lstStyle/>
          <a:p>
            <a:pPr latinLnBrk="1"/>
            <a:r>
              <a:rPr lang="en-MY" dirty="0" err="1"/>
              <a:t>y_log</a:t>
            </a:r>
            <a:r>
              <a:rPr lang="en-MY" dirty="0"/>
              <a:t> &lt;- log(y)</a:t>
            </a:r>
          </a:p>
          <a:p>
            <a:pPr latinLnBrk="1"/>
            <a:r>
              <a:rPr lang="en-MY" dirty="0" err="1"/>
              <a:t>y_sqrt</a:t>
            </a:r>
            <a:r>
              <a:rPr lang="en-MY" dirty="0"/>
              <a:t> &lt;- sqrt(y)</a:t>
            </a:r>
          </a:p>
          <a:p>
            <a:endParaRPr lang="en-MY" dirty="0"/>
          </a:p>
        </p:txBody>
      </p:sp>
      <p:sp>
        <p:nvSpPr>
          <p:cNvPr id="28" name="Text 26">
            <a:extLst>
              <a:ext uri="{FF2B5EF4-FFF2-40B4-BE49-F238E27FC236}">
                <a16:creationId xmlns:a16="http://schemas.microsoft.com/office/drawing/2014/main" id="{53F57E75-2E6D-FF8D-488F-AD61C5AA2EB5}"/>
              </a:ext>
            </a:extLst>
          </p:cNvPr>
          <p:cNvSpPr/>
          <p:nvPr/>
        </p:nvSpPr>
        <p:spPr>
          <a:xfrm>
            <a:off x="228600" y="4919472"/>
            <a:ext cx="868680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pp. 255–260  |  APA Publication Manual, 7th Ed.</a:t>
            </a:r>
            <a:endParaRPr lang="en-US" sz="900" dirty="0"/>
          </a:p>
        </p:txBody>
      </p:sp>
    </p:spTree>
    <p:extLst>
      <p:ext uri="{BB962C8B-B14F-4D97-AF65-F5344CB8AC3E}">
        <p14:creationId xmlns:p14="http://schemas.microsoft.com/office/powerpoint/2010/main" val="30832568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408FF-38A1-19B9-8DA5-469F2559813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07ABCF0-22A1-80B0-B5B3-D1C9CB0429AC}"/>
              </a:ext>
            </a:extLst>
          </p:cNvPr>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a:extLst>
              <a:ext uri="{FF2B5EF4-FFF2-40B4-BE49-F238E27FC236}">
                <a16:creationId xmlns:a16="http://schemas.microsoft.com/office/drawing/2014/main" id="{0B0C4094-1B47-3DCD-0F08-0CD1C404135B}"/>
              </a:ext>
            </a:extLst>
          </p:cNvPr>
          <p:cNvSpPr/>
          <p:nvPr/>
        </p:nvSpPr>
        <p:spPr>
          <a:xfrm>
            <a:off x="320040" y="45720"/>
            <a:ext cx="8503920" cy="59436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VIOLATION 2 INDEPENDENCE / AUTOCORRELATION </a:t>
            </a:r>
            <a:endParaRPr lang="en-US" sz="2200" dirty="0"/>
          </a:p>
        </p:txBody>
      </p:sp>
      <p:sp>
        <p:nvSpPr>
          <p:cNvPr id="4" name="Shape 2">
            <a:extLst>
              <a:ext uri="{FF2B5EF4-FFF2-40B4-BE49-F238E27FC236}">
                <a16:creationId xmlns:a16="http://schemas.microsoft.com/office/drawing/2014/main" id="{D3ACD46F-F7D9-F30B-72C1-988F1D186936}"/>
              </a:ext>
            </a:extLst>
          </p:cNvPr>
          <p:cNvSpPr/>
          <p:nvPr/>
        </p:nvSpPr>
        <p:spPr>
          <a:xfrm>
            <a:off x="0" y="685800"/>
            <a:ext cx="9144000" cy="64008"/>
          </a:xfrm>
          <a:prstGeom prst="rect">
            <a:avLst/>
          </a:prstGeom>
          <a:solidFill>
            <a:srgbClr val="F59E0B"/>
          </a:solidFill>
          <a:ln w="12700">
            <a:solidFill>
              <a:srgbClr val="F59E0B"/>
            </a:solidFill>
            <a:prstDash val="solid"/>
          </a:ln>
        </p:spPr>
        <p:txBody>
          <a:bodyPr/>
          <a:lstStyle/>
          <a:p>
            <a:endParaRPr lang="en-US"/>
          </a:p>
        </p:txBody>
      </p:sp>
      <p:sp>
        <p:nvSpPr>
          <p:cNvPr id="5" name="Shape 3">
            <a:extLst>
              <a:ext uri="{FF2B5EF4-FFF2-40B4-BE49-F238E27FC236}">
                <a16:creationId xmlns:a16="http://schemas.microsoft.com/office/drawing/2014/main" id="{56274E17-4532-3737-6149-B97394FDC8E7}"/>
              </a:ext>
            </a:extLst>
          </p:cNvPr>
          <p:cNvSpPr/>
          <p:nvPr/>
        </p:nvSpPr>
        <p:spPr>
          <a:xfrm>
            <a:off x="228600" y="914400"/>
            <a:ext cx="8686800" cy="2011680"/>
          </a:xfrm>
          <a:prstGeom prst="rect">
            <a:avLst/>
          </a:prstGeom>
          <a:solidFill>
            <a:srgbClr val="FFFBEB"/>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Shape 4">
            <a:extLst>
              <a:ext uri="{FF2B5EF4-FFF2-40B4-BE49-F238E27FC236}">
                <a16:creationId xmlns:a16="http://schemas.microsoft.com/office/drawing/2014/main" id="{3AA87417-20CC-D0C7-C523-937959C1A6B9}"/>
              </a:ext>
            </a:extLst>
          </p:cNvPr>
          <p:cNvSpPr/>
          <p:nvPr/>
        </p:nvSpPr>
        <p:spPr>
          <a:xfrm>
            <a:off x="228600" y="914400"/>
            <a:ext cx="64008" cy="2011680"/>
          </a:xfrm>
          <a:prstGeom prst="rect">
            <a:avLst/>
          </a:prstGeom>
          <a:solidFill>
            <a:srgbClr val="F59E0B"/>
          </a:solidFill>
          <a:ln w="12700">
            <a:solidFill>
              <a:srgbClr val="F59E0B"/>
            </a:solidFill>
            <a:prstDash val="solid"/>
          </a:ln>
        </p:spPr>
        <p:txBody>
          <a:bodyPr/>
          <a:lstStyle/>
          <a:p>
            <a:endParaRPr lang="en-US"/>
          </a:p>
        </p:txBody>
      </p:sp>
      <p:sp>
        <p:nvSpPr>
          <p:cNvPr id="7" name="Text 5">
            <a:extLst>
              <a:ext uri="{FF2B5EF4-FFF2-40B4-BE49-F238E27FC236}">
                <a16:creationId xmlns:a16="http://schemas.microsoft.com/office/drawing/2014/main" id="{799BEF15-0FDA-68E4-FCA1-21F33C1977AD}"/>
              </a:ext>
            </a:extLst>
          </p:cNvPr>
          <p:cNvSpPr/>
          <p:nvPr/>
        </p:nvSpPr>
        <p:spPr>
          <a:xfrm>
            <a:off x="457200" y="969264"/>
            <a:ext cx="8229600" cy="32004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cs typeface="Calibri" pitchFamily="34" charset="-120"/>
              </a:rPr>
              <a:t>SITUATION</a:t>
            </a:r>
            <a:endParaRPr lang="en-US" sz="1300" dirty="0"/>
          </a:p>
        </p:txBody>
      </p:sp>
      <p:sp>
        <p:nvSpPr>
          <p:cNvPr id="8" name="Text 6">
            <a:extLst>
              <a:ext uri="{FF2B5EF4-FFF2-40B4-BE49-F238E27FC236}">
                <a16:creationId xmlns:a16="http://schemas.microsoft.com/office/drawing/2014/main" id="{C9D4702D-802D-AA48-A7C4-6E99F457B718}"/>
              </a:ext>
            </a:extLst>
          </p:cNvPr>
          <p:cNvSpPr/>
          <p:nvPr/>
        </p:nvSpPr>
        <p:spPr>
          <a:xfrm>
            <a:off x="457200" y="1325880"/>
            <a:ext cx="8229600" cy="1508760"/>
          </a:xfrm>
          <a:prstGeom prst="rect">
            <a:avLst/>
          </a:prstGeom>
          <a:noFill/>
          <a:ln/>
        </p:spPr>
        <p:txBody>
          <a:bodyPr wrap="square" lIns="0" tIns="0" rIns="0" bIns="0" rtlCol="0" anchor="ctr"/>
          <a:lstStyle/>
          <a:p>
            <a:pPr marL="0" indent="0">
              <a:buNone/>
            </a:pPr>
            <a:r>
              <a:rPr lang="en-US" sz="1200" i="1" dirty="0">
                <a:solidFill>
                  <a:srgbClr val="475569"/>
                </a:solidFill>
                <a:latin typeface="Calibri" pitchFamily="34" charset="0"/>
                <a:cs typeface="Calibri" pitchFamily="34" charset="-120"/>
              </a:rPr>
              <a:t>P Value significant or Dubin Watson value not ~ 2</a:t>
            </a:r>
          </a:p>
          <a:p>
            <a:pPr marL="0" indent="0">
              <a:buNone/>
            </a:pPr>
            <a:endParaRPr lang="en-US" sz="1200" i="1" dirty="0">
              <a:solidFill>
                <a:srgbClr val="475569"/>
              </a:solidFill>
              <a:latin typeface="Calibri" pitchFamily="34" charset="0"/>
              <a:cs typeface="Calibri" pitchFamily="34" charset="-120"/>
            </a:endParaRPr>
          </a:p>
          <a:p>
            <a:pPr marL="0" indent="0">
              <a:buNone/>
            </a:pPr>
            <a:r>
              <a:rPr lang="en-US" sz="1200" dirty="0">
                <a:solidFill>
                  <a:srgbClr val="475569"/>
                </a:solidFill>
                <a:latin typeface="Calibri" pitchFamily="34" charset="0"/>
                <a:cs typeface="Calibri" pitchFamily="34" charset="-120"/>
              </a:rPr>
              <a:t>Suggesting time series</a:t>
            </a:r>
          </a:p>
          <a:p>
            <a:pPr marL="0" indent="0">
              <a:buNone/>
            </a:pPr>
            <a:endParaRPr lang="en-US" sz="1200" i="1" dirty="0">
              <a:solidFill>
                <a:srgbClr val="475569"/>
              </a:solidFill>
              <a:latin typeface="Calibri" pitchFamily="34" charset="0"/>
              <a:cs typeface="Calibri" pitchFamily="34" charset="-120"/>
            </a:endParaRPr>
          </a:p>
          <a:p>
            <a:pPr marL="0" indent="0">
              <a:buNone/>
            </a:pPr>
            <a:r>
              <a:rPr lang="en-US" sz="1200" dirty="0">
                <a:solidFill>
                  <a:srgbClr val="475569"/>
                </a:solidFill>
                <a:latin typeface="Calibri" pitchFamily="34" charset="0"/>
                <a:cs typeface="Calibri" pitchFamily="34" charset="-120"/>
              </a:rPr>
              <a:t>Use time series model – ARIMA</a:t>
            </a:r>
          </a:p>
        </p:txBody>
      </p:sp>
      <p:sp>
        <p:nvSpPr>
          <p:cNvPr id="9" name="Text 7">
            <a:extLst>
              <a:ext uri="{FF2B5EF4-FFF2-40B4-BE49-F238E27FC236}">
                <a16:creationId xmlns:a16="http://schemas.microsoft.com/office/drawing/2014/main" id="{AECE025C-7B74-E59B-A52C-B45597952492}"/>
              </a:ext>
            </a:extLst>
          </p:cNvPr>
          <p:cNvSpPr/>
          <p:nvPr/>
        </p:nvSpPr>
        <p:spPr>
          <a:xfrm>
            <a:off x="228600" y="3063240"/>
            <a:ext cx="8686800" cy="347472"/>
          </a:xfrm>
          <a:prstGeom prst="rect">
            <a:avLst/>
          </a:prstGeom>
          <a:noFill/>
          <a:ln/>
        </p:spPr>
        <p:txBody>
          <a:bodyPr wrap="square" lIns="0" tIns="0" rIns="0" bIns="0" rtlCol="0" anchor="ctr"/>
          <a:lstStyle/>
          <a:p>
            <a:pPr marL="0" indent="0">
              <a:buNone/>
            </a:pPr>
            <a:r>
              <a:rPr lang="en-US" sz="1400" b="1" dirty="0">
                <a:solidFill>
                  <a:srgbClr val="1B2A4A"/>
                </a:solidFill>
                <a:latin typeface="Calibri" pitchFamily="34" charset="0"/>
                <a:cs typeface="Calibri" pitchFamily="34" charset="-120"/>
              </a:rPr>
              <a:t>WHAT CAN YOU DO </a:t>
            </a:r>
            <a:endParaRPr lang="en-US" sz="1400" dirty="0"/>
          </a:p>
        </p:txBody>
      </p:sp>
      <p:sp>
        <p:nvSpPr>
          <p:cNvPr id="10" name="Shape 8">
            <a:extLst>
              <a:ext uri="{FF2B5EF4-FFF2-40B4-BE49-F238E27FC236}">
                <a16:creationId xmlns:a16="http://schemas.microsoft.com/office/drawing/2014/main" id="{6B624FA2-1388-6795-B237-9FD12B416F15}"/>
              </a:ext>
            </a:extLst>
          </p:cNvPr>
          <p:cNvSpPr/>
          <p:nvPr/>
        </p:nvSpPr>
        <p:spPr>
          <a:xfrm>
            <a:off x="228600" y="3566160"/>
            <a:ext cx="320040" cy="320040"/>
          </a:xfrm>
          <a:prstGeom prst="ellipse">
            <a:avLst/>
          </a:prstGeom>
          <a:solidFill>
            <a:srgbClr val="16A34A"/>
          </a:solidFill>
          <a:ln w="12700">
            <a:solidFill>
              <a:srgbClr val="16A34A"/>
            </a:solidFill>
            <a:prstDash val="solid"/>
          </a:ln>
        </p:spPr>
        <p:txBody>
          <a:bodyPr/>
          <a:lstStyle/>
          <a:p>
            <a:endParaRPr lang="en-US"/>
          </a:p>
        </p:txBody>
      </p:sp>
      <p:sp>
        <p:nvSpPr>
          <p:cNvPr id="11" name="Text 9">
            <a:extLst>
              <a:ext uri="{FF2B5EF4-FFF2-40B4-BE49-F238E27FC236}">
                <a16:creationId xmlns:a16="http://schemas.microsoft.com/office/drawing/2014/main" id="{78D96E9B-344B-4011-4783-608807CC5B1A}"/>
              </a:ext>
            </a:extLst>
          </p:cNvPr>
          <p:cNvSpPr/>
          <p:nvPr/>
        </p:nvSpPr>
        <p:spPr>
          <a:xfrm>
            <a:off x="22860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a:extLst>
              <a:ext uri="{FF2B5EF4-FFF2-40B4-BE49-F238E27FC236}">
                <a16:creationId xmlns:a16="http://schemas.microsoft.com/office/drawing/2014/main" id="{20967FCF-62D6-C163-42E2-26416E11CD7F}"/>
              </a:ext>
            </a:extLst>
          </p:cNvPr>
          <p:cNvSpPr/>
          <p:nvPr/>
        </p:nvSpPr>
        <p:spPr>
          <a:xfrm>
            <a:off x="640080" y="3566160"/>
            <a:ext cx="4069080" cy="3657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Use time series model </a:t>
            </a:r>
            <a:endParaRPr lang="en-US" sz="1100" dirty="0"/>
          </a:p>
        </p:txBody>
      </p:sp>
      <p:sp>
        <p:nvSpPr>
          <p:cNvPr id="14" name="Text 12">
            <a:extLst>
              <a:ext uri="{FF2B5EF4-FFF2-40B4-BE49-F238E27FC236}">
                <a16:creationId xmlns:a16="http://schemas.microsoft.com/office/drawing/2014/main" id="{B94244F5-6A07-4E42-E666-644D65CC0A68}"/>
              </a:ext>
            </a:extLst>
          </p:cNvPr>
          <p:cNvSpPr/>
          <p:nvPr/>
        </p:nvSpPr>
        <p:spPr>
          <a:xfrm>
            <a:off x="22860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7" name="Text 15">
            <a:extLst>
              <a:ext uri="{FF2B5EF4-FFF2-40B4-BE49-F238E27FC236}">
                <a16:creationId xmlns:a16="http://schemas.microsoft.com/office/drawing/2014/main" id="{3619FF26-BA26-3513-A683-4C2713843946}"/>
              </a:ext>
            </a:extLst>
          </p:cNvPr>
          <p:cNvSpPr/>
          <p:nvPr/>
        </p:nvSpPr>
        <p:spPr>
          <a:xfrm>
            <a:off x="228600" y="457200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0" name="Text 18">
            <a:extLst>
              <a:ext uri="{FF2B5EF4-FFF2-40B4-BE49-F238E27FC236}">
                <a16:creationId xmlns:a16="http://schemas.microsoft.com/office/drawing/2014/main" id="{B457ED35-6DAE-7DA1-39AB-D3F26F2DBA34}"/>
              </a:ext>
            </a:extLst>
          </p:cNvPr>
          <p:cNvSpPr/>
          <p:nvPr/>
        </p:nvSpPr>
        <p:spPr>
          <a:xfrm>
            <a:off x="470916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1" name="Text 19">
            <a:extLst>
              <a:ext uri="{FF2B5EF4-FFF2-40B4-BE49-F238E27FC236}">
                <a16:creationId xmlns:a16="http://schemas.microsoft.com/office/drawing/2014/main" id="{BFC7812C-9CAE-C7B3-D8DB-05B881938ADA}"/>
              </a:ext>
            </a:extLst>
          </p:cNvPr>
          <p:cNvSpPr/>
          <p:nvPr/>
        </p:nvSpPr>
        <p:spPr>
          <a:xfrm>
            <a:off x="3393077" y="3451860"/>
            <a:ext cx="4069080" cy="365760"/>
          </a:xfrm>
          <a:prstGeom prst="rect">
            <a:avLst/>
          </a:prstGeom>
          <a:noFill/>
          <a:ln/>
        </p:spPr>
        <p:txBody>
          <a:bodyPr wrap="square" lIns="0" tIns="0" rIns="0" bIns="0" rtlCol="0" anchor="ctr"/>
          <a:lstStyle/>
          <a:p>
            <a:pPr latinLnBrk="1"/>
            <a:r>
              <a:rPr lang="en-MY" dirty="0"/>
              <a:t>ARIMA</a:t>
            </a:r>
          </a:p>
        </p:txBody>
      </p:sp>
      <p:sp>
        <p:nvSpPr>
          <p:cNvPr id="23" name="Text 21">
            <a:extLst>
              <a:ext uri="{FF2B5EF4-FFF2-40B4-BE49-F238E27FC236}">
                <a16:creationId xmlns:a16="http://schemas.microsoft.com/office/drawing/2014/main" id="{31F1E27E-4FBE-A28A-2DD5-0B409785CBF6}"/>
              </a:ext>
            </a:extLst>
          </p:cNvPr>
          <p:cNvSpPr/>
          <p:nvPr/>
        </p:nvSpPr>
        <p:spPr>
          <a:xfrm>
            <a:off x="470916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6" name="Text 24">
            <a:extLst>
              <a:ext uri="{FF2B5EF4-FFF2-40B4-BE49-F238E27FC236}">
                <a16:creationId xmlns:a16="http://schemas.microsoft.com/office/drawing/2014/main" id="{D7395230-A6A7-2D1C-AE6C-6499B2B17B26}"/>
              </a:ext>
            </a:extLst>
          </p:cNvPr>
          <p:cNvSpPr/>
          <p:nvPr/>
        </p:nvSpPr>
        <p:spPr>
          <a:xfrm>
            <a:off x="4709160" y="457200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8" name="Text 26">
            <a:extLst>
              <a:ext uri="{FF2B5EF4-FFF2-40B4-BE49-F238E27FC236}">
                <a16:creationId xmlns:a16="http://schemas.microsoft.com/office/drawing/2014/main" id="{186370FF-A590-1440-5659-6DDA0D5E7246}"/>
              </a:ext>
            </a:extLst>
          </p:cNvPr>
          <p:cNvSpPr/>
          <p:nvPr/>
        </p:nvSpPr>
        <p:spPr>
          <a:xfrm>
            <a:off x="228600" y="4919472"/>
            <a:ext cx="868680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pp. 255–260  |  APA Publication Manual, 7th Ed.</a:t>
            </a:r>
            <a:endParaRPr lang="en-US" sz="900" dirty="0"/>
          </a:p>
        </p:txBody>
      </p:sp>
    </p:spTree>
    <p:extLst>
      <p:ext uri="{BB962C8B-B14F-4D97-AF65-F5344CB8AC3E}">
        <p14:creationId xmlns:p14="http://schemas.microsoft.com/office/powerpoint/2010/main" val="3011891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869664-2EE8-7D09-BB1F-7F9C176CF42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DF988BE-7B7B-3B15-5EDF-1C2C4BECDE73}"/>
              </a:ext>
            </a:extLst>
          </p:cNvPr>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a:extLst>
              <a:ext uri="{FF2B5EF4-FFF2-40B4-BE49-F238E27FC236}">
                <a16:creationId xmlns:a16="http://schemas.microsoft.com/office/drawing/2014/main" id="{7404E27B-7390-6AEC-AE15-6F118C346546}"/>
              </a:ext>
            </a:extLst>
          </p:cNvPr>
          <p:cNvSpPr/>
          <p:nvPr/>
        </p:nvSpPr>
        <p:spPr>
          <a:xfrm>
            <a:off x="320040" y="45720"/>
            <a:ext cx="8503920" cy="59436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VIOLATION 3 Homoscedasticity </a:t>
            </a:r>
            <a:endParaRPr lang="en-US" sz="2200" dirty="0"/>
          </a:p>
        </p:txBody>
      </p:sp>
      <p:sp>
        <p:nvSpPr>
          <p:cNvPr id="4" name="Shape 2">
            <a:extLst>
              <a:ext uri="{FF2B5EF4-FFF2-40B4-BE49-F238E27FC236}">
                <a16:creationId xmlns:a16="http://schemas.microsoft.com/office/drawing/2014/main" id="{AAA364F5-5959-1DE2-DA56-F0EA376C4421}"/>
              </a:ext>
            </a:extLst>
          </p:cNvPr>
          <p:cNvSpPr/>
          <p:nvPr/>
        </p:nvSpPr>
        <p:spPr>
          <a:xfrm>
            <a:off x="0" y="685800"/>
            <a:ext cx="9144000" cy="64008"/>
          </a:xfrm>
          <a:prstGeom prst="rect">
            <a:avLst/>
          </a:prstGeom>
          <a:solidFill>
            <a:srgbClr val="F59E0B"/>
          </a:solidFill>
          <a:ln w="12700">
            <a:solidFill>
              <a:srgbClr val="F59E0B"/>
            </a:solidFill>
            <a:prstDash val="solid"/>
          </a:ln>
        </p:spPr>
        <p:txBody>
          <a:bodyPr/>
          <a:lstStyle/>
          <a:p>
            <a:endParaRPr lang="en-US"/>
          </a:p>
        </p:txBody>
      </p:sp>
      <p:sp>
        <p:nvSpPr>
          <p:cNvPr id="5" name="Shape 3">
            <a:extLst>
              <a:ext uri="{FF2B5EF4-FFF2-40B4-BE49-F238E27FC236}">
                <a16:creationId xmlns:a16="http://schemas.microsoft.com/office/drawing/2014/main" id="{9CFF26B5-BB85-0EE0-66CC-EA43B6A62ED3}"/>
              </a:ext>
            </a:extLst>
          </p:cNvPr>
          <p:cNvSpPr/>
          <p:nvPr/>
        </p:nvSpPr>
        <p:spPr>
          <a:xfrm>
            <a:off x="228600" y="914400"/>
            <a:ext cx="8686800" cy="2011680"/>
          </a:xfrm>
          <a:prstGeom prst="rect">
            <a:avLst/>
          </a:prstGeom>
          <a:solidFill>
            <a:srgbClr val="FFFBEB"/>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Shape 4">
            <a:extLst>
              <a:ext uri="{FF2B5EF4-FFF2-40B4-BE49-F238E27FC236}">
                <a16:creationId xmlns:a16="http://schemas.microsoft.com/office/drawing/2014/main" id="{E87EDED7-359E-EAA4-1CF9-6AB931E9FD87}"/>
              </a:ext>
            </a:extLst>
          </p:cNvPr>
          <p:cNvSpPr/>
          <p:nvPr/>
        </p:nvSpPr>
        <p:spPr>
          <a:xfrm>
            <a:off x="228600" y="914400"/>
            <a:ext cx="64008" cy="2011680"/>
          </a:xfrm>
          <a:prstGeom prst="rect">
            <a:avLst/>
          </a:prstGeom>
          <a:solidFill>
            <a:srgbClr val="F59E0B"/>
          </a:solidFill>
          <a:ln w="12700">
            <a:solidFill>
              <a:srgbClr val="F59E0B"/>
            </a:solidFill>
            <a:prstDash val="solid"/>
          </a:ln>
        </p:spPr>
        <p:txBody>
          <a:bodyPr/>
          <a:lstStyle/>
          <a:p>
            <a:endParaRPr lang="en-US"/>
          </a:p>
        </p:txBody>
      </p:sp>
      <p:sp>
        <p:nvSpPr>
          <p:cNvPr id="7" name="Text 5">
            <a:extLst>
              <a:ext uri="{FF2B5EF4-FFF2-40B4-BE49-F238E27FC236}">
                <a16:creationId xmlns:a16="http://schemas.microsoft.com/office/drawing/2014/main" id="{98F9123A-CFCD-69B7-4472-70E40E0CA69C}"/>
              </a:ext>
            </a:extLst>
          </p:cNvPr>
          <p:cNvSpPr/>
          <p:nvPr/>
        </p:nvSpPr>
        <p:spPr>
          <a:xfrm>
            <a:off x="457200" y="969264"/>
            <a:ext cx="8229600" cy="32004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cs typeface="Calibri" pitchFamily="34" charset="-120"/>
              </a:rPr>
              <a:t>SITUATION</a:t>
            </a:r>
            <a:endParaRPr lang="en-US" sz="1300" dirty="0"/>
          </a:p>
        </p:txBody>
      </p:sp>
      <p:sp>
        <p:nvSpPr>
          <p:cNvPr id="8" name="Text 6">
            <a:extLst>
              <a:ext uri="{FF2B5EF4-FFF2-40B4-BE49-F238E27FC236}">
                <a16:creationId xmlns:a16="http://schemas.microsoft.com/office/drawing/2014/main" id="{5D90AC2E-D942-E80A-AEC4-FDB6A17D56B1}"/>
              </a:ext>
            </a:extLst>
          </p:cNvPr>
          <p:cNvSpPr/>
          <p:nvPr/>
        </p:nvSpPr>
        <p:spPr>
          <a:xfrm>
            <a:off x="457200" y="1325880"/>
            <a:ext cx="8229600" cy="1508760"/>
          </a:xfrm>
          <a:prstGeom prst="rect">
            <a:avLst/>
          </a:prstGeom>
          <a:noFill/>
          <a:ln/>
        </p:spPr>
        <p:txBody>
          <a:bodyPr wrap="square" lIns="0" tIns="0" rIns="0" bIns="0" rtlCol="0" anchor="ctr"/>
          <a:lstStyle/>
          <a:p>
            <a:r>
              <a:rPr lang="en-US" sz="1200" dirty="0">
                <a:solidFill>
                  <a:srgbClr val="475569"/>
                </a:solidFill>
                <a:latin typeface="Calibri" pitchFamily="34" charset="0"/>
                <a:ea typeface="Calibri" pitchFamily="34" charset="-122"/>
                <a:cs typeface="Calibri" pitchFamily="34" charset="-120"/>
              </a:rPr>
              <a:t>residuals vs fitted plot — no funnel shape</a:t>
            </a:r>
          </a:p>
          <a:p>
            <a:r>
              <a:rPr lang="en-US" sz="1200" i="1" dirty="0">
                <a:solidFill>
                  <a:srgbClr val="475569"/>
                </a:solidFill>
                <a:latin typeface="Calibri" pitchFamily="34" charset="0"/>
                <a:cs typeface="Calibri" pitchFamily="34" charset="-120"/>
              </a:rPr>
              <a:t>Or Breusch pagan test p value significant </a:t>
            </a:r>
          </a:p>
          <a:p>
            <a:endParaRPr lang="en-US" sz="1200" i="1" dirty="0">
              <a:solidFill>
                <a:srgbClr val="475569"/>
              </a:solidFill>
              <a:latin typeface="Calibri" pitchFamily="34" charset="0"/>
              <a:cs typeface="Calibri" pitchFamily="34" charset="-120"/>
            </a:endParaRPr>
          </a:p>
          <a:p>
            <a:pPr marL="0" indent="0">
              <a:buNone/>
            </a:pPr>
            <a:r>
              <a:rPr lang="en-US" sz="1200" i="1" dirty="0">
                <a:solidFill>
                  <a:srgbClr val="475569"/>
                </a:solidFill>
                <a:latin typeface="Calibri" pitchFamily="34" charset="0"/>
                <a:cs typeface="Calibri" pitchFamily="34" charset="-120"/>
              </a:rPr>
              <a:t>Either use robust standard error  </a:t>
            </a:r>
          </a:p>
          <a:p>
            <a:pPr marL="0" indent="0">
              <a:buNone/>
            </a:pPr>
            <a:endParaRPr lang="en-US" sz="1200" i="1" dirty="0">
              <a:solidFill>
                <a:srgbClr val="475569"/>
              </a:solidFill>
              <a:latin typeface="Calibri" pitchFamily="34" charset="0"/>
              <a:cs typeface="Calibri" pitchFamily="34" charset="-120"/>
            </a:endParaRPr>
          </a:p>
          <a:p>
            <a:pPr marL="0" indent="0">
              <a:buNone/>
            </a:pPr>
            <a:r>
              <a:rPr lang="en-US" sz="1200" i="1" dirty="0">
                <a:solidFill>
                  <a:srgbClr val="475569"/>
                </a:solidFill>
                <a:latin typeface="Calibri" pitchFamily="34" charset="0"/>
                <a:cs typeface="Calibri" pitchFamily="34" charset="-120"/>
              </a:rPr>
              <a:t>Or Transform data</a:t>
            </a:r>
          </a:p>
          <a:p>
            <a:pPr marL="0" indent="0">
              <a:buNone/>
            </a:pPr>
            <a:endParaRPr lang="en-US" sz="1200" i="1" dirty="0">
              <a:solidFill>
                <a:srgbClr val="475569"/>
              </a:solidFill>
              <a:latin typeface="Calibri" pitchFamily="34" charset="0"/>
              <a:cs typeface="Calibri" pitchFamily="34" charset="-120"/>
            </a:endParaRPr>
          </a:p>
          <a:p>
            <a:r>
              <a:rPr lang="en-US" sz="1200" i="1" dirty="0">
                <a:solidFill>
                  <a:srgbClr val="475569"/>
                </a:solidFill>
                <a:latin typeface="Calibri" pitchFamily="34" charset="0"/>
                <a:cs typeface="Calibri" pitchFamily="34" charset="-120"/>
              </a:rPr>
              <a:t>Or use Weighted Least Square (WLS) Method</a:t>
            </a:r>
          </a:p>
        </p:txBody>
      </p:sp>
      <p:sp>
        <p:nvSpPr>
          <p:cNvPr id="9" name="Text 7">
            <a:extLst>
              <a:ext uri="{FF2B5EF4-FFF2-40B4-BE49-F238E27FC236}">
                <a16:creationId xmlns:a16="http://schemas.microsoft.com/office/drawing/2014/main" id="{ED2D4A38-8B60-F01A-D9A8-62C78D52C670}"/>
              </a:ext>
            </a:extLst>
          </p:cNvPr>
          <p:cNvSpPr/>
          <p:nvPr/>
        </p:nvSpPr>
        <p:spPr>
          <a:xfrm>
            <a:off x="228600" y="3063240"/>
            <a:ext cx="8686800" cy="347472"/>
          </a:xfrm>
          <a:prstGeom prst="rect">
            <a:avLst/>
          </a:prstGeom>
          <a:noFill/>
          <a:ln/>
        </p:spPr>
        <p:txBody>
          <a:bodyPr wrap="square" lIns="0" tIns="0" rIns="0" bIns="0" rtlCol="0" anchor="ctr"/>
          <a:lstStyle/>
          <a:p>
            <a:pPr marL="0" indent="0">
              <a:buNone/>
            </a:pPr>
            <a:r>
              <a:rPr lang="en-US" sz="1400" b="1" dirty="0">
                <a:solidFill>
                  <a:srgbClr val="1B2A4A"/>
                </a:solidFill>
                <a:latin typeface="Calibri" pitchFamily="34" charset="0"/>
                <a:cs typeface="Calibri" pitchFamily="34" charset="-120"/>
              </a:rPr>
              <a:t>WHAT CAN YOU DO </a:t>
            </a:r>
            <a:endParaRPr lang="en-US" sz="1400" dirty="0"/>
          </a:p>
        </p:txBody>
      </p:sp>
      <p:sp>
        <p:nvSpPr>
          <p:cNvPr id="10" name="Shape 8">
            <a:extLst>
              <a:ext uri="{FF2B5EF4-FFF2-40B4-BE49-F238E27FC236}">
                <a16:creationId xmlns:a16="http://schemas.microsoft.com/office/drawing/2014/main" id="{CE3CFEF7-7F32-0424-CECB-0004948D2CE0}"/>
              </a:ext>
            </a:extLst>
          </p:cNvPr>
          <p:cNvSpPr/>
          <p:nvPr/>
        </p:nvSpPr>
        <p:spPr>
          <a:xfrm>
            <a:off x="228600" y="3566160"/>
            <a:ext cx="320040" cy="320040"/>
          </a:xfrm>
          <a:prstGeom prst="ellipse">
            <a:avLst/>
          </a:prstGeom>
          <a:solidFill>
            <a:srgbClr val="16A34A"/>
          </a:solidFill>
          <a:ln w="12700">
            <a:solidFill>
              <a:srgbClr val="16A34A"/>
            </a:solidFill>
            <a:prstDash val="solid"/>
          </a:ln>
        </p:spPr>
        <p:txBody>
          <a:bodyPr/>
          <a:lstStyle/>
          <a:p>
            <a:endParaRPr lang="en-US"/>
          </a:p>
        </p:txBody>
      </p:sp>
      <p:sp>
        <p:nvSpPr>
          <p:cNvPr id="11" name="Text 9">
            <a:extLst>
              <a:ext uri="{FF2B5EF4-FFF2-40B4-BE49-F238E27FC236}">
                <a16:creationId xmlns:a16="http://schemas.microsoft.com/office/drawing/2014/main" id="{15602F0F-016F-2075-8AF4-66F8FA0B4E51}"/>
              </a:ext>
            </a:extLst>
          </p:cNvPr>
          <p:cNvSpPr/>
          <p:nvPr/>
        </p:nvSpPr>
        <p:spPr>
          <a:xfrm>
            <a:off x="22860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a:extLst>
              <a:ext uri="{FF2B5EF4-FFF2-40B4-BE49-F238E27FC236}">
                <a16:creationId xmlns:a16="http://schemas.microsoft.com/office/drawing/2014/main" id="{9A383F3F-E1FC-1228-4608-F1C24B3E04E6}"/>
              </a:ext>
            </a:extLst>
          </p:cNvPr>
          <p:cNvSpPr/>
          <p:nvPr/>
        </p:nvSpPr>
        <p:spPr>
          <a:xfrm>
            <a:off x="640080" y="3566160"/>
            <a:ext cx="8275320" cy="365760"/>
          </a:xfrm>
          <a:prstGeom prst="rect">
            <a:avLst/>
          </a:prstGeom>
          <a:noFill/>
          <a:ln/>
        </p:spPr>
        <p:txBody>
          <a:bodyPr wrap="square" lIns="0" tIns="0" rIns="0" bIns="0" rtlCol="0" anchor="ctr"/>
          <a:lstStyle/>
          <a:p>
            <a:r>
              <a:rPr lang="en-US" sz="1100" dirty="0">
                <a:latin typeface="Calibri" panose="020F0502020204030204" pitchFamily="34" charset="0"/>
                <a:ea typeface="Calibri" pitchFamily="34" charset="-122"/>
                <a:cs typeface="Calibri" panose="020F0502020204030204" pitchFamily="34" charset="0"/>
              </a:rPr>
              <a:t>Use robust standard error - </a:t>
            </a:r>
            <a:r>
              <a:rPr lang="en-MY" sz="1100" dirty="0">
                <a:latin typeface="Calibri" panose="020F0502020204030204" pitchFamily="34" charset="0"/>
                <a:cs typeface="Calibri" panose="020F0502020204030204" pitchFamily="34" charset="0"/>
              </a:rPr>
              <a:t>Use the sandwich package to calculate heteroscedasticity-consistent (HC) standard errors and </a:t>
            </a:r>
            <a:r>
              <a:rPr lang="en-MY" sz="1100" dirty="0" err="1">
                <a:latin typeface="Calibri" panose="020F0502020204030204" pitchFamily="34" charset="0"/>
                <a:cs typeface="Calibri" panose="020F0502020204030204" pitchFamily="34" charset="0"/>
              </a:rPr>
              <a:t>lmtest</a:t>
            </a:r>
            <a:r>
              <a:rPr lang="en-MY" sz="1100" dirty="0">
                <a:latin typeface="Calibri" panose="020F0502020204030204" pitchFamily="34" charset="0"/>
                <a:cs typeface="Calibri" panose="020F0502020204030204" pitchFamily="34" charset="0"/>
              </a:rPr>
              <a:t> for testing.</a:t>
            </a:r>
          </a:p>
          <a:p>
            <a:r>
              <a:rPr lang="en-MY" sz="1100" dirty="0" err="1">
                <a:latin typeface="Calibri" panose="020F0502020204030204" pitchFamily="34" charset="0"/>
                <a:cs typeface="Calibri" panose="020F0502020204030204" pitchFamily="34" charset="0"/>
              </a:rPr>
              <a:t>coeftest</a:t>
            </a:r>
            <a:r>
              <a:rPr lang="en-MY" sz="1100" dirty="0">
                <a:latin typeface="Calibri" panose="020F0502020204030204" pitchFamily="34" charset="0"/>
                <a:cs typeface="Calibri" panose="020F0502020204030204" pitchFamily="34" charset="0"/>
              </a:rPr>
              <a:t>(model, </a:t>
            </a:r>
            <a:r>
              <a:rPr lang="en-MY" sz="1100" dirty="0" err="1">
                <a:latin typeface="Calibri" panose="020F0502020204030204" pitchFamily="34" charset="0"/>
                <a:cs typeface="Calibri" panose="020F0502020204030204" pitchFamily="34" charset="0"/>
              </a:rPr>
              <a:t>vcov</a:t>
            </a:r>
            <a:r>
              <a:rPr lang="en-MY" sz="1100" dirty="0">
                <a:latin typeface="Calibri" panose="020F0502020204030204" pitchFamily="34" charset="0"/>
                <a:cs typeface="Calibri" panose="020F0502020204030204" pitchFamily="34" charset="0"/>
              </a:rPr>
              <a:t> = </a:t>
            </a:r>
            <a:r>
              <a:rPr lang="en-MY" sz="1100" dirty="0" err="1">
                <a:latin typeface="Calibri" panose="020F0502020204030204" pitchFamily="34" charset="0"/>
                <a:cs typeface="Calibri" panose="020F0502020204030204" pitchFamily="34" charset="0"/>
              </a:rPr>
              <a:t>vcovHC</a:t>
            </a:r>
            <a:r>
              <a:rPr lang="en-MY" sz="1100" dirty="0">
                <a:latin typeface="Calibri" panose="020F0502020204030204" pitchFamily="34" charset="0"/>
                <a:cs typeface="Calibri" panose="020F0502020204030204" pitchFamily="34" charset="0"/>
              </a:rPr>
              <a:t>(model, type = "HC3"))</a:t>
            </a:r>
          </a:p>
          <a:p>
            <a:pPr marL="0" indent="0">
              <a:buNone/>
            </a:pPr>
            <a:endParaRPr lang="en-US" sz="1100" dirty="0">
              <a:latin typeface="Calibri" panose="020F0502020204030204" pitchFamily="34" charset="0"/>
              <a:cs typeface="Calibri" panose="020F0502020204030204" pitchFamily="34" charset="0"/>
            </a:endParaRPr>
          </a:p>
        </p:txBody>
      </p:sp>
      <p:sp>
        <p:nvSpPr>
          <p:cNvPr id="13" name="Shape 11">
            <a:extLst>
              <a:ext uri="{FF2B5EF4-FFF2-40B4-BE49-F238E27FC236}">
                <a16:creationId xmlns:a16="http://schemas.microsoft.com/office/drawing/2014/main" id="{32167233-181C-BB2E-6FED-4271B911CED8}"/>
              </a:ext>
            </a:extLst>
          </p:cNvPr>
          <p:cNvSpPr/>
          <p:nvPr/>
        </p:nvSpPr>
        <p:spPr>
          <a:xfrm>
            <a:off x="228600" y="4069080"/>
            <a:ext cx="320040" cy="320040"/>
          </a:xfrm>
          <a:prstGeom prst="ellipse">
            <a:avLst/>
          </a:prstGeom>
          <a:solidFill>
            <a:srgbClr val="2563EB"/>
          </a:solidFill>
          <a:ln w="12700">
            <a:solidFill>
              <a:srgbClr val="2563EB"/>
            </a:solidFill>
            <a:prstDash val="solid"/>
          </a:ln>
        </p:spPr>
        <p:txBody>
          <a:bodyPr/>
          <a:lstStyle/>
          <a:p>
            <a:endParaRPr lang="en-US"/>
          </a:p>
        </p:txBody>
      </p:sp>
      <p:sp>
        <p:nvSpPr>
          <p:cNvPr id="14" name="Text 12">
            <a:extLst>
              <a:ext uri="{FF2B5EF4-FFF2-40B4-BE49-F238E27FC236}">
                <a16:creationId xmlns:a16="http://schemas.microsoft.com/office/drawing/2014/main" id="{D14AB24A-2539-FA5C-9632-DC46D5FA1B18}"/>
              </a:ext>
            </a:extLst>
          </p:cNvPr>
          <p:cNvSpPr/>
          <p:nvPr/>
        </p:nvSpPr>
        <p:spPr>
          <a:xfrm>
            <a:off x="22860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5" name="Text 13">
            <a:extLst>
              <a:ext uri="{FF2B5EF4-FFF2-40B4-BE49-F238E27FC236}">
                <a16:creationId xmlns:a16="http://schemas.microsoft.com/office/drawing/2014/main" id="{4BCFB09B-24A4-C659-F186-EE7020626B1C}"/>
              </a:ext>
            </a:extLst>
          </p:cNvPr>
          <p:cNvSpPr/>
          <p:nvPr/>
        </p:nvSpPr>
        <p:spPr>
          <a:xfrm>
            <a:off x="640079" y="4069080"/>
            <a:ext cx="6002545" cy="365760"/>
          </a:xfrm>
          <a:prstGeom prst="rect">
            <a:avLst/>
          </a:prstGeom>
          <a:noFill/>
          <a:ln/>
        </p:spPr>
        <p:txBody>
          <a:bodyPr wrap="square" lIns="0" tIns="0" rIns="0" bIns="0" rtlCol="0" anchor="ctr"/>
          <a:lstStyle/>
          <a:p>
            <a:r>
              <a:rPr lang="en-US" sz="1100" dirty="0">
                <a:latin typeface="Calibri" panose="020F0502020204030204" pitchFamily="34" charset="0"/>
                <a:ea typeface="Calibri" pitchFamily="34" charset="-122"/>
                <a:cs typeface="Calibri" panose="020F0502020204030204" pitchFamily="34" charset="0"/>
              </a:rPr>
              <a:t>Transform data by log transform the outcome  - </a:t>
            </a:r>
            <a:r>
              <a:rPr lang="en-MY" sz="1100" dirty="0" err="1">
                <a:latin typeface="Calibri" panose="020F0502020204030204" pitchFamily="34" charset="0"/>
                <a:cs typeface="Calibri" panose="020F0502020204030204" pitchFamily="34" charset="0"/>
              </a:rPr>
              <a:t>model_log</a:t>
            </a:r>
            <a:r>
              <a:rPr lang="en-MY" sz="1100" dirty="0">
                <a:latin typeface="Calibri" panose="020F0502020204030204" pitchFamily="34" charset="0"/>
                <a:cs typeface="Calibri" panose="020F0502020204030204" pitchFamily="34" charset="0"/>
              </a:rPr>
              <a:t> &lt;- </a:t>
            </a:r>
            <a:r>
              <a:rPr lang="en-MY" sz="1100" dirty="0" err="1">
                <a:latin typeface="Calibri" panose="020F0502020204030204" pitchFamily="34" charset="0"/>
                <a:cs typeface="Calibri" panose="020F0502020204030204" pitchFamily="34" charset="0"/>
              </a:rPr>
              <a:t>lm</a:t>
            </a:r>
            <a:r>
              <a:rPr lang="en-MY" sz="1100" dirty="0">
                <a:latin typeface="Calibri" panose="020F0502020204030204" pitchFamily="34" charset="0"/>
                <a:cs typeface="Calibri" panose="020F0502020204030204" pitchFamily="34" charset="0"/>
              </a:rPr>
              <a:t>(log(y) ~ x, data = dataset)</a:t>
            </a:r>
          </a:p>
          <a:p>
            <a:pPr marL="0" indent="0">
              <a:buNone/>
            </a:pPr>
            <a:endParaRPr lang="en-US" sz="1100" dirty="0">
              <a:latin typeface="Calibri" panose="020F0502020204030204" pitchFamily="34" charset="0"/>
              <a:cs typeface="Calibri" panose="020F0502020204030204" pitchFamily="34" charset="0"/>
            </a:endParaRPr>
          </a:p>
        </p:txBody>
      </p:sp>
      <p:sp>
        <p:nvSpPr>
          <p:cNvPr id="16" name="Shape 14">
            <a:extLst>
              <a:ext uri="{FF2B5EF4-FFF2-40B4-BE49-F238E27FC236}">
                <a16:creationId xmlns:a16="http://schemas.microsoft.com/office/drawing/2014/main" id="{26FF95B9-F34C-08AA-64FF-E40974CC228F}"/>
              </a:ext>
            </a:extLst>
          </p:cNvPr>
          <p:cNvSpPr/>
          <p:nvPr/>
        </p:nvSpPr>
        <p:spPr>
          <a:xfrm>
            <a:off x="228600" y="4572000"/>
            <a:ext cx="320040" cy="320040"/>
          </a:xfrm>
          <a:prstGeom prst="ellipse">
            <a:avLst/>
          </a:prstGeom>
          <a:solidFill>
            <a:srgbClr val="0D9488"/>
          </a:solidFill>
          <a:ln w="12700">
            <a:solidFill>
              <a:srgbClr val="0D9488"/>
            </a:solidFill>
            <a:prstDash val="solid"/>
          </a:ln>
        </p:spPr>
        <p:txBody>
          <a:bodyPr/>
          <a:lstStyle/>
          <a:p>
            <a:endParaRPr lang="en-US"/>
          </a:p>
        </p:txBody>
      </p:sp>
      <p:sp>
        <p:nvSpPr>
          <p:cNvPr id="17" name="Text 15">
            <a:extLst>
              <a:ext uri="{FF2B5EF4-FFF2-40B4-BE49-F238E27FC236}">
                <a16:creationId xmlns:a16="http://schemas.microsoft.com/office/drawing/2014/main" id="{AB0B681A-E759-7538-72AE-A1BF80C1821E}"/>
              </a:ext>
            </a:extLst>
          </p:cNvPr>
          <p:cNvSpPr/>
          <p:nvPr/>
        </p:nvSpPr>
        <p:spPr>
          <a:xfrm>
            <a:off x="228600" y="457200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8" name="Text 16">
            <a:extLst>
              <a:ext uri="{FF2B5EF4-FFF2-40B4-BE49-F238E27FC236}">
                <a16:creationId xmlns:a16="http://schemas.microsoft.com/office/drawing/2014/main" id="{E340DF50-7A44-1F02-412A-B5580D2CEB62}"/>
              </a:ext>
            </a:extLst>
          </p:cNvPr>
          <p:cNvSpPr/>
          <p:nvPr/>
        </p:nvSpPr>
        <p:spPr>
          <a:xfrm>
            <a:off x="640080" y="4572000"/>
            <a:ext cx="4069080" cy="3657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WLS Method </a:t>
            </a:r>
            <a:endParaRPr lang="en-US" sz="1100" dirty="0"/>
          </a:p>
        </p:txBody>
      </p:sp>
      <p:sp>
        <p:nvSpPr>
          <p:cNvPr id="20" name="Text 18">
            <a:extLst>
              <a:ext uri="{FF2B5EF4-FFF2-40B4-BE49-F238E27FC236}">
                <a16:creationId xmlns:a16="http://schemas.microsoft.com/office/drawing/2014/main" id="{14E00D03-3306-B8E1-1665-F4E40FFBACFA}"/>
              </a:ext>
            </a:extLst>
          </p:cNvPr>
          <p:cNvSpPr/>
          <p:nvPr/>
        </p:nvSpPr>
        <p:spPr>
          <a:xfrm>
            <a:off x="470916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a:extLst>
              <a:ext uri="{FF2B5EF4-FFF2-40B4-BE49-F238E27FC236}">
                <a16:creationId xmlns:a16="http://schemas.microsoft.com/office/drawing/2014/main" id="{0B14578A-F204-EE2F-D1E6-17B36EC3F886}"/>
              </a:ext>
            </a:extLst>
          </p:cNvPr>
          <p:cNvSpPr/>
          <p:nvPr/>
        </p:nvSpPr>
        <p:spPr>
          <a:xfrm>
            <a:off x="470916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6" name="Text 24">
            <a:extLst>
              <a:ext uri="{FF2B5EF4-FFF2-40B4-BE49-F238E27FC236}">
                <a16:creationId xmlns:a16="http://schemas.microsoft.com/office/drawing/2014/main" id="{4AEC6564-AAF6-5B7B-AB57-7361BA8CF14D}"/>
              </a:ext>
            </a:extLst>
          </p:cNvPr>
          <p:cNvSpPr/>
          <p:nvPr/>
        </p:nvSpPr>
        <p:spPr>
          <a:xfrm>
            <a:off x="4709160" y="457200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8" name="Text 26">
            <a:extLst>
              <a:ext uri="{FF2B5EF4-FFF2-40B4-BE49-F238E27FC236}">
                <a16:creationId xmlns:a16="http://schemas.microsoft.com/office/drawing/2014/main" id="{0AC1957B-224C-9230-2E30-8CC2FAB23005}"/>
              </a:ext>
            </a:extLst>
          </p:cNvPr>
          <p:cNvSpPr/>
          <p:nvPr/>
        </p:nvSpPr>
        <p:spPr>
          <a:xfrm>
            <a:off x="228600" y="4919472"/>
            <a:ext cx="868680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pp. 255–260  |  APA Publication Manual, 7th Ed.</a:t>
            </a:r>
            <a:endParaRPr lang="en-US" sz="900" dirty="0"/>
          </a:p>
        </p:txBody>
      </p:sp>
    </p:spTree>
    <p:extLst>
      <p:ext uri="{BB962C8B-B14F-4D97-AF65-F5344CB8AC3E}">
        <p14:creationId xmlns:p14="http://schemas.microsoft.com/office/powerpoint/2010/main" val="19097365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92A3B-4CD2-1B4D-D8C7-17D3F18C64B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5CB2C4-9043-A8D2-0FA9-6584DDDDFA49}"/>
              </a:ext>
            </a:extLst>
          </p:cNvPr>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a:extLst>
              <a:ext uri="{FF2B5EF4-FFF2-40B4-BE49-F238E27FC236}">
                <a16:creationId xmlns:a16="http://schemas.microsoft.com/office/drawing/2014/main" id="{E7FCF8B6-DEE5-D03C-6074-D8CDA71EC4E5}"/>
              </a:ext>
            </a:extLst>
          </p:cNvPr>
          <p:cNvSpPr/>
          <p:nvPr/>
        </p:nvSpPr>
        <p:spPr>
          <a:xfrm>
            <a:off x="320040" y="45720"/>
            <a:ext cx="8503920" cy="59436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VIOLATION 4 Residual normality </a:t>
            </a:r>
            <a:endParaRPr lang="en-US" sz="2200" dirty="0"/>
          </a:p>
        </p:txBody>
      </p:sp>
      <p:sp>
        <p:nvSpPr>
          <p:cNvPr id="4" name="Shape 2">
            <a:extLst>
              <a:ext uri="{FF2B5EF4-FFF2-40B4-BE49-F238E27FC236}">
                <a16:creationId xmlns:a16="http://schemas.microsoft.com/office/drawing/2014/main" id="{D3DCB52E-4C9C-55C9-AD13-9670A26D81A4}"/>
              </a:ext>
            </a:extLst>
          </p:cNvPr>
          <p:cNvSpPr/>
          <p:nvPr/>
        </p:nvSpPr>
        <p:spPr>
          <a:xfrm>
            <a:off x="0" y="685800"/>
            <a:ext cx="9144000" cy="64008"/>
          </a:xfrm>
          <a:prstGeom prst="rect">
            <a:avLst/>
          </a:prstGeom>
          <a:solidFill>
            <a:srgbClr val="F59E0B"/>
          </a:solidFill>
          <a:ln w="12700">
            <a:solidFill>
              <a:srgbClr val="F59E0B"/>
            </a:solidFill>
            <a:prstDash val="solid"/>
          </a:ln>
        </p:spPr>
        <p:txBody>
          <a:bodyPr/>
          <a:lstStyle/>
          <a:p>
            <a:endParaRPr lang="en-US"/>
          </a:p>
        </p:txBody>
      </p:sp>
      <p:sp>
        <p:nvSpPr>
          <p:cNvPr id="5" name="Shape 3">
            <a:extLst>
              <a:ext uri="{FF2B5EF4-FFF2-40B4-BE49-F238E27FC236}">
                <a16:creationId xmlns:a16="http://schemas.microsoft.com/office/drawing/2014/main" id="{72FE0F66-CB2B-04B3-EC80-6ADA586D4026}"/>
              </a:ext>
            </a:extLst>
          </p:cNvPr>
          <p:cNvSpPr/>
          <p:nvPr/>
        </p:nvSpPr>
        <p:spPr>
          <a:xfrm>
            <a:off x="228600" y="914400"/>
            <a:ext cx="8686800" cy="2011680"/>
          </a:xfrm>
          <a:prstGeom prst="rect">
            <a:avLst/>
          </a:prstGeom>
          <a:solidFill>
            <a:srgbClr val="FFFBEB"/>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Shape 4">
            <a:extLst>
              <a:ext uri="{FF2B5EF4-FFF2-40B4-BE49-F238E27FC236}">
                <a16:creationId xmlns:a16="http://schemas.microsoft.com/office/drawing/2014/main" id="{3E623F4F-DA98-F25C-5DB1-0326DF3FA184}"/>
              </a:ext>
            </a:extLst>
          </p:cNvPr>
          <p:cNvSpPr/>
          <p:nvPr/>
        </p:nvSpPr>
        <p:spPr>
          <a:xfrm>
            <a:off x="228600" y="914400"/>
            <a:ext cx="64008" cy="2011680"/>
          </a:xfrm>
          <a:prstGeom prst="rect">
            <a:avLst/>
          </a:prstGeom>
          <a:solidFill>
            <a:srgbClr val="F59E0B"/>
          </a:solidFill>
          <a:ln w="12700">
            <a:solidFill>
              <a:srgbClr val="F59E0B"/>
            </a:solidFill>
            <a:prstDash val="solid"/>
          </a:ln>
        </p:spPr>
        <p:txBody>
          <a:bodyPr/>
          <a:lstStyle/>
          <a:p>
            <a:endParaRPr lang="en-US"/>
          </a:p>
        </p:txBody>
      </p:sp>
      <p:sp>
        <p:nvSpPr>
          <p:cNvPr id="7" name="Text 5">
            <a:extLst>
              <a:ext uri="{FF2B5EF4-FFF2-40B4-BE49-F238E27FC236}">
                <a16:creationId xmlns:a16="http://schemas.microsoft.com/office/drawing/2014/main" id="{D714E2FA-B6FA-F081-F32C-00219CC4C69E}"/>
              </a:ext>
            </a:extLst>
          </p:cNvPr>
          <p:cNvSpPr/>
          <p:nvPr/>
        </p:nvSpPr>
        <p:spPr>
          <a:xfrm>
            <a:off x="457200" y="969264"/>
            <a:ext cx="8229600" cy="32004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cs typeface="Calibri" pitchFamily="34" charset="-120"/>
              </a:rPr>
              <a:t>SITUATION</a:t>
            </a:r>
            <a:endParaRPr lang="en-US" sz="1300" dirty="0"/>
          </a:p>
        </p:txBody>
      </p:sp>
      <p:sp>
        <p:nvSpPr>
          <p:cNvPr id="8" name="Text 6">
            <a:extLst>
              <a:ext uri="{FF2B5EF4-FFF2-40B4-BE49-F238E27FC236}">
                <a16:creationId xmlns:a16="http://schemas.microsoft.com/office/drawing/2014/main" id="{4DA1C9A9-0AE4-DEFA-6F7A-A4F0981919A2}"/>
              </a:ext>
            </a:extLst>
          </p:cNvPr>
          <p:cNvSpPr/>
          <p:nvPr/>
        </p:nvSpPr>
        <p:spPr>
          <a:xfrm>
            <a:off x="457200" y="1325880"/>
            <a:ext cx="8229600" cy="1508760"/>
          </a:xfrm>
          <a:prstGeom prst="rect">
            <a:avLst/>
          </a:prstGeom>
          <a:noFill/>
          <a:ln/>
        </p:spPr>
        <p:txBody>
          <a:bodyPr wrap="square" lIns="0" tIns="0" rIns="0" bIns="0" rtlCol="0" anchor="ctr"/>
          <a:lstStyle/>
          <a:p>
            <a:r>
              <a:rPr lang="en-US" sz="1200" dirty="0">
                <a:solidFill>
                  <a:srgbClr val="475569"/>
                </a:solidFill>
                <a:latin typeface="Calibri" pitchFamily="34" charset="0"/>
                <a:ea typeface="Calibri" pitchFamily="34" charset="-122"/>
                <a:cs typeface="Calibri" pitchFamily="34" charset="-120"/>
              </a:rPr>
              <a:t>Q-Q plot not normal </a:t>
            </a:r>
          </a:p>
          <a:p>
            <a:endParaRPr lang="en-US" sz="1200" i="1" dirty="0">
              <a:solidFill>
                <a:srgbClr val="475569"/>
              </a:solidFill>
              <a:latin typeface="Calibri" pitchFamily="34" charset="0"/>
              <a:cs typeface="Calibri" pitchFamily="34" charset="-120"/>
            </a:endParaRPr>
          </a:p>
          <a:p>
            <a:pPr marL="0" indent="0">
              <a:buNone/>
            </a:pPr>
            <a:r>
              <a:rPr lang="en-US" sz="1200" dirty="0">
                <a:solidFill>
                  <a:srgbClr val="475569"/>
                </a:solidFill>
                <a:latin typeface="Calibri" pitchFamily="34" charset="0"/>
                <a:cs typeface="Calibri" pitchFamily="34" charset="-120"/>
              </a:rPr>
              <a:t>If sample size is big , result is still robust </a:t>
            </a:r>
            <a:endParaRPr lang="en-US" sz="1200" i="1" dirty="0">
              <a:solidFill>
                <a:srgbClr val="475569"/>
              </a:solidFill>
              <a:latin typeface="Calibri" pitchFamily="34" charset="0"/>
              <a:cs typeface="Calibri" pitchFamily="34" charset="-120"/>
            </a:endParaRPr>
          </a:p>
          <a:p>
            <a:pPr marL="0" indent="0">
              <a:buNone/>
            </a:pPr>
            <a:r>
              <a:rPr lang="en-US" sz="1200" i="1" dirty="0">
                <a:solidFill>
                  <a:srgbClr val="475569"/>
                </a:solidFill>
                <a:latin typeface="Calibri" pitchFamily="34" charset="0"/>
                <a:cs typeface="Calibri" pitchFamily="34" charset="-120"/>
              </a:rPr>
              <a:t> </a:t>
            </a:r>
          </a:p>
          <a:p>
            <a:pPr marL="0" indent="0">
              <a:buNone/>
            </a:pPr>
            <a:r>
              <a:rPr lang="en-US" sz="1200" dirty="0">
                <a:solidFill>
                  <a:srgbClr val="475569"/>
                </a:solidFill>
                <a:latin typeface="Calibri" pitchFamily="34" charset="0"/>
                <a:cs typeface="Calibri" pitchFamily="34" charset="-120"/>
              </a:rPr>
              <a:t>Check for outliers as well and remove them</a:t>
            </a:r>
          </a:p>
          <a:p>
            <a:pPr marL="0" indent="0">
              <a:buNone/>
            </a:pPr>
            <a:endParaRPr lang="en-US" sz="1200" i="1" dirty="0">
              <a:solidFill>
                <a:srgbClr val="475569"/>
              </a:solidFill>
              <a:latin typeface="Calibri" pitchFamily="34" charset="0"/>
              <a:cs typeface="Calibri" pitchFamily="34" charset="-120"/>
            </a:endParaRPr>
          </a:p>
          <a:p>
            <a:r>
              <a:rPr lang="en-US" sz="1200" dirty="0">
                <a:solidFill>
                  <a:srgbClr val="475569"/>
                </a:solidFill>
                <a:latin typeface="Calibri" pitchFamily="34" charset="0"/>
                <a:cs typeface="Calibri" pitchFamily="34" charset="-120"/>
              </a:rPr>
              <a:t>Either transform the dependent variable</a:t>
            </a:r>
          </a:p>
          <a:p>
            <a:endParaRPr lang="en-US" sz="1200" dirty="0">
              <a:solidFill>
                <a:srgbClr val="475569"/>
              </a:solidFill>
              <a:latin typeface="Calibri" pitchFamily="34" charset="0"/>
              <a:cs typeface="Calibri" pitchFamily="34" charset="-120"/>
            </a:endParaRPr>
          </a:p>
          <a:p>
            <a:r>
              <a:rPr lang="en-US" sz="1200" dirty="0">
                <a:solidFill>
                  <a:srgbClr val="475569"/>
                </a:solidFill>
                <a:latin typeface="Calibri" pitchFamily="34" charset="0"/>
                <a:cs typeface="Calibri" pitchFamily="34" charset="-120"/>
              </a:rPr>
              <a:t>Or use robust regression</a:t>
            </a:r>
          </a:p>
        </p:txBody>
      </p:sp>
      <p:sp>
        <p:nvSpPr>
          <p:cNvPr id="9" name="Text 7">
            <a:extLst>
              <a:ext uri="{FF2B5EF4-FFF2-40B4-BE49-F238E27FC236}">
                <a16:creationId xmlns:a16="http://schemas.microsoft.com/office/drawing/2014/main" id="{4DFB6449-78F8-1912-F1FE-BF40CC730DEA}"/>
              </a:ext>
            </a:extLst>
          </p:cNvPr>
          <p:cNvSpPr/>
          <p:nvPr/>
        </p:nvSpPr>
        <p:spPr>
          <a:xfrm>
            <a:off x="228600" y="3063240"/>
            <a:ext cx="8686800" cy="347472"/>
          </a:xfrm>
          <a:prstGeom prst="rect">
            <a:avLst/>
          </a:prstGeom>
          <a:noFill/>
          <a:ln/>
        </p:spPr>
        <p:txBody>
          <a:bodyPr wrap="square" lIns="0" tIns="0" rIns="0" bIns="0" rtlCol="0" anchor="ctr"/>
          <a:lstStyle/>
          <a:p>
            <a:pPr marL="0" indent="0">
              <a:buNone/>
            </a:pPr>
            <a:r>
              <a:rPr lang="en-US" sz="1400" b="1" dirty="0">
                <a:solidFill>
                  <a:srgbClr val="1B2A4A"/>
                </a:solidFill>
                <a:latin typeface="Calibri" pitchFamily="34" charset="0"/>
                <a:cs typeface="Calibri" pitchFamily="34" charset="-120"/>
              </a:rPr>
              <a:t>WHAT CAN YOU DO </a:t>
            </a:r>
            <a:endParaRPr lang="en-US" sz="1400" dirty="0"/>
          </a:p>
        </p:txBody>
      </p:sp>
      <p:sp>
        <p:nvSpPr>
          <p:cNvPr id="10" name="Shape 8">
            <a:extLst>
              <a:ext uri="{FF2B5EF4-FFF2-40B4-BE49-F238E27FC236}">
                <a16:creationId xmlns:a16="http://schemas.microsoft.com/office/drawing/2014/main" id="{68EE14E9-2946-A710-0C8E-1D8809BFC07A}"/>
              </a:ext>
            </a:extLst>
          </p:cNvPr>
          <p:cNvSpPr/>
          <p:nvPr/>
        </p:nvSpPr>
        <p:spPr>
          <a:xfrm>
            <a:off x="228600" y="3566160"/>
            <a:ext cx="320040" cy="320040"/>
          </a:xfrm>
          <a:prstGeom prst="ellipse">
            <a:avLst/>
          </a:prstGeom>
          <a:solidFill>
            <a:srgbClr val="16A34A"/>
          </a:solidFill>
          <a:ln w="12700">
            <a:solidFill>
              <a:srgbClr val="16A34A"/>
            </a:solidFill>
            <a:prstDash val="solid"/>
          </a:ln>
        </p:spPr>
        <p:txBody>
          <a:bodyPr/>
          <a:lstStyle/>
          <a:p>
            <a:endParaRPr lang="en-US"/>
          </a:p>
        </p:txBody>
      </p:sp>
      <p:sp>
        <p:nvSpPr>
          <p:cNvPr id="11" name="Text 9">
            <a:extLst>
              <a:ext uri="{FF2B5EF4-FFF2-40B4-BE49-F238E27FC236}">
                <a16:creationId xmlns:a16="http://schemas.microsoft.com/office/drawing/2014/main" id="{A2D45423-5C88-F094-C1B0-53FB5CA3CC6F}"/>
              </a:ext>
            </a:extLst>
          </p:cNvPr>
          <p:cNvSpPr/>
          <p:nvPr/>
        </p:nvSpPr>
        <p:spPr>
          <a:xfrm>
            <a:off x="22860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a:extLst>
              <a:ext uri="{FF2B5EF4-FFF2-40B4-BE49-F238E27FC236}">
                <a16:creationId xmlns:a16="http://schemas.microsoft.com/office/drawing/2014/main" id="{AFB7DE10-C1FC-1D67-A01C-A62965955251}"/>
              </a:ext>
            </a:extLst>
          </p:cNvPr>
          <p:cNvSpPr/>
          <p:nvPr/>
        </p:nvSpPr>
        <p:spPr>
          <a:xfrm>
            <a:off x="640080" y="3566160"/>
            <a:ext cx="8275320" cy="365760"/>
          </a:xfrm>
          <a:prstGeom prst="rect">
            <a:avLst/>
          </a:prstGeom>
          <a:noFill/>
          <a:ln/>
        </p:spPr>
        <p:txBody>
          <a:bodyPr wrap="square" lIns="0" tIns="0" rIns="0" bIns="0" rtlCol="0" anchor="ctr"/>
          <a:lstStyle/>
          <a:p>
            <a:r>
              <a:rPr lang="en-US" sz="1100" dirty="0">
                <a:latin typeface="Calibri" panose="020F0502020204030204" pitchFamily="34" charset="0"/>
                <a:cs typeface="Calibri" panose="020F0502020204030204" pitchFamily="34" charset="0"/>
              </a:rPr>
              <a:t>Transform the DV - </a:t>
            </a:r>
            <a:r>
              <a:rPr lang="en-MY" sz="1100" dirty="0">
                <a:latin typeface="Calibri" panose="020F0502020204030204" pitchFamily="34" charset="0"/>
                <a:cs typeface="Calibri" panose="020F0502020204030204" pitchFamily="34" charset="0"/>
              </a:rPr>
              <a:t>model2 &lt;- </a:t>
            </a:r>
            <a:r>
              <a:rPr lang="en-MY" sz="1100" dirty="0" err="1">
                <a:latin typeface="Calibri" panose="020F0502020204030204" pitchFamily="34" charset="0"/>
                <a:cs typeface="Calibri" panose="020F0502020204030204" pitchFamily="34" charset="0"/>
              </a:rPr>
              <a:t>lm</a:t>
            </a:r>
            <a:r>
              <a:rPr lang="en-MY" sz="1100" dirty="0">
                <a:latin typeface="Calibri" panose="020F0502020204030204" pitchFamily="34" charset="0"/>
                <a:cs typeface="Calibri" panose="020F0502020204030204" pitchFamily="34" charset="0"/>
              </a:rPr>
              <a:t>(log(y) ~ x, data = </a:t>
            </a:r>
            <a:r>
              <a:rPr lang="en-MY" sz="1100" dirty="0" err="1">
                <a:latin typeface="Calibri" panose="020F0502020204030204" pitchFamily="34" charset="0"/>
                <a:cs typeface="Calibri" panose="020F0502020204030204" pitchFamily="34" charset="0"/>
              </a:rPr>
              <a:t>df</a:t>
            </a:r>
            <a:r>
              <a:rPr lang="en-MY" sz="1100" dirty="0">
                <a:latin typeface="Calibri" panose="020F0502020204030204" pitchFamily="34" charset="0"/>
                <a:cs typeface="Calibri" panose="020F0502020204030204" pitchFamily="34" charset="0"/>
              </a:rPr>
              <a:t>)</a:t>
            </a:r>
            <a:endParaRPr lang="en-US" sz="1100" dirty="0">
              <a:latin typeface="Calibri" panose="020F0502020204030204" pitchFamily="34" charset="0"/>
              <a:cs typeface="Calibri" panose="020F0502020204030204" pitchFamily="34" charset="0"/>
            </a:endParaRPr>
          </a:p>
        </p:txBody>
      </p:sp>
      <p:sp>
        <p:nvSpPr>
          <p:cNvPr id="13" name="Shape 11">
            <a:extLst>
              <a:ext uri="{FF2B5EF4-FFF2-40B4-BE49-F238E27FC236}">
                <a16:creationId xmlns:a16="http://schemas.microsoft.com/office/drawing/2014/main" id="{A67DF0AB-32A2-90D5-5ED3-2DC81AF01ABA}"/>
              </a:ext>
            </a:extLst>
          </p:cNvPr>
          <p:cNvSpPr/>
          <p:nvPr/>
        </p:nvSpPr>
        <p:spPr>
          <a:xfrm>
            <a:off x="228600" y="4069080"/>
            <a:ext cx="320040" cy="320040"/>
          </a:xfrm>
          <a:prstGeom prst="ellipse">
            <a:avLst/>
          </a:prstGeom>
          <a:solidFill>
            <a:srgbClr val="2563EB"/>
          </a:solidFill>
          <a:ln w="12700">
            <a:solidFill>
              <a:srgbClr val="2563EB"/>
            </a:solidFill>
            <a:prstDash val="solid"/>
          </a:ln>
        </p:spPr>
        <p:txBody>
          <a:bodyPr/>
          <a:lstStyle/>
          <a:p>
            <a:endParaRPr lang="en-US"/>
          </a:p>
        </p:txBody>
      </p:sp>
      <p:sp>
        <p:nvSpPr>
          <p:cNvPr id="14" name="Text 12">
            <a:extLst>
              <a:ext uri="{FF2B5EF4-FFF2-40B4-BE49-F238E27FC236}">
                <a16:creationId xmlns:a16="http://schemas.microsoft.com/office/drawing/2014/main" id="{CC7D17C1-B63B-9571-BC2C-C411E5C201F3}"/>
              </a:ext>
            </a:extLst>
          </p:cNvPr>
          <p:cNvSpPr/>
          <p:nvPr/>
        </p:nvSpPr>
        <p:spPr>
          <a:xfrm>
            <a:off x="22860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5" name="Text 13">
            <a:extLst>
              <a:ext uri="{FF2B5EF4-FFF2-40B4-BE49-F238E27FC236}">
                <a16:creationId xmlns:a16="http://schemas.microsoft.com/office/drawing/2014/main" id="{FAD66F18-ED67-3F8C-53C2-03880ABC86FE}"/>
              </a:ext>
            </a:extLst>
          </p:cNvPr>
          <p:cNvSpPr/>
          <p:nvPr/>
        </p:nvSpPr>
        <p:spPr>
          <a:xfrm>
            <a:off x="640080" y="4123944"/>
            <a:ext cx="5307299" cy="365760"/>
          </a:xfrm>
          <a:prstGeom prst="rect">
            <a:avLst/>
          </a:prstGeom>
          <a:noFill/>
          <a:ln/>
        </p:spPr>
        <p:txBody>
          <a:bodyPr wrap="square" lIns="0" tIns="0" rIns="0" bIns="0" rtlCol="0" anchor="ctr"/>
          <a:lstStyle/>
          <a:p>
            <a:pPr lvl="1"/>
            <a:r>
              <a:rPr lang="en-US" sz="1100" dirty="0">
                <a:latin typeface="Calibri" panose="020F0502020204030204" pitchFamily="34" charset="0"/>
                <a:ea typeface="Calibri" pitchFamily="34" charset="-122"/>
                <a:cs typeface="Calibri" panose="020F0502020204030204" pitchFamily="34" charset="0"/>
              </a:rPr>
              <a:t>Robust regression - </a:t>
            </a:r>
            <a:r>
              <a:rPr lang="en-MY" sz="1100" dirty="0">
                <a:latin typeface="Calibri" panose="020F0502020204030204" pitchFamily="34" charset="0"/>
                <a:cs typeface="Calibri" panose="020F0502020204030204" pitchFamily="34" charset="0"/>
              </a:rPr>
              <a:t>library(</a:t>
            </a:r>
            <a:r>
              <a:rPr lang="en-MY" sz="1100" dirty="0" err="1">
                <a:latin typeface="Calibri" panose="020F0502020204030204" pitchFamily="34" charset="0"/>
                <a:cs typeface="Calibri" panose="020F0502020204030204" pitchFamily="34" charset="0"/>
              </a:rPr>
              <a:t>robustbase</a:t>
            </a:r>
            <a:r>
              <a:rPr lang="en-MY" sz="1100" dirty="0">
                <a:latin typeface="Calibri" panose="020F0502020204030204" pitchFamily="34" charset="0"/>
                <a:cs typeface="Calibri" panose="020F0502020204030204" pitchFamily="34" charset="0"/>
              </a:rPr>
              <a:t>); </a:t>
            </a:r>
            <a:r>
              <a:rPr lang="en-MY" sz="1100" dirty="0" err="1">
                <a:latin typeface="Calibri" panose="020F0502020204030204" pitchFamily="34" charset="0"/>
                <a:cs typeface="Calibri" panose="020F0502020204030204" pitchFamily="34" charset="0"/>
              </a:rPr>
              <a:t>robust_model</a:t>
            </a:r>
            <a:r>
              <a:rPr lang="en-MY" sz="1100" dirty="0">
                <a:latin typeface="Calibri" panose="020F0502020204030204" pitchFamily="34" charset="0"/>
                <a:cs typeface="Calibri" panose="020F0502020204030204" pitchFamily="34" charset="0"/>
              </a:rPr>
              <a:t> &lt;- </a:t>
            </a:r>
            <a:r>
              <a:rPr lang="en-MY" sz="1100" dirty="0" err="1">
                <a:latin typeface="Calibri" panose="020F0502020204030204" pitchFamily="34" charset="0"/>
                <a:cs typeface="Calibri" panose="020F0502020204030204" pitchFamily="34" charset="0"/>
              </a:rPr>
              <a:t>lmrob</a:t>
            </a:r>
            <a:r>
              <a:rPr lang="en-MY" sz="1100" dirty="0">
                <a:latin typeface="Calibri" panose="020F0502020204030204" pitchFamily="34" charset="0"/>
                <a:cs typeface="Calibri" panose="020F0502020204030204" pitchFamily="34" charset="0"/>
              </a:rPr>
              <a:t>(y ~ x, data = </a:t>
            </a:r>
            <a:r>
              <a:rPr lang="en-MY" sz="1100" dirty="0" err="1">
                <a:latin typeface="Calibri" panose="020F0502020204030204" pitchFamily="34" charset="0"/>
                <a:cs typeface="Calibri" panose="020F0502020204030204" pitchFamily="34" charset="0"/>
              </a:rPr>
              <a:t>df</a:t>
            </a:r>
            <a:r>
              <a:rPr lang="en-MY" sz="1100" dirty="0">
                <a:latin typeface="Calibri" panose="020F0502020204030204" pitchFamily="34" charset="0"/>
                <a:cs typeface="Calibri" panose="020F0502020204030204" pitchFamily="34" charset="0"/>
              </a:rPr>
              <a:t>)</a:t>
            </a:r>
          </a:p>
        </p:txBody>
      </p:sp>
      <p:sp>
        <p:nvSpPr>
          <p:cNvPr id="20" name="Text 18">
            <a:extLst>
              <a:ext uri="{FF2B5EF4-FFF2-40B4-BE49-F238E27FC236}">
                <a16:creationId xmlns:a16="http://schemas.microsoft.com/office/drawing/2014/main" id="{15A04516-49FB-3658-E491-52FCBAA4609F}"/>
              </a:ext>
            </a:extLst>
          </p:cNvPr>
          <p:cNvSpPr/>
          <p:nvPr/>
        </p:nvSpPr>
        <p:spPr>
          <a:xfrm>
            <a:off x="470916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a:extLst>
              <a:ext uri="{FF2B5EF4-FFF2-40B4-BE49-F238E27FC236}">
                <a16:creationId xmlns:a16="http://schemas.microsoft.com/office/drawing/2014/main" id="{EABF1C64-2691-8A87-6DCF-DAC8382E5B63}"/>
              </a:ext>
            </a:extLst>
          </p:cNvPr>
          <p:cNvSpPr/>
          <p:nvPr/>
        </p:nvSpPr>
        <p:spPr>
          <a:xfrm>
            <a:off x="470916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6" name="Text 24">
            <a:extLst>
              <a:ext uri="{FF2B5EF4-FFF2-40B4-BE49-F238E27FC236}">
                <a16:creationId xmlns:a16="http://schemas.microsoft.com/office/drawing/2014/main" id="{BAA50E40-C037-348F-F6E6-3320A2FF3A84}"/>
              </a:ext>
            </a:extLst>
          </p:cNvPr>
          <p:cNvSpPr/>
          <p:nvPr/>
        </p:nvSpPr>
        <p:spPr>
          <a:xfrm>
            <a:off x="4709160" y="457200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8" name="Text 26">
            <a:extLst>
              <a:ext uri="{FF2B5EF4-FFF2-40B4-BE49-F238E27FC236}">
                <a16:creationId xmlns:a16="http://schemas.microsoft.com/office/drawing/2014/main" id="{161D3A02-061A-7DC9-2483-F14360352D16}"/>
              </a:ext>
            </a:extLst>
          </p:cNvPr>
          <p:cNvSpPr/>
          <p:nvPr/>
        </p:nvSpPr>
        <p:spPr>
          <a:xfrm>
            <a:off x="228600" y="4919472"/>
            <a:ext cx="868680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pp. 255–260  |  APA Publication Manual, 7th Ed.</a:t>
            </a:r>
            <a:endParaRPr lang="en-US" sz="900" dirty="0"/>
          </a:p>
        </p:txBody>
      </p:sp>
    </p:spTree>
    <p:extLst>
      <p:ext uri="{BB962C8B-B14F-4D97-AF65-F5344CB8AC3E}">
        <p14:creationId xmlns:p14="http://schemas.microsoft.com/office/powerpoint/2010/main" val="18876622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FD097-5568-E296-B32D-2E2D812F567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1165101-4556-5A21-67D9-C8D0F15CD571}"/>
              </a:ext>
            </a:extLst>
          </p:cNvPr>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a:extLst>
              <a:ext uri="{FF2B5EF4-FFF2-40B4-BE49-F238E27FC236}">
                <a16:creationId xmlns:a16="http://schemas.microsoft.com/office/drawing/2014/main" id="{7771E246-F55F-4665-75C1-89803F20FDA4}"/>
              </a:ext>
            </a:extLst>
          </p:cNvPr>
          <p:cNvSpPr/>
          <p:nvPr/>
        </p:nvSpPr>
        <p:spPr>
          <a:xfrm>
            <a:off x="320040" y="45720"/>
            <a:ext cx="8503920" cy="59436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VIOLATION 5 MULTICOLLINEARITY </a:t>
            </a:r>
            <a:endParaRPr lang="en-US" sz="2200" dirty="0"/>
          </a:p>
        </p:txBody>
      </p:sp>
      <p:sp>
        <p:nvSpPr>
          <p:cNvPr id="4" name="Shape 2">
            <a:extLst>
              <a:ext uri="{FF2B5EF4-FFF2-40B4-BE49-F238E27FC236}">
                <a16:creationId xmlns:a16="http://schemas.microsoft.com/office/drawing/2014/main" id="{CC3693BD-35C9-BEF9-2F77-D53389985AD8}"/>
              </a:ext>
            </a:extLst>
          </p:cNvPr>
          <p:cNvSpPr/>
          <p:nvPr/>
        </p:nvSpPr>
        <p:spPr>
          <a:xfrm>
            <a:off x="0" y="685800"/>
            <a:ext cx="9144000" cy="64008"/>
          </a:xfrm>
          <a:prstGeom prst="rect">
            <a:avLst/>
          </a:prstGeom>
          <a:solidFill>
            <a:srgbClr val="F59E0B"/>
          </a:solidFill>
          <a:ln w="12700">
            <a:solidFill>
              <a:srgbClr val="F59E0B"/>
            </a:solidFill>
            <a:prstDash val="solid"/>
          </a:ln>
        </p:spPr>
        <p:txBody>
          <a:bodyPr/>
          <a:lstStyle/>
          <a:p>
            <a:endParaRPr lang="en-US"/>
          </a:p>
        </p:txBody>
      </p:sp>
      <p:sp>
        <p:nvSpPr>
          <p:cNvPr id="5" name="Shape 3">
            <a:extLst>
              <a:ext uri="{FF2B5EF4-FFF2-40B4-BE49-F238E27FC236}">
                <a16:creationId xmlns:a16="http://schemas.microsoft.com/office/drawing/2014/main" id="{D2558922-A989-744D-5D90-5602961D87C8}"/>
              </a:ext>
            </a:extLst>
          </p:cNvPr>
          <p:cNvSpPr/>
          <p:nvPr/>
        </p:nvSpPr>
        <p:spPr>
          <a:xfrm>
            <a:off x="228600" y="914400"/>
            <a:ext cx="8686800" cy="2011680"/>
          </a:xfrm>
          <a:prstGeom prst="rect">
            <a:avLst/>
          </a:prstGeom>
          <a:solidFill>
            <a:srgbClr val="FFFBEB"/>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Shape 4">
            <a:extLst>
              <a:ext uri="{FF2B5EF4-FFF2-40B4-BE49-F238E27FC236}">
                <a16:creationId xmlns:a16="http://schemas.microsoft.com/office/drawing/2014/main" id="{7CDE4DEF-AA7E-C606-8BD9-4EDC78F816F6}"/>
              </a:ext>
            </a:extLst>
          </p:cNvPr>
          <p:cNvSpPr/>
          <p:nvPr/>
        </p:nvSpPr>
        <p:spPr>
          <a:xfrm>
            <a:off x="228600" y="914400"/>
            <a:ext cx="64008" cy="2011680"/>
          </a:xfrm>
          <a:prstGeom prst="rect">
            <a:avLst/>
          </a:prstGeom>
          <a:solidFill>
            <a:srgbClr val="F59E0B"/>
          </a:solidFill>
          <a:ln w="12700">
            <a:solidFill>
              <a:srgbClr val="F59E0B"/>
            </a:solidFill>
            <a:prstDash val="solid"/>
          </a:ln>
        </p:spPr>
        <p:txBody>
          <a:bodyPr/>
          <a:lstStyle/>
          <a:p>
            <a:endParaRPr lang="en-US"/>
          </a:p>
        </p:txBody>
      </p:sp>
      <p:sp>
        <p:nvSpPr>
          <p:cNvPr id="7" name="Text 5">
            <a:extLst>
              <a:ext uri="{FF2B5EF4-FFF2-40B4-BE49-F238E27FC236}">
                <a16:creationId xmlns:a16="http://schemas.microsoft.com/office/drawing/2014/main" id="{34C5805C-D0D7-BAE1-776F-E074D19B51DE}"/>
              </a:ext>
            </a:extLst>
          </p:cNvPr>
          <p:cNvSpPr/>
          <p:nvPr/>
        </p:nvSpPr>
        <p:spPr>
          <a:xfrm>
            <a:off x="457200" y="969264"/>
            <a:ext cx="8229600" cy="32004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cs typeface="Calibri" pitchFamily="34" charset="-120"/>
              </a:rPr>
              <a:t>SITUATION</a:t>
            </a:r>
            <a:endParaRPr lang="en-US" sz="1300" dirty="0"/>
          </a:p>
        </p:txBody>
      </p:sp>
      <p:sp>
        <p:nvSpPr>
          <p:cNvPr id="8" name="Text 6">
            <a:extLst>
              <a:ext uri="{FF2B5EF4-FFF2-40B4-BE49-F238E27FC236}">
                <a16:creationId xmlns:a16="http://schemas.microsoft.com/office/drawing/2014/main" id="{F9BB338F-2C25-1662-F773-861DA3C77E01}"/>
              </a:ext>
            </a:extLst>
          </p:cNvPr>
          <p:cNvSpPr/>
          <p:nvPr/>
        </p:nvSpPr>
        <p:spPr>
          <a:xfrm>
            <a:off x="457200" y="1325880"/>
            <a:ext cx="8229600" cy="1508760"/>
          </a:xfrm>
          <a:prstGeom prst="rect">
            <a:avLst/>
          </a:prstGeom>
          <a:noFill/>
          <a:ln/>
        </p:spPr>
        <p:txBody>
          <a:bodyPr wrap="square" lIns="0" tIns="0" rIns="0" bIns="0" rtlCol="0" anchor="ctr"/>
          <a:lstStyle/>
          <a:p>
            <a:r>
              <a:rPr lang="en-MY" sz="1600" dirty="0"/>
              <a:t>2 or more predictor variables in a regression model are highly correlated, leading to unreliable estimates of the coefficients</a:t>
            </a:r>
          </a:p>
          <a:p>
            <a:endParaRPr lang="en-MY" sz="1600" dirty="0"/>
          </a:p>
          <a:p>
            <a:r>
              <a:rPr lang="en-MY" sz="1600" dirty="0"/>
              <a:t>Either drop one and re run </a:t>
            </a:r>
          </a:p>
          <a:p>
            <a:endParaRPr lang="en-MY" sz="1600" dirty="0"/>
          </a:p>
          <a:p>
            <a:r>
              <a:rPr lang="en-MY" sz="1600" dirty="0"/>
              <a:t>Or Ridge regression is a method by which we add a degree of bias to the regression estimates. </a:t>
            </a:r>
          </a:p>
          <a:p>
            <a:endParaRPr lang="en-US" sz="1600" dirty="0"/>
          </a:p>
        </p:txBody>
      </p:sp>
      <p:sp>
        <p:nvSpPr>
          <p:cNvPr id="9" name="Text 7">
            <a:extLst>
              <a:ext uri="{FF2B5EF4-FFF2-40B4-BE49-F238E27FC236}">
                <a16:creationId xmlns:a16="http://schemas.microsoft.com/office/drawing/2014/main" id="{39A7EA89-61ED-D023-789B-C62E4EE24EE4}"/>
              </a:ext>
            </a:extLst>
          </p:cNvPr>
          <p:cNvSpPr/>
          <p:nvPr/>
        </p:nvSpPr>
        <p:spPr>
          <a:xfrm>
            <a:off x="228600" y="3063240"/>
            <a:ext cx="8686800" cy="347472"/>
          </a:xfrm>
          <a:prstGeom prst="rect">
            <a:avLst/>
          </a:prstGeom>
          <a:noFill/>
          <a:ln/>
        </p:spPr>
        <p:txBody>
          <a:bodyPr wrap="square" lIns="0" tIns="0" rIns="0" bIns="0" rtlCol="0" anchor="ctr"/>
          <a:lstStyle/>
          <a:p>
            <a:pPr marL="0" indent="0">
              <a:buNone/>
            </a:pPr>
            <a:r>
              <a:rPr lang="en-US" sz="1400" b="1" dirty="0">
                <a:solidFill>
                  <a:srgbClr val="1B2A4A"/>
                </a:solidFill>
                <a:latin typeface="Calibri" pitchFamily="34" charset="0"/>
                <a:cs typeface="Calibri" pitchFamily="34" charset="-120"/>
              </a:rPr>
              <a:t>WHAT CAN YOU DO </a:t>
            </a:r>
            <a:endParaRPr lang="en-US" sz="1400" dirty="0"/>
          </a:p>
        </p:txBody>
      </p:sp>
      <p:sp>
        <p:nvSpPr>
          <p:cNvPr id="10" name="Shape 8">
            <a:extLst>
              <a:ext uri="{FF2B5EF4-FFF2-40B4-BE49-F238E27FC236}">
                <a16:creationId xmlns:a16="http://schemas.microsoft.com/office/drawing/2014/main" id="{F52AA370-5FC8-9B7F-7182-64DB1FBBAE65}"/>
              </a:ext>
            </a:extLst>
          </p:cNvPr>
          <p:cNvSpPr/>
          <p:nvPr/>
        </p:nvSpPr>
        <p:spPr>
          <a:xfrm>
            <a:off x="228600" y="3566160"/>
            <a:ext cx="320040" cy="320040"/>
          </a:xfrm>
          <a:prstGeom prst="ellipse">
            <a:avLst/>
          </a:prstGeom>
          <a:solidFill>
            <a:srgbClr val="16A34A"/>
          </a:solidFill>
          <a:ln w="12700">
            <a:solidFill>
              <a:srgbClr val="16A34A"/>
            </a:solidFill>
            <a:prstDash val="solid"/>
          </a:ln>
        </p:spPr>
        <p:txBody>
          <a:bodyPr/>
          <a:lstStyle/>
          <a:p>
            <a:endParaRPr lang="en-US"/>
          </a:p>
        </p:txBody>
      </p:sp>
      <p:sp>
        <p:nvSpPr>
          <p:cNvPr id="11" name="Text 9">
            <a:extLst>
              <a:ext uri="{FF2B5EF4-FFF2-40B4-BE49-F238E27FC236}">
                <a16:creationId xmlns:a16="http://schemas.microsoft.com/office/drawing/2014/main" id="{9FD8F28B-3347-A55B-DEC6-28A7125F4E6B}"/>
              </a:ext>
            </a:extLst>
          </p:cNvPr>
          <p:cNvSpPr/>
          <p:nvPr/>
        </p:nvSpPr>
        <p:spPr>
          <a:xfrm>
            <a:off x="22860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a:extLst>
              <a:ext uri="{FF2B5EF4-FFF2-40B4-BE49-F238E27FC236}">
                <a16:creationId xmlns:a16="http://schemas.microsoft.com/office/drawing/2014/main" id="{EA2CB6C5-2F0E-C23A-3FA3-44F12CF42876}"/>
              </a:ext>
            </a:extLst>
          </p:cNvPr>
          <p:cNvSpPr/>
          <p:nvPr/>
        </p:nvSpPr>
        <p:spPr>
          <a:xfrm>
            <a:off x="640080" y="3566160"/>
            <a:ext cx="4069080" cy="3657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cs typeface="Calibri" pitchFamily="34" charset="-120"/>
              </a:rPr>
              <a:t>Drop the highly correlated predictors</a:t>
            </a:r>
            <a:endParaRPr lang="en-US" sz="1100" dirty="0"/>
          </a:p>
        </p:txBody>
      </p:sp>
      <p:sp>
        <p:nvSpPr>
          <p:cNvPr id="13" name="Shape 11">
            <a:extLst>
              <a:ext uri="{FF2B5EF4-FFF2-40B4-BE49-F238E27FC236}">
                <a16:creationId xmlns:a16="http://schemas.microsoft.com/office/drawing/2014/main" id="{EB7F434F-B8FE-5E4C-18E1-8AB6D1D36BA4}"/>
              </a:ext>
            </a:extLst>
          </p:cNvPr>
          <p:cNvSpPr/>
          <p:nvPr/>
        </p:nvSpPr>
        <p:spPr>
          <a:xfrm>
            <a:off x="228600" y="4069080"/>
            <a:ext cx="320040" cy="320040"/>
          </a:xfrm>
          <a:prstGeom prst="ellipse">
            <a:avLst/>
          </a:prstGeom>
          <a:solidFill>
            <a:srgbClr val="2563EB"/>
          </a:solidFill>
          <a:ln w="12700">
            <a:solidFill>
              <a:srgbClr val="2563EB"/>
            </a:solidFill>
            <a:prstDash val="solid"/>
          </a:ln>
        </p:spPr>
        <p:txBody>
          <a:bodyPr/>
          <a:lstStyle/>
          <a:p>
            <a:endParaRPr lang="en-US"/>
          </a:p>
        </p:txBody>
      </p:sp>
      <p:sp>
        <p:nvSpPr>
          <p:cNvPr id="14" name="Text 12">
            <a:extLst>
              <a:ext uri="{FF2B5EF4-FFF2-40B4-BE49-F238E27FC236}">
                <a16:creationId xmlns:a16="http://schemas.microsoft.com/office/drawing/2014/main" id="{C686079F-DF21-4D68-AEB1-C88C7DF7A408}"/>
              </a:ext>
            </a:extLst>
          </p:cNvPr>
          <p:cNvSpPr/>
          <p:nvPr/>
        </p:nvSpPr>
        <p:spPr>
          <a:xfrm>
            <a:off x="22860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5" name="Text 13">
            <a:extLst>
              <a:ext uri="{FF2B5EF4-FFF2-40B4-BE49-F238E27FC236}">
                <a16:creationId xmlns:a16="http://schemas.microsoft.com/office/drawing/2014/main" id="{AA38AA08-5F1C-7C31-8FCD-A9AE8CB41BA9}"/>
              </a:ext>
            </a:extLst>
          </p:cNvPr>
          <p:cNvSpPr/>
          <p:nvPr/>
        </p:nvSpPr>
        <p:spPr>
          <a:xfrm>
            <a:off x="640080" y="4069080"/>
            <a:ext cx="4069080" cy="3657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Regularization (ridge/lasso regression)</a:t>
            </a:r>
            <a:endParaRPr lang="en-US" sz="1100" dirty="0"/>
          </a:p>
        </p:txBody>
      </p:sp>
      <p:sp>
        <p:nvSpPr>
          <p:cNvPr id="17" name="Text 15">
            <a:extLst>
              <a:ext uri="{FF2B5EF4-FFF2-40B4-BE49-F238E27FC236}">
                <a16:creationId xmlns:a16="http://schemas.microsoft.com/office/drawing/2014/main" id="{147F9185-58C6-919C-D227-39F231F3EA52}"/>
              </a:ext>
            </a:extLst>
          </p:cNvPr>
          <p:cNvSpPr/>
          <p:nvPr/>
        </p:nvSpPr>
        <p:spPr>
          <a:xfrm>
            <a:off x="228600" y="457200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0" name="Text 18">
            <a:extLst>
              <a:ext uri="{FF2B5EF4-FFF2-40B4-BE49-F238E27FC236}">
                <a16:creationId xmlns:a16="http://schemas.microsoft.com/office/drawing/2014/main" id="{08B078E2-6A3E-6F59-98C8-CD86B24FD285}"/>
              </a:ext>
            </a:extLst>
          </p:cNvPr>
          <p:cNvSpPr/>
          <p:nvPr/>
        </p:nvSpPr>
        <p:spPr>
          <a:xfrm>
            <a:off x="470916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1" name="Text 19">
            <a:extLst>
              <a:ext uri="{FF2B5EF4-FFF2-40B4-BE49-F238E27FC236}">
                <a16:creationId xmlns:a16="http://schemas.microsoft.com/office/drawing/2014/main" id="{9075C451-3E04-8012-C678-974723A5EAFE}"/>
              </a:ext>
            </a:extLst>
          </p:cNvPr>
          <p:cNvSpPr/>
          <p:nvPr/>
        </p:nvSpPr>
        <p:spPr>
          <a:xfrm>
            <a:off x="3058967" y="3456432"/>
            <a:ext cx="5293723" cy="365760"/>
          </a:xfrm>
          <a:prstGeom prst="rect">
            <a:avLst/>
          </a:prstGeom>
          <a:noFill/>
          <a:ln/>
        </p:spPr>
        <p:txBody>
          <a:bodyPr wrap="square" lIns="0" tIns="0" rIns="0" bIns="0" rtlCol="0" anchor="ctr"/>
          <a:lstStyle/>
          <a:p>
            <a:pPr latinLnBrk="1"/>
            <a:r>
              <a:rPr lang="en-MY" dirty="0"/>
              <a:t>Repeat model without one of the correlated predictors</a:t>
            </a:r>
          </a:p>
        </p:txBody>
      </p:sp>
      <p:sp>
        <p:nvSpPr>
          <p:cNvPr id="23" name="Text 21">
            <a:extLst>
              <a:ext uri="{FF2B5EF4-FFF2-40B4-BE49-F238E27FC236}">
                <a16:creationId xmlns:a16="http://schemas.microsoft.com/office/drawing/2014/main" id="{85F5A3DF-4DBD-3F43-C97C-9425BB0C8CCB}"/>
              </a:ext>
            </a:extLst>
          </p:cNvPr>
          <p:cNvSpPr/>
          <p:nvPr/>
        </p:nvSpPr>
        <p:spPr>
          <a:xfrm>
            <a:off x="470916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4" name="Text 22">
            <a:extLst>
              <a:ext uri="{FF2B5EF4-FFF2-40B4-BE49-F238E27FC236}">
                <a16:creationId xmlns:a16="http://schemas.microsoft.com/office/drawing/2014/main" id="{0EBBDEA1-90EB-167C-A7B7-A88C43D7EA0B}"/>
              </a:ext>
            </a:extLst>
          </p:cNvPr>
          <p:cNvSpPr/>
          <p:nvPr/>
        </p:nvSpPr>
        <p:spPr>
          <a:xfrm>
            <a:off x="3058967" y="4242816"/>
            <a:ext cx="5961939" cy="365760"/>
          </a:xfrm>
          <a:prstGeom prst="rect">
            <a:avLst/>
          </a:prstGeom>
          <a:noFill/>
          <a:ln/>
        </p:spPr>
        <p:txBody>
          <a:bodyPr wrap="square" lIns="0" tIns="0" rIns="0" bIns="0" rtlCol="0" anchor="ctr"/>
          <a:lstStyle/>
          <a:p>
            <a:pPr latinLnBrk="1"/>
            <a:r>
              <a:rPr lang="en-MY" dirty="0" err="1"/>
              <a:t>ridge_model</a:t>
            </a:r>
            <a:r>
              <a:rPr lang="en-MY" dirty="0"/>
              <a:t> &lt;- </a:t>
            </a:r>
            <a:r>
              <a:rPr lang="en-MY" dirty="0" err="1"/>
              <a:t>glmnet</a:t>
            </a:r>
            <a:r>
              <a:rPr lang="en-MY" dirty="0"/>
              <a:t>(</a:t>
            </a:r>
            <a:r>
              <a:rPr lang="en-MY" dirty="0" err="1"/>
              <a:t>as.matrix</a:t>
            </a:r>
            <a:r>
              <a:rPr lang="en-MY" dirty="0"/>
              <a:t>(</a:t>
            </a:r>
            <a:r>
              <a:rPr lang="en-MY" dirty="0" err="1"/>
              <a:t>cbind</a:t>
            </a:r>
            <a:r>
              <a:rPr lang="en-MY" dirty="0"/>
              <a:t>(x1, x2, x3)), y, alpha=0)</a:t>
            </a:r>
          </a:p>
          <a:p>
            <a:pPr latinLnBrk="1"/>
            <a:r>
              <a:rPr lang="en-MY" dirty="0"/>
              <a:t>summary(</a:t>
            </a:r>
            <a:r>
              <a:rPr lang="en-MY" dirty="0" err="1"/>
              <a:t>ridge_model</a:t>
            </a:r>
            <a:r>
              <a:rPr lang="en-MY" dirty="0"/>
              <a:t>)</a:t>
            </a:r>
          </a:p>
          <a:p>
            <a:pPr latinLnBrk="1"/>
            <a:r>
              <a:rPr lang="en-MY" dirty="0"/>
              <a:t>plot(</a:t>
            </a:r>
            <a:r>
              <a:rPr lang="en-MY" dirty="0" err="1"/>
              <a:t>ridge_model</a:t>
            </a:r>
            <a:r>
              <a:rPr lang="en-MY" dirty="0"/>
              <a:t>)</a:t>
            </a:r>
          </a:p>
          <a:p>
            <a:pPr latinLnBrk="1"/>
            <a:r>
              <a:rPr lang="en-MY" dirty="0" err="1"/>
              <a:t>coef</a:t>
            </a:r>
            <a:r>
              <a:rPr lang="en-MY" dirty="0"/>
              <a:t>(</a:t>
            </a:r>
            <a:r>
              <a:rPr lang="en-MY" dirty="0" err="1"/>
              <a:t>ridge_model</a:t>
            </a:r>
            <a:r>
              <a:rPr lang="en-MY" dirty="0"/>
              <a:t>, s = 0.1)</a:t>
            </a:r>
          </a:p>
        </p:txBody>
      </p:sp>
      <p:sp>
        <p:nvSpPr>
          <p:cNvPr id="26" name="Text 24">
            <a:extLst>
              <a:ext uri="{FF2B5EF4-FFF2-40B4-BE49-F238E27FC236}">
                <a16:creationId xmlns:a16="http://schemas.microsoft.com/office/drawing/2014/main" id="{371CCCF9-ED57-CD44-3A94-97D397DF385B}"/>
              </a:ext>
            </a:extLst>
          </p:cNvPr>
          <p:cNvSpPr/>
          <p:nvPr/>
        </p:nvSpPr>
        <p:spPr>
          <a:xfrm>
            <a:off x="4709160" y="457200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8" name="Text 26">
            <a:extLst>
              <a:ext uri="{FF2B5EF4-FFF2-40B4-BE49-F238E27FC236}">
                <a16:creationId xmlns:a16="http://schemas.microsoft.com/office/drawing/2014/main" id="{C0B77BF4-91FB-4CA9-4378-8BAC91E23E33}"/>
              </a:ext>
            </a:extLst>
          </p:cNvPr>
          <p:cNvSpPr/>
          <p:nvPr/>
        </p:nvSpPr>
        <p:spPr>
          <a:xfrm>
            <a:off x="228600" y="4919472"/>
            <a:ext cx="868680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pp. 255–260  |  APA Publication Manual, 7th Ed.</a:t>
            </a:r>
            <a:endParaRPr lang="en-US" sz="900" dirty="0"/>
          </a:p>
        </p:txBody>
      </p:sp>
    </p:spTree>
    <p:extLst>
      <p:ext uri="{BB962C8B-B14F-4D97-AF65-F5344CB8AC3E}">
        <p14:creationId xmlns:p14="http://schemas.microsoft.com/office/powerpoint/2010/main" val="15679098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3E843-1A1F-ACA3-263A-4BE176CE864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3E1394F-7C51-B896-AF71-A3AFE8E394CC}"/>
              </a:ext>
            </a:extLst>
          </p:cNvPr>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a:extLst>
              <a:ext uri="{FF2B5EF4-FFF2-40B4-BE49-F238E27FC236}">
                <a16:creationId xmlns:a16="http://schemas.microsoft.com/office/drawing/2014/main" id="{2816FE9A-D854-00D9-CB3D-0B74F9B3C912}"/>
              </a:ext>
            </a:extLst>
          </p:cNvPr>
          <p:cNvSpPr/>
          <p:nvPr/>
        </p:nvSpPr>
        <p:spPr>
          <a:xfrm>
            <a:off x="320040" y="45720"/>
            <a:ext cx="8503920" cy="59436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VIOLATION 6 OUTLIERS </a:t>
            </a:r>
            <a:endParaRPr lang="en-US" sz="2200" dirty="0"/>
          </a:p>
        </p:txBody>
      </p:sp>
      <p:sp>
        <p:nvSpPr>
          <p:cNvPr id="4" name="Shape 2">
            <a:extLst>
              <a:ext uri="{FF2B5EF4-FFF2-40B4-BE49-F238E27FC236}">
                <a16:creationId xmlns:a16="http://schemas.microsoft.com/office/drawing/2014/main" id="{301F6DBF-3C58-DF1E-D47E-1C3EED1357B2}"/>
              </a:ext>
            </a:extLst>
          </p:cNvPr>
          <p:cNvSpPr/>
          <p:nvPr/>
        </p:nvSpPr>
        <p:spPr>
          <a:xfrm>
            <a:off x="0" y="685800"/>
            <a:ext cx="9144000" cy="64008"/>
          </a:xfrm>
          <a:prstGeom prst="rect">
            <a:avLst/>
          </a:prstGeom>
          <a:solidFill>
            <a:srgbClr val="F59E0B"/>
          </a:solidFill>
          <a:ln w="12700">
            <a:solidFill>
              <a:srgbClr val="F59E0B"/>
            </a:solidFill>
            <a:prstDash val="solid"/>
          </a:ln>
        </p:spPr>
        <p:txBody>
          <a:bodyPr/>
          <a:lstStyle/>
          <a:p>
            <a:endParaRPr lang="en-US"/>
          </a:p>
        </p:txBody>
      </p:sp>
      <p:sp>
        <p:nvSpPr>
          <p:cNvPr id="5" name="Shape 3">
            <a:extLst>
              <a:ext uri="{FF2B5EF4-FFF2-40B4-BE49-F238E27FC236}">
                <a16:creationId xmlns:a16="http://schemas.microsoft.com/office/drawing/2014/main" id="{EF32CA72-3988-CD30-C92C-33FCABA15729}"/>
              </a:ext>
            </a:extLst>
          </p:cNvPr>
          <p:cNvSpPr/>
          <p:nvPr/>
        </p:nvSpPr>
        <p:spPr>
          <a:xfrm>
            <a:off x="228600" y="914400"/>
            <a:ext cx="8686800" cy="2011680"/>
          </a:xfrm>
          <a:prstGeom prst="rect">
            <a:avLst/>
          </a:prstGeom>
          <a:solidFill>
            <a:srgbClr val="FFFBEB"/>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Shape 4">
            <a:extLst>
              <a:ext uri="{FF2B5EF4-FFF2-40B4-BE49-F238E27FC236}">
                <a16:creationId xmlns:a16="http://schemas.microsoft.com/office/drawing/2014/main" id="{A251B21B-E505-BB35-3060-AC7C5925D76F}"/>
              </a:ext>
            </a:extLst>
          </p:cNvPr>
          <p:cNvSpPr/>
          <p:nvPr/>
        </p:nvSpPr>
        <p:spPr>
          <a:xfrm>
            <a:off x="228600" y="914400"/>
            <a:ext cx="64008" cy="2011680"/>
          </a:xfrm>
          <a:prstGeom prst="rect">
            <a:avLst/>
          </a:prstGeom>
          <a:solidFill>
            <a:srgbClr val="F59E0B"/>
          </a:solidFill>
          <a:ln w="12700">
            <a:solidFill>
              <a:srgbClr val="F59E0B"/>
            </a:solidFill>
            <a:prstDash val="solid"/>
          </a:ln>
        </p:spPr>
        <p:txBody>
          <a:bodyPr/>
          <a:lstStyle/>
          <a:p>
            <a:endParaRPr lang="en-US"/>
          </a:p>
        </p:txBody>
      </p:sp>
      <p:sp>
        <p:nvSpPr>
          <p:cNvPr id="7" name="Text 5">
            <a:extLst>
              <a:ext uri="{FF2B5EF4-FFF2-40B4-BE49-F238E27FC236}">
                <a16:creationId xmlns:a16="http://schemas.microsoft.com/office/drawing/2014/main" id="{4096FA36-8834-E07B-8DA3-9CAB3A4C6E2E}"/>
              </a:ext>
            </a:extLst>
          </p:cNvPr>
          <p:cNvSpPr/>
          <p:nvPr/>
        </p:nvSpPr>
        <p:spPr>
          <a:xfrm>
            <a:off x="457200" y="969264"/>
            <a:ext cx="8229600" cy="32004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cs typeface="Calibri" pitchFamily="34" charset="-120"/>
              </a:rPr>
              <a:t>SITUATION</a:t>
            </a:r>
            <a:endParaRPr lang="en-US" sz="1300" dirty="0"/>
          </a:p>
        </p:txBody>
      </p:sp>
      <p:sp>
        <p:nvSpPr>
          <p:cNvPr id="8" name="Text 6">
            <a:extLst>
              <a:ext uri="{FF2B5EF4-FFF2-40B4-BE49-F238E27FC236}">
                <a16:creationId xmlns:a16="http://schemas.microsoft.com/office/drawing/2014/main" id="{2E743779-74AC-08F4-E42C-7CDA91C74857}"/>
              </a:ext>
            </a:extLst>
          </p:cNvPr>
          <p:cNvSpPr/>
          <p:nvPr/>
        </p:nvSpPr>
        <p:spPr>
          <a:xfrm>
            <a:off x="457200" y="1325880"/>
            <a:ext cx="8229600" cy="1508760"/>
          </a:xfrm>
          <a:prstGeom prst="rect">
            <a:avLst/>
          </a:prstGeom>
          <a:noFill/>
          <a:ln/>
        </p:spPr>
        <p:txBody>
          <a:bodyPr wrap="square" lIns="0" tIns="0" rIns="0" bIns="0" rtlCol="0" anchor="ctr"/>
          <a:lstStyle/>
          <a:p>
            <a:r>
              <a:rPr lang="en-MY" sz="1200" dirty="0"/>
              <a:t>Cook distance – if value &gt;1 or 4/n</a:t>
            </a:r>
          </a:p>
          <a:p>
            <a:endParaRPr lang="en-MY" sz="1200" dirty="0"/>
          </a:p>
          <a:p>
            <a:r>
              <a:rPr lang="en-MY" sz="1200" dirty="0"/>
              <a:t>Check data entry first </a:t>
            </a:r>
          </a:p>
          <a:p>
            <a:endParaRPr lang="en-MY" sz="1200" dirty="0"/>
          </a:p>
          <a:p>
            <a:r>
              <a:rPr lang="en-MY" sz="1200" dirty="0"/>
              <a:t>Or data transformation of the dependent variable</a:t>
            </a:r>
          </a:p>
          <a:p>
            <a:endParaRPr lang="en-MY" sz="1200" dirty="0"/>
          </a:p>
          <a:p>
            <a:r>
              <a:rPr lang="en-MY" sz="1200" dirty="0"/>
              <a:t>Or delete the outliers</a:t>
            </a:r>
          </a:p>
          <a:p>
            <a:endParaRPr lang="en-MY" sz="1200" dirty="0"/>
          </a:p>
          <a:p>
            <a:r>
              <a:rPr lang="en-MY" sz="1200" dirty="0"/>
              <a:t>Or using robust regression</a:t>
            </a:r>
          </a:p>
          <a:p>
            <a:endParaRPr lang="en-US" sz="1200" dirty="0"/>
          </a:p>
        </p:txBody>
      </p:sp>
      <p:sp>
        <p:nvSpPr>
          <p:cNvPr id="9" name="Text 7">
            <a:extLst>
              <a:ext uri="{FF2B5EF4-FFF2-40B4-BE49-F238E27FC236}">
                <a16:creationId xmlns:a16="http://schemas.microsoft.com/office/drawing/2014/main" id="{2FC5E42E-5888-CA3D-C9B1-E88BB64D5B3F}"/>
              </a:ext>
            </a:extLst>
          </p:cNvPr>
          <p:cNvSpPr/>
          <p:nvPr/>
        </p:nvSpPr>
        <p:spPr>
          <a:xfrm>
            <a:off x="228600" y="3063240"/>
            <a:ext cx="8686800" cy="347472"/>
          </a:xfrm>
          <a:prstGeom prst="rect">
            <a:avLst/>
          </a:prstGeom>
          <a:noFill/>
          <a:ln/>
        </p:spPr>
        <p:txBody>
          <a:bodyPr wrap="square" lIns="0" tIns="0" rIns="0" bIns="0" rtlCol="0" anchor="ctr"/>
          <a:lstStyle/>
          <a:p>
            <a:pPr marL="0" indent="0">
              <a:buNone/>
            </a:pPr>
            <a:r>
              <a:rPr lang="en-US" sz="1400" b="1" dirty="0">
                <a:solidFill>
                  <a:srgbClr val="1B2A4A"/>
                </a:solidFill>
                <a:latin typeface="Calibri" pitchFamily="34" charset="0"/>
                <a:cs typeface="Calibri" pitchFamily="34" charset="-120"/>
              </a:rPr>
              <a:t>WHAT CAN YOU DO </a:t>
            </a:r>
            <a:endParaRPr lang="en-US" sz="1400" dirty="0"/>
          </a:p>
        </p:txBody>
      </p:sp>
      <p:sp>
        <p:nvSpPr>
          <p:cNvPr id="10" name="Shape 8">
            <a:extLst>
              <a:ext uri="{FF2B5EF4-FFF2-40B4-BE49-F238E27FC236}">
                <a16:creationId xmlns:a16="http://schemas.microsoft.com/office/drawing/2014/main" id="{E6E31580-10CC-7E86-3CCE-46FFB9EFE712}"/>
              </a:ext>
            </a:extLst>
          </p:cNvPr>
          <p:cNvSpPr/>
          <p:nvPr/>
        </p:nvSpPr>
        <p:spPr>
          <a:xfrm>
            <a:off x="228600" y="3566160"/>
            <a:ext cx="320040" cy="320040"/>
          </a:xfrm>
          <a:prstGeom prst="ellipse">
            <a:avLst/>
          </a:prstGeom>
          <a:solidFill>
            <a:srgbClr val="16A34A"/>
          </a:solidFill>
          <a:ln w="12700">
            <a:solidFill>
              <a:srgbClr val="16A34A"/>
            </a:solidFill>
            <a:prstDash val="solid"/>
          </a:ln>
        </p:spPr>
        <p:txBody>
          <a:bodyPr/>
          <a:lstStyle/>
          <a:p>
            <a:endParaRPr lang="en-US"/>
          </a:p>
        </p:txBody>
      </p:sp>
      <p:sp>
        <p:nvSpPr>
          <p:cNvPr id="11" name="Text 9">
            <a:extLst>
              <a:ext uri="{FF2B5EF4-FFF2-40B4-BE49-F238E27FC236}">
                <a16:creationId xmlns:a16="http://schemas.microsoft.com/office/drawing/2014/main" id="{4400D622-1B07-B4AF-3314-FABA9CD8EDFC}"/>
              </a:ext>
            </a:extLst>
          </p:cNvPr>
          <p:cNvSpPr/>
          <p:nvPr/>
        </p:nvSpPr>
        <p:spPr>
          <a:xfrm>
            <a:off x="22860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a:extLst>
              <a:ext uri="{FF2B5EF4-FFF2-40B4-BE49-F238E27FC236}">
                <a16:creationId xmlns:a16="http://schemas.microsoft.com/office/drawing/2014/main" id="{C66DBAEA-41D9-A88F-D63E-A026AAE06DA7}"/>
              </a:ext>
            </a:extLst>
          </p:cNvPr>
          <p:cNvSpPr/>
          <p:nvPr/>
        </p:nvSpPr>
        <p:spPr>
          <a:xfrm>
            <a:off x="640079" y="3808476"/>
            <a:ext cx="6531537" cy="365760"/>
          </a:xfrm>
          <a:prstGeom prst="rect">
            <a:avLst/>
          </a:prstGeom>
          <a:noFill/>
          <a:ln/>
        </p:spPr>
        <p:txBody>
          <a:bodyPr wrap="square" lIns="0" tIns="0" rIns="0" bIns="0" rtlCol="0" anchor="ctr"/>
          <a:lstStyle/>
          <a:p>
            <a:r>
              <a:rPr lang="en-US" sz="1100" dirty="0">
                <a:latin typeface="Calibri" panose="020F0502020204030204" pitchFamily="34" charset="0"/>
                <a:cs typeface="Calibri" panose="020F0502020204030204" pitchFamily="34" charset="0"/>
              </a:rPr>
              <a:t>Robust regression- </a:t>
            </a:r>
          </a:p>
          <a:p>
            <a:r>
              <a:rPr lang="en-MY" sz="1100" dirty="0" err="1">
                <a:latin typeface="Calibri" panose="020F0502020204030204" pitchFamily="34" charset="0"/>
                <a:cs typeface="Calibri" panose="020F0502020204030204" pitchFamily="34" charset="0"/>
              </a:rPr>
              <a:t>rlm</a:t>
            </a:r>
            <a:r>
              <a:rPr lang="en-MY" sz="1100" dirty="0">
                <a:latin typeface="Calibri" panose="020F0502020204030204" pitchFamily="34" charset="0"/>
                <a:cs typeface="Calibri" panose="020F0502020204030204" pitchFamily="34" charset="0"/>
              </a:rPr>
              <a:t>() (MASS package): Uses Iteratively Reweighted Least Squares (IRLS).</a:t>
            </a:r>
          </a:p>
          <a:p>
            <a:r>
              <a:rPr lang="en-MY" sz="1100" dirty="0">
                <a:latin typeface="Calibri" panose="020F0502020204030204" pitchFamily="34" charset="0"/>
                <a:cs typeface="Calibri" panose="020F0502020204030204" pitchFamily="34" charset="0"/>
              </a:rPr>
              <a:t>library(MASS)</a:t>
            </a:r>
          </a:p>
          <a:p>
            <a:r>
              <a:rPr lang="en-MY" sz="1100" dirty="0" err="1">
                <a:latin typeface="Calibri" panose="020F0502020204030204" pitchFamily="34" charset="0"/>
                <a:cs typeface="Calibri" panose="020F0502020204030204" pitchFamily="34" charset="0"/>
              </a:rPr>
              <a:t>robust_model</a:t>
            </a:r>
            <a:r>
              <a:rPr lang="en-MY" sz="1100" dirty="0">
                <a:latin typeface="Calibri" panose="020F0502020204030204" pitchFamily="34" charset="0"/>
                <a:cs typeface="Calibri" panose="020F0502020204030204" pitchFamily="34" charset="0"/>
              </a:rPr>
              <a:t> &lt;- </a:t>
            </a:r>
            <a:r>
              <a:rPr lang="en-MY" sz="1100" dirty="0" err="1">
                <a:latin typeface="Calibri" panose="020F0502020204030204" pitchFamily="34" charset="0"/>
                <a:cs typeface="Calibri" panose="020F0502020204030204" pitchFamily="34" charset="0"/>
              </a:rPr>
              <a:t>rlm</a:t>
            </a:r>
            <a:r>
              <a:rPr lang="en-MY" sz="1100" dirty="0">
                <a:latin typeface="Calibri" panose="020F0502020204030204" pitchFamily="34" charset="0"/>
                <a:cs typeface="Calibri" panose="020F0502020204030204" pitchFamily="34" charset="0"/>
              </a:rPr>
              <a:t>(y ~ x, data = </a:t>
            </a:r>
            <a:r>
              <a:rPr lang="en-MY" sz="1100" dirty="0" err="1">
                <a:latin typeface="Calibri" panose="020F0502020204030204" pitchFamily="34" charset="0"/>
                <a:cs typeface="Calibri" panose="020F0502020204030204" pitchFamily="34" charset="0"/>
              </a:rPr>
              <a:t>mydata</a:t>
            </a:r>
            <a:r>
              <a:rPr lang="en-MY" sz="1100" dirty="0">
                <a:latin typeface="Calibri" panose="020F0502020204030204" pitchFamily="34" charset="0"/>
                <a:cs typeface="Calibri" panose="020F0502020204030204" pitchFamily="34" charset="0"/>
              </a:rPr>
              <a:t>)</a:t>
            </a:r>
          </a:p>
          <a:p>
            <a:r>
              <a:rPr lang="en-MY" sz="1100" dirty="0">
                <a:latin typeface="Calibri" panose="020F0502020204030204" pitchFamily="34" charset="0"/>
                <a:cs typeface="Calibri" panose="020F0502020204030204" pitchFamily="34" charset="0"/>
              </a:rPr>
              <a:t>summary(</a:t>
            </a:r>
            <a:r>
              <a:rPr lang="en-MY" sz="1100" dirty="0" err="1">
                <a:latin typeface="Calibri" panose="020F0502020204030204" pitchFamily="34" charset="0"/>
                <a:cs typeface="Calibri" panose="020F0502020204030204" pitchFamily="34" charset="0"/>
              </a:rPr>
              <a:t>robust_model</a:t>
            </a:r>
            <a:r>
              <a:rPr lang="en-MY" sz="1100" dirty="0">
                <a:latin typeface="Calibri" panose="020F0502020204030204" pitchFamily="34" charset="0"/>
                <a:cs typeface="Calibri" panose="020F0502020204030204" pitchFamily="34" charset="0"/>
              </a:rPr>
              <a:t>)</a:t>
            </a:r>
          </a:p>
          <a:p>
            <a:endParaRPr lang="en-MY" sz="1100" dirty="0">
              <a:latin typeface="Calibri" panose="020F0502020204030204" pitchFamily="34" charset="0"/>
              <a:cs typeface="Calibri" panose="020F0502020204030204" pitchFamily="34" charset="0"/>
            </a:endParaRPr>
          </a:p>
          <a:p>
            <a:pPr marL="0" indent="0">
              <a:buNone/>
            </a:pPr>
            <a:endParaRPr lang="en-US" sz="1100" dirty="0">
              <a:latin typeface="Calibri" panose="020F0502020204030204" pitchFamily="34" charset="0"/>
              <a:cs typeface="Calibri" panose="020F0502020204030204" pitchFamily="34" charset="0"/>
            </a:endParaRPr>
          </a:p>
        </p:txBody>
      </p:sp>
      <p:sp>
        <p:nvSpPr>
          <p:cNvPr id="14" name="Text 12">
            <a:extLst>
              <a:ext uri="{FF2B5EF4-FFF2-40B4-BE49-F238E27FC236}">
                <a16:creationId xmlns:a16="http://schemas.microsoft.com/office/drawing/2014/main" id="{8D072E97-611F-37B3-DDC2-2C4660366DB3}"/>
              </a:ext>
            </a:extLst>
          </p:cNvPr>
          <p:cNvSpPr/>
          <p:nvPr/>
        </p:nvSpPr>
        <p:spPr>
          <a:xfrm>
            <a:off x="22860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7" name="Text 15">
            <a:extLst>
              <a:ext uri="{FF2B5EF4-FFF2-40B4-BE49-F238E27FC236}">
                <a16:creationId xmlns:a16="http://schemas.microsoft.com/office/drawing/2014/main" id="{5B6FE0A1-AC2E-2260-3A43-D5CEB221C3B0}"/>
              </a:ext>
            </a:extLst>
          </p:cNvPr>
          <p:cNvSpPr/>
          <p:nvPr/>
        </p:nvSpPr>
        <p:spPr>
          <a:xfrm>
            <a:off x="228600" y="457200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0" name="Text 18">
            <a:extLst>
              <a:ext uri="{FF2B5EF4-FFF2-40B4-BE49-F238E27FC236}">
                <a16:creationId xmlns:a16="http://schemas.microsoft.com/office/drawing/2014/main" id="{6F92D54D-8E40-18D7-03AF-F6604AFAF83D}"/>
              </a:ext>
            </a:extLst>
          </p:cNvPr>
          <p:cNvSpPr/>
          <p:nvPr/>
        </p:nvSpPr>
        <p:spPr>
          <a:xfrm>
            <a:off x="470916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a:extLst>
              <a:ext uri="{FF2B5EF4-FFF2-40B4-BE49-F238E27FC236}">
                <a16:creationId xmlns:a16="http://schemas.microsoft.com/office/drawing/2014/main" id="{22312C0A-1442-1565-3908-3F59BF91B0B9}"/>
              </a:ext>
            </a:extLst>
          </p:cNvPr>
          <p:cNvSpPr/>
          <p:nvPr/>
        </p:nvSpPr>
        <p:spPr>
          <a:xfrm>
            <a:off x="470916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6" name="Text 24">
            <a:extLst>
              <a:ext uri="{FF2B5EF4-FFF2-40B4-BE49-F238E27FC236}">
                <a16:creationId xmlns:a16="http://schemas.microsoft.com/office/drawing/2014/main" id="{992AFD18-2DE3-89B4-5F04-FF46784D291B}"/>
              </a:ext>
            </a:extLst>
          </p:cNvPr>
          <p:cNvSpPr/>
          <p:nvPr/>
        </p:nvSpPr>
        <p:spPr>
          <a:xfrm>
            <a:off x="4709160" y="457200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8" name="Text 26">
            <a:extLst>
              <a:ext uri="{FF2B5EF4-FFF2-40B4-BE49-F238E27FC236}">
                <a16:creationId xmlns:a16="http://schemas.microsoft.com/office/drawing/2014/main" id="{C5FF58A5-ED4F-A055-76BC-40815D52B712}"/>
              </a:ext>
            </a:extLst>
          </p:cNvPr>
          <p:cNvSpPr/>
          <p:nvPr/>
        </p:nvSpPr>
        <p:spPr>
          <a:xfrm>
            <a:off x="228600" y="4919472"/>
            <a:ext cx="868680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pp. 255–260  |  APA Publication Manual, 7th Ed.</a:t>
            </a:r>
            <a:endParaRPr lang="en-US" sz="900" dirty="0"/>
          </a:p>
        </p:txBody>
      </p:sp>
    </p:spTree>
    <p:extLst>
      <p:ext uri="{BB962C8B-B14F-4D97-AF65-F5344CB8AC3E}">
        <p14:creationId xmlns:p14="http://schemas.microsoft.com/office/powerpoint/2010/main" val="4464193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A8299-96F2-08FB-7D55-4791B4834C8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9C37B79-F7BC-7DD4-D5A4-276A2F57EF36}"/>
              </a:ext>
            </a:extLst>
          </p:cNvPr>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a:extLst>
              <a:ext uri="{FF2B5EF4-FFF2-40B4-BE49-F238E27FC236}">
                <a16:creationId xmlns:a16="http://schemas.microsoft.com/office/drawing/2014/main" id="{1E65D3A9-4BCE-EDD2-AC63-6C53B489D92E}"/>
              </a:ext>
            </a:extLst>
          </p:cNvPr>
          <p:cNvSpPr/>
          <p:nvPr/>
        </p:nvSpPr>
        <p:spPr>
          <a:xfrm>
            <a:off x="320040" y="45720"/>
            <a:ext cx="8503920" cy="59436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Linear regression - Moderator</a:t>
            </a:r>
            <a:endParaRPr lang="en-US" sz="2400" dirty="0"/>
          </a:p>
        </p:txBody>
      </p:sp>
      <p:sp>
        <p:nvSpPr>
          <p:cNvPr id="4" name="Shape 2">
            <a:extLst>
              <a:ext uri="{FF2B5EF4-FFF2-40B4-BE49-F238E27FC236}">
                <a16:creationId xmlns:a16="http://schemas.microsoft.com/office/drawing/2014/main" id="{B1357C1D-680A-0F71-116C-E5EDB06A2685}"/>
              </a:ext>
            </a:extLst>
          </p:cNvPr>
          <p:cNvSpPr/>
          <p:nvPr/>
        </p:nvSpPr>
        <p:spPr>
          <a:xfrm>
            <a:off x="0" y="685800"/>
            <a:ext cx="9144000" cy="64008"/>
          </a:xfrm>
          <a:prstGeom prst="rect">
            <a:avLst/>
          </a:prstGeom>
          <a:solidFill>
            <a:srgbClr val="0D9488"/>
          </a:solidFill>
          <a:ln w="12700">
            <a:solidFill>
              <a:srgbClr val="0D9488"/>
            </a:solidFill>
            <a:prstDash val="solid"/>
          </a:ln>
        </p:spPr>
        <p:txBody>
          <a:bodyPr/>
          <a:lstStyle/>
          <a:p>
            <a:endParaRPr lang="en-US"/>
          </a:p>
        </p:txBody>
      </p:sp>
      <p:sp>
        <p:nvSpPr>
          <p:cNvPr id="5" name="Shape 3">
            <a:extLst>
              <a:ext uri="{FF2B5EF4-FFF2-40B4-BE49-F238E27FC236}">
                <a16:creationId xmlns:a16="http://schemas.microsoft.com/office/drawing/2014/main" id="{7DA0431E-5FA2-3ACC-50EF-1B0F5A40C4EE}"/>
              </a:ext>
            </a:extLst>
          </p:cNvPr>
          <p:cNvSpPr/>
          <p:nvPr/>
        </p:nvSpPr>
        <p:spPr>
          <a:xfrm>
            <a:off x="274320" y="960120"/>
            <a:ext cx="8595360" cy="1005840"/>
          </a:xfrm>
          <a:prstGeom prst="rect">
            <a:avLst/>
          </a:prstGeom>
          <a:solidFill>
            <a:srgbClr val="CCFBF1"/>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Shape 4">
            <a:extLst>
              <a:ext uri="{FF2B5EF4-FFF2-40B4-BE49-F238E27FC236}">
                <a16:creationId xmlns:a16="http://schemas.microsoft.com/office/drawing/2014/main" id="{CF804BF1-666D-4DAE-A509-349F364826C2}"/>
              </a:ext>
            </a:extLst>
          </p:cNvPr>
          <p:cNvSpPr/>
          <p:nvPr/>
        </p:nvSpPr>
        <p:spPr>
          <a:xfrm>
            <a:off x="274320" y="960120"/>
            <a:ext cx="64008" cy="1005840"/>
          </a:xfrm>
          <a:prstGeom prst="rect">
            <a:avLst/>
          </a:prstGeom>
          <a:solidFill>
            <a:srgbClr val="0D9488"/>
          </a:solidFill>
          <a:ln w="12700">
            <a:solidFill>
              <a:srgbClr val="0D9488"/>
            </a:solidFill>
            <a:prstDash val="solid"/>
          </a:ln>
        </p:spPr>
        <p:txBody>
          <a:bodyPr/>
          <a:lstStyle/>
          <a:p>
            <a:endParaRPr lang="en-US"/>
          </a:p>
        </p:txBody>
      </p:sp>
      <mc:AlternateContent xmlns:mc="http://schemas.openxmlformats.org/markup-compatibility/2006">
        <mc:Choice xmlns:a14="http://schemas.microsoft.com/office/drawing/2010/main" Requires="a14">
          <p:sp>
            <p:nvSpPr>
              <p:cNvPr id="7" name="Text 5">
                <a:extLst>
                  <a:ext uri="{FF2B5EF4-FFF2-40B4-BE49-F238E27FC236}">
                    <a16:creationId xmlns:a16="http://schemas.microsoft.com/office/drawing/2014/main" id="{6B19C246-5FD3-47E1-A48D-EA1111303015}"/>
                  </a:ext>
                </a:extLst>
              </p:cNvPr>
              <p:cNvSpPr/>
              <p:nvPr/>
            </p:nvSpPr>
            <p:spPr>
              <a:xfrm>
                <a:off x="502920" y="1024128"/>
                <a:ext cx="8138160" cy="822960"/>
              </a:xfrm>
              <a:prstGeom prst="rect">
                <a:avLst/>
              </a:prstGeom>
              <a:noFill/>
              <a:ln/>
            </p:spPr>
            <p:txBody>
              <a:bodyPr wrap="square" lIns="0" tIns="0" rIns="0" bIns="0" rtlCol="0" anchor="ctr"/>
              <a:lstStyle/>
              <a:p>
                <a:r>
                  <a:rPr lang="en-MY" sz="1400" dirty="0"/>
                  <a:t>To test moderation, we include an </a:t>
                </a:r>
                <a:r>
                  <a:rPr lang="en-MY" sz="1400" b="1" dirty="0"/>
                  <a:t>interaction term</a:t>
                </a:r>
                <a:r>
                  <a:rPr lang="en-MY" sz="1400" dirty="0"/>
                  <a:t>:</a:t>
                </a:r>
              </a:p>
              <a:p>
                <a14:m>
                  <m:oMathPara xmlns:m="http://schemas.openxmlformats.org/officeDocument/2006/math">
                    <m:oMathParaPr>
                      <m:jc m:val="centerGroup"/>
                    </m:oMathParaPr>
                    <m:oMath xmlns:m="http://schemas.openxmlformats.org/officeDocument/2006/math">
                      <m:r>
                        <a:rPr lang="en-MY" i="1"/>
                        <m:t>𝑌</m:t>
                      </m:r>
                      <m:r>
                        <a:rPr lang="en-MY"/>
                        <m:t>=</m:t>
                      </m:r>
                      <m:sSub>
                        <m:sSubPr>
                          <m:ctrlPr>
                            <a:rPr lang="ar-AE" i="1"/>
                          </m:ctrlPr>
                        </m:sSubPr>
                        <m:e>
                          <m:r>
                            <a:rPr lang="ar-AE" i="1"/>
                            <m:t>𝛽</m:t>
                          </m:r>
                        </m:e>
                        <m:sub>
                          <m:r>
                            <a:rPr lang="ar-AE"/>
                            <m:t>0</m:t>
                          </m:r>
                        </m:sub>
                      </m:sSub>
                      <m:r>
                        <a:rPr lang="ar-AE"/>
                        <m:t>+</m:t>
                      </m:r>
                      <m:sSub>
                        <m:sSubPr>
                          <m:ctrlPr>
                            <a:rPr lang="ar-AE" i="1"/>
                          </m:ctrlPr>
                        </m:sSubPr>
                        <m:e>
                          <m:r>
                            <a:rPr lang="ar-AE" i="1"/>
                            <m:t>𝛽</m:t>
                          </m:r>
                        </m:e>
                        <m:sub>
                          <m:r>
                            <a:rPr lang="ar-AE"/>
                            <m:t>1</m:t>
                          </m:r>
                        </m:sub>
                      </m:sSub>
                      <m:r>
                        <a:rPr lang="ar-AE" i="1"/>
                        <m:t>𝑋</m:t>
                      </m:r>
                      <m:r>
                        <a:rPr lang="ar-AE"/>
                        <m:t>+</m:t>
                      </m:r>
                      <m:sSub>
                        <m:sSubPr>
                          <m:ctrlPr>
                            <a:rPr lang="ar-AE" i="1"/>
                          </m:ctrlPr>
                        </m:sSubPr>
                        <m:e>
                          <m:r>
                            <a:rPr lang="ar-AE" i="1"/>
                            <m:t>𝛽</m:t>
                          </m:r>
                        </m:e>
                        <m:sub>
                          <m:r>
                            <a:rPr lang="ar-AE"/>
                            <m:t>2</m:t>
                          </m:r>
                        </m:sub>
                      </m:sSub>
                      <m:r>
                        <a:rPr lang="ar-AE" i="1"/>
                        <m:t>𝑀</m:t>
                      </m:r>
                      <m:r>
                        <a:rPr lang="ar-AE"/>
                        <m:t>+</m:t>
                      </m:r>
                      <m:sSub>
                        <m:sSubPr>
                          <m:ctrlPr>
                            <a:rPr lang="ar-AE" i="1"/>
                          </m:ctrlPr>
                        </m:sSubPr>
                        <m:e>
                          <m:r>
                            <a:rPr lang="ar-AE" i="1"/>
                            <m:t>𝛽</m:t>
                          </m:r>
                        </m:e>
                        <m:sub>
                          <m:r>
                            <a:rPr lang="ar-AE"/>
                            <m:t>3</m:t>
                          </m:r>
                        </m:sub>
                      </m:sSub>
                      <m:d>
                        <m:dPr>
                          <m:ctrlPr>
                            <a:rPr lang="ar-AE" i="1"/>
                          </m:ctrlPr>
                        </m:dPr>
                        <m:e>
                          <m:r>
                            <a:rPr lang="ar-AE" i="1"/>
                            <m:t>𝑋</m:t>
                          </m:r>
                          <m:r>
                            <a:rPr lang="ar-AE"/>
                            <m:t>×</m:t>
                          </m:r>
                          <m:r>
                            <a:rPr lang="ar-AE" i="1"/>
                            <m:t>𝑀</m:t>
                          </m:r>
                        </m:e>
                      </m:d>
                      <m:r>
                        <a:rPr lang="ar-AE"/>
                        <m:t>+</m:t>
                      </m:r>
                      <m:r>
                        <a:rPr lang="ar-AE" i="1"/>
                        <m:t>𝜖</m:t>
                      </m:r>
                    </m:oMath>
                  </m:oMathPara>
                </a14:m>
                <a:endParaRPr lang="en-US" sz="1400" dirty="0"/>
              </a:p>
              <a:p>
                <a:endParaRPr lang="en-US" sz="1400" dirty="0"/>
              </a:p>
              <a:p>
                <a:r>
                  <a:rPr lang="en-MY" sz="1400" dirty="0"/>
                  <a:t>If </a:t>
                </a:r>
                <a:r>
                  <a:rPr lang="el-GR" sz="1400" b="1" dirty="0"/>
                  <a:t>β3 </a:t>
                </a:r>
                <a:r>
                  <a:rPr lang="en-MY" sz="1400" b="1" dirty="0"/>
                  <a:t>is statistically significant</a:t>
                </a:r>
                <a:r>
                  <a:rPr lang="en-MY" sz="1400" dirty="0"/>
                  <a:t>, moderation exists.</a:t>
                </a:r>
                <a:endParaRPr lang="ar-AE" sz="1400" dirty="0"/>
              </a:p>
            </p:txBody>
          </p:sp>
        </mc:Choice>
        <mc:Fallback>
          <p:sp>
            <p:nvSpPr>
              <p:cNvPr id="7" name="Text 5">
                <a:extLst>
                  <a:ext uri="{FF2B5EF4-FFF2-40B4-BE49-F238E27FC236}">
                    <a16:creationId xmlns:a16="http://schemas.microsoft.com/office/drawing/2014/main" id="{6B19C246-5FD3-47E1-A48D-EA1111303015}"/>
                  </a:ext>
                </a:extLst>
              </p:cNvPr>
              <p:cNvSpPr>
                <a:spLocks noRot="1" noChangeAspect="1" noMove="1" noResize="1" noEditPoints="1" noAdjustHandles="1" noChangeArrowheads="1" noChangeShapeType="1" noTextEdit="1"/>
              </p:cNvSpPr>
              <p:nvPr/>
            </p:nvSpPr>
            <p:spPr>
              <a:xfrm>
                <a:off x="502920" y="1024128"/>
                <a:ext cx="8138160" cy="822960"/>
              </a:xfrm>
              <a:prstGeom prst="rect">
                <a:avLst/>
              </a:prstGeom>
              <a:blipFill>
                <a:blip r:embed="rId3"/>
                <a:stretch>
                  <a:fillRect l="-1402" t="-12121" b="-18182"/>
                </a:stretch>
              </a:blipFill>
              <a:ln/>
            </p:spPr>
            <p:txBody>
              <a:bodyPr/>
              <a:lstStyle/>
              <a:p>
                <a:r>
                  <a:rPr lang="en-US">
                    <a:noFill/>
                  </a:rPr>
                  <a:t> </a:t>
                </a:r>
              </a:p>
            </p:txBody>
          </p:sp>
        </mc:Fallback>
      </mc:AlternateContent>
      <p:sp>
        <p:nvSpPr>
          <p:cNvPr id="8" name="Shape 6">
            <a:extLst>
              <a:ext uri="{FF2B5EF4-FFF2-40B4-BE49-F238E27FC236}">
                <a16:creationId xmlns:a16="http://schemas.microsoft.com/office/drawing/2014/main" id="{692C38A8-49FF-26A1-2F39-B12B94E2B2EB}"/>
              </a:ext>
            </a:extLst>
          </p:cNvPr>
          <p:cNvSpPr/>
          <p:nvPr/>
        </p:nvSpPr>
        <p:spPr>
          <a:xfrm>
            <a:off x="274320" y="2148840"/>
            <a:ext cx="2743200" cy="1737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Shape 7">
            <a:extLst>
              <a:ext uri="{FF2B5EF4-FFF2-40B4-BE49-F238E27FC236}">
                <a16:creationId xmlns:a16="http://schemas.microsoft.com/office/drawing/2014/main" id="{F0C20AE3-0DB4-D4AD-C70C-3D8A7D7A90C7}"/>
              </a:ext>
            </a:extLst>
          </p:cNvPr>
          <p:cNvSpPr/>
          <p:nvPr/>
        </p:nvSpPr>
        <p:spPr>
          <a:xfrm>
            <a:off x="274320" y="2148840"/>
            <a:ext cx="2743200" cy="411480"/>
          </a:xfrm>
          <a:prstGeom prst="rect">
            <a:avLst/>
          </a:prstGeom>
          <a:solidFill>
            <a:srgbClr val="2563EB"/>
          </a:solidFill>
          <a:ln w="12700">
            <a:solidFill>
              <a:srgbClr val="2563EB"/>
            </a:solidFill>
            <a:prstDash val="solid"/>
          </a:ln>
        </p:spPr>
        <p:txBody>
          <a:bodyPr/>
          <a:lstStyle/>
          <a:p>
            <a:endParaRPr lang="en-US"/>
          </a:p>
        </p:txBody>
      </p:sp>
      <p:sp>
        <p:nvSpPr>
          <p:cNvPr id="10" name="Text 8">
            <a:extLst>
              <a:ext uri="{FF2B5EF4-FFF2-40B4-BE49-F238E27FC236}">
                <a16:creationId xmlns:a16="http://schemas.microsoft.com/office/drawing/2014/main" id="{CC9A75B2-7C9F-2777-60D4-5DD4DE54C014}"/>
              </a:ext>
            </a:extLst>
          </p:cNvPr>
          <p:cNvSpPr/>
          <p:nvPr/>
        </p:nvSpPr>
        <p:spPr>
          <a:xfrm>
            <a:off x="365760" y="2176272"/>
            <a:ext cx="25603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Check and visualize</a:t>
            </a:r>
            <a:endParaRPr lang="en-US" sz="1400" dirty="0"/>
          </a:p>
        </p:txBody>
      </p:sp>
      <p:sp>
        <p:nvSpPr>
          <p:cNvPr id="11" name="Text 9">
            <a:extLst>
              <a:ext uri="{FF2B5EF4-FFF2-40B4-BE49-F238E27FC236}">
                <a16:creationId xmlns:a16="http://schemas.microsoft.com/office/drawing/2014/main" id="{D95C4F88-53F6-1357-73D8-6E943B6201D5}"/>
              </a:ext>
            </a:extLst>
          </p:cNvPr>
          <p:cNvSpPr/>
          <p:nvPr/>
        </p:nvSpPr>
        <p:spPr>
          <a:xfrm>
            <a:off x="384048" y="2633472"/>
            <a:ext cx="2523744" cy="1188720"/>
          </a:xfrm>
          <a:prstGeom prst="rect">
            <a:avLst/>
          </a:prstGeom>
          <a:noFill/>
          <a:ln/>
        </p:spPr>
        <p:txBody>
          <a:bodyPr wrap="square" lIns="0" tIns="0" rIns="0" bIns="0" rtlCol="0" anchor="ctr"/>
          <a:lstStyle/>
          <a:p>
            <a:r>
              <a:rPr lang="en-US" sz="600" dirty="0">
                <a:solidFill>
                  <a:srgbClr val="475569"/>
                </a:solidFill>
                <a:latin typeface="Calibri" pitchFamily="34" charset="0"/>
                <a:ea typeface="Calibri" pitchFamily="34" charset="-122"/>
                <a:cs typeface="Calibri" pitchFamily="34" charset="-120"/>
              </a:rPr>
              <a:t>model &lt;- </a:t>
            </a:r>
            <a:r>
              <a:rPr lang="en-US" sz="600" dirty="0" err="1">
                <a:solidFill>
                  <a:srgbClr val="475569"/>
                </a:solidFill>
                <a:latin typeface="Calibri" pitchFamily="34" charset="0"/>
                <a:ea typeface="Calibri" pitchFamily="34" charset="-122"/>
                <a:cs typeface="Calibri" pitchFamily="34" charset="-120"/>
              </a:rPr>
              <a:t>lm</a:t>
            </a:r>
            <a:r>
              <a:rPr lang="en-US" sz="600" dirty="0">
                <a:solidFill>
                  <a:srgbClr val="475569"/>
                </a:solidFill>
                <a:latin typeface="Calibri" pitchFamily="34" charset="0"/>
                <a:ea typeface="Calibri" pitchFamily="34" charset="-122"/>
                <a:cs typeface="Calibri" pitchFamily="34" charset="-120"/>
              </a:rPr>
              <a:t>(Outcome ~ Predictor * Moderator, data = </a:t>
            </a:r>
            <a:r>
              <a:rPr lang="en-US" sz="600" dirty="0" err="1">
                <a:solidFill>
                  <a:srgbClr val="475569"/>
                </a:solidFill>
                <a:latin typeface="Calibri" pitchFamily="34" charset="0"/>
                <a:ea typeface="Calibri" pitchFamily="34" charset="-122"/>
                <a:cs typeface="Calibri" pitchFamily="34" charset="-120"/>
              </a:rPr>
              <a:t>mydata</a:t>
            </a:r>
            <a:r>
              <a:rPr lang="en-US" sz="600" dirty="0">
                <a:solidFill>
                  <a:srgbClr val="475569"/>
                </a:solidFill>
                <a:latin typeface="Calibri" pitchFamily="34" charset="0"/>
                <a:ea typeface="Calibri" pitchFamily="34" charset="-122"/>
                <a:cs typeface="Calibri" pitchFamily="34" charset="-120"/>
              </a:rPr>
              <a:t>)</a:t>
            </a:r>
          </a:p>
          <a:p>
            <a:r>
              <a:rPr lang="en-US" sz="1100" dirty="0">
                <a:solidFill>
                  <a:srgbClr val="475569"/>
                </a:solidFill>
                <a:latin typeface="Calibri" pitchFamily="34" charset="0"/>
                <a:ea typeface="Calibri" pitchFamily="34" charset="-122"/>
                <a:cs typeface="Calibri" pitchFamily="34" charset="-120"/>
              </a:rPr>
              <a:t>summary(model)</a:t>
            </a:r>
          </a:p>
          <a:p>
            <a:endParaRPr lang="en-US" sz="1100" dirty="0">
              <a:solidFill>
                <a:srgbClr val="475569"/>
              </a:solidFill>
              <a:latin typeface="Calibri" pitchFamily="34" charset="0"/>
              <a:ea typeface="Calibri" pitchFamily="34" charset="-122"/>
              <a:cs typeface="Calibri" pitchFamily="34" charset="-120"/>
            </a:endParaRPr>
          </a:p>
          <a:p>
            <a:r>
              <a:rPr lang="en-US" sz="1100" dirty="0">
                <a:solidFill>
                  <a:srgbClr val="475569"/>
                </a:solidFill>
                <a:latin typeface="Calibri" pitchFamily="34" charset="0"/>
                <a:ea typeface="Calibri" pitchFamily="34" charset="-122"/>
                <a:cs typeface="Calibri" pitchFamily="34" charset="-120"/>
              </a:rPr>
              <a:t>library(interactions)</a:t>
            </a:r>
          </a:p>
          <a:p>
            <a:r>
              <a:rPr lang="en-US" sz="600" dirty="0" err="1">
                <a:solidFill>
                  <a:srgbClr val="475569"/>
                </a:solidFill>
                <a:latin typeface="Calibri" pitchFamily="34" charset="0"/>
                <a:ea typeface="Calibri" pitchFamily="34" charset="-122"/>
                <a:cs typeface="Calibri" pitchFamily="34" charset="-120"/>
              </a:rPr>
              <a:t>interact_plot</a:t>
            </a:r>
            <a:r>
              <a:rPr lang="en-US" sz="600" dirty="0">
                <a:solidFill>
                  <a:srgbClr val="475569"/>
                </a:solidFill>
                <a:latin typeface="Calibri" pitchFamily="34" charset="0"/>
                <a:ea typeface="Calibri" pitchFamily="34" charset="-122"/>
                <a:cs typeface="Calibri" pitchFamily="34" charset="-120"/>
              </a:rPr>
              <a:t>(model, pred = Predictor, </a:t>
            </a:r>
            <a:r>
              <a:rPr lang="en-US" sz="600" dirty="0" err="1">
                <a:solidFill>
                  <a:srgbClr val="475569"/>
                </a:solidFill>
                <a:latin typeface="Calibri" pitchFamily="34" charset="0"/>
                <a:ea typeface="Calibri" pitchFamily="34" charset="-122"/>
                <a:cs typeface="Calibri" pitchFamily="34" charset="-120"/>
              </a:rPr>
              <a:t>modx</a:t>
            </a:r>
            <a:r>
              <a:rPr lang="en-US" sz="600" dirty="0">
                <a:solidFill>
                  <a:srgbClr val="475569"/>
                </a:solidFill>
                <a:latin typeface="Calibri" pitchFamily="34" charset="0"/>
                <a:ea typeface="Calibri" pitchFamily="34" charset="-122"/>
                <a:cs typeface="Calibri" pitchFamily="34" charset="-120"/>
              </a:rPr>
              <a:t> = Moderator)</a:t>
            </a:r>
          </a:p>
        </p:txBody>
      </p:sp>
      <p:sp>
        <p:nvSpPr>
          <p:cNvPr id="12" name="Shape 10">
            <a:extLst>
              <a:ext uri="{FF2B5EF4-FFF2-40B4-BE49-F238E27FC236}">
                <a16:creationId xmlns:a16="http://schemas.microsoft.com/office/drawing/2014/main" id="{085FFD8D-9C7C-8861-83EB-42D6C6D7E7B8}"/>
              </a:ext>
            </a:extLst>
          </p:cNvPr>
          <p:cNvSpPr/>
          <p:nvPr/>
        </p:nvSpPr>
        <p:spPr>
          <a:xfrm>
            <a:off x="3200400" y="2148840"/>
            <a:ext cx="2743200" cy="1737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3" name="Shape 11">
            <a:extLst>
              <a:ext uri="{FF2B5EF4-FFF2-40B4-BE49-F238E27FC236}">
                <a16:creationId xmlns:a16="http://schemas.microsoft.com/office/drawing/2014/main" id="{33FEA328-3389-25B2-AC16-71EDA0AAE6CE}"/>
              </a:ext>
            </a:extLst>
          </p:cNvPr>
          <p:cNvSpPr/>
          <p:nvPr/>
        </p:nvSpPr>
        <p:spPr>
          <a:xfrm>
            <a:off x="3200400" y="2148840"/>
            <a:ext cx="2743200" cy="411480"/>
          </a:xfrm>
          <a:prstGeom prst="rect">
            <a:avLst/>
          </a:prstGeom>
          <a:solidFill>
            <a:srgbClr val="0D9488"/>
          </a:solidFill>
          <a:ln w="12700">
            <a:solidFill>
              <a:srgbClr val="0D9488"/>
            </a:solidFill>
            <a:prstDash val="solid"/>
          </a:ln>
        </p:spPr>
        <p:txBody>
          <a:bodyPr/>
          <a:lstStyle/>
          <a:p>
            <a:endParaRPr lang="en-US"/>
          </a:p>
        </p:txBody>
      </p:sp>
      <p:sp>
        <p:nvSpPr>
          <p:cNvPr id="14" name="Text 12">
            <a:extLst>
              <a:ext uri="{FF2B5EF4-FFF2-40B4-BE49-F238E27FC236}">
                <a16:creationId xmlns:a16="http://schemas.microsoft.com/office/drawing/2014/main" id="{B9E504CC-505A-D2EA-42BA-C515F662194B}"/>
              </a:ext>
            </a:extLst>
          </p:cNvPr>
          <p:cNvSpPr/>
          <p:nvPr/>
        </p:nvSpPr>
        <p:spPr>
          <a:xfrm>
            <a:off x="3291840" y="2176272"/>
            <a:ext cx="25603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Interpret</a:t>
            </a:r>
            <a:endParaRPr lang="en-US" sz="1400" dirty="0"/>
          </a:p>
        </p:txBody>
      </p:sp>
      <p:sp>
        <p:nvSpPr>
          <p:cNvPr id="15" name="Text 13">
            <a:extLst>
              <a:ext uri="{FF2B5EF4-FFF2-40B4-BE49-F238E27FC236}">
                <a16:creationId xmlns:a16="http://schemas.microsoft.com/office/drawing/2014/main" id="{2983623B-82A9-A025-2301-394A5D88EC42}"/>
              </a:ext>
            </a:extLst>
          </p:cNvPr>
          <p:cNvSpPr/>
          <p:nvPr/>
        </p:nvSpPr>
        <p:spPr>
          <a:xfrm>
            <a:off x="3310128" y="2633472"/>
            <a:ext cx="2523744" cy="1188720"/>
          </a:xfrm>
          <a:prstGeom prst="rect">
            <a:avLst/>
          </a:prstGeom>
          <a:noFill/>
          <a:ln/>
        </p:spPr>
        <p:txBody>
          <a:bodyPr wrap="square" lIns="0" tIns="0" rIns="0" bIns="0" rtlCol="0" anchor="ctr"/>
          <a:lstStyle/>
          <a:p>
            <a:r>
              <a:rPr lang="en-MY" sz="1000" dirty="0"/>
              <a:t>use </a:t>
            </a:r>
            <a:r>
              <a:rPr lang="en-MY" sz="1000" dirty="0" err="1"/>
              <a:t>sim_slopes</a:t>
            </a:r>
            <a:r>
              <a:rPr lang="en-MY" sz="1000" dirty="0"/>
              <a:t>  from the interactions package</a:t>
            </a:r>
          </a:p>
          <a:p>
            <a:r>
              <a:rPr lang="en-MY" sz="1000" dirty="0"/>
              <a:t>(model, pred = Predictor, </a:t>
            </a:r>
            <a:r>
              <a:rPr lang="en-MY" sz="1000" dirty="0" err="1"/>
              <a:t>modx</a:t>
            </a:r>
            <a:r>
              <a:rPr lang="en-MY" sz="1000" dirty="0"/>
              <a:t> = Moderator)</a:t>
            </a:r>
          </a:p>
          <a:p>
            <a:endParaRPr lang="en-MY" sz="1000" dirty="0"/>
          </a:p>
          <a:p>
            <a:r>
              <a:rPr lang="en-MY" sz="1000" dirty="0"/>
              <a:t>examine the effect of on at different levels of (e.g., SD)</a:t>
            </a:r>
          </a:p>
          <a:p>
            <a:endParaRPr lang="en-MY" sz="1000" dirty="0"/>
          </a:p>
          <a:p>
            <a:endParaRPr lang="en-US" sz="1000" dirty="0"/>
          </a:p>
        </p:txBody>
      </p:sp>
      <p:sp>
        <p:nvSpPr>
          <p:cNvPr id="16" name="Shape 14">
            <a:extLst>
              <a:ext uri="{FF2B5EF4-FFF2-40B4-BE49-F238E27FC236}">
                <a16:creationId xmlns:a16="http://schemas.microsoft.com/office/drawing/2014/main" id="{BE49B8C9-E8A5-5783-10AF-016E2EC0F1B5}"/>
              </a:ext>
            </a:extLst>
          </p:cNvPr>
          <p:cNvSpPr/>
          <p:nvPr/>
        </p:nvSpPr>
        <p:spPr>
          <a:xfrm>
            <a:off x="6126480" y="2148840"/>
            <a:ext cx="2743200" cy="1737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7" name="Shape 15">
            <a:extLst>
              <a:ext uri="{FF2B5EF4-FFF2-40B4-BE49-F238E27FC236}">
                <a16:creationId xmlns:a16="http://schemas.microsoft.com/office/drawing/2014/main" id="{2B748199-52A9-9A7F-AE61-8FDF4CA5D794}"/>
              </a:ext>
            </a:extLst>
          </p:cNvPr>
          <p:cNvSpPr/>
          <p:nvPr/>
        </p:nvSpPr>
        <p:spPr>
          <a:xfrm>
            <a:off x="6126480" y="2148840"/>
            <a:ext cx="2743200" cy="411480"/>
          </a:xfrm>
          <a:prstGeom prst="rect">
            <a:avLst/>
          </a:prstGeom>
          <a:solidFill>
            <a:srgbClr val="F59E0B"/>
          </a:solidFill>
          <a:ln w="12700">
            <a:solidFill>
              <a:srgbClr val="F59E0B"/>
            </a:solidFill>
            <a:prstDash val="solid"/>
          </a:ln>
        </p:spPr>
        <p:txBody>
          <a:bodyPr/>
          <a:lstStyle/>
          <a:p>
            <a:endParaRPr lang="en-US"/>
          </a:p>
        </p:txBody>
      </p:sp>
      <p:sp>
        <p:nvSpPr>
          <p:cNvPr id="18" name="Text 16">
            <a:extLst>
              <a:ext uri="{FF2B5EF4-FFF2-40B4-BE49-F238E27FC236}">
                <a16:creationId xmlns:a16="http://schemas.microsoft.com/office/drawing/2014/main" id="{0A54E7D0-B958-55CE-EB32-EF70033D9245}"/>
              </a:ext>
            </a:extLst>
          </p:cNvPr>
          <p:cNvSpPr/>
          <p:nvPr/>
        </p:nvSpPr>
        <p:spPr>
          <a:xfrm>
            <a:off x="6217920" y="2176272"/>
            <a:ext cx="256032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Interaction level</a:t>
            </a:r>
            <a:endParaRPr lang="en-US" sz="1400" dirty="0"/>
          </a:p>
        </p:txBody>
      </p:sp>
      <p:sp>
        <p:nvSpPr>
          <p:cNvPr id="19" name="Text 17">
            <a:extLst>
              <a:ext uri="{FF2B5EF4-FFF2-40B4-BE49-F238E27FC236}">
                <a16:creationId xmlns:a16="http://schemas.microsoft.com/office/drawing/2014/main" id="{124CEA80-DAE2-96B3-5A11-CE5FA19A29F0}"/>
              </a:ext>
            </a:extLst>
          </p:cNvPr>
          <p:cNvSpPr/>
          <p:nvPr/>
        </p:nvSpPr>
        <p:spPr>
          <a:xfrm>
            <a:off x="6236208" y="2633472"/>
            <a:ext cx="2523744" cy="1188720"/>
          </a:xfrm>
          <a:prstGeom prst="rect">
            <a:avLst/>
          </a:prstGeom>
          <a:noFill/>
          <a:ln/>
        </p:spPr>
        <p:txBody>
          <a:bodyPr wrap="square" lIns="0" tIns="0" rIns="0" bIns="0" rtlCol="0" anchor="ctr"/>
          <a:lstStyle/>
          <a:p>
            <a:pPr marL="0" indent="0">
              <a:buNone/>
            </a:pPr>
            <a:r>
              <a:rPr lang="en-US" sz="1200" dirty="0">
                <a:solidFill>
                  <a:srgbClr val="475569"/>
                </a:solidFill>
                <a:latin typeface="Calibri" pitchFamily="34" charset="0"/>
                <a:ea typeface="Calibri" pitchFamily="34" charset="-122"/>
                <a:cs typeface="Calibri" pitchFamily="34" charset="-120"/>
              </a:rPr>
              <a:t>Categorical and categorical</a:t>
            </a:r>
          </a:p>
          <a:p>
            <a:pPr marL="0" indent="0">
              <a:buNone/>
            </a:pPr>
            <a:r>
              <a:rPr lang="en-US" sz="1200" dirty="0">
                <a:solidFill>
                  <a:srgbClr val="475569"/>
                </a:solidFill>
                <a:latin typeface="Calibri" pitchFamily="34" charset="0"/>
                <a:cs typeface="Calibri" pitchFamily="34" charset="-120"/>
              </a:rPr>
              <a:t>Categorical and numeric</a:t>
            </a:r>
          </a:p>
          <a:p>
            <a:pPr marL="0" indent="0">
              <a:buNone/>
            </a:pPr>
            <a:r>
              <a:rPr lang="en-US" sz="1200" dirty="0">
                <a:solidFill>
                  <a:srgbClr val="475569"/>
                </a:solidFill>
                <a:latin typeface="Calibri" pitchFamily="34" charset="0"/>
                <a:cs typeface="Calibri" pitchFamily="34" charset="-120"/>
              </a:rPr>
              <a:t>Numeric and numeric </a:t>
            </a:r>
            <a:endParaRPr lang="en-US" sz="1200" dirty="0"/>
          </a:p>
        </p:txBody>
      </p:sp>
      <p:sp>
        <p:nvSpPr>
          <p:cNvPr id="24" name="Text 22">
            <a:extLst>
              <a:ext uri="{FF2B5EF4-FFF2-40B4-BE49-F238E27FC236}">
                <a16:creationId xmlns:a16="http://schemas.microsoft.com/office/drawing/2014/main" id="{602748D6-5728-2E27-8BC4-60FAA2178E30}"/>
              </a:ext>
            </a:extLst>
          </p:cNvPr>
          <p:cNvSpPr/>
          <p:nvPr/>
        </p:nvSpPr>
        <p:spPr>
          <a:xfrm>
            <a:off x="274320" y="4919472"/>
            <a:ext cx="859536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Discovering Statistics Using R, p. 183</a:t>
            </a:r>
            <a:endParaRPr lang="en-US" sz="900" dirty="0"/>
          </a:p>
        </p:txBody>
      </p:sp>
    </p:spTree>
    <p:extLst>
      <p:ext uri="{BB962C8B-B14F-4D97-AF65-F5344CB8AC3E}">
        <p14:creationId xmlns:p14="http://schemas.microsoft.com/office/powerpoint/2010/main" val="11558087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979D9-C1AB-269B-F334-ED7C140C176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86DA2AD-4C11-9C6C-7B6E-8743A6B0FC25}"/>
              </a:ext>
            </a:extLst>
          </p:cNvPr>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a:extLst>
              <a:ext uri="{FF2B5EF4-FFF2-40B4-BE49-F238E27FC236}">
                <a16:creationId xmlns:a16="http://schemas.microsoft.com/office/drawing/2014/main" id="{82B502B5-72DB-C60F-491E-D6537029ECEB}"/>
              </a:ext>
            </a:extLst>
          </p:cNvPr>
          <p:cNvSpPr/>
          <p:nvPr/>
        </p:nvSpPr>
        <p:spPr>
          <a:xfrm>
            <a:off x="320040" y="45720"/>
            <a:ext cx="8503920" cy="59436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Linear regression – Mediator </a:t>
            </a:r>
            <a:endParaRPr lang="en-US" sz="2400" dirty="0"/>
          </a:p>
        </p:txBody>
      </p:sp>
      <p:sp>
        <p:nvSpPr>
          <p:cNvPr id="4" name="Shape 2">
            <a:extLst>
              <a:ext uri="{FF2B5EF4-FFF2-40B4-BE49-F238E27FC236}">
                <a16:creationId xmlns:a16="http://schemas.microsoft.com/office/drawing/2014/main" id="{4FAAEC06-9922-FA0C-16FF-17AA729E4940}"/>
              </a:ext>
            </a:extLst>
          </p:cNvPr>
          <p:cNvSpPr/>
          <p:nvPr/>
        </p:nvSpPr>
        <p:spPr>
          <a:xfrm>
            <a:off x="0" y="685800"/>
            <a:ext cx="9144000" cy="64008"/>
          </a:xfrm>
          <a:prstGeom prst="rect">
            <a:avLst/>
          </a:prstGeom>
          <a:solidFill>
            <a:srgbClr val="0D9488"/>
          </a:solidFill>
          <a:ln w="12700">
            <a:solidFill>
              <a:srgbClr val="0D9488"/>
            </a:solidFill>
            <a:prstDash val="solid"/>
          </a:ln>
        </p:spPr>
        <p:txBody>
          <a:bodyPr/>
          <a:lstStyle/>
          <a:p>
            <a:endParaRPr lang="en-US"/>
          </a:p>
        </p:txBody>
      </p:sp>
      <p:sp>
        <p:nvSpPr>
          <p:cNvPr id="5" name="Shape 3">
            <a:extLst>
              <a:ext uri="{FF2B5EF4-FFF2-40B4-BE49-F238E27FC236}">
                <a16:creationId xmlns:a16="http://schemas.microsoft.com/office/drawing/2014/main" id="{BAEA416C-AF11-F6E9-D231-C162317F3F32}"/>
              </a:ext>
            </a:extLst>
          </p:cNvPr>
          <p:cNvSpPr/>
          <p:nvPr/>
        </p:nvSpPr>
        <p:spPr>
          <a:xfrm>
            <a:off x="274320" y="960120"/>
            <a:ext cx="8595360" cy="1005840"/>
          </a:xfrm>
          <a:prstGeom prst="rect">
            <a:avLst/>
          </a:prstGeom>
          <a:solidFill>
            <a:srgbClr val="CCFBF1"/>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Shape 4">
            <a:extLst>
              <a:ext uri="{FF2B5EF4-FFF2-40B4-BE49-F238E27FC236}">
                <a16:creationId xmlns:a16="http://schemas.microsoft.com/office/drawing/2014/main" id="{AEC3C1B6-E814-E227-52B5-A6AC874D22FA}"/>
              </a:ext>
            </a:extLst>
          </p:cNvPr>
          <p:cNvSpPr/>
          <p:nvPr/>
        </p:nvSpPr>
        <p:spPr>
          <a:xfrm>
            <a:off x="274320" y="960120"/>
            <a:ext cx="64008" cy="1005840"/>
          </a:xfrm>
          <a:prstGeom prst="rect">
            <a:avLst/>
          </a:prstGeom>
          <a:solidFill>
            <a:srgbClr val="0D9488"/>
          </a:solidFill>
          <a:ln w="12700">
            <a:solidFill>
              <a:srgbClr val="0D9488"/>
            </a:solidFill>
            <a:prstDash val="solid"/>
          </a:ln>
        </p:spPr>
        <p:txBody>
          <a:bodyPr/>
          <a:lstStyle/>
          <a:p>
            <a:endParaRPr lang="en-US"/>
          </a:p>
        </p:txBody>
      </p:sp>
      <p:sp>
        <p:nvSpPr>
          <p:cNvPr id="7" name="Text 5">
            <a:extLst>
              <a:ext uri="{FF2B5EF4-FFF2-40B4-BE49-F238E27FC236}">
                <a16:creationId xmlns:a16="http://schemas.microsoft.com/office/drawing/2014/main" id="{A74D1CC2-54BE-FD4B-7334-83566343EC67}"/>
              </a:ext>
            </a:extLst>
          </p:cNvPr>
          <p:cNvSpPr/>
          <p:nvPr/>
        </p:nvSpPr>
        <p:spPr>
          <a:xfrm>
            <a:off x="502920" y="1024128"/>
            <a:ext cx="8138160" cy="822960"/>
          </a:xfrm>
          <a:prstGeom prst="rect">
            <a:avLst/>
          </a:prstGeom>
          <a:noFill/>
          <a:ln/>
        </p:spPr>
        <p:txBody>
          <a:bodyPr wrap="square" lIns="0" tIns="0" rIns="0" bIns="0" rtlCol="0" anchor="ctr"/>
          <a:lstStyle/>
          <a:p>
            <a:r>
              <a:rPr lang="en-MY" sz="1400" dirty="0"/>
              <a:t>Baron &amp; Kenny Regression Approach (Classic Method)</a:t>
            </a:r>
          </a:p>
          <a:p>
            <a:r>
              <a:rPr lang="en-MY" sz="1400" dirty="0"/>
              <a:t>In this classic method, mediation is tested using </a:t>
            </a:r>
            <a:r>
              <a:rPr lang="en-MY" sz="1400" b="1" dirty="0"/>
              <a:t>three regression models</a:t>
            </a:r>
            <a:r>
              <a:rPr lang="en-MY" sz="1400" dirty="0"/>
              <a:t>.</a:t>
            </a:r>
            <a:endParaRPr lang="en-US" sz="1400" i="1" dirty="0">
              <a:solidFill>
                <a:srgbClr val="1B2A4A"/>
              </a:solidFill>
              <a:latin typeface="Calibri" pitchFamily="34" charset="0"/>
              <a:cs typeface="Calibri" pitchFamily="34" charset="-120"/>
            </a:endParaRPr>
          </a:p>
        </p:txBody>
      </p:sp>
      <p:sp>
        <p:nvSpPr>
          <p:cNvPr id="8" name="Shape 6">
            <a:extLst>
              <a:ext uri="{FF2B5EF4-FFF2-40B4-BE49-F238E27FC236}">
                <a16:creationId xmlns:a16="http://schemas.microsoft.com/office/drawing/2014/main" id="{AA4F37FA-DA3F-D4BD-4C6D-09FE68658243}"/>
              </a:ext>
            </a:extLst>
          </p:cNvPr>
          <p:cNvSpPr/>
          <p:nvPr/>
        </p:nvSpPr>
        <p:spPr>
          <a:xfrm>
            <a:off x="274320" y="2148840"/>
            <a:ext cx="2743200" cy="1737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Shape 7">
            <a:extLst>
              <a:ext uri="{FF2B5EF4-FFF2-40B4-BE49-F238E27FC236}">
                <a16:creationId xmlns:a16="http://schemas.microsoft.com/office/drawing/2014/main" id="{F056BC14-6543-B473-5E7A-AA2917D8EFB4}"/>
              </a:ext>
            </a:extLst>
          </p:cNvPr>
          <p:cNvSpPr/>
          <p:nvPr/>
        </p:nvSpPr>
        <p:spPr>
          <a:xfrm>
            <a:off x="274320" y="2148840"/>
            <a:ext cx="2743200" cy="411480"/>
          </a:xfrm>
          <a:prstGeom prst="rect">
            <a:avLst/>
          </a:prstGeom>
          <a:solidFill>
            <a:srgbClr val="2563EB"/>
          </a:solidFill>
          <a:ln w="12700">
            <a:solidFill>
              <a:srgbClr val="2563EB"/>
            </a:solidFill>
            <a:prstDash val="solid"/>
          </a:ln>
        </p:spPr>
        <p:txBody>
          <a:bodyPr/>
          <a:lstStyle/>
          <a:p>
            <a:endParaRPr lang="en-US"/>
          </a:p>
        </p:txBody>
      </p:sp>
      <p:sp>
        <p:nvSpPr>
          <p:cNvPr id="10" name="Text 8">
            <a:extLst>
              <a:ext uri="{FF2B5EF4-FFF2-40B4-BE49-F238E27FC236}">
                <a16:creationId xmlns:a16="http://schemas.microsoft.com/office/drawing/2014/main" id="{8D4125FE-A415-B117-58D8-792AEFE5DF2B}"/>
              </a:ext>
            </a:extLst>
          </p:cNvPr>
          <p:cNvSpPr/>
          <p:nvPr/>
        </p:nvSpPr>
        <p:spPr>
          <a:xfrm>
            <a:off x="365760" y="2176272"/>
            <a:ext cx="2560320" cy="347472"/>
          </a:xfrm>
          <a:prstGeom prst="rect">
            <a:avLst/>
          </a:prstGeom>
          <a:noFill/>
          <a:ln/>
        </p:spPr>
        <p:txBody>
          <a:bodyPr wrap="square" lIns="0" tIns="0" rIns="0" bIns="0" rtlCol="0" anchor="ctr"/>
          <a:lstStyle/>
          <a:p>
            <a:pPr algn="ctr"/>
            <a:r>
              <a:rPr lang="en-MY" sz="1400" dirty="0"/>
              <a:t>Step 1: Total Effect</a:t>
            </a:r>
            <a:endParaRPr lang="en-US" sz="1400" dirty="0"/>
          </a:p>
        </p:txBody>
      </p:sp>
      <p:sp>
        <p:nvSpPr>
          <p:cNvPr id="11" name="Text 9">
            <a:extLst>
              <a:ext uri="{FF2B5EF4-FFF2-40B4-BE49-F238E27FC236}">
                <a16:creationId xmlns:a16="http://schemas.microsoft.com/office/drawing/2014/main" id="{D5DBDE2C-9758-93CF-2786-CF40224B27AA}"/>
              </a:ext>
            </a:extLst>
          </p:cNvPr>
          <p:cNvSpPr/>
          <p:nvPr/>
        </p:nvSpPr>
        <p:spPr>
          <a:xfrm>
            <a:off x="384048" y="2633472"/>
            <a:ext cx="2523744" cy="1188720"/>
          </a:xfrm>
          <a:prstGeom prst="rect">
            <a:avLst/>
          </a:prstGeom>
          <a:noFill/>
          <a:ln/>
        </p:spPr>
        <p:txBody>
          <a:bodyPr wrap="square" lIns="0" tIns="0" rIns="0" bIns="0" rtlCol="0" anchor="ctr"/>
          <a:lstStyle/>
          <a:p>
            <a:r>
              <a:rPr lang="en-MY" sz="1200" dirty="0"/>
              <a:t>Y=</a:t>
            </a:r>
            <a:r>
              <a:rPr lang="el-GR" sz="1200" dirty="0"/>
              <a:t>β0​+β1​</a:t>
            </a:r>
            <a:r>
              <a:rPr lang="en-MY" sz="1200" dirty="0"/>
              <a:t>X </a:t>
            </a:r>
          </a:p>
          <a:p>
            <a:r>
              <a:rPr lang="en-MY" sz="1200" dirty="0"/>
              <a:t>If </a:t>
            </a:r>
            <a:r>
              <a:rPr lang="el-GR" sz="1200" dirty="0"/>
              <a:t>β1 </a:t>
            </a:r>
            <a:r>
              <a:rPr lang="en-MY" sz="1200" dirty="0"/>
              <a:t>is significant → X affects Y.</a:t>
            </a:r>
          </a:p>
        </p:txBody>
      </p:sp>
      <p:sp>
        <p:nvSpPr>
          <p:cNvPr id="12" name="Shape 10">
            <a:extLst>
              <a:ext uri="{FF2B5EF4-FFF2-40B4-BE49-F238E27FC236}">
                <a16:creationId xmlns:a16="http://schemas.microsoft.com/office/drawing/2014/main" id="{E848CEC8-ACEF-E798-3F12-66DA3317DABD}"/>
              </a:ext>
            </a:extLst>
          </p:cNvPr>
          <p:cNvSpPr/>
          <p:nvPr/>
        </p:nvSpPr>
        <p:spPr>
          <a:xfrm>
            <a:off x="3200400" y="2148840"/>
            <a:ext cx="2743200" cy="1737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3" name="Shape 11">
            <a:extLst>
              <a:ext uri="{FF2B5EF4-FFF2-40B4-BE49-F238E27FC236}">
                <a16:creationId xmlns:a16="http://schemas.microsoft.com/office/drawing/2014/main" id="{E53268FC-66A6-62E1-1C1F-119C0CC6C38C}"/>
              </a:ext>
            </a:extLst>
          </p:cNvPr>
          <p:cNvSpPr/>
          <p:nvPr/>
        </p:nvSpPr>
        <p:spPr>
          <a:xfrm>
            <a:off x="3200400" y="2148840"/>
            <a:ext cx="2743200" cy="411480"/>
          </a:xfrm>
          <a:prstGeom prst="rect">
            <a:avLst/>
          </a:prstGeom>
          <a:solidFill>
            <a:srgbClr val="0D9488"/>
          </a:solidFill>
          <a:ln w="12700">
            <a:solidFill>
              <a:srgbClr val="0D9488"/>
            </a:solidFill>
            <a:prstDash val="solid"/>
          </a:ln>
        </p:spPr>
        <p:txBody>
          <a:bodyPr/>
          <a:lstStyle/>
          <a:p>
            <a:endParaRPr lang="en-US"/>
          </a:p>
        </p:txBody>
      </p:sp>
      <p:sp>
        <p:nvSpPr>
          <p:cNvPr id="14" name="Text 12">
            <a:extLst>
              <a:ext uri="{FF2B5EF4-FFF2-40B4-BE49-F238E27FC236}">
                <a16:creationId xmlns:a16="http://schemas.microsoft.com/office/drawing/2014/main" id="{AA894437-E24F-DF7F-F26F-47AC4DA3FBBA}"/>
              </a:ext>
            </a:extLst>
          </p:cNvPr>
          <p:cNvSpPr/>
          <p:nvPr/>
        </p:nvSpPr>
        <p:spPr>
          <a:xfrm>
            <a:off x="3291840" y="2176272"/>
            <a:ext cx="2560320" cy="347472"/>
          </a:xfrm>
          <a:prstGeom prst="rect">
            <a:avLst/>
          </a:prstGeom>
          <a:noFill/>
          <a:ln/>
        </p:spPr>
        <p:txBody>
          <a:bodyPr wrap="square" lIns="0" tIns="0" rIns="0" bIns="0" rtlCol="0" anchor="ctr"/>
          <a:lstStyle/>
          <a:p>
            <a:pPr algn="ctr"/>
            <a:r>
              <a:rPr lang="en-MY" sz="1400" dirty="0"/>
              <a:t>Step 2: X → Mediator</a:t>
            </a:r>
            <a:endParaRPr lang="en-US" sz="1400" dirty="0"/>
          </a:p>
        </p:txBody>
      </p:sp>
      <p:sp>
        <p:nvSpPr>
          <p:cNvPr id="15" name="Text 13">
            <a:extLst>
              <a:ext uri="{FF2B5EF4-FFF2-40B4-BE49-F238E27FC236}">
                <a16:creationId xmlns:a16="http://schemas.microsoft.com/office/drawing/2014/main" id="{A5B3D405-593E-A94F-CC56-4AF3E4E496E0}"/>
              </a:ext>
            </a:extLst>
          </p:cNvPr>
          <p:cNvSpPr/>
          <p:nvPr/>
        </p:nvSpPr>
        <p:spPr>
          <a:xfrm>
            <a:off x="3310128" y="2633472"/>
            <a:ext cx="2523744" cy="1188720"/>
          </a:xfrm>
          <a:prstGeom prst="rect">
            <a:avLst/>
          </a:prstGeom>
          <a:noFill/>
          <a:ln/>
        </p:spPr>
        <p:txBody>
          <a:bodyPr wrap="square" lIns="0" tIns="0" rIns="0" bIns="0" rtlCol="0" anchor="ctr"/>
          <a:lstStyle/>
          <a:p>
            <a:r>
              <a:rPr lang="en-MY" sz="1200" dirty="0"/>
              <a:t>M=</a:t>
            </a:r>
            <a:r>
              <a:rPr lang="el-GR" sz="1200" dirty="0"/>
              <a:t>β0​+β1​</a:t>
            </a:r>
            <a:r>
              <a:rPr lang="en-MY" sz="1200" dirty="0"/>
              <a:t>X </a:t>
            </a:r>
          </a:p>
          <a:p>
            <a:r>
              <a:rPr lang="en-MY" sz="1200" dirty="0"/>
              <a:t>If significant → X influences mediator.</a:t>
            </a:r>
          </a:p>
        </p:txBody>
      </p:sp>
      <p:sp>
        <p:nvSpPr>
          <p:cNvPr id="16" name="Shape 14">
            <a:extLst>
              <a:ext uri="{FF2B5EF4-FFF2-40B4-BE49-F238E27FC236}">
                <a16:creationId xmlns:a16="http://schemas.microsoft.com/office/drawing/2014/main" id="{7E4C05B2-3824-3E0E-1F63-21DFDAB2B012}"/>
              </a:ext>
            </a:extLst>
          </p:cNvPr>
          <p:cNvSpPr/>
          <p:nvPr/>
        </p:nvSpPr>
        <p:spPr>
          <a:xfrm>
            <a:off x="6126480" y="2148840"/>
            <a:ext cx="2743200" cy="1737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7" name="Shape 15">
            <a:extLst>
              <a:ext uri="{FF2B5EF4-FFF2-40B4-BE49-F238E27FC236}">
                <a16:creationId xmlns:a16="http://schemas.microsoft.com/office/drawing/2014/main" id="{F52211A5-70DA-19D6-2900-0EDB3F26CEAB}"/>
              </a:ext>
            </a:extLst>
          </p:cNvPr>
          <p:cNvSpPr/>
          <p:nvPr/>
        </p:nvSpPr>
        <p:spPr>
          <a:xfrm>
            <a:off x="6126480" y="2148840"/>
            <a:ext cx="2743200" cy="411480"/>
          </a:xfrm>
          <a:prstGeom prst="rect">
            <a:avLst/>
          </a:prstGeom>
          <a:solidFill>
            <a:srgbClr val="F59E0B"/>
          </a:solidFill>
          <a:ln w="12700">
            <a:solidFill>
              <a:srgbClr val="F59E0B"/>
            </a:solidFill>
            <a:prstDash val="solid"/>
          </a:ln>
        </p:spPr>
        <p:txBody>
          <a:bodyPr/>
          <a:lstStyle/>
          <a:p>
            <a:endParaRPr lang="en-US"/>
          </a:p>
        </p:txBody>
      </p:sp>
      <p:sp>
        <p:nvSpPr>
          <p:cNvPr id="18" name="Text 16">
            <a:extLst>
              <a:ext uri="{FF2B5EF4-FFF2-40B4-BE49-F238E27FC236}">
                <a16:creationId xmlns:a16="http://schemas.microsoft.com/office/drawing/2014/main" id="{DE939DC6-9DD8-8780-7F96-1FB9AAF93159}"/>
              </a:ext>
            </a:extLst>
          </p:cNvPr>
          <p:cNvSpPr/>
          <p:nvPr/>
        </p:nvSpPr>
        <p:spPr>
          <a:xfrm>
            <a:off x="6217920" y="2176272"/>
            <a:ext cx="2560320" cy="347472"/>
          </a:xfrm>
          <a:prstGeom prst="rect">
            <a:avLst/>
          </a:prstGeom>
          <a:noFill/>
          <a:ln/>
        </p:spPr>
        <p:txBody>
          <a:bodyPr wrap="square" lIns="0" tIns="0" rIns="0" bIns="0" rtlCol="0" anchor="ctr"/>
          <a:lstStyle/>
          <a:p>
            <a:pPr algn="ctr"/>
            <a:r>
              <a:rPr lang="en-MY" sz="1400" dirty="0"/>
              <a:t>Step 3: Mediator → Outcome</a:t>
            </a:r>
            <a:endParaRPr lang="en-US" sz="1400" dirty="0"/>
          </a:p>
        </p:txBody>
      </p:sp>
      <p:sp>
        <p:nvSpPr>
          <p:cNvPr id="19" name="Text 17">
            <a:extLst>
              <a:ext uri="{FF2B5EF4-FFF2-40B4-BE49-F238E27FC236}">
                <a16:creationId xmlns:a16="http://schemas.microsoft.com/office/drawing/2014/main" id="{05ABD344-B2D0-A634-6F83-9BE117105DA5}"/>
              </a:ext>
            </a:extLst>
          </p:cNvPr>
          <p:cNvSpPr/>
          <p:nvPr/>
        </p:nvSpPr>
        <p:spPr>
          <a:xfrm>
            <a:off x="6236208" y="2633472"/>
            <a:ext cx="2523744" cy="1188720"/>
          </a:xfrm>
          <a:prstGeom prst="rect">
            <a:avLst/>
          </a:prstGeom>
          <a:noFill/>
          <a:ln/>
        </p:spPr>
        <p:txBody>
          <a:bodyPr wrap="square" lIns="0" tIns="0" rIns="0" bIns="0" rtlCol="0" anchor="ctr"/>
          <a:lstStyle/>
          <a:p>
            <a:r>
              <a:rPr lang="en-MY" sz="1200" dirty="0"/>
              <a:t>Y=</a:t>
            </a:r>
            <a:r>
              <a:rPr lang="el-GR" sz="1200" dirty="0"/>
              <a:t>β0​+β1​</a:t>
            </a:r>
            <a:r>
              <a:rPr lang="en-MY" sz="1200" dirty="0"/>
              <a:t>X+</a:t>
            </a:r>
            <a:r>
              <a:rPr lang="el-GR" sz="1200" dirty="0"/>
              <a:t>β2​</a:t>
            </a:r>
            <a:r>
              <a:rPr lang="en-MY" sz="1200" dirty="0"/>
              <a:t>M </a:t>
            </a:r>
          </a:p>
          <a:p>
            <a:r>
              <a:rPr lang="en-MY" sz="1200" dirty="0"/>
              <a:t>Interpretation:</a:t>
            </a:r>
          </a:p>
          <a:p>
            <a:r>
              <a:rPr lang="el-GR" sz="1200" b="1" dirty="0"/>
              <a:t>β2 </a:t>
            </a:r>
            <a:r>
              <a:rPr lang="en-MY" sz="1200" b="1" dirty="0"/>
              <a:t>significant</a:t>
            </a:r>
            <a:r>
              <a:rPr lang="en-MY" sz="1200" dirty="0"/>
              <a:t> → mediator affects Y</a:t>
            </a:r>
          </a:p>
          <a:p>
            <a:r>
              <a:rPr lang="en-MY" sz="1200" dirty="0"/>
              <a:t>If </a:t>
            </a:r>
            <a:r>
              <a:rPr lang="el-GR" sz="1200" b="1" dirty="0"/>
              <a:t>β1 </a:t>
            </a:r>
            <a:r>
              <a:rPr lang="en-MY" sz="1200" b="1" dirty="0"/>
              <a:t>decreases</a:t>
            </a:r>
            <a:r>
              <a:rPr lang="en-MY" sz="1200" dirty="0"/>
              <a:t> compared to Step 1 → mediation exists</a:t>
            </a:r>
          </a:p>
        </p:txBody>
      </p:sp>
      <p:sp>
        <p:nvSpPr>
          <p:cNvPr id="20" name="Shape 18">
            <a:extLst>
              <a:ext uri="{FF2B5EF4-FFF2-40B4-BE49-F238E27FC236}">
                <a16:creationId xmlns:a16="http://schemas.microsoft.com/office/drawing/2014/main" id="{462740B9-C962-AEA8-7897-31B7866FBC4B}"/>
              </a:ext>
            </a:extLst>
          </p:cNvPr>
          <p:cNvSpPr/>
          <p:nvPr/>
        </p:nvSpPr>
        <p:spPr>
          <a:xfrm>
            <a:off x="274320" y="4023360"/>
            <a:ext cx="8595360" cy="822960"/>
          </a:xfrm>
          <a:prstGeom prst="rect">
            <a:avLst/>
          </a:prstGeom>
          <a:solidFill>
            <a:srgbClr val="EFF6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1" name="Text 19">
            <a:extLst>
              <a:ext uri="{FF2B5EF4-FFF2-40B4-BE49-F238E27FC236}">
                <a16:creationId xmlns:a16="http://schemas.microsoft.com/office/drawing/2014/main" id="{7606F8FE-6F62-6BB8-2D25-F9448E5EACBB}"/>
              </a:ext>
            </a:extLst>
          </p:cNvPr>
          <p:cNvSpPr/>
          <p:nvPr/>
        </p:nvSpPr>
        <p:spPr>
          <a:xfrm>
            <a:off x="457200" y="4069080"/>
            <a:ext cx="2377440" cy="320040"/>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The Regression Equation:</a:t>
            </a:r>
            <a:endParaRPr lang="en-US" sz="1200" dirty="0"/>
          </a:p>
        </p:txBody>
      </p:sp>
      <p:sp>
        <p:nvSpPr>
          <p:cNvPr id="22" name="Text 20">
            <a:extLst>
              <a:ext uri="{FF2B5EF4-FFF2-40B4-BE49-F238E27FC236}">
                <a16:creationId xmlns:a16="http://schemas.microsoft.com/office/drawing/2014/main" id="{6AF80100-F3D9-2BB1-F681-DBE91CD43667}"/>
              </a:ext>
            </a:extLst>
          </p:cNvPr>
          <p:cNvSpPr/>
          <p:nvPr/>
        </p:nvSpPr>
        <p:spPr>
          <a:xfrm>
            <a:off x="2926080" y="4059936"/>
            <a:ext cx="4114800" cy="365760"/>
          </a:xfrm>
          <a:prstGeom prst="rect">
            <a:avLst/>
          </a:prstGeom>
          <a:noFill/>
          <a:ln/>
        </p:spPr>
        <p:txBody>
          <a:bodyPr wrap="square" lIns="0" tIns="0" rIns="0" bIns="0" rtlCol="0" anchor="ctr"/>
          <a:lstStyle/>
          <a:p>
            <a:pPr marL="0" indent="0">
              <a:buNone/>
            </a:pPr>
            <a:endParaRPr lang="en-US" sz="1800" dirty="0"/>
          </a:p>
        </p:txBody>
      </p:sp>
      <p:sp>
        <p:nvSpPr>
          <p:cNvPr id="23" name="Text 21">
            <a:extLst>
              <a:ext uri="{FF2B5EF4-FFF2-40B4-BE49-F238E27FC236}">
                <a16:creationId xmlns:a16="http://schemas.microsoft.com/office/drawing/2014/main" id="{68ECCF63-BA0F-3B79-CAFF-CC41A3EEB208}"/>
              </a:ext>
            </a:extLst>
          </p:cNvPr>
          <p:cNvSpPr/>
          <p:nvPr/>
        </p:nvSpPr>
        <p:spPr>
          <a:xfrm>
            <a:off x="457200" y="4462272"/>
            <a:ext cx="8046720" cy="274320"/>
          </a:xfrm>
          <a:prstGeom prst="rect">
            <a:avLst/>
          </a:prstGeom>
          <a:noFill/>
          <a:ln/>
        </p:spPr>
        <p:txBody>
          <a:bodyPr wrap="square" lIns="0" tIns="0" rIns="0" bIns="0" rtlCol="0" anchor="ctr"/>
          <a:lstStyle/>
          <a:p>
            <a:r>
              <a:rPr lang="en-US" sz="1000" i="1" dirty="0">
                <a:solidFill>
                  <a:srgbClr val="475569"/>
                </a:solidFill>
                <a:latin typeface="Calibri" pitchFamily="34" charset="0"/>
                <a:ea typeface="Calibri" pitchFamily="34" charset="-122"/>
                <a:cs typeface="Calibri" pitchFamily="34" charset="-120"/>
              </a:rPr>
              <a:t>Full mediation - </a:t>
            </a:r>
            <a:r>
              <a:rPr lang="en-MY" sz="1000" dirty="0"/>
              <a:t>Effect of X on Y disappears after mediator added</a:t>
            </a:r>
          </a:p>
          <a:p>
            <a:r>
              <a:rPr lang="en-US" sz="1000" i="1" dirty="0">
                <a:solidFill>
                  <a:srgbClr val="475569"/>
                </a:solidFill>
                <a:latin typeface="Calibri" pitchFamily="34" charset="0"/>
                <a:ea typeface="Calibri" pitchFamily="34" charset="-122"/>
                <a:cs typeface="Calibri" pitchFamily="34" charset="-120"/>
              </a:rPr>
              <a:t>Full mediation - </a:t>
            </a:r>
            <a:r>
              <a:rPr lang="en-MY" sz="1000" dirty="0"/>
              <a:t>Effect of X decreases but remains significant</a:t>
            </a:r>
            <a:endParaRPr lang="en-US" sz="1000" dirty="0"/>
          </a:p>
        </p:txBody>
      </p:sp>
      <p:sp>
        <p:nvSpPr>
          <p:cNvPr id="24" name="Text 22">
            <a:extLst>
              <a:ext uri="{FF2B5EF4-FFF2-40B4-BE49-F238E27FC236}">
                <a16:creationId xmlns:a16="http://schemas.microsoft.com/office/drawing/2014/main" id="{034B6F78-33C3-CDF3-2BBD-E014C069F3FE}"/>
              </a:ext>
            </a:extLst>
          </p:cNvPr>
          <p:cNvSpPr/>
          <p:nvPr/>
        </p:nvSpPr>
        <p:spPr>
          <a:xfrm>
            <a:off x="274320" y="4919472"/>
            <a:ext cx="859536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Discovering Statistics Using R, p. 183</a:t>
            </a:r>
            <a:endParaRPr lang="en-US" sz="900" dirty="0"/>
          </a:p>
        </p:txBody>
      </p:sp>
    </p:spTree>
    <p:extLst>
      <p:ext uri="{BB962C8B-B14F-4D97-AF65-F5344CB8AC3E}">
        <p14:creationId xmlns:p14="http://schemas.microsoft.com/office/powerpoint/2010/main" val="39294462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00ACB-CEFB-0AC6-11C8-343AA4ACFE8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2261691-D859-EE6C-C799-D76A553A6F4B}"/>
              </a:ext>
            </a:extLst>
          </p:cNvPr>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a:extLst>
              <a:ext uri="{FF2B5EF4-FFF2-40B4-BE49-F238E27FC236}">
                <a16:creationId xmlns:a16="http://schemas.microsoft.com/office/drawing/2014/main" id="{6F905BFC-A912-4D63-DD0B-9BC5B24B719A}"/>
              </a:ext>
            </a:extLst>
          </p:cNvPr>
          <p:cNvSpPr/>
          <p:nvPr/>
        </p:nvSpPr>
        <p:spPr>
          <a:xfrm>
            <a:off x="320040" y="45720"/>
            <a:ext cx="8503920" cy="59436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Mediator – modern approach using indirect effect  </a:t>
            </a:r>
            <a:endParaRPr lang="en-US" sz="2200" dirty="0"/>
          </a:p>
        </p:txBody>
      </p:sp>
      <p:sp>
        <p:nvSpPr>
          <p:cNvPr id="4" name="Shape 2">
            <a:extLst>
              <a:ext uri="{FF2B5EF4-FFF2-40B4-BE49-F238E27FC236}">
                <a16:creationId xmlns:a16="http://schemas.microsoft.com/office/drawing/2014/main" id="{8C076E52-36CC-E8DD-BDAF-4CC5A5FAD1B6}"/>
              </a:ext>
            </a:extLst>
          </p:cNvPr>
          <p:cNvSpPr/>
          <p:nvPr/>
        </p:nvSpPr>
        <p:spPr>
          <a:xfrm>
            <a:off x="0" y="685800"/>
            <a:ext cx="9144000" cy="64008"/>
          </a:xfrm>
          <a:prstGeom prst="rect">
            <a:avLst/>
          </a:prstGeom>
          <a:solidFill>
            <a:srgbClr val="F59E0B"/>
          </a:solidFill>
          <a:ln w="12700">
            <a:solidFill>
              <a:srgbClr val="F59E0B"/>
            </a:solidFill>
            <a:prstDash val="solid"/>
          </a:ln>
        </p:spPr>
        <p:txBody>
          <a:bodyPr/>
          <a:lstStyle/>
          <a:p>
            <a:endParaRPr lang="en-US"/>
          </a:p>
        </p:txBody>
      </p:sp>
      <mc:AlternateContent xmlns:mc="http://schemas.openxmlformats.org/markup-compatibility/2006">
        <mc:Choice xmlns:a14="http://schemas.microsoft.com/office/drawing/2010/main" Requires="a14">
          <p:sp>
            <p:nvSpPr>
              <p:cNvPr id="5" name="Shape 3">
                <a:extLst>
                  <a:ext uri="{FF2B5EF4-FFF2-40B4-BE49-F238E27FC236}">
                    <a16:creationId xmlns:a16="http://schemas.microsoft.com/office/drawing/2014/main" id="{58695BBA-5839-06C6-E321-90B90D651BF5}"/>
                  </a:ext>
                </a:extLst>
              </p:cNvPr>
              <p:cNvSpPr/>
              <p:nvPr/>
            </p:nvSpPr>
            <p:spPr>
              <a:xfrm>
                <a:off x="320040" y="909752"/>
                <a:ext cx="8686800" cy="2011680"/>
              </a:xfrm>
              <a:prstGeom prst="rect">
                <a:avLst/>
              </a:prstGeom>
              <a:solidFill>
                <a:srgbClr val="FFFBEB"/>
              </a:solidFill>
              <a:ln w="6350">
                <a:solidFill>
                  <a:srgbClr val="E2E8F0"/>
                </a:solidFill>
                <a:prstDash val="solid"/>
              </a:ln>
              <a:effectLst>
                <a:outerShdw blurRad="101600" dist="38100" dir="8100000" algn="bl" rotWithShape="0">
                  <a:srgbClr val="000000">
                    <a:alpha val="10000"/>
                  </a:srgbClr>
                </a:outerShdw>
              </a:effectLst>
            </p:spPr>
            <p:txBody>
              <a:bodyPr/>
              <a:lstStyle/>
              <a:p>
                <a:r>
                  <a:rPr lang="en-MY" sz="1200" dirty="0"/>
                  <a:t>Modern mediation uses </a:t>
                </a:r>
                <a:r>
                  <a:rPr lang="en-MY" sz="1200" b="1" dirty="0"/>
                  <a:t>indirect effect</a:t>
                </a:r>
                <a:r>
                  <a:rPr lang="en-MY" sz="1200" dirty="0"/>
                  <a:t>:</a:t>
                </a:r>
              </a:p>
              <a:p>
                <a14:m>
                  <m:oMathPara xmlns:m="http://schemas.openxmlformats.org/officeDocument/2006/math">
                    <m:oMathParaPr>
                      <m:jc m:val="centerGroup"/>
                    </m:oMathParaPr>
                    <m:oMath xmlns:m="http://schemas.openxmlformats.org/officeDocument/2006/math">
                      <m:r>
                        <a:rPr lang="en-MY" sz="1200" i="1"/>
                        <m:t>𝐼𝑛𝑑𝑖𝑟𝑒𝑐𝑡</m:t>
                      </m:r>
                      <m:r>
                        <m:rPr>
                          <m:nor/>
                        </m:rPr>
                        <a:rPr lang="en-MY" sz="1200" i="1"/>
                        <m:t> </m:t>
                      </m:r>
                      <m:r>
                        <a:rPr lang="en-MY" sz="1200" i="1"/>
                        <m:t>𝐸𝑓𝑓𝑒𝑐𝑡</m:t>
                      </m:r>
                      <m:r>
                        <a:rPr lang="en-MY" sz="1200"/>
                        <m:t>=</m:t>
                      </m:r>
                      <m:r>
                        <a:rPr lang="en-MY" sz="1200" i="1"/>
                        <m:t>𝑎</m:t>
                      </m:r>
                      <m:r>
                        <a:rPr lang="en-MY" sz="1200"/>
                        <m:t>×</m:t>
                      </m:r>
                      <m:r>
                        <a:rPr lang="en-MY" sz="1200" i="1"/>
                        <m:t>𝑏</m:t>
                      </m:r>
                    </m:oMath>
                  </m:oMathPara>
                </a14:m>
                <a:endParaRPr lang="en-MY" sz="1200" b="0" dirty="0"/>
              </a:p>
              <a:p>
                <a:r>
                  <a:rPr lang="en-MY" sz="1200" dirty="0"/>
                  <a:t>Where:</a:t>
                </a:r>
              </a:p>
              <a:p>
                <a:r>
                  <a:rPr lang="en-MY" sz="1200" b="1" dirty="0"/>
                  <a:t>a</a:t>
                </a:r>
                <a:r>
                  <a:rPr lang="en-MY" sz="1200" dirty="0"/>
                  <a:t> = effect of X → M</a:t>
                </a:r>
              </a:p>
              <a:p>
                <a:r>
                  <a:rPr lang="en-MY" sz="1200" b="1" dirty="0"/>
                  <a:t>b</a:t>
                </a:r>
                <a:r>
                  <a:rPr lang="en-MY" sz="1200" dirty="0"/>
                  <a:t> = effect of M → Y</a:t>
                </a:r>
              </a:p>
              <a:p>
                <a:endParaRPr lang="en-MY" sz="1200" dirty="0"/>
              </a:p>
              <a:p>
                <a:r>
                  <a:rPr lang="en-MY" sz="1200" dirty="0"/>
                  <a:t>Significance usually tested using:</a:t>
                </a:r>
              </a:p>
              <a:p>
                <a:r>
                  <a:rPr lang="en-MY" sz="1200" b="1" dirty="0"/>
                  <a:t>Bootstrapping (preferred)</a:t>
                </a:r>
                <a:endParaRPr lang="en-MY" sz="1200" dirty="0"/>
              </a:p>
              <a:p>
                <a:r>
                  <a:rPr lang="en-MY" sz="1200" dirty="0"/>
                  <a:t>Sobel test</a:t>
                </a:r>
              </a:p>
            </p:txBody>
          </p:sp>
        </mc:Choice>
        <mc:Fallback>
          <p:sp>
            <p:nvSpPr>
              <p:cNvPr id="5" name="Shape 3">
                <a:extLst>
                  <a:ext uri="{FF2B5EF4-FFF2-40B4-BE49-F238E27FC236}">
                    <a16:creationId xmlns:a16="http://schemas.microsoft.com/office/drawing/2014/main" id="{58695BBA-5839-06C6-E321-90B90D651BF5}"/>
                  </a:ext>
                </a:extLst>
              </p:cNvPr>
              <p:cNvSpPr>
                <a:spLocks noRot="1" noChangeAspect="1" noMove="1" noResize="1" noEditPoints="1" noAdjustHandles="1" noChangeArrowheads="1" noChangeShapeType="1" noTextEdit="1"/>
              </p:cNvSpPr>
              <p:nvPr/>
            </p:nvSpPr>
            <p:spPr>
              <a:xfrm>
                <a:off x="320040" y="909752"/>
                <a:ext cx="8686800" cy="2011680"/>
              </a:xfrm>
              <a:prstGeom prst="rect">
                <a:avLst/>
              </a:prstGeom>
              <a:blipFill>
                <a:blip r:embed="rId3"/>
                <a:stretch>
                  <a:fillRect/>
                </a:stretch>
              </a:blipFill>
              <a:ln w="6350">
                <a:solidFill>
                  <a:srgbClr val="E2E8F0"/>
                </a:solidFill>
                <a:prstDash val="solid"/>
              </a:ln>
              <a:effectLst>
                <a:outerShdw blurRad="101600" dist="38100" dir="8100000" algn="bl" rotWithShape="0">
                  <a:srgbClr val="000000">
                    <a:alpha val="10000"/>
                  </a:srgbClr>
                </a:outerShdw>
              </a:effectLst>
            </p:spPr>
            <p:txBody>
              <a:bodyPr/>
              <a:lstStyle/>
              <a:p>
                <a:r>
                  <a:rPr lang="en-US">
                    <a:noFill/>
                  </a:rPr>
                  <a:t> </a:t>
                </a:r>
              </a:p>
            </p:txBody>
          </p:sp>
        </mc:Fallback>
      </mc:AlternateContent>
      <p:sp>
        <p:nvSpPr>
          <p:cNvPr id="6" name="Shape 4">
            <a:extLst>
              <a:ext uri="{FF2B5EF4-FFF2-40B4-BE49-F238E27FC236}">
                <a16:creationId xmlns:a16="http://schemas.microsoft.com/office/drawing/2014/main" id="{138E4A18-4F3B-EE8E-E752-C42F9E509A30}"/>
              </a:ext>
            </a:extLst>
          </p:cNvPr>
          <p:cNvSpPr/>
          <p:nvPr/>
        </p:nvSpPr>
        <p:spPr>
          <a:xfrm>
            <a:off x="228600" y="914400"/>
            <a:ext cx="64008" cy="2011680"/>
          </a:xfrm>
          <a:prstGeom prst="rect">
            <a:avLst/>
          </a:prstGeom>
          <a:solidFill>
            <a:srgbClr val="F59E0B"/>
          </a:solidFill>
          <a:ln w="12700">
            <a:solidFill>
              <a:srgbClr val="F59E0B"/>
            </a:solidFill>
            <a:prstDash val="solid"/>
          </a:ln>
        </p:spPr>
        <p:txBody>
          <a:bodyPr/>
          <a:lstStyle/>
          <a:p>
            <a:endParaRPr lang="en-US"/>
          </a:p>
        </p:txBody>
      </p:sp>
      <p:sp>
        <p:nvSpPr>
          <p:cNvPr id="7" name="Text 5">
            <a:extLst>
              <a:ext uri="{FF2B5EF4-FFF2-40B4-BE49-F238E27FC236}">
                <a16:creationId xmlns:a16="http://schemas.microsoft.com/office/drawing/2014/main" id="{E30D31A8-00F6-D838-CDE6-AA17CED960DD}"/>
              </a:ext>
            </a:extLst>
          </p:cNvPr>
          <p:cNvSpPr/>
          <p:nvPr/>
        </p:nvSpPr>
        <p:spPr>
          <a:xfrm>
            <a:off x="457200" y="969264"/>
            <a:ext cx="8229600" cy="320040"/>
          </a:xfrm>
          <a:prstGeom prst="rect">
            <a:avLst/>
          </a:prstGeom>
          <a:noFill/>
          <a:ln/>
        </p:spPr>
        <p:txBody>
          <a:bodyPr wrap="square" lIns="0" tIns="0" rIns="0" bIns="0" rtlCol="0" anchor="ctr"/>
          <a:lstStyle/>
          <a:p>
            <a:pPr marL="0" indent="0">
              <a:buNone/>
            </a:pPr>
            <a:endParaRPr lang="en-US" sz="1300" dirty="0"/>
          </a:p>
        </p:txBody>
      </p:sp>
      <p:sp>
        <p:nvSpPr>
          <p:cNvPr id="8" name="Text 6">
            <a:extLst>
              <a:ext uri="{FF2B5EF4-FFF2-40B4-BE49-F238E27FC236}">
                <a16:creationId xmlns:a16="http://schemas.microsoft.com/office/drawing/2014/main" id="{082B1C88-E37D-474B-9C25-30B2EBDD7557}"/>
              </a:ext>
            </a:extLst>
          </p:cNvPr>
          <p:cNvSpPr/>
          <p:nvPr/>
        </p:nvSpPr>
        <p:spPr>
          <a:xfrm>
            <a:off x="457200" y="1325880"/>
            <a:ext cx="8229600" cy="1508760"/>
          </a:xfrm>
          <a:prstGeom prst="rect">
            <a:avLst/>
          </a:prstGeom>
          <a:noFill/>
          <a:ln/>
        </p:spPr>
        <p:txBody>
          <a:bodyPr wrap="square" lIns="0" tIns="0" rIns="0" bIns="0" rtlCol="0" anchor="ctr"/>
          <a:lstStyle/>
          <a:p>
            <a:endParaRPr lang="en-US" sz="1200" dirty="0"/>
          </a:p>
        </p:txBody>
      </p:sp>
      <p:sp>
        <p:nvSpPr>
          <p:cNvPr id="9" name="Text 7">
            <a:extLst>
              <a:ext uri="{FF2B5EF4-FFF2-40B4-BE49-F238E27FC236}">
                <a16:creationId xmlns:a16="http://schemas.microsoft.com/office/drawing/2014/main" id="{3A2F62BC-BEF3-709D-DCC1-85637823EEA3}"/>
              </a:ext>
            </a:extLst>
          </p:cNvPr>
          <p:cNvSpPr/>
          <p:nvPr/>
        </p:nvSpPr>
        <p:spPr>
          <a:xfrm>
            <a:off x="228600" y="3063240"/>
            <a:ext cx="8686800" cy="347472"/>
          </a:xfrm>
          <a:prstGeom prst="rect">
            <a:avLst/>
          </a:prstGeom>
          <a:noFill/>
          <a:ln/>
        </p:spPr>
        <p:txBody>
          <a:bodyPr wrap="square" lIns="0" tIns="0" rIns="0" bIns="0" rtlCol="0" anchor="ctr"/>
          <a:lstStyle/>
          <a:p>
            <a:pPr marL="0" indent="0">
              <a:buNone/>
            </a:pPr>
            <a:r>
              <a:rPr lang="en-US" sz="1400" b="1" dirty="0">
                <a:solidFill>
                  <a:srgbClr val="1B2A4A"/>
                </a:solidFill>
                <a:latin typeface="Calibri" pitchFamily="34" charset="0"/>
                <a:cs typeface="Calibri" pitchFamily="34" charset="-120"/>
              </a:rPr>
              <a:t>WHAT CAN YOU DO </a:t>
            </a:r>
            <a:endParaRPr lang="en-US" sz="1400" dirty="0"/>
          </a:p>
        </p:txBody>
      </p:sp>
      <p:sp>
        <p:nvSpPr>
          <p:cNvPr id="10" name="Shape 8">
            <a:extLst>
              <a:ext uri="{FF2B5EF4-FFF2-40B4-BE49-F238E27FC236}">
                <a16:creationId xmlns:a16="http://schemas.microsoft.com/office/drawing/2014/main" id="{28F9DF6F-8410-A971-7D09-0983DDA6855A}"/>
              </a:ext>
            </a:extLst>
          </p:cNvPr>
          <p:cNvSpPr/>
          <p:nvPr/>
        </p:nvSpPr>
        <p:spPr>
          <a:xfrm>
            <a:off x="228600" y="3566160"/>
            <a:ext cx="320040" cy="320040"/>
          </a:xfrm>
          <a:prstGeom prst="ellipse">
            <a:avLst/>
          </a:prstGeom>
          <a:solidFill>
            <a:srgbClr val="16A34A"/>
          </a:solidFill>
          <a:ln w="12700">
            <a:solidFill>
              <a:srgbClr val="16A34A"/>
            </a:solidFill>
            <a:prstDash val="solid"/>
          </a:ln>
        </p:spPr>
        <p:txBody>
          <a:bodyPr/>
          <a:lstStyle/>
          <a:p>
            <a:endParaRPr lang="en-US"/>
          </a:p>
        </p:txBody>
      </p:sp>
      <p:sp>
        <p:nvSpPr>
          <p:cNvPr id="11" name="Text 9">
            <a:extLst>
              <a:ext uri="{FF2B5EF4-FFF2-40B4-BE49-F238E27FC236}">
                <a16:creationId xmlns:a16="http://schemas.microsoft.com/office/drawing/2014/main" id="{FEDEA357-A540-95F6-DF19-10EEADF53A5A}"/>
              </a:ext>
            </a:extLst>
          </p:cNvPr>
          <p:cNvSpPr/>
          <p:nvPr/>
        </p:nvSpPr>
        <p:spPr>
          <a:xfrm>
            <a:off x="22860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a:extLst>
              <a:ext uri="{FF2B5EF4-FFF2-40B4-BE49-F238E27FC236}">
                <a16:creationId xmlns:a16="http://schemas.microsoft.com/office/drawing/2014/main" id="{F68CE0FF-4880-B316-F40E-FB531B79793C}"/>
              </a:ext>
            </a:extLst>
          </p:cNvPr>
          <p:cNvSpPr/>
          <p:nvPr/>
        </p:nvSpPr>
        <p:spPr>
          <a:xfrm>
            <a:off x="653682" y="3675888"/>
            <a:ext cx="8110956" cy="365760"/>
          </a:xfrm>
          <a:prstGeom prst="rect">
            <a:avLst/>
          </a:prstGeom>
          <a:noFill/>
          <a:ln/>
        </p:spPr>
        <p:txBody>
          <a:bodyPr wrap="square" lIns="0" tIns="0" rIns="0" bIns="0" rtlCol="0" anchor="ctr"/>
          <a:lstStyle/>
          <a:p>
            <a:r>
              <a:rPr lang="en-US" sz="1200" dirty="0">
                <a:latin typeface="Calibri" panose="020F0502020204030204" pitchFamily="34" charset="0"/>
                <a:cs typeface="Calibri" panose="020F0502020204030204" pitchFamily="34" charset="0"/>
              </a:rPr>
              <a:t>Bootstrapping - </a:t>
            </a:r>
            <a:r>
              <a:rPr lang="en-MY" sz="1200" dirty="0">
                <a:latin typeface="Calibri" panose="020F0502020204030204" pitchFamily="34" charset="0"/>
                <a:cs typeface="Calibri" panose="020F0502020204030204" pitchFamily="34" charset="0"/>
              </a:rPr>
              <a:t>bootstrapping for mediation analysis is commonly done using packages such as mediation, </a:t>
            </a:r>
            <a:r>
              <a:rPr lang="en-MY" sz="1200" dirty="0" err="1">
                <a:latin typeface="Calibri" panose="020F0502020204030204" pitchFamily="34" charset="0"/>
                <a:cs typeface="Calibri" panose="020F0502020204030204" pitchFamily="34" charset="0"/>
              </a:rPr>
              <a:t>lavaan</a:t>
            </a:r>
            <a:r>
              <a:rPr lang="en-MY" sz="1200" dirty="0">
                <a:latin typeface="Calibri" panose="020F0502020204030204" pitchFamily="34" charset="0"/>
                <a:cs typeface="Calibri" panose="020F0502020204030204" pitchFamily="34" charset="0"/>
              </a:rPr>
              <a:t>, or boot. </a:t>
            </a:r>
          </a:p>
          <a:p>
            <a:r>
              <a:rPr lang="en-MY" sz="1200" dirty="0">
                <a:latin typeface="Calibri" panose="020F0502020204030204" pitchFamily="34" charset="0"/>
                <a:cs typeface="Calibri" panose="020F0502020204030204" pitchFamily="34" charset="0"/>
              </a:rPr>
              <a:t>The easiest and most commonly used approach is the mediation package.</a:t>
            </a:r>
          </a:p>
          <a:p>
            <a:endParaRPr lang="en-US" sz="1200" dirty="0">
              <a:latin typeface="Calibri" panose="020F0502020204030204" pitchFamily="34" charset="0"/>
              <a:cs typeface="Calibri" panose="020F0502020204030204" pitchFamily="34" charset="0"/>
            </a:endParaRPr>
          </a:p>
        </p:txBody>
      </p:sp>
      <p:sp>
        <p:nvSpPr>
          <p:cNvPr id="14" name="Text 12">
            <a:extLst>
              <a:ext uri="{FF2B5EF4-FFF2-40B4-BE49-F238E27FC236}">
                <a16:creationId xmlns:a16="http://schemas.microsoft.com/office/drawing/2014/main" id="{B45638A2-EEC5-7E81-3B7F-270D729D7758}"/>
              </a:ext>
            </a:extLst>
          </p:cNvPr>
          <p:cNvSpPr/>
          <p:nvPr/>
        </p:nvSpPr>
        <p:spPr>
          <a:xfrm>
            <a:off x="22860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0" name="Text 18">
            <a:extLst>
              <a:ext uri="{FF2B5EF4-FFF2-40B4-BE49-F238E27FC236}">
                <a16:creationId xmlns:a16="http://schemas.microsoft.com/office/drawing/2014/main" id="{94A74E44-6913-6A70-65A5-6FDF68043FAD}"/>
              </a:ext>
            </a:extLst>
          </p:cNvPr>
          <p:cNvSpPr/>
          <p:nvPr/>
        </p:nvSpPr>
        <p:spPr>
          <a:xfrm>
            <a:off x="470916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a:extLst>
              <a:ext uri="{FF2B5EF4-FFF2-40B4-BE49-F238E27FC236}">
                <a16:creationId xmlns:a16="http://schemas.microsoft.com/office/drawing/2014/main" id="{C94FC6D2-EA29-430E-A3A0-03ACF282D1B6}"/>
              </a:ext>
            </a:extLst>
          </p:cNvPr>
          <p:cNvSpPr/>
          <p:nvPr/>
        </p:nvSpPr>
        <p:spPr>
          <a:xfrm>
            <a:off x="470916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6" name="Text 24">
            <a:extLst>
              <a:ext uri="{FF2B5EF4-FFF2-40B4-BE49-F238E27FC236}">
                <a16:creationId xmlns:a16="http://schemas.microsoft.com/office/drawing/2014/main" id="{DF843190-C17F-DCC4-601C-62699FFCC0A4}"/>
              </a:ext>
            </a:extLst>
          </p:cNvPr>
          <p:cNvSpPr/>
          <p:nvPr/>
        </p:nvSpPr>
        <p:spPr>
          <a:xfrm>
            <a:off x="4709160" y="457200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8" name="Text 26">
            <a:extLst>
              <a:ext uri="{FF2B5EF4-FFF2-40B4-BE49-F238E27FC236}">
                <a16:creationId xmlns:a16="http://schemas.microsoft.com/office/drawing/2014/main" id="{6764AD34-9FF3-B301-976B-D9C922F1D015}"/>
              </a:ext>
            </a:extLst>
          </p:cNvPr>
          <p:cNvSpPr/>
          <p:nvPr/>
        </p:nvSpPr>
        <p:spPr>
          <a:xfrm>
            <a:off x="228600" y="4919472"/>
            <a:ext cx="868680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pp. 255–260  |  APA Publication Manual, 7th Ed.</a:t>
            </a:r>
            <a:endParaRPr lang="en-US" sz="900" dirty="0"/>
          </a:p>
        </p:txBody>
      </p:sp>
      <p:sp>
        <p:nvSpPr>
          <p:cNvPr id="13" name="Text 9">
            <a:extLst>
              <a:ext uri="{FF2B5EF4-FFF2-40B4-BE49-F238E27FC236}">
                <a16:creationId xmlns:a16="http://schemas.microsoft.com/office/drawing/2014/main" id="{4A1AEAB6-0373-E8A8-366A-E1B911E83444}"/>
              </a:ext>
            </a:extLst>
          </p:cNvPr>
          <p:cNvSpPr/>
          <p:nvPr/>
        </p:nvSpPr>
        <p:spPr>
          <a:xfrm>
            <a:off x="287922" y="4088879"/>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5" name="Text 10">
            <a:extLst>
              <a:ext uri="{FF2B5EF4-FFF2-40B4-BE49-F238E27FC236}">
                <a16:creationId xmlns:a16="http://schemas.microsoft.com/office/drawing/2014/main" id="{829F9F85-6699-FBE6-6341-1D4F9C226ECC}"/>
              </a:ext>
            </a:extLst>
          </p:cNvPr>
          <p:cNvSpPr/>
          <p:nvPr/>
        </p:nvSpPr>
        <p:spPr>
          <a:xfrm>
            <a:off x="653682" y="4115556"/>
            <a:ext cx="8110956" cy="365760"/>
          </a:xfrm>
          <a:prstGeom prst="rect">
            <a:avLst/>
          </a:prstGeom>
          <a:noFill/>
          <a:ln/>
        </p:spPr>
        <p:txBody>
          <a:bodyPr wrap="square" lIns="0" tIns="0" rIns="0" bIns="0" rtlCol="0" anchor="ctr"/>
          <a:lstStyle/>
          <a:p>
            <a:r>
              <a:rPr lang="en-US" sz="1200" dirty="0">
                <a:latin typeface="Calibri" panose="020F0502020204030204" pitchFamily="34" charset="0"/>
                <a:cs typeface="Calibri" panose="020F0502020204030204" pitchFamily="34" charset="0"/>
              </a:rPr>
              <a:t>Sobel test , using BDA package – significant p value indicated mediator</a:t>
            </a:r>
          </a:p>
        </p:txBody>
      </p:sp>
      <p:sp>
        <p:nvSpPr>
          <p:cNvPr id="16" name="Shape 8">
            <a:extLst>
              <a:ext uri="{FF2B5EF4-FFF2-40B4-BE49-F238E27FC236}">
                <a16:creationId xmlns:a16="http://schemas.microsoft.com/office/drawing/2014/main" id="{DBAAE605-8C20-D983-C200-ECA0ABE7099C}"/>
              </a:ext>
            </a:extLst>
          </p:cNvPr>
          <p:cNvSpPr/>
          <p:nvPr/>
        </p:nvSpPr>
        <p:spPr>
          <a:xfrm>
            <a:off x="228600" y="4096512"/>
            <a:ext cx="320040" cy="320040"/>
          </a:xfrm>
          <a:prstGeom prst="ellipse">
            <a:avLst/>
          </a:prstGeom>
          <a:solidFill>
            <a:srgbClr val="16A34A"/>
          </a:solidFill>
          <a:ln w="12700">
            <a:solidFill>
              <a:srgbClr val="16A34A"/>
            </a:solidFill>
            <a:prstDash val="solid"/>
          </a:ln>
        </p:spPr>
        <p:txBody>
          <a:bodyPr/>
          <a:lstStyle/>
          <a:p>
            <a:endParaRPr lang="en-US"/>
          </a:p>
        </p:txBody>
      </p:sp>
      <p:sp>
        <p:nvSpPr>
          <p:cNvPr id="17" name="Text 15">
            <a:extLst>
              <a:ext uri="{FF2B5EF4-FFF2-40B4-BE49-F238E27FC236}">
                <a16:creationId xmlns:a16="http://schemas.microsoft.com/office/drawing/2014/main" id="{073DE151-60C4-BAAF-45A8-EE5C49DBA3D9}"/>
              </a:ext>
            </a:extLst>
          </p:cNvPr>
          <p:cNvSpPr/>
          <p:nvPr/>
        </p:nvSpPr>
        <p:spPr>
          <a:xfrm>
            <a:off x="240578" y="4115178"/>
            <a:ext cx="320040" cy="320040"/>
          </a:xfrm>
          <a:prstGeom prst="rect">
            <a:avLst/>
          </a:prstGeom>
          <a:noFill/>
          <a:ln/>
        </p:spPr>
        <p:txBody>
          <a:bodyPr wrap="square" lIns="0" tIns="0" rIns="0" bIns="0" rtlCol="0" anchor="ctr"/>
          <a:lstStyle/>
          <a:p>
            <a:pPr algn="ct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7218023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B2A4A"/>
          </a:solidFill>
          <a:ln w="12700">
            <a:solidFill>
              <a:srgbClr val="1B2A4A"/>
            </a:solidFill>
            <a:prstDash val="solid"/>
          </a:ln>
        </p:spPr>
        <p:txBody>
          <a:bodyPr/>
          <a:lstStyle/>
          <a:p>
            <a:endParaRPr lang="en-US"/>
          </a:p>
        </p:txBody>
      </p:sp>
      <p:sp>
        <p:nvSpPr>
          <p:cNvPr id="3" name="Text 1"/>
          <p:cNvSpPr/>
          <p:nvPr/>
        </p:nvSpPr>
        <p:spPr>
          <a:xfrm>
            <a:off x="320040" y="45720"/>
            <a:ext cx="8503920" cy="59436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Reporting Results – APA Style (Field, 2013)</a:t>
            </a:r>
            <a:endParaRPr lang="en-US" sz="2200" dirty="0"/>
          </a:p>
        </p:txBody>
      </p:sp>
      <p:sp>
        <p:nvSpPr>
          <p:cNvPr id="4" name="Shape 2"/>
          <p:cNvSpPr/>
          <p:nvPr/>
        </p:nvSpPr>
        <p:spPr>
          <a:xfrm>
            <a:off x="0" y="685800"/>
            <a:ext cx="9144000" cy="64008"/>
          </a:xfrm>
          <a:prstGeom prst="rect">
            <a:avLst/>
          </a:prstGeom>
          <a:solidFill>
            <a:srgbClr val="F59E0B"/>
          </a:solidFill>
          <a:ln w="12700">
            <a:solidFill>
              <a:srgbClr val="F59E0B"/>
            </a:solidFill>
            <a:prstDash val="solid"/>
          </a:ln>
        </p:spPr>
        <p:txBody>
          <a:bodyPr/>
          <a:lstStyle/>
          <a:p>
            <a:endParaRPr lang="en-US"/>
          </a:p>
        </p:txBody>
      </p:sp>
      <p:sp>
        <p:nvSpPr>
          <p:cNvPr id="5" name="Shape 3"/>
          <p:cNvSpPr/>
          <p:nvPr/>
        </p:nvSpPr>
        <p:spPr>
          <a:xfrm>
            <a:off x="228600" y="914400"/>
            <a:ext cx="8686800" cy="2011680"/>
          </a:xfrm>
          <a:prstGeom prst="rect">
            <a:avLst/>
          </a:prstGeom>
          <a:solidFill>
            <a:srgbClr val="FFFBEB"/>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Shape 4"/>
          <p:cNvSpPr/>
          <p:nvPr/>
        </p:nvSpPr>
        <p:spPr>
          <a:xfrm>
            <a:off x="228600" y="914400"/>
            <a:ext cx="64008" cy="2011680"/>
          </a:xfrm>
          <a:prstGeom prst="rect">
            <a:avLst/>
          </a:prstGeom>
          <a:solidFill>
            <a:srgbClr val="F59E0B"/>
          </a:solidFill>
          <a:ln w="12700">
            <a:solidFill>
              <a:srgbClr val="F59E0B"/>
            </a:solidFill>
            <a:prstDash val="solid"/>
          </a:ln>
        </p:spPr>
        <p:txBody>
          <a:bodyPr/>
          <a:lstStyle/>
          <a:p>
            <a:endParaRPr lang="en-US"/>
          </a:p>
        </p:txBody>
      </p:sp>
      <p:sp>
        <p:nvSpPr>
          <p:cNvPr id="7" name="Text 5"/>
          <p:cNvSpPr/>
          <p:nvPr/>
        </p:nvSpPr>
        <p:spPr>
          <a:xfrm>
            <a:off x="457200" y="969264"/>
            <a:ext cx="8229600" cy="32004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Example Write-Up</a:t>
            </a:r>
            <a:endParaRPr lang="en-US" sz="1300" dirty="0"/>
          </a:p>
        </p:txBody>
      </p:sp>
      <p:sp>
        <p:nvSpPr>
          <p:cNvPr id="8" name="Text 6"/>
          <p:cNvSpPr/>
          <p:nvPr/>
        </p:nvSpPr>
        <p:spPr>
          <a:xfrm>
            <a:off x="457200" y="1325880"/>
            <a:ext cx="8229600" cy="1508760"/>
          </a:xfrm>
          <a:prstGeom prst="rect">
            <a:avLst/>
          </a:prstGeom>
          <a:noFill/>
          <a:ln/>
        </p:spPr>
        <p:txBody>
          <a:bodyPr wrap="square" lIns="0" tIns="0" rIns="0" bIns="0" rtlCol="0" anchor="ctr"/>
          <a:lstStyle/>
          <a:p>
            <a:pPr marL="0" indent="0">
              <a:buNone/>
            </a:pPr>
            <a:r>
              <a:rPr lang="en-US" sz="1200" i="1" dirty="0">
                <a:solidFill>
                  <a:srgbClr val="475569"/>
                </a:solidFill>
                <a:latin typeface="Calibri" pitchFamily="34" charset="0"/>
                <a:ea typeface="Calibri" pitchFamily="34" charset="-122"/>
                <a:cs typeface="Calibri" pitchFamily="34" charset="-120"/>
              </a:rPr>
              <a:t>A simple linear regression was conducted to predict exam scores from revision hours. The assumptions of linearity, independence, homoscedasticity, and normality of residuals were all met. The model was statistically significant, F(1, 98) = 51.95, p &lt; .001, R² = .61. Revision hours significantly predicted exam scores, b = 0.62, t(98) = 7.14, p &lt; .001. For every additional hour of revision, exam scores increased by 0.62 marks on average.</a:t>
            </a:r>
            <a:endParaRPr lang="en-US" sz="1200" dirty="0"/>
          </a:p>
        </p:txBody>
      </p:sp>
      <p:sp>
        <p:nvSpPr>
          <p:cNvPr id="9" name="Text 7"/>
          <p:cNvSpPr/>
          <p:nvPr/>
        </p:nvSpPr>
        <p:spPr>
          <a:xfrm>
            <a:off x="228600" y="3063240"/>
            <a:ext cx="8686800" cy="347472"/>
          </a:xfrm>
          <a:prstGeom prst="rect">
            <a:avLst/>
          </a:prstGeom>
          <a:noFill/>
          <a:ln/>
        </p:spPr>
        <p:txBody>
          <a:bodyPr wrap="square" lIns="0" tIns="0" rIns="0" bIns="0" rtlCol="0" anchor="ctr"/>
          <a:lstStyle/>
          <a:p>
            <a:pPr marL="0" indent="0">
              <a:buNone/>
            </a:pPr>
            <a:r>
              <a:rPr lang="en-US" sz="1400" b="1" dirty="0">
                <a:solidFill>
                  <a:srgbClr val="1B2A4A"/>
                </a:solidFill>
                <a:latin typeface="Calibri" pitchFamily="34" charset="0"/>
                <a:ea typeface="Calibri" pitchFamily="34" charset="-122"/>
                <a:cs typeface="Calibri" pitchFamily="34" charset="-120"/>
              </a:rPr>
              <a:t>Reporting Checklist</a:t>
            </a:r>
            <a:endParaRPr lang="en-US" sz="1400" dirty="0"/>
          </a:p>
        </p:txBody>
      </p:sp>
      <p:sp>
        <p:nvSpPr>
          <p:cNvPr id="10" name="Shape 8"/>
          <p:cNvSpPr/>
          <p:nvPr/>
        </p:nvSpPr>
        <p:spPr>
          <a:xfrm>
            <a:off x="228600" y="3566160"/>
            <a:ext cx="320040" cy="320040"/>
          </a:xfrm>
          <a:prstGeom prst="ellipse">
            <a:avLst/>
          </a:prstGeom>
          <a:solidFill>
            <a:srgbClr val="16A34A"/>
          </a:solidFill>
          <a:ln w="12700">
            <a:solidFill>
              <a:srgbClr val="16A34A"/>
            </a:solidFill>
            <a:prstDash val="solid"/>
          </a:ln>
        </p:spPr>
        <p:txBody>
          <a:bodyPr/>
          <a:lstStyle/>
          <a:p>
            <a:endParaRPr lang="en-US"/>
          </a:p>
        </p:txBody>
      </p:sp>
      <p:sp>
        <p:nvSpPr>
          <p:cNvPr id="11" name="Text 9"/>
          <p:cNvSpPr/>
          <p:nvPr/>
        </p:nvSpPr>
        <p:spPr>
          <a:xfrm>
            <a:off x="22860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p:cNvSpPr/>
          <p:nvPr/>
        </p:nvSpPr>
        <p:spPr>
          <a:xfrm>
            <a:off x="640080" y="3566160"/>
            <a:ext cx="4069080" cy="3657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State assumptions checked and results</a:t>
            </a:r>
            <a:endParaRPr lang="en-US" sz="1100" dirty="0"/>
          </a:p>
        </p:txBody>
      </p:sp>
      <p:sp>
        <p:nvSpPr>
          <p:cNvPr id="13" name="Shape 11"/>
          <p:cNvSpPr/>
          <p:nvPr/>
        </p:nvSpPr>
        <p:spPr>
          <a:xfrm>
            <a:off x="228600" y="4069080"/>
            <a:ext cx="320040" cy="320040"/>
          </a:xfrm>
          <a:prstGeom prst="ellipse">
            <a:avLst/>
          </a:prstGeom>
          <a:solidFill>
            <a:srgbClr val="2563EB"/>
          </a:solidFill>
          <a:ln w="12700">
            <a:solidFill>
              <a:srgbClr val="2563EB"/>
            </a:solidFill>
            <a:prstDash val="solid"/>
          </a:ln>
        </p:spPr>
        <p:txBody>
          <a:bodyPr/>
          <a:lstStyle/>
          <a:p>
            <a:endParaRPr lang="en-US"/>
          </a:p>
        </p:txBody>
      </p:sp>
      <p:sp>
        <p:nvSpPr>
          <p:cNvPr id="14" name="Text 12"/>
          <p:cNvSpPr/>
          <p:nvPr/>
        </p:nvSpPr>
        <p:spPr>
          <a:xfrm>
            <a:off x="22860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5" name="Text 13"/>
          <p:cNvSpPr/>
          <p:nvPr/>
        </p:nvSpPr>
        <p:spPr>
          <a:xfrm>
            <a:off x="640080" y="4069080"/>
            <a:ext cx="4069080" cy="3657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Report F-statistic, df, and p-value for overall model</a:t>
            </a:r>
            <a:endParaRPr lang="en-US" sz="1100" dirty="0"/>
          </a:p>
        </p:txBody>
      </p:sp>
      <p:sp>
        <p:nvSpPr>
          <p:cNvPr id="16" name="Shape 14"/>
          <p:cNvSpPr/>
          <p:nvPr/>
        </p:nvSpPr>
        <p:spPr>
          <a:xfrm>
            <a:off x="228600" y="4572000"/>
            <a:ext cx="320040" cy="320040"/>
          </a:xfrm>
          <a:prstGeom prst="ellipse">
            <a:avLst/>
          </a:prstGeom>
          <a:solidFill>
            <a:srgbClr val="0D9488"/>
          </a:solidFill>
          <a:ln w="12700">
            <a:solidFill>
              <a:srgbClr val="0D9488"/>
            </a:solidFill>
            <a:prstDash val="solid"/>
          </a:ln>
        </p:spPr>
        <p:txBody>
          <a:bodyPr/>
          <a:lstStyle/>
          <a:p>
            <a:endParaRPr lang="en-US"/>
          </a:p>
        </p:txBody>
      </p:sp>
      <p:sp>
        <p:nvSpPr>
          <p:cNvPr id="17" name="Text 15"/>
          <p:cNvSpPr/>
          <p:nvPr/>
        </p:nvSpPr>
        <p:spPr>
          <a:xfrm>
            <a:off x="228600" y="457200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8" name="Text 16"/>
          <p:cNvSpPr/>
          <p:nvPr/>
        </p:nvSpPr>
        <p:spPr>
          <a:xfrm>
            <a:off x="640080" y="4572000"/>
            <a:ext cx="4069080" cy="3657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Report R² (and Adjusted R² for multiple regression)</a:t>
            </a:r>
            <a:endParaRPr lang="en-US" sz="1100" dirty="0"/>
          </a:p>
        </p:txBody>
      </p:sp>
      <p:sp>
        <p:nvSpPr>
          <p:cNvPr id="19" name="Shape 17"/>
          <p:cNvSpPr/>
          <p:nvPr/>
        </p:nvSpPr>
        <p:spPr>
          <a:xfrm>
            <a:off x="4709160" y="3566160"/>
            <a:ext cx="320040" cy="320040"/>
          </a:xfrm>
          <a:prstGeom prst="ellipse">
            <a:avLst/>
          </a:prstGeom>
          <a:solidFill>
            <a:srgbClr val="F59E0B"/>
          </a:solidFill>
          <a:ln w="12700">
            <a:solidFill>
              <a:srgbClr val="F59E0B"/>
            </a:solidFill>
            <a:prstDash val="solid"/>
          </a:ln>
        </p:spPr>
        <p:txBody>
          <a:bodyPr/>
          <a:lstStyle/>
          <a:p>
            <a:endParaRPr lang="en-US"/>
          </a:p>
        </p:txBody>
      </p:sp>
      <p:sp>
        <p:nvSpPr>
          <p:cNvPr id="20" name="Text 18"/>
          <p:cNvSpPr/>
          <p:nvPr/>
        </p:nvSpPr>
        <p:spPr>
          <a:xfrm>
            <a:off x="4709160" y="356616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1" name="Text 19"/>
          <p:cNvSpPr/>
          <p:nvPr/>
        </p:nvSpPr>
        <p:spPr>
          <a:xfrm>
            <a:off x="5120640" y="3566160"/>
            <a:ext cx="4069080" cy="3657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Report b (unstandardised) and β (standardised) coefficients</a:t>
            </a:r>
            <a:endParaRPr lang="en-US" sz="1100" dirty="0"/>
          </a:p>
        </p:txBody>
      </p:sp>
      <p:sp>
        <p:nvSpPr>
          <p:cNvPr id="22" name="Shape 20"/>
          <p:cNvSpPr/>
          <p:nvPr/>
        </p:nvSpPr>
        <p:spPr>
          <a:xfrm>
            <a:off x="4709160" y="4069080"/>
            <a:ext cx="320040" cy="320040"/>
          </a:xfrm>
          <a:prstGeom prst="ellipse">
            <a:avLst/>
          </a:prstGeom>
          <a:solidFill>
            <a:srgbClr val="DC2626"/>
          </a:solidFill>
          <a:ln w="12700">
            <a:solidFill>
              <a:srgbClr val="DC2626"/>
            </a:solidFill>
            <a:prstDash val="solid"/>
          </a:ln>
        </p:spPr>
        <p:txBody>
          <a:bodyPr/>
          <a:lstStyle/>
          <a:p>
            <a:endParaRPr lang="en-US"/>
          </a:p>
        </p:txBody>
      </p:sp>
      <p:sp>
        <p:nvSpPr>
          <p:cNvPr id="23" name="Text 21"/>
          <p:cNvSpPr/>
          <p:nvPr/>
        </p:nvSpPr>
        <p:spPr>
          <a:xfrm>
            <a:off x="4709160" y="406908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4" name="Text 22"/>
          <p:cNvSpPr/>
          <p:nvPr/>
        </p:nvSpPr>
        <p:spPr>
          <a:xfrm>
            <a:off x="5120640" y="4069080"/>
            <a:ext cx="4069080" cy="3657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Report t-value and p-value for each predictor</a:t>
            </a:r>
            <a:endParaRPr lang="en-US" sz="1100" dirty="0"/>
          </a:p>
        </p:txBody>
      </p:sp>
      <p:sp>
        <p:nvSpPr>
          <p:cNvPr id="25" name="Shape 23"/>
          <p:cNvSpPr/>
          <p:nvPr/>
        </p:nvSpPr>
        <p:spPr>
          <a:xfrm>
            <a:off x="4709160" y="4572000"/>
            <a:ext cx="320040" cy="320040"/>
          </a:xfrm>
          <a:prstGeom prst="ellipse">
            <a:avLst/>
          </a:prstGeom>
          <a:solidFill>
            <a:srgbClr val="7C3AED"/>
          </a:solidFill>
          <a:ln w="12700">
            <a:solidFill>
              <a:srgbClr val="7C3AED"/>
            </a:solidFill>
            <a:prstDash val="solid"/>
          </a:ln>
        </p:spPr>
        <p:txBody>
          <a:bodyPr/>
          <a:lstStyle/>
          <a:p>
            <a:endParaRPr lang="en-US"/>
          </a:p>
        </p:txBody>
      </p:sp>
      <p:sp>
        <p:nvSpPr>
          <p:cNvPr id="26" name="Text 24"/>
          <p:cNvSpPr/>
          <p:nvPr/>
        </p:nvSpPr>
        <p:spPr>
          <a:xfrm>
            <a:off x="4709160" y="457200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5120640" y="4572000"/>
            <a:ext cx="4069080" cy="36576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Describe direction and magnitude of the effect in plain language</a:t>
            </a:r>
            <a:endParaRPr lang="en-US" sz="1100" dirty="0"/>
          </a:p>
        </p:txBody>
      </p:sp>
      <p:sp>
        <p:nvSpPr>
          <p:cNvPr id="28" name="Text 26"/>
          <p:cNvSpPr/>
          <p:nvPr/>
        </p:nvSpPr>
        <p:spPr>
          <a:xfrm>
            <a:off x="228600" y="4919472"/>
            <a:ext cx="8686800" cy="182880"/>
          </a:xfrm>
          <a:prstGeom prst="rect">
            <a:avLst/>
          </a:prstGeom>
          <a:noFill/>
          <a:ln/>
        </p:spPr>
        <p:txBody>
          <a:bodyPr wrap="square" lIns="0" tIns="0" rIns="0" bIns="0" rtlCol="0" anchor="ctr"/>
          <a:lstStyle/>
          <a:p>
            <a:pPr marL="0" indent="0" algn="r">
              <a:buNone/>
            </a:pPr>
            <a:r>
              <a:rPr lang="en-US" sz="900" i="1" dirty="0">
                <a:solidFill>
                  <a:srgbClr val="94A3B8"/>
                </a:solidFill>
                <a:latin typeface="Calibri" pitchFamily="34" charset="0"/>
                <a:ea typeface="Calibri" pitchFamily="34" charset="-122"/>
                <a:cs typeface="Calibri" pitchFamily="34" charset="-120"/>
              </a:rPr>
              <a:t>Field (2013), pp. 255–260  |  APA Publication Manual, 7th Ed.</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1" name="Flowchart: Document 1030">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8631" y="0"/>
            <a:ext cx="2436019" cy="2550319"/>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A773BA33-6A4B-DEA0-3EB4-055DFE5EABFE}"/>
              </a:ext>
            </a:extLst>
          </p:cNvPr>
          <p:cNvSpPr>
            <a:spLocks noChangeArrowheads="1"/>
          </p:cNvSpPr>
          <p:nvPr/>
        </p:nvSpPr>
        <p:spPr bwMode="auto">
          <a:xfrm>
            <a:off x="628650" y="128371"/>
            <a:ext cx="2130136" cy="177836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0" fontAlgn="base">
              <a:lnSpc>
                <a:spcPct val="90000"/>
              </a:lnSpc>
              <a:spcBef>
                <a:spcPct val="0"/>
              </a:spcBef>
              <a:spcAft>
                <a:spcPts val="600"/>
              </a:spcAft>
              <a:buClrTx/>
              <a:buSzTx/>
              <a:tabLst/>
            </a:pPr>
            <a:r>
              <a:rPr kumimoji="0" lang="en-US" altLang="en-US" sz="2400" b="0" i="0" u="none" strike="noStrike" kern="1200" cap="none" normalizeH="0" baseline="0">
                <a:ln>
                  <a:noFill/>
                </a:ln>
                <a:solidFill>
                  <a:srgbClr val="FFFFFF"/>
                </a:solidFill>
                <a:effectLst/>
                <a:latin typeface="+mj-lt"/>
                <a:ea typeface="+mj-ea"/>
                <a:cs typeface="+mj-cs"/>
              </a:rPr>
              <a:t>Regression table</a:t>
            </a:r>
          </a:p>
          <a:p>
            <a:pPr marL="0" marR="0" lvl="0" indent="0" fontAlgn="base">
              <a:lnSpc>
                <a:spcPct val="90000"/>
              </a:lnSpc>
              <a:spcBef>
                <a:spcPct val="0"/>
              </a:spcBef>
              <a:spcAft>
                <a:spcPts val="600"/>
              </a:spcAft>
              <a:buClrTx/>
              <a:buSzTx/>
              <a:tabLst/>
            </a:pPr>
            <a:r>
              <a:rPr kumimoji="0" lang="en-US" altLang="en-US" sz="2400" b="0" i="0" u="none" strike="noStrike" kern="1200" cap="none" normalizeH="0" baseline="0">
                <a:ln>
                  <a:noFill/>
                </a:ln>
                <a:solidFill>
                  <a:srgbClr val="FFFFFF"/>
                </a:solidFill>
                <a:effectLst/>
                <a:latin typeface="+mj-lt"/>
                <a:ea typeface="+mj-ea"/>
                <a:cs typeface="+mj-cs"/>
              </a:rPr>
              <a:t>        </a:t>
            </a:r>
          </a:p>
        </p:txBody>
      </p:sp>
      <p:pic>
        <p:nvPicPr>
          <p:cNvPr id="1026" name="Picture 2">
            <a:extLst>
              <a:ext uri="{FF2B5EF4-FFF2-40B4-BE49-F238E27FC236}">
                <a16:creationId xmlns:a16="http://schemas.microsoft.com/office/drawing/2014/main" id="{E109C978-42B6-8EAD-C6BD-017DECD008C9}"/>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271456" y="480060"/>
            <a:ext cx="5279638" cy="41841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2B3178E-0104-A7B2-2A82-1E8E5C562F4E}"/>
              </a:ext>
            </a:extLst>
          </p:cNvPr>
          <p:cNvSpPr txBox="1"/>
          <p:nvPr/>
        </p:nvSpPr>
        <p:spPr>
          <a:xfrm>
            <a:off x="2286000" y="2388501"/>
            <a:ext cx="4572000" cy="369332"/>
          </a:xfrm>
          <a:prstGeom prst="rect">
            <a:avLst/>
          </a:prstGeom>
          <a:noFill/>
        </p:spPr>
        <p:txBody>
          <a:bodyPr wrap="square">
            <a:spAutoFit/>
          </a:bodyPr>
          <a:lstStyle/>
          <a:p>
            <a:pPr>
              <a:spcAft>
                <a:spcPts val="600"/>
              </a:spcAft>
            </a:pPr>
            <a:r>
              <a:rPr lang="en-MY" b="0" dirty="0">
                <a:effectLst/>
              </a:rPr>
              <a:t> </a:t>
            </a:r>
            <a:endParaRPr lang="en-US"/>
          </a:p>
        </p:txBody>
      </p:sp>
      <p:sp>
        <p:nvSpPr>
          <p:cNvPr id="7" name="TextBox 6">
            <a:extLst>
              <a:ext uri="{FF2B5EF4-FFF2-40B4-BE49-F238E27FC236}">
                <a16:creationId xmlns:a16="http://schemas.microsoft.com/office/drawing/2014/main" id="{CD2FBA00-EB74-649C-2532-A8B855204309}"/>
              </a:ext>
            </a:extLst>
          </p:cNvPr>
          <p:cNvSpPr txBox="1"/>
          <p:nvPr/>
        </p:nvSpPr>
        <p:spPr>
          <a:xfrm>
            <a:off x="807053" y="2592748"/>
            <a:ext cx="4572000" cy="2236510"/>
          </a:xfrm>
          <a:prstGeom prst="rect">
            <a:avLst/>
          </a:prstGeom>
          <a:noFill/>
        </p:spPr>
        <p:txBody>
          <a:bodyPr wrap="square">
            <a:spAutoFit/>
          </a:bodyPr>
          <a:lstStyle/>
          <a:p>
            <a:pPr rtl="0">
              <a:spcBef>
                <a:spcPts val="360"/>
              </a:spcBef>
              <a:buNone/>
            </a:pPr>
            <a:r>
              <a:rPr lang="en-MY" sz="1800" b="0" i="0" u="none" strike="noStrike" dirty="0">
                <a:solidFill>
                  <a:srgbClr val="000000"/>
                </a:solidFill>
                <a:effectLst/>
                <a:latin typeface="Calibri" panose="020F0502020204030204" pitchFamily="34" charset="0"/>
              </a:rPr>
              <a:t>Beta coefficient / OR</a:t>
            </a:r>
            <a:endParaRPr lang="en-MY" b="0" dirty="0">
              <a:effectLst/>
            </a:endParaRPr>
          </a:p>
          <a:p>
            <a:pPr rtl="0">
              <a:spcBef>
                <a:spcPts val="360"/>
              </a:spcBef>
              <a:buNone/>
            </a:pPr>
            <a:r>
              <a:rPr lang="en-MY" sz="1800" b="0" i="0" u="none" strike="noStrike" dirty="0">
                <a:solidFill>
                  <a:srgbClr val="000000"/>
                </a:solidFill>
                <a:effectLst/>
                <a:latin typeface="Calibri" panose="020F0502020204030204" pitchFamily="34" charset="0"/>
              </a:rPr>
              <a:t>Standard error</a:t>
            </a:r>
            <a:endParaRPr lang="en-MY" b="0" dirty="0">
              <a:effectLst/>
            </a:endParaRPr>
          </a:p>
          <a:p>
            <a:pPr rtl="0">
              <a:spcBef>
                <a:spcPts val="360"/>
              </a:spcBef>
              <a:buNone/>
            </a:pPr>
            <a:r>
              <a:rPr lang="en-MY" sz="1800" b="0" i="0" u="none" strike="noStrike" dirty="0">
                <a:solidFill>
                  <a:srgbClr val="000000"/>
                </a:solidFill>
                <a:effectLst/>
                <a:latin typeface="Calibri" panose="020F0502020204030204" pitchFamily="34" charset="0"/>
              </a:rPr>
              <a:t>t statistics</a:t>
            </a:r>
            <a:endParaRPr lang="en-MY" b="0" dirty="0">
              <a:effectLst/>
            </a:endParaRPr>
          </a:p>
          <a:p>
            <a:pPr rtl="0">
              <a:spcBef>
                <a:spcPts val="360"/>
              </a:spcBef>
              <a:buNone/>
            </a:pPr>
            <a:r>
              <a:rPr lang="en-MY" sz="1800" b="0" i="1" u="none" strike="noStrike" dirty="0">
                <a:solidFill>
                  <a:srgbClr val="000000"/>
                </a:solidFill>
                <a:effectLst/>
                <a:latin typeface="Calibri" panose="020F0502020204030204" pitchFamily="34" charset="0"/>
              </a:rPr>
              <a:t>p</a:t>
            </a:r>
            <a:r>
              <a:rPr lang="en-MY" sz="1800" b="0" i="0" u="none" strike="noStrike" dirty="0">
                <a:solidFill>
                  <a:srgbClr val="000000"/>
                </a:solidFill>
                <a:effectLst/>
                <a:latin typeface="Calibri" panose="020F0502020204030204" pitchFamily="34" charset="0"/>
              </a:rPr>
              <a:t> value</a:t>
            </a:r>
            <a:endParaRPr lang="en-MY" b="0" dirty="0">
              <a:effectLst/>
            </a:endParaRPr>
          </a:p>
          <a:p>
            <a:pPr rtl="0">
              <a:spcBef>
                <a:spcPts val="360"/>
              </a:spcBef>
              <a:buNone/>
            </a:pPr>
            <a:r>
              <a:rPr lang="en-MY" sz="1800" b="0" i="0" u="none" strike="noStrike" dirty="0">
                <a:solidFill>
                  <a:srgbClr val="000000"/>
                </a:solidFill>
                <a:effectLst/>
                <a:latin typeface="Calibri" panose="020F0502020204030204" pitchFamily="34" charset="0"/>
              </a:rPr>
              <a:t>Confidence interval</a:t>
            </a:r>
            <a:endParaRPr lang="en-MY" b="0" dirty="0">
              <a:effectLst/>
            </a:endParaRPr>
          </a:p>
          <a:p>
            <a:pPr>
              <a:buNone/>
            </a:pPr>
            <a:br>
              <a:rPr lang="en-MY" dirty="0"/>
            </a:br>
            <a:endParaRPr lang="en-US" dirty="0"/>
          </a:p>
        </p:txBody>
      </p:sp>
    </p:spTree>
    <p:extLst>
      <p:ext uri="{BB962C8B-B14F-4D97-AF65-F5344CB8AC3E}">
        <p14:creationId xmlns:p14="http://schemas.microsoft.com/office/powerpoint/2010/main" val="37779850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5" name="Rectangle 2054">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57" name="Freeform: Shape 2056">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282117" y="-190252"/>
            <a:ext cx="1370728" cy="1032741"/>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59" name="Rectangle 2058">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668730" y="316609"/>
            <a:ext cx="484026" cy="484026"/>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7532611" y="491355"/>
            <a:ext cx="515604" cy="515604"/>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Freeform: Shape 2062">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017482" y="0"/>
            <a:ext cx="2126518" cy="111062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65" name="Isosceles Triangle 2064">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982258" y="4586625"/>
            <a:ext cx="1120884" cy="556875"/>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screenshot of a table&#10;&#10;AI-generated content may be incorrect.">
            <a:extLst>
              <a:ext uri="{FF2B5EF4-FFF2-40B4-BE49-F238E27FC236}">
                <a16:creationId xmlns:a16="http://schemas.microsoft.com/office/drawing/2014/main" id="{4982943C-1B57-1FB5-D33D-508BEDF35B1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263546" y="482600"/>
            <a:ext cx="4616906" cy="4178299"/>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067" name="Isosceles Triangle 2066">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703060" y="4839857"/>
            <a:ext cx="611177" cy="303643"/>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74510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5943600" y="0"/>
            <a:ext cx="3200400" cy="5143500"/>
          </a:xfrm>
          <a:prstGeom prst="rect">
            <a:avLst/>
          </a:prstGeom>
          <a:solidFill>
            <a:srgbClr val="162035"/>
          </a:solidFill>
          <a:ln w="12700">
            <a:solidFill>
              <a:srgbClr val="162035"/>
            </a:solidFill>
            <a:prstDash val="solid"/>
          </a:ln>
        </p:spPr>
        <p:txBody>
          <a:bodyPr/>
          <a:lstStyle/>
          <a:p>
            <a:endParaRPr lang="en-US"/>
          </a:p>
        </p:txBody>
      </p:sp>
      <p:sp>
        <p:nvSpPr>
          <p:cNvPr id="3" name="Shape 1"/>
          <p:cNvSpPr/>
          <p:nvPr/>
        </p:nvSpPr>
        <p:spPr>
          <a:xfrm>
            <a:off x="0" y="0"/>
            <a:ext cx="164592" cy="5143500"/>
          </a:xfrm>
          <a:prstGeom prst="rect">
            <a:avLst/>
          </a:prstGeom>
          <a:solidFill>
            <a:srgbClr val="0D9488"/>
          </a:solidFill>
          <a:ln w="12700">
            <a:solidFill>
              <a:srgbClr val="0D9488"/>
            </a:solidFill>
            <a:prstDash val="solid"/>
          </a:ln>
        </p:spPr>
        <p:txBody>
          <a:bodyPr/>
          <a:lstStyle/>
          <a:p>
            <a:endParaRPr lang="en-US"/>
          </a:p>
        </p:txBody>
      </p:sp>
      <p:sp>
        <p:nvSpPr>
          <p:cNvPr id="4" name="Text 2"/>
          <p:cNvSpPr/>
          <p:nvPr/>
        </p:nvSpPr>
        <p:spPr>
          <a:xfrm>
            <a:off x="320040" y="457200"/>
            <a:ext cx="5303520" cy="1097280"/>
          </a:xfrm>
          <a:prstGeom prst="rect">
            <a:avLst/>
          </a:prstGeom>
          <a:noFill/>
          <a:ln/>
        </p:spPr>
        <p:txBody>
          <a:bodyPr wrap="square" lIns="0" tIns="0" rIns="0" bIns="0" rtlCol="0" anchor="ctr"/>
          <a:lstStyle/>
          <a:p>
            <a:pPr marL="0" indent="0">
              <a:buNone/>
            </a:pPr>
            <a:r>
              <a:rPr lang="en-US" sz="3400" b="1" dirty="0">
                <a:solidFill>
                  <a:srgbClr val="FFFFFF"/>
                </a:solidFill>
                <a:latin typeface="Calibri" pitchFamily="34" charset="0"/>
                <a:ea typeface="Calibri" pitchFamily="34" charset="-122"/>
                <a:cs typeface="Calibri" pitchFamily="34" charset="-120"/>
              </a:rPr>
              <a:t>Summary &amp;</a:t>
            </a:r>
            <a:endParaRPr lang="en-US" sz="3400" dirty="0"/>
          </a:p>
          <a:p>
            <a:pPr marL="0" indent="0">
              <a:buNone/>
            </a:pPr>
            <a:r>
              <a:rPr lang="en-US" sz="3400" b="1" dirty="0">
                <a:solidFill>
                  <a:srgbClr val="FFFFFF"/>
                </a:solidFill>
                <a:latin typeface="Calibri" pitchFamily="34" charset="0"/>
                <a:ea typeface="Calibri" pitchFamily="34" charset="-122"/>
                <a:cs typeface="Calibri" pitchFamily="34" charset="-120"/>
              </a:rPr>
              <a:t>Key Takeaways</a:t>
            </a:r>
            <a:endParaRPr lang="en-US" sz="3400" dirty="0"/>
          </a:p>
        </p:txBody>
      </p:sp>
      <p:sp>
        <p:nvSpPr>
          <p:cNvPr id="5" name="Shape 3"/>
          <p:cNvSpPr/>
          <p:nvPr/>
        </p:nvSpPr>
        <p:spPr>
          <a:xfrm>
            <a:off x="320040" y="1645920"/>
            <a:ext cx="2743200" cy="41148"/>
          </a:xfrm>
          <a:prstGeom prst="rect">
            <a:avLst/>
          </a:prstGeom>
          <a:solidFill>
            <a:srgbClr val="0D9488"/>
          </a:solidFill>
          <a:ln w="12700">
            <a:solidFill>
              <a:srgbClr val="0D9488"/>
            </a:solidFill>
            <a:prstDash val="solid"/>
          </a:ln>
        </p:spPr>
        <p:txBody>
          <a:bodyPr/>
          <a:lstStyle/>
          <a:p>
            <a:endParaRPr lang="en-US"/>
          </a:p>
        </p:txBody>
      </p:sp>
      <p:sp>
        <p:nvSpPr>
          <p:cNvPr id="6" name="Shape 4"/>
          <p:cNvSpPr/>
          <p:nvPr/>
        </p:nvSpPr>
        <p:spPr>
          <a:xfrm>
            <a:off x="320040" y="1920240"/>
            <a:ext cx="292608" cy="292608"/>
          </a:xfrm>
          <a:prstGeom prst="ellipse">
            <a:avLst/>
          </a:prstGeom>
          <a:solidFill>
            <a:srgbClr val="0D9488"/>
          </a:solidFill>
          <a:ln w="12700">
            <a:solidFill>
              <a:srgbClr val="0D9488"/>
            </a:solidFill>
            <a:prstDash val="solid"/>
          </a:ln>
        </p:spPr>
        <p:txBody>
          <a:bodyPr/>
          <a:lstStyle/>
          <a:p>
            <a:endParaRPr lang="en-US"/>
          </a:p>
        </p:txBody>
      </p:sp>
      <p:sp>
        <p:nvSpPr>
          <p:cNvPr id="7" name="Text 5"/>
          <p:cNvSpPr/>
          <p:nvPr/>
        </p:nvSpPr>
        <p:spPr>
          <a:xfrm>
            <a:off x="320040" y="1920240"/>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731520" y="1938528"/>
            <a:ext cx="4937760" cy="384048"/>
          </a:xfrm>
          <a:prstGeom prst="rect">
            <a:avLst/>
          </a:prstGeom>
          <a:noFill/>
          <a:ln/>
        </p:spPr>
        <p:txBody>
          <a:bodyPr wrap="square" lIns="0" tIns="0" rIns="0" bIns="0" rtlCol="0" anchor="ctr"/>
          <a:lstStyle/>
          <a:p>
            <a:pPr marL="0" indent="0">
              <a:buNone/>
            </a:pPr>
            <a:r>
              <a:rPr lang="en-US" sz="1150" dirty="0">
                <a:solidFill>
                  <a:srgbClr val="BFDBFE"/>
                </a:solidFill>
                <a:latin typeface="Calibri" pitchFamily="34" charset="0"/>
                <a:ea typeface="Calibri" pitchFamily="34" charset="-122"/>
                <a:cs typeface="Calibri" pitchFamily="34" charset="-120"/>
              </a:rPr>
              <a:t>Linear regression models a straight-line relationship between X and Y</a:t>
            </a:r>
            <a:endParaRPr lang="en-US" sz="1150" dirty="0"/>
          </a:p>
        </p:txBody>
      </p:sp>
      <p:sp>
        <p:nvSpPr>
          <p:cNvPr id="9" name="Shape 7"/>
          <p:cNvSpPr/>
          <p:nvPr/>
        </p:nvSpPr>
        <p:spPr>
          <a:xfrm>
            <a:off x="320040" y="2414016"/>
            <a:ext cx="292608" cy="292608"/>
          </a:xfrm>
          <a:prstGeom prst="ellipse">
            <a:avLst/>
          </a:prstGeom>
          <a:solidFill>
            <a:srgbClr val="0D9488"/>
          </a:solidFill>
          <a:ln w="12700">
            <a:solidFill>
              <a:srgbClr val="0D9488"/>
            </a:solidFill>
            <a:prstDash val="solid"/>
          </a:ln>
        </p:spPr>
        <p:txBody>
          <a:bodyPr/>
          <a:lstStyle/>
          <a:p>
            <a:endParaRPr lang="en-US"/>
          </a:p>
        </p:txBody>
      </p:sp>
      <p:sp>
        <p:nvSpPr>
          <p:cNvPr id="10" name="Text 8"/>
          <p:cNvSpPr/>
          <p:nvPr/>
        </p:nvSpPr>
        <p:spPr>
          <a:xfrm>
            <a:off x="320040" y="2414016"/>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p:nvPr/>
        </p:nvSpPr>
        <p:spPr>
          <a:xfrm>
            <a:off x="731520" y="2432304"/>
            <a:ext cx="4937760" cy="384048"/>
          </a:xfrm>
          <a:prstGeom prst="rect">
            <a:avLst/>
          </a:prstGeom>
          <a:noFill/>
          <a:ln/>
        </p:spPr>
        <p:txBody>
          <a:bodyPr wrap="square" lIns="0" tIns="0" rIns="0" bIns="0" rtlCol="0" anchor="ctr"/>
          <a:lstStyle/>
          <a:p>
            <a:pPr marL="0" indent="0">
              <a:buNone/>
            </a:pPr>
            <a:r>
              <a:rPr lang="en-US" sz="1150" dirty="0">
                <a:solidFill>
                  <a:srgbClr val="BFDBFE"/>
                </a:solidFill>
                <a:latin typeface="Calibri" pitchFamily="34" charset="0"/>
                <a:ea typeface="Calibri" pitchFamily="34" charset="-122"/>
                <a:cs typeface="Calibri" pitchFamily="34" charset="-120"/>
              </a:rPr>
              <a:t>OLS minimises the Sum of Squared Residuals to find the best-fit line</a:t>
            </a:r>
            <a:endParaRPr lang="en-US" sz="1150" dirty="0"/>
          </a:p>
        </p:txBody>
      </p:sp>
      <p:sp>
        <p:nvSpPr>
          <p:cNvPr id="12" name="Shape 10"/>
          <p:cNvSpPr/>
          <p:nvPr/>
        </p:nvSpPr>
        <p:spPr>
          <a:xfrm>
            <a:off x="320040" y="2907792"/>
            <a:ext cx="292608" cy="292608"/>
          </a:xfrm>
          <a:prstGeom prst="ellipse">
            <a:avLst/>
          </a:prstGeom>
          <a:solidFill>
            <a:srgbClr val="0D9488"/>
          </a:solidFill>
          <a:ln w="12700">
            <a:solidFill>
              <a:srgbClr val="0D9488"/>
            </a:solidFill>
            <a:prstDash val="solid"/>
          </a:ln>
        </p:spPr>
        <p:txBody>
          <a:bodyPr/>
          <a:lstStyle/>
          <a:p>
            <a:endParaRPr lang="en-US"/>
          </a:p>
        </p:txBody>
      </p:sp>
      <p:sp>
        <p:nvSpPr>
          <p:cNvPr id="13" name="Text 11"/>
          <p:cNvSpPr/>
          <p:nvPr/>
        </p:nvSpPr>
        <p:spPr>
          <a:xfrm>
            <a:off x="320040" y="2907792"/>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p:nvPr/>
        </p:nvSpPr>
        <p:spPr>
          <a:xfrm>
            <a:off x="731520" y="2926080"/>
            <a:ext cx="4937760" cy="384048"/>
          </a:xfrm>
          <a:prstGeom prst="rect">
            <a:avLst/>
          </a:prstGeom>
          <a:noFill/>
          <a:ln/>
        </p:spPr>
        <p:txBody>
          <a:bodyPr wrap="square" lIns="0" tIns="0" rIns="0" bIns="0" rtlCol="0" anchor="ctr"/>
          <a:lstStyle/>
          <a:p>
            <a:pPr marL="0" indent="0">
              <a:buNone/>
            </a:pPr>
            <a:r>
              <a:rPr lang="en-US" sz="1150" dirty="0">
                <a:solidFill>
                  <a:srgbClr val="BFDBFE"/>
                </a:solidFill>
                <a:latin typeface="Calibri" pitchFamily="34" charset="0"/>
                <a:ea typeface="Calibri" pitchFamily="34" charset="-122"/>
                <a:cs typeface="Calibri" pitchFamily="34" charset="-120"/>
              </a:rPr>
              <a:t>Always check the 6 assumptions before interpreting results</a:t>
            </a:r>
            <a:endParaRPr lang="en-US" sz="1150" dirty="0"/>
          </a:p>
        </p:txBody>
      </p:sp>
      <p:sp>
        <p:nvSpPr>
          <p:cNvPr id="15" name="Shape 13"/>
          <p:cNvSpPr/>
          <p:nvPr/>
        </p:nvSpPr>
        <p:spPr>
          <a:xfrm>
            <a:off x="320040" y="3401568"/>
            <a:ext cx="292608" cy="292608"/>
          </a:xfrm>
          <a:prstGeom prst="ellipse">
            <a:avLst/>
          </a:prstGeom>
          <a:solidFill>
            <a:srgbClr val="0D9488"/>
          </a:solidFill>
          <a:ln w="12700">
            <a:solidFill>
              <a:srgbClr val="0D9488"/>
            </a:solidFill>
            <a:prstDash val="solid"/>
          </a:ln>
        </p:spPr>
        <p:txBody>
          <a:bodyPr/>
          <a:lstStyle/>
          <a:p>
            <a:endParaRPr lang="en-US"/>
          </a:p>
        </p:txBody>
      </p:sp>
      <p:sp>
        <p:nvSpPr>
          <p:cNvPr id="16" name="Text 14"/>
          <p:cNvSpPr/>
          <p:nvPr/>
        </p:nvSpPr>
        <p:spPr>
          <a:xfrm>
            <a:off x="320040" y="3401568"/>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p:nvPr/>
        </p:nvSpPr>
        <p:spPr>
          <a:xfrm>
            <a:off x="731520" y="3419856"/>
            <a:ext cx="4937760" cy="384048"/>
          </a:xfrm>
          <a:prstGeom prst="rect">
            <a:avLst/>
          </a:prstGeom>
          <a:noFill/>
          <a:ln/>
        </p:spPr>
        <p:txBody>
          <a:bodyPr wrap="square" lIns="0" tIns="0" rIns="0" bIns="0" rtlCol="0" anchor="ctr"/>
          <a:lstStyle/>
          <a:p>
            <a:pPr marL="0" indent="0">
              <a:buNone/>
            </a:pPr>
            <a:r>
              <a:rPr lang="en-US" sz="1150" dirty="0">
                <a:solidFill>
                  <a:srgbClr val="BFDBFE"/>
                </a:solidFill>
                <a:latin typeface="Calibri" pitchFamily="34" charset="0"/>
                <a:ea typeface="Calibri" pitchFamily="34" charset="-122"/>
                <a:cs typeface="Calibri" pitchFamily="34" charset="-120"/>
              </a:rPr>
              <a:t>Use lm() in R; plot(model) gives 4 essential diagnostic plots</a:t>
            </a:r>
            <a:endParaRPr lang="en-US" sz="1150" dirty="0"/>
          </a:p>
        </p:txBody>
      </p:sp>
      <p:sp>
        <p:nvSpPr>
          <p:cNvPr id="18" name="Shape 16"/>
          <p:cNvSpPr/>
          <p:nvPr/>
        </p:nvSpPr>
        <p:spPr>
          <a:xfrm>
            <a:off x="320040" y="3895344"/>
            <a:ext cx="292608" cy="292608"/>
          </a:xfrm>
          <a:prstGeom prst="ellipse">
            <a:avLst/>
          </a:prstGeom>
          <a:solidFill>
            <a:srgbClr val="0D9488"/>
          </a:solidFill>
          <a:ln w="12700">
            <a:solidFill>
              <a:srgbClr val="0D9488"/>
            </a:solidFill>
            <a:prstDash val="solid"/>
          </a:ln>
        </p:spPr>
        <p:txBody>
          <a:bodyPr/>
          <a:lstStyle/>
          <a:p>
            <a:endParaRPr lang="en-US"/>
          </a:p>
        </p:txBody>
      </p:sp>
      <p:sp>
        <p:nvSpPr>
          <p:cNvPr id="19" name="Text 17"/>
          <p:cNvSpPr/>
          <p:nvPr/>
        </p:nvSpPr>
        <p:spPr>
          <a:xfrm>
            <a:off x="320040" y="3895344"/>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8"/>
          <p:cNvSpPr/>
          <p:nvPr/>
        </p:nvSpPr>
        <p:spPr>
          <a:xfrm>
            <a:off x="731520" y="3913632"/>
            <a:ext cx="4937760" cy="384048"/>
          </a:xfrm>
          <a:prstGeom prst="rect">
            <a:avLst/>
          </a:prstGeom>
          <a:noFill/>
          <a:ln/>
        </p:spPr>
        <p:txBody>
          <a:bodyPr wrap="square" lIns="0" tIns="0" rIns="0" bIns="0" rtlCol="0" anchor="ctr"/>
          <a:lstStyle/>
          <a:p>
            <a:pPr marL="0" indent="0">
              <a:buNone/>
            </a:pPr>
            <a:r>
              <a:rPr lang="en-US" sz="1150" dirty="0">
                <a:solidFill>
                  <a:srgbClr val="BFDBFE"/>
                </a:solidFill>
                <a:latin typeface="Calibri" pitchFamily="34" charset="0"/>
                <a:ea typeface="Calibri" pitchFamily="34" charset="-122"/>
                <a:cs typeface="Calibri" pitchFamily="34" charset="-120"/>
              </a:rPr>
              <a:t>Report F, R², b coefficients, t-values and p-values in APA style</a:t>
            </a:r>
            <a:endParaRPr lang="en-US" sz="1150" dirty="0"/>
          </a:p>
        </p:txBody>
      </p:sp>
      <p:sp>
        <p:nvSpPr>
          <p:cNvPr id="21" name="Shape 19"/>
          <p:cNvSpPr/>
          <p:nvPr/>
        </p:nvSpPr>
        <p:spPr>
          <a:xfrm>
            <a:off x="320040" y="4389120"/>
            <a:ext cx="292608" cy="292608"/>
          </a:xfrm>
          <a:prstGeom prst="ellipse">
            <a:avLst/>
          </a:prstGeom>
          <a:solidFill>
            <a:srgbClr val="0D9488"/>
          </a:solidFill>
          <a:ln w="12700">
            <a:solidFill>
              <a:srgbClr val="0D9488"/>
            </a:solidFill>
            <a:prstDash val="solid"/>
          </a:ln>
        </p:spPr>
        <p:txBody>
          <a:bodyPr/>
          <a:lstStyle/>
          <a:p>
            <a:endParaRPr lang="en-US"/>
          </a:p>
        </p:txBody>
      </p:sp>
      <p:sp>
        <p:nvSpPr>
          <p:cNvPr id="22" name="Text 20"/>
          <p:cNvSpPr/>
          <p:nvPr/>
        </p:nvSpPr>
        <p:spPr>
          <a:xfrm>
            <a:off x="320040" y="4389120"/>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3" name="Text 21"/>
          <p:cNvSpPr/>
          <p:nvPr/>
        </p:nvSpPr>
        <p:spPr>
          <a:xfrm>
            <a:off x="731520" y="4407408"/>
            <a:ext cx="4937760" cy="384048"/>
          </a:xfrm>
          <a:prstGeom prst="rect">
            <a:avLst/>
          </a:prstGeom>
          <a:noFill/>
          <a:ln/>
        </p:spPr>
        <p:txBody>
          <a:bodyPr wrap="square" lIns="0" tIns="0" rIns="0" bIns="0" rtlCol="0" anchor="ctr"/>
          <a:lstStyle/>
          <a:p>
            <a:pPr marL="0" indent="0">
              <a:buNone/>
            </a:pPr>
            <a:r>
              <a:rPr lang="en-US" sz="1150" dirty="0">
                <a:solidFill>
                  <a:srgbClr val="BFDBFE"/>
                </a:solidFill>
                <a:latin typeface="Calibri" pitchFamily="34" charset="0"/>
                <a:ea typeface="Calibri" pitchFamily="34" charset="-122"/>
                <a:cs typeface="Calibri" pitchFamily="34" charset="-120"/>
              </a:rPr>
              <a:t>Field (2013) recommends checking Cook's D &gt; 1 for influential cases</a:t>
            </a:r>
            <a:endParaRPr lang="en-US" sz="1150" dirty="0"/>
          </a:p>
        </p:txBody>
      </p:sp>
      <p:sp>
        <p:nvSpPr>
          <p:cNvPr id="24" name="Shape 22"/>
          <p:cNvSpPr/>
          <p:nvPr/>
        </p:nvSpPr>
        <p:spPr>
          <a:xfrm>
            <a:off x="6126480" y="914400"/>
            <a:ext cx="2834640" cy="3108960"/>
          </a:xfrm>
          <a:prstGeom prst="rect">
            <a:avLst/>
          </a:prstGeom>
          <a:solidFill>
            <a:srgbClr val="1E3A5F"/>
          </a:solidFill>
          <a:ln w="6350">
            <a:solidFill>
              <a:srgbClr val="0D9488"/>
            </a:solidFill>
            <a:prstDash val="solid"/>
          </a:ln>
        </p:spPr>
        <p:txBody>
          <a:bodyPr/>
          <a:lstStyle/>
          <a:p>
            <a:endParaRPr lang="en-US"/>
          </a:p>
        </p:txBody>
      </p:sp>
      <p:sp>
        <p:nvSpPr>
          <p:cNvPr id="25" name="Text 23"/>
          <p:cNvSpPr/>
          <p:nvPr/>
        </p:nvSpPr>
        <p:spPr>
          <a:xfrm>
            <a:off x="6263640" y="1024128"/>
            <a:ext cx="2560320" cy="32004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  Key Reference</a:t>
            </a:r>
            <a:endParaRPr lang="en-US" sz="1200" dirty="0"/>
          </a:p>
        </p:txBody>
      </p:sp>
      <p:sp>
        <p:nvSpPr>
          <p:cNvPr id="26" name="Text 24"/>
          <p:cNvSpPr/>
          <p:nvPr/>
        </p:nvSpPr>
        <p:spPr>
          <a:xfrm>
            <a:off x="6263640" y="1371600"/>
            <a:ext cx="2560320" cy="2468880"/>
          </a:xfrm>
          <a:prstGeom prst="rect">
            <a:avLst/>
          </a:prstGeom>
          <a:noFill/>
          <a:ln/>
        </p:spPr>
        <p:txBody>
          <a:bodyPr wrap="square" lIns="0" tIns="0" rIns="0" bIns="0" rtlCol="0" anchor="ctr"/>
          <a:lstStyle/>
          <a:p>
            <a:pPr marL="0" indent="0">
              <a:buNone/>
            </a:pPr>
            <a:r>
              <a:rPr lang="en-US" sz="1200" i="1" dirty="0">
                <a:solidFill>
                  <a:srgbClr val="BFDBFE"/>
                </a:solidFill>
                <a:latin typeface="Calibri" pitchFamily="34" charset="0"/>
                <a:ea typeface="Calibri" pitchFamily="34" charset="-122"/>
                <a:cs typeface="Calibri" pitchFamily="34" charset="-120"/>
              </a:rPr>
              <a:t>Field, A. (2013).</a:t>
            </a:r>
            <a:endParaRPr lang="en-US" sz="1200" dirty="0"/>
          </a:p>
          <a:p>
            <a:pPr marL="0" indent="0">
              <a:buNone/>
            </a:pPr>
            <a:r>
              <a:rPr lang="en-US" sz="1200" i="1" dirty="0">
                <a:solidFill>
                  <a:srgbClr val="BFDBFE"/>
                </a:solidFill>
                <a:latin typeface="Calibri" pitchFamily="34" charset="0"/>
                <a:ea typeface="Calibri" pitchFamily="34" charset="-122"/>
                <a:cs typeface="Calibri" pitchFamily="34" charset="-120"/>
              </a:rPr>
              <a:t>Discovering Statistics</a:t>
            </a:r>
            <a:endParaRPr lang="en-US" sz="1200" dirty="0"/>
          </a:p>
          <a:p>
            <a:pPr marL="0" indent="0">
              <a:buNone/>
            </a:pPr>
            <a:r>
              <a:rPr lang="en-US" sz="1200" i="1" dirty="0">
                <a:solidFill>
                  <a:srgbClr val="BFDBFE"/>
                </a:solidFill>
                <a:latin typeface="Calibri" pitchFamily="34" charset="0"/>
                <a:ea typeface="Calibri" pitchFamily="34" charset="-122"/>
                <a:cs typeface="Calibri" pitchFamily="34" charset="-120"/>
              </a:rPr>
              <a:t>Using R.</a:t>
            </a:r>
            <a:endParaRPr lang="en-US" sz="1200" dirty="0"/>
          </a:p>
          <a:p>
            <a:pPr marL="0" indent="0">
              <a:buNone/>
            </a:pPr>
            <a:r>
              <a:rPr lang="en-US" sz="1200" i="1" dirty="0">
                <a:solidFill>
                  <a:srgbClr val="BFDBFE"/>
                </a:solidFill>
                <a:latin typeface="Calibri" pitchFamily="34" charset="0"/>
                <a:ea typeface="Calibri" pitchFamily="34" charset="-122"/>
                <a:cs typeface="Calibri" pitchFamily="34" charset="-120"/>
              </a:rPr>
              <a:t>SAGE Publications.</a:t>
            </a:r>
            <a:endParaRPr lang="en-US" sz="1200" dirty="0"/>
          </a:p>
          <a:p>
            <a:pPr marL="0" indent="0">
              <a:buNone/>
            </a:pPr>
            <a:endParaRPr lang="en-US" sz="1200" dirty="0"/>
          </a:p>
          <a:p>
            <a:pPr marL="0" indent="0">
              <a:buNone/>
            </a:pPr>
            <a:r>
              <a:rPr lang="en-US" sz="1200" i="1" dirty="0">
                <a:solidFill>
                  <a:srgbClr val="BFDBFE"/>
                </a:solidFill>
                <a:latin typeface="Calibri" pitchFamily="34" charset="0"/>
                <a:ea typeface="Calibri" pitchFamily="34" charset="-122"/>
                <a:cs typeface="Calibri" pitchFamily="34" charset="-120"/>
              </a:rPr>
              <a:t>Chapters 7–8</a:t>
            </a:r>
            <a:endParaRPr lang="en-US" sz="1200" dirty="0"/>
          </a:p>
          <a:p>
            <a:pPr marL="0" indent="0">
              <a:buNone/>
            </a:pPr>
            <a:r>
              <a:rPr lang="en-US" sz="1200" i="1" dirty="0">
                <a:solidFill>
                  <a:srgbClr val="BFDBFE"/>
                </a:solidFill>
                <a:latin typeface="Calibri" pitchFamily="34" charset="0"/>
                <a:ea typeface="Calibri" pitchFamily="34" charset="-122"/>
                <a:cs typeface="Calibri" pitchFamily="34" charset="-120"/>
              </a:rPr>
              <a:t>pp. 183–260</a:t>
            </a:r>
            <a:endParaRPr lang="en-US" sz="1200" dirty="0"/>
          </a:p>
        </p:txBody>
      </p:sp>
      <p:sp>
        <p:nvSpPr>
          <p:cNvPr id="27" name="Text 25"/>
          <p:cNvSpPr/>
          <p:nvPr/>
        </p:nvSpPr>
        <p:spPr>
          <a:xfrm>
            <a:off x="320040" y="4754880"/>
            <a:ext cx="5486400" cy="274320"/>
          </a:xfrm>
          <a:prstGeom prst="rect">
            <a:avLst/>
          </a:prstGeom>
          <a:noFill/>
          <a:ln/>
        </p:spPr>
        <p:txBody>
          <a:bodyPr wrap="square" lIns="0" tIns="0" rIns="0" bIns="0" rtlCol="0" anchor="ctr"/>
          <a:lstStyle/>
          <a:p>
            <a:pPr marL="0" indent="0">
              <a:buNone/>
            </a:pPr>
            <a:r>
              <a:rPr lang="en-US" sz="1300" i="1" dirty="0">
                <a:solidFill>
                  <a:srgbClr val="64748B"/>
                </a:solidFill>
                <a:latin typeface="Calibri" pitchFamily="34" charset="0"/>
                <a:ea typeface="Calibri" pitchFamily="34" charset="-122"/>
                <a:cs typeface="Calibri" pitchFamily="34" charset="-120"/>
              </a:rPr>
              <a:t>Questions &amp; Discussion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145</TotalTime>
  <Words>2470</Words>
  <Application>Microsoft Macintosh PowerPoint</Application>
  <PresentationFormat>On-screen Show (16:9)</PresentationFormat>
  <Paragraphs>417</Paragraphs>
  <Slides>20</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Regression – Andy Field</dc:title>
  <dc:subject>PptxGenJS Presentation</dc:subject>
  <dc:creator>PptxGenJS</dc:creator>
  <cp:lastModifiedBy>MUHAMMAD 'ADIL BIN ZAINAL ABIDIN</cp:lastModifiedBy>
  <cp:revision>4</cp:revision>
  <dcterms:created xsi:type="dcterms:W3CDTF">2026-03-10T00:21:21Z</dcterms:created>
  <dcterms:modified xsi:type="dcterms:W3CDTF">2026-03-10T03:08:08Z</dcterms:modified>
</cp:coreProperties>
</file>