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340" r:id="rId7"/>
    <p:sldId id="341" r:id="rId8"/>
    <p:sldId id="261" r:id="rId9"/>
    <p:sldId id="342" r:id="rId10"/>
    <p:sldId id="262" r:id="rId11"/>
    <p:sldId id="263" r:id="rId12"/>
    <p:sldId id="339" r:id="rId13"/>
    <p:sldId id="343" r:id="rId14"/>
    <p:sldId id="264" r:id="rId15"/>
    <p:sldId id="265" r:id="rId16"/>
    <p:sldId id="266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276" r:id="rId30"/>
    <p:sldId id="277" r:id="rId31"/>
    <p:sldId id="278" r:id="rId32"/>
    <p:sldId id="279" r:id="rId33"/>
    <p:sldId id="280" r:id="rId34"/>
    <p:sldId id="281" r:id="rId35"/>
    <p:sldId id="267" r:id="rId36"/>
    <p:sldId id="268" r:id="rId37"/>
    <p:sldId id="269" r:id="rId38"/>
    <p:sldId id="283" r:id="rId39"/>
    <p:sldId id="270" r:id="rId40"/>
    <p:sldId id="271" r:id="rId41"/>
    <p:sldId id="272" r:id="rId42"/>
    <p:sldId id="273" r:id="rId43"/>
    <p:sldId id="274" r:id="rId44"/>
    <p:sldId id="284" r:id="rId45"/>
    <p:sldId id="285" r:id="rId46"/>
    <p:sldId id="275" r:id="rId4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086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200" y="1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253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6C306-6197-D411-BCD3-5EA8B9F7B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AFFF7-2E36-77F1-CD2B-1ECDA8DD3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8DE6FB-D4D0-11A3-BBDA-4D01D6763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DBC45-F55F-FF44-84D0-720DA4C153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023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0"/>
            <a:ext cx="8778240" cy="64008"/>
          </a:xfrm>
          <a:prstGeom prst="rect">
            <a:avLst/>
          </a:prstGeom>
          <a:solidFill>
            <a:srgbClr val="14BD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5079492"/>
            <a:ext cx="8778240" cy="64008"/>
          </a:xfrm>
          <a:prstGeom prst="rect">
            <a:avLst/>
          </a:prstGeom>
          <a:solidFill>
            <a:srgbClr val="14BD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Modelling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Public Health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· How to Build It · How to Report It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" y="3246120"/>
            <a:ext cx="4572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BFCC"/>
                </a:solidFill>
                <a:latin typeface="Calibri" pitchFamily="34" charset="0"/>
                <a:cs typeface="Calibri" pitchFamily="34" charset="-120"/>
              </a:rPr>
              <a:t>Dr Muhammad Adil bin Zainal Abidin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models are wrong, but some are useful."  — George Box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Outline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640080" cy="11430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23444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Statistical Modelling?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640080" cy="1143000"/>
          </a:xfrm>
          <a:prstGeom prst="rect">
            <a:avLst/>
          </a:prstGeom>
          <a:solidFill>
            <a:srgbClr val="5C4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00584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23560" y="123444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Models in Public Health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4320" y="242316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423160"/>
            <a:ext cx="640080" cy="11430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42316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265176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 Model Building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46320" y="2423160"/>
            <a:ext cx="425196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2423160"/>
            <a:ext cx="640080" cy="114300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2423160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23560" y="265176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Diagnostics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71311" y="3856388"/>
            <a:ext cx="85496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3872484"/>
            <a:ext cx="640080" cy="1143000"/>
          </a:xfrm>
          <a:prstGeom prst="rect">
            <a:avLst/>
          </a:prstGeom>
          <a:solidFill>
            <a:srgbClr val="1E7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3129" y="3924968"/>
            <a:ext cx="640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4101084"/>
            <a:ext cx="7635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&amp; Reporting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Statistical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85800" y="3246120"/>
            <a:ext cx="36576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0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 into decisions that protect population health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Statistical Modelling?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5039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model is a mathematical representation of the relationship between variables, used to describe, explain, predict, or control outcomes in a population.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2011680" cy="5029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" y="33375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how variables relate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mean BP by age group)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50592" y="192024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50592" y="1920240"/>
            <a:ext cx="2011680" cy="502920"/>
          </a:xfrm>
          <a:prstGeom prst="rect">
            <a:avLst/>
          </a:prstGeom>
          <a:solidFill>
            <a:srgbClr val="5C4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96312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99232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542032" y="33375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effect of an exposure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adjusting for confounders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26864" y="192024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26864" y="1920240"/>
            <a:ext cx="2011680" cy="50292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72584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75504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718304" y="33375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risk scores or disease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for new individuals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03136" y="1920240"/>
            <a:ext cx="201168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03136" y="1920240"/>
            <a:ext cx="2011680" cy="502920"/>
          </a:xfrm>
          <a:prstGeom prst="rect">
            <a:avLst/>
          </a:prstGeom>
          <a:solidFill>
            <a:srgbClr val="1E7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48856" y="1920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51776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894576" y="33375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targets for intervention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evaluate programme impact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Model in Public Health?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73152" cy="65836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82296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8595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Exposure–outcome complexity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13385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outcomes are shaped by dozens of social, biological, and environmental factors acting simultaneously. Models let us isolate and quantify individual effects.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73152" cy="658368"/>
          </a:xfrm>
          <a:prstGeom prst="rect">
            <a:avLst/>
          </a:prstGeom>
          <a:solidFill>
            <a:srgbClr val="5C4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" y="1645920"/>
            <a:ext cx="8412480" cy="658368"/>
          </a:xfrm>
          <a:prstGeom prst="rect">
            <a:avLst/>
          </a:prstGeom>
          <a:solidFill>
            <a:srgbClr val="E8EDE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16824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Confounding is ubiquitous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195681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data — the norm in public health — is riddled with confounders. Regression adjusts for these so we can approach causal inference.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73152" cy="65836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8912" y="246888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25054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effects, large samples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277977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public health exposures have modest effect sizes. Multivariable models increase statistical power by reducing unexplained variance.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291840"/>
            <a:ext cx="73152" cy="658368"/>
          </a:xfrm>
          <a:prstGeom prst="rect">
            <a:avLst/>
          </a:prstGeom>
          <a:solidFill>
            <a:srgbClr val="1E7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8912" y="3291840"/>
            <a:ext cx="8412480" cy="658368"/>
          </a:xfrm>
          <a:prstGeom prst="rect">
            <a:avLst/>
          </a:prstGeom>
          <a:solidFill>
            <a:srgbClr val="E8EDE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328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resource allocation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360273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 models (e.g. cardiovascular risk scores) directly inform clinical guidelines, screening criteria, and health resource planning.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73152" cy="658368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8912" y="4114800"/>
            <a:ext cx="841248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41513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evaluation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442569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 time-series, difference-in-differences, and propensity score models let us evaluate interventions without RCT infrastructure.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Statistical Model?  (Ch. 18)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91440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model is a mathematical expression of the assumed relationship between one or more </a:t>
            </a:r>
            <a:r>
              <a:rPr lang="en-US" sz="1300" b="1" dirty="0">
                <a:solidFill>
                  <a:srgbClr val="4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explanatory variables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 </a:t>
            </a:r>
            <a:r>
              <a:rPr lang="en-US" sz="13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variable</a:t>
            </a:r>
            <a:r>
              <a:rPr lang="en-US" sz="130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-- Kirkwood &amp; Sterne, p. 171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2788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2788920" cy="457200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87452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COMPONENT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404872"/>
            <a:ext cx="2606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part: the average (expected) value of Y given the values of predictor variables X₁, X₂ … Xₖ.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Expressed as: E(Y|X) = β₀ + β₁X₁ + … + βₖXₖ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18688" y="1874520"/>
            <a:ext cx="2788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874520"/>
            <a:ext cx="2788920" cy="4572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87452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COMPONENT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2404872"/>
            <a:ext cx="2606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stochastic part: residual variation around the expected value, assumed to follow a probability distribution (Normal, Binomial, Poisson, etc.).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63056" y="1874520"/>
            <a:ext cx="27889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63056" y="1874520"/>
            <a:ext cx="2788920" cy="457200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36208" y="187452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FUNCTION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54496" y="2404872"/>
            <a:ext cx="2606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Generalised Linear Models (GLMs), a function g(·) that links E(Y) to the linear predictor η.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(linear), logit (logistic), log (Poisson).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 18, pp. 170–175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Generalised Linear Model (GLM) Framework  (Ch. 18)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841248"/>
          </a:xfrm>
          <a:prstGeom prst="rect">
            <a:avLst/>
          </a:prstGeom>
          <a:solidFill>
            <a:srgbClr val="0E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g(E[Y]) = β₀ + β₁X₁ + β₂X₂ + … + βₖXₖ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103120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1737360"/>
            <a:ext cx="1371600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2316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1737360"/>
            <a:ext cx="2240280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94760" y="17373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Function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737360"/>
            <a:ext cx="1417320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17373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6640" y="1737360"/>
            <a:ext cx="1572768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52360" y="173736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Scale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157984"/>
            <a:ext cx="2103120" cy="594360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" y="2157984"/>
            <a:ext cx="19751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377440" y="2157984"/>
            <a:ext cx="13716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41448" y="2157984"/>
            <a:ext cx="12435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749040" y="2157984"/>
            <a:ext cx="22402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13048" y="2157984"/>
            <a:ext cx="2112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g(μ)=μ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89320" y="2157984"/>
            <a:ext cx="141732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53328" y="2157984"/>
            <a:ext cx="1289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(μ)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406640" y="2157984"/>
            <a:ext cx="1572768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70648" y="2157984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" y="2816352"/>
            <a:ext cx="2103120" cy="59436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8328" y="2816352"/>
            <a:ext cx="19751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377440" y="2816352"/>
            <a:ext cx="1371600" cy="59436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441448" y="2816352"/>
            <a:ext cx="12435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749040" y="2816352"/>
            <a:ext cx="2240280" cy="59436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13048" y="2816352"/>
            <a:ext cx="2112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Logit: g(π)=log(π/1-π)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989320" y="2816352"/>
            <a:ext cx="1417320" cy="59436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53328" y="2816352"/>
            <a:ext cx="1289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(π)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406640" y="2816352"/>
            <a:ext cx="1572768" cy="59436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70648" y="2816352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0/1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74320" y="3474720"/>
            <a:ext cx="2103120" cy="594360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8328" y="3474720"/>
            <a:ext cx="19751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Regression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377440" y="3474720"/>
            <a:ext cx="13716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441448" y="3474720"/>
            <a:ext cx="12435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749040" y="3474720"/>
            <a:ext cx="22402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813048" y="3474720"/>
            <a:ext cx="2112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Log: g(λ)=log(λ)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989320" y="3474720"/>
            <a:ext cx="141732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53328" y="3474720"/>
            <a:ext cx="1289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(λ)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406640" y="3474720"/>
            <a:ext cx="1572768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470648" y="3474720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Count/Rate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74320" y="4133088"/>
            <a:ext cx="2103120" cy="594360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38328" y="4133088"/>
            <a:ext cx="19751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(Survival)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377440" y="4133088"/>
            <a:ext cx="1371600" cy="59436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441448" y="4133088"/>
            <a:ext cx="12435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3749040" y="4133088"/>
            <a:ext cx="2240280" cy="59436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813048" y="4133088"/>
            <a:ext cx="2112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Log-log (partial likelihood)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989320" y="4133088"/>
            <a:ext cx="1417320" cy="59436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053328" y="4133088"/>
            <a:ext cx="1289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h(t)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7406640" y="4133088"/>
            <a:ext cx="1572768" cy="59436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470648" y="4133088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Time-to-event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 18, Table 18.1 (pp. 172–173)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C4B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Models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Public Health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85800" y="3246120"/>
            <a:ext cx="36576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0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model to the outcome type and research question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Types &amp; Their Roles in Models  (Ch. 18–19)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519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251960" cy="457200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/ OUTCOME (Y)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4023360" cy="749808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38988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66420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pressure, height, weight → Linear regression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21992"/>
            <a:ext cx="4023360" cy="74980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25856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" y="253288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yes/no, died yes/no → Logistic regression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90672"/>
            <a:ext cx="4023360" cy="749808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312724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Count/Rate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340156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events, incidence rate → Poisson regression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59352"/>
            <a:ext cx="4023360" cy="74980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39959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Time-to-event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427024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time, time to relapse → Cox regression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777240"/>
            <a:ext cx="42519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777240"/>
            <a:ext cx="4251960" cy="4572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0600" y="7772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EXPLANATORY VARIABLES (X)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1353312"/>
            <a:ext cx="4023360" cy="749808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73752" y="138988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predictor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73752" y="166420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BMI, cholesterol — enter as numeric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221992"/>
            <a:ext cx="4023360" cy="74980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73752" y="225856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Binary/categorical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253288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Sex, treatment group — enter as dummy (0/1) variables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090672"/>
            <a:ext cx="4023360" cy="749808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73752" y="312724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73752" y="340156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severity — can use as numeric or dummy coded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3959352"/>
            <a:ext cx="4023360" cy="74980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73752" y="39959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terms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73752" y="427024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 × X₂ — tests whether effect of X₁ varies by X₂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 18–19, pp. 170–185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5C4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Model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2468880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955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88920" y="795528"/>
            <a:ext cx="1874520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34640" y="79552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Type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795528"/>
            <a:ext cx="1097280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7955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52160" y="795528"/>
            <a:ext cx="1005840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97880" y="79552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Use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03720" y="795528"/>
            <a:ext cx="1938528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49440" y="795528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Outcome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1207008"/>
            <a:ext cx="2468880" cy="5486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12070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88920" y="1207008"/>
            <a:ext cx="18745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52928" y="1207008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1207008"/>
            <a:ext cx="10972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73168" y="1207008"/>
            <a:ext cx="969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52160" y="1207008"/>
            <a:ext cx="10058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16168" y="1207008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03720" y="1207008"/>
            <a:ext cx="1938528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67728" y="120700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BP, BMI, cholesterol levels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1837944"/>
            <a:ext cx="2468880" cy="548640"/>
          </a:xfrm>
          <a:prstGeom prst="rect">
            <a:avLst/>
          </a:prstGeom>
          <a:solidFill>
            <a:srgbClr val="5C4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18379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88920" y="1837944"/>
            <a:ext cx="1874520" cy="548640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852928" y="1837944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(yes/no)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1837944"/>
            <a:ext cx="1097280" cy="548640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73168" y="1837944"/>
            <a:ext cx="969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852160" y="1837944"/>
            <a:ext cx="1005840" cy="548640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16168" y="1837944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903720" y="1837944"/>
            <a:ext cx="1938528" cy="548640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67728" y="1837944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presence, mortality, smoking status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74320" y="2468880"/>
            <a:ext cx="2468880" cy="54864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" y="2468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/ Negative Binomial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88920" y="2468880"/>
            <a:ext cx="18745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852928" y="2468880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or Rate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09160" y="2468880"/>
            <a:ext cx="10972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73168" y="2468880"/>
            <a:ext cx="969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852160" y="2468880"/>
            <a:ext cx="10058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16168" y="2468880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903720" y="2468880"/>
            <a:ext cx="1938528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967728" y="246888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admissions, disease incidence rates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274320" y="3099816"/>
            <a:ext cx="2468880" cy="54864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0040" y="309981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Proportional Hazards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788920" y="3099816"/>
            <a:ext cx="1874520" cy="548640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852928" y="3099816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Time-to-event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709160" y="3099816"/>
            <a:ext cx="1097280" cy="548640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73168" y="3099816"/>
            <a:ext cx="969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Log-log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852160" y="3099816"/>
            <a:ext cx="1005840" cy="548640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916168" y="3099816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903720" y="3099816"/>
            <a:ext cx="1938528" cy="548640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967728" y="3099816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time, time to diagnosis/relapse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274320" y="3730752"/>
            <a:ext cx="2468880" cy="548640"/>
          </a:xfrm>
          <a:prstGeom prst="rect">
            <a:avLst/>
          </a:prstGeom>
          <a:solidFill>
            <a:srgbClr val="1E7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0040" y="37307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Logistic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788920" y="3730752"/>
            <a:ext cx="18745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852928" y="3730752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(&gt;2 levels)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709160" y="3730752"/>
            <a:ext cx="10972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773168" y="3730752"/>
            <a:ext cx="969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852160" y="3730752"/>
            <a:ext cx="10058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916168" y="3730752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6903720" y="3730752"/>
            <a:ext cx="1938528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967728" y="373075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stage, treatment group allocated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274320" y="4361688"/>
            <a:ext cx="2468880" cy="548640"/>
          </a:xfrm>
          <a:prstGeom prst="rect">
            <a:avLst/>
          </a:prstGeom>
          <a:solidFill>
            <a:srgbClr val="5C6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20040" y="43616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Logistic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2788920" y="4361688"/>
            <a:ext cx="1874520" cy="548640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852928" y="4361688"/>
            <a:ext cx="1746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(&gt;2 levels)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4709160" y="4361688"/>
            <a:ext cx="1097280" cy="548640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773168" y="4361688"/>
            <a:ext cx="969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5852160" y="4361688"/>
            <a:ext cx="1005840" cy="548640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916168" y="4361688"/>
            <a:ext cx="87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6903720" y="4361688"/>
            <a:ext cx="1938528" cy="548640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967728" y="436168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 scales, pain score, cancer grading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A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85800" y="3246120"/>
            <a:ext cx="36576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0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workflow from question to conclusion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Principles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48640" cy="621792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822960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8595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Research Question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24712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specify outcome (Y) and main exposure (X). State whether goal is prediction or causal inference.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548640" cy="621792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627632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1627632"/>
            <a:ext cx="7863840" cy="621792"/>
          </a:xfrm>
          <a:prstGeom prst="rect">
            <a:avLst/>
          </a:prstGeom>
          <a:solidFill>
            <a:srgbClr val="E8F0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1664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Candidate Variables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929384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subject-matter knowledge, directed acyclic graphs (DAGs), and prior literature. Avoid data-driven selection only.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432304"/>
            <a:ext cx="548640" cy="621792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432304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400" y="2432304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Assumptions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734056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Linearity, independence, homoscedasticity, normality of residuals (OLS). Check multicollinearity (VIF &lt; 10).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236976"/>
            <a:ext cx="548640" cy="621792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3236976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14400" y="3236976"/>
            <a:ext cx="7863840" cy="621792"/>
          </a:xfrm>
          <a:prstGeom prst="rect">
            <a:avLst/>
          </a:prstGeom>
          <a:solidFill>
            <a:srgbClr val="E8F0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5840" y="3273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Assess Model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538728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model → adjusted model. Compare with likelihood ratio test, AIC/BIC, R², or pseudo-R².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4041648"/>
            <a:ext cx="548640" cy="621792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041648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14400" y="4041648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" y="4078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&amp; Report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343400"/>
            <a:ext cx="7635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coefficients, ORs, or HRs with 95% CI. Describe confounding adjustment and model fit.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86688-87ED-370D-255D-9721FE33E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919733-6CF2-50D6-4F82-9C4722489B3E}"/>
              </a:ext>
            </a:extLst>
          </p:cNvPr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8044B07-2177-380C-5C87-DBD4B5573F6F}"/>
              </a:ext>
            </a:extLst>
          </p:cNvPr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3FE1C8-9AFC-5F37-0912-F0718F601C80}"/>
              </a:ext>
            </a:extLst>
          </p:cNvPr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Strategy  (Ch. 18–19)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78770D1-6C0A-6EBE-C182-E863A83D9C02}"/>
              </a:ext>
            </a:extLst>
          </p:cNvPr>
          <p:cNvSpPr/>
          <p:nvPr/>
        </p:nvSpPr>
        <p:spPr>
          <a:xfrm>
            <a:off x="274320" y="777240"/>
            <a:ext cx="8595360" cy="804672"/>
          </a:xfrm>
          <a:prstGeom prst="rect">
            <a:avLst/>
          </a:prstGeom>
          <a:solidFill>
            <a:srgbClr val="0E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B380E06-CCFC-BE8E-46E5-97317D5E26CF}"/>
              </a:ext>
            </a:extLst>
          </p:cNvPr>
          <p:cNvSpPr/>
          <p:nvPr/>
        </p:nvSpPr>
        <p:spPr>
          <a:xfrm>
            <a:off x="457200" y="795528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of variables to include in a model should be guided primarily by </a:t>
            </a:r>
            <a:r>
              <a:rPr lang="en-US" sz="12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subject-matter knowledge</a:t>
            </a:r>
            <a:r>
              <a:rPr lang="en-US" sz="1250" i="1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rather than by statistical criteria alone.  -- Kirkwood &amp; Sterne, p. 180</a:t>
            </a:r>
            <a:endParaRPr lang="en-US" sz="12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4B4B0E2-42E6-E26F-578F-2E8FF8868DE5}"/>
              </a:ext>
            </a:extLst>
          </p:cNvPr>
          <p:cNvSpPr/>
          <p:nvPr/>
        </p:nvSpPr>
        <p:spPr>
          <a:xfrm>
            <a:off x="274320" y="1737360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4DD34B7-2F67-1D2F-631F-2B83B3362A21}"/>
              </a:ext>
            </a:extLst>
          </p:cNvPr>
          <p:cNvSpPr/>
          <p:nvPr/>
        </p:nvSpPr>
        <p:spPr>
          <a:xfrm>
            <a:off x="274320" y="1737360"/>
            <a:ext cx="530352" cy="914400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B935801-415F-5043-0576-5303D88625A3}"/>
              </a:ext>
            </a:extLst>
          </p:cNvPr>
          <p:cNvSpPr/>
          <p:nvPr/>
        </p:nvSpPr>
        <p:spPr>
          <a:xfrm>
            <a:off x="274320" y="1737360"/>
            <a:ext cx="530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A11A75E-33E9-F2CF-6448-16522FFFD8F6}"/>
              </a:ext>
            </a:extLst>
          </p:cNvPr>
          <p:cNvSpPr/>
          <p:nvPr/>
        </p:nvSpPr>
        <p:spPr>
          <a:xfrm>
            <a:off x="877824" y="178308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question &amp; outcome</a:t>
            </a:r>
            <a:endParaRPr lang="en-US" sz="12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4B8B64D-B017-2CC7-5D4B-B64896DC7356}"/>
              </a:ext>
            </a:extLst>
          </p:cNvPr>
          <p:cNvSpPr/>
          <p:nvPr/>
        </p:nvSpPr>
        <p:spPr>
          <a:xfrm>
            <a:off x="877824" y="2084832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Y, the main exposure X, and the study design (Ch. 18). Draw a DAG to map causal relationships.</a:t>
            </a:r>
            <a:endParaRPr lang="en-US" sz="108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F416541-F3F9-CFEA-D4C1-04D31790615D}"/>
              </a:ext>
            </a:extLst>
          </p:cNvPr>
          <p:cNvSpPr/>
          <p:nvPr/>
        </p:nvSpPr>
        <p:spPr>
          <a:xfrm>
            <a:off x="4709160" y="1737360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9ED905D-99A2-0072-ED97-AE3C9F905210}"/>
              </a:ext>
            </a:extLst>
          </p:cNvPr>
          <p:cNvSpPr/>
          <p:nvPr/>
        </p:nvSpPr>
        <p:spPr>
          <a:xfrm>
            <a:off x="4709160" y="1737360"/>
            <a:ext cx="530352" cy="91440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F2BB196-78C8-3055-BA3C-232D8B245151}"/>
              </a:ext>
            </a:extLst>
          </p:cNvPr>
          <p:cNvSpPr/>
          <p:nvPr/>
        </p:nvSpPr>
        <p:spPr>
          <a:xfrm>
            <a:off x="4709160" y="1737360"/>
            <a:ext cx="530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426484A-6094-C971-CBCB-2DEB88E97A5B}"/>
              </a:ext>
            </a:extLst>
          </p:cNvPr>
          <p:cNvSpPr/>
          <p:nvPr/>
        </p:nvSpPr>
        <p:spPr>
          <a:xfrm>
            <a:off x="5312664" y="178308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candidate variables</a:t>
            </a:r>
            <a:endParaRPr lang="en-US" sz="12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616B3EB-00C0-D0D0-F8F7-CACFED3B4471}"/>
              </a:ext>
            </a:extLst>
          </p:cNvPr>
          <p:cNvSpPr/>
          <p:nvPr/>
        </p:nvSpPr>
        <p:spPr>
          <a:xfrm>
            <a:off x="5312664" y="2084832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prior literature + clinical knowledge. Apply the events-per-variable (EPV) rule: ≥10 events per covariate.</a:t>
            </a:r>
            <a:endParaRPr lang="en-US" sz="108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EE5BFB6-1159-15D2-3CA0-E21D49BC54CD}"/>
              </a:ext>
            </a:extLst>
          </p:cNvPr>
          <p:cNvSpPr/>
          <p:nvPr/>
        </p:nvSpPr>
        <p:spPr>
          <a:xfrm>
            <a:off x="274320" y="2788920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0C1993A-1ABC-786B-D0BA-F545544497D9}"/>
              </a:ext>
            </a:extLst>
          </p:cNvPr>
          <p:cNvSpPr/>
          <p:nvPr/>
        </p:nvSpPr>
        <p:spPr>
          <a:xfrm>
            <a:off x="274320" y="2788920"/>
            <a:ext cx="530352" cy="914400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240D879-BDEB-FCC1-291A-F1B515B81B22}"/>
              </a:ext>
            </a:extLst>
          </p:cNvPr>
          <p:cNvSpPr/>
          <p:nvPr/>
        </p:nvSpPr>
        <p:spPr>
          <a:xfrm>
            <a:off x="274320" y="2788920"/>
            <a:ext cx="530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5CFDC2B-7BD4-ABBA-7F56-F8BE40A58515}"/>
              </a:ext>
            </a:extLst>
          </p:cNvPr>
          <p:cNvSpPr/>
          <p:nvPr/>
        </p:nvSpPr>
        <p:spPr>
          <a:xfrm>
            <a:off x="877824" y="283464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data (EDA)</a:t>
            </a:r>
            <a:endParaRPr lang="en-US" sz="12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AB220BE-1B78-C1C4-ADAA-CFA32F14EC57}"/>
              </a:ext>
            </a:extLst>
          </p:cNvPr>
          <p:cNvSpPr/>
          <p:nvPr/>
        </p:nvSpPr>
        <p:spPr>
          <a:xfrm>
            <a:off x="877824" y="3136392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missingness, outliers, linearity of continuous predictors (Ch. 19). Tabulate outcome by exposure.</a:t>
            </a:r>
            <a:endParaRPr lang="en-US" sz="108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41F6097-AAE8-3C82-81B1-5D9D007C4E64}"/>
              </a:ext>
            </a:extLst>
          </p:cNvPr>
          <p:cNvSpPr/>
          <p:nvPr/>
        </p:nvSpPr>
        <p:spPr>
          <a:xfrm>
            <a:off x="4709160" y="2788920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B78642C-D04D-0F88-5075-8ABC260FF155}"/>
              </a:ext>
            </a:extLst>
          </p:cNvPr>
          <p:cNvSpPr/>
          <p:nvPr/>
        </p:nvSpPr>
        <p:spPr>
          <a:xfrm>
            <a:off x="4709160" y="2788920"/>
            <a:ext cx="530352" cy="914400"/>
          </a:xfrm>
          <a:prstGeom prst="rect">
            <a:avLst/>
          </a:prstGeom>
          <a:solidFill>
            <a:srgbClr val="E07B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07CEF65-6BB3-E19E-A795-0B1992A005BA}"/>
              </a:ext>
            </a:extLst>
          </p:cNvPr>
          <p:cNvSpPr/>
          <p:nvPr/>
        </p:nvSpPr>
        <p:spPr>
          <a:xfrm>
            <a:off x="4709160" y="2788920"/>
            <a:ext cx="530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32D1ED9-A1EA-EE71-22DB-F16D10302EA0}"/>
              </a:ext>
            </a:extLst>
          </p:cNvPr>
          <p:cNvSpPr/>
          <p:nvPr/>
        </p:nvSpPr>
        <p:spPr>
          <a:xfrm>
            <a:off x="5312664" y="283464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unadjusted (crude) model</a:t>
            </a:r>
            <a:endParaRPr lang="en-US" sz="12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C222975-331A-9FD5-F52D-7A93780FF9D0}"/>
              </a:ext>
            </a:extLst>
          </p:cNvPr>
          <p:cNvSpPr/>
          <p:nvPr/>
        </p:nvSpPr>
        <p:spPr>
          <a:xfrm>
            <a:off x="5312664" y="3136392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 on X alone. Obtain crude estimate (β, OR, HR). This is the starting reference for confounding assessment.</a:t>
            </a:r>
            <a:endParaRPr lang="en-US" sz="108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DD35F34-306F-2B97-5831-463AF40F9314}"/>
              </a:ext>
            </a:extLst>
          </p:cNvPr>
          <p:cNvSpPr/>
          <p:nvPr/>
        </p:nvSpPr>
        <p:spPr>
          <a:xfrm>
            <a:off x="274320" y="3840480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1D0A9BE-F566-88CB-CBEA-42E041872C1F}"/>
              </a:ext>
            </a:extLst>
          </p:cNvPr>
          <p:cNvSpPr/>
          <p:nvPr/>
        </p:nvSpPr>
        <p:spPr>
          <a:xfrm>
            <a:off x="274320" y="3840480"/>
            <a:ext cx="530352" cy="914400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EBB6999-2CD6-D3E5-D1DC-93EB48B4A2BA}"/>
              </a:ext>
            </a:extLst>
          </p:cNvPr>
          <p:cNvSpPr/>
          <p:nvPr/>
        </p:nvSpPr>
        <p:spPr>
          <a:xfrm>
            <a:off x="274320" y="3840480"/>
            <a:ext cx="530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D991174-84E4-B2F6-83AC-685AF7C17C59}"/>
              </a:ext>
            </a:extLst>
          </p:cNvPr>
          <p:cNvSpPr/>
          <p:nvPr/>
        </p:nvSpPr>
        <p:spPr>
          <a:xfrm>
            <a:off x="877824" y="388620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adjusted (multivariable) model</a:t>
            </a:r>
            <a:endParaRPr lang="en-US" sz="12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3084B51-CAFD-F648-81A6-384BF0A6C45C}"/>
              </a:ext>
            </a:extLst>
          </p:cNvPr>
          <p:cNvSpPr/>
          <p:nvPr/>
        </p:nvSpPr>
        <p:spPr>
          <a:xfrm>
            <a:off x="877824" y="4187952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covariates. Check 10% change rule: if coefficient changes ≥10% on adding a variable → confounder → retain.</a:t>
            </a:r>
            <a:endParaRPr lang="en-US" sz="108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9970F5C9-7A5C-AC19-8817-9636C0E0D32C}"/>
              </a:ext>
            </a:extLst>
          </p:cNvPr>
          <p:cNvSpPr/>
          <p:nvPr/>
        </p:nvSpPr>
        <p:spPr>
          <a:xfrm>
            <a:off x="4709160" y="3840480"/>
            <a:ext cx="42519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61CADD9-D38C-AE1D-DB94-C8EE9672D1E6}"/>
              </a:ext>
            </a:extLst>
          </p:cNvPr>
          <p:cNvSpPr/>
          <p:nvPr/>
        </p:nvSpPr>
        <p:spPr>
          <a:xfrm>
            <a:off x="4709160" y="3840480"/>
            <a:ext cx="530352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EB5831C-4F51-5DBC-F6FA-90AE336D2984}"/>
              </a:ext>
            </a:extLst>
          </p:cNvPr>
          <p:cNvSpPr/>
          <p:nvPr/>
        </p:nvSpPr>
        <p:spPr>
          <a:xfrm>
            <a:off x="4709160" y="3840480"/>
            <a:ext cx="530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4163B18-934F-5197-8B00-E3C6A638B3CF}"/>
              </a:ext>
            </a:extLst>
          </p:cNvPr>
          <p:cNvSpPr/>
          <p:nvPr/>
        </p:nvSpPr>
        <p:spPr>
          <a:xfrm>
            <a:off x="5312664" y="388620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assumptions &amp; model fit</a:t>
            </a:r>
            <a:endParaRPr lang="en-US" sz="125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8604041-463B-330B-F665-577A65302913}"/>
              </a:ext>
            </a:extLst>
          </p:cNvPr>
          <p:cNvSpPr/>
          <p:nvPr/>
        </p:nvSpPr>
        <p:spPr>
          <a:xfrm>
            <a:off x="5312664" y="4187952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plots, goodness-of-fit tests, AIC/BIC, likelihood ratio tests. See Chapters 20–25 for model-specific checks.</a:t>
            </a:r>
            <a:endParaRPr lang="en-US" sz="108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FE20B55-C318-3AD3-F441-DEBA2208E00D}"/>
              </a:ext>
            </a:extLst>
          </p:cNvPr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F5614B7F-3E23-DF37-D030-2E844FF7FA79}"/>
              </a:ext>
            </a:extLst>
          </p:cNvPr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 18–19, pp. 178–192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682924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Building Workflow — Overview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566928" cy="65836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841248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84124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question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09160" y="841248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841248"/>
            <a:ext cx="566928" cy="658368"/>
          </a:xfrm>
          <a:prstGeom prst="rect">
            <a:avLst/>
          </a:prstGeom>
          <a:solidFill>
            <a:srgbClr val="5C4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09160" y="841248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67528" y="84124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variables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1664208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664208"/>
            <a:ext cx="566928" cy="65836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1664208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32688" y="166420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data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709160" y="1664208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1664208"/>
            <a:ext cx="566928" cy="658368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1664208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367528" y="166420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model type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74320" y="2487168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487168"/>
            <a:ext cx="566928" cy="65836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2487168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2688" y="248716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crude model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709160" y="2487168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2487168"/>
            <a:ext cx="566928" cy="658368"/>
          </a:xfrm>
          <a:prstGeom prst="rect">
            <a:avLst/>
          </a:prstGeom>
          <a:solidFill>
            <a:srgbClr val="5C4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2487168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367528" y="248716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adjusted model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274320" y="3310128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310128"/>
            <a:ext cx="566928" cy="65836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3310128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32688" y="331012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assumptions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709160" y="3310128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09160" y="3310128"/>
            <a:ext cx="566928" cy="658368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3310128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367528" y="331012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fit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274320" y="4133088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4133088"/>
            <a:ext cx="566928" cy="658368"/>
          </a:xfrm>
          <a:prstGeom prst="rect">
            <a:avLst/>
          </a:prstGeom>
          <a:solidFill>
            <a:srgbClr val="1E7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4133088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932688" y="413308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results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4709160" y="4133088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09160" y="4133088"/>
            <a:ext cx="566928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09160" y="4133088"/>
            <a:ext cx="566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5367528" y="413308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communicate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1–3: Defining the Problem &amp; Exploring Data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4592" y="804672"/>
            <a:ext cx="283464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" y="804672"/>
            <a:ext cx="2834640" cy="47548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7744" y="80467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80467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Research 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38988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the outcome variable Y (what are you modelling?)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02996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the main exposure/predictor of interest 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67004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Clarify the goal: description, explanation, or prediction?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331012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Consider study design: cross-sectional, cohort, case-control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95020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Draw a Directed Acyclic Graph (DAG) to map hypothesised relationships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804672"/>
            <a:ext cx="283464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54680" y="804672"/>
            <a:ext cx="2834640" cy="475488"/>
          </a:xfrm>
          <a:prstGeom prst="rect">
            <a:avLst/>
          </a:prstGeom>
          <a:solidFill>
            <a:srgbClr val="5C4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27832" y="80467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80467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Selection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64408" y="138988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prior literature + clinical/epidemiological knowledge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64408" y="202996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potential confounders from the DAG — not from p-values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64408" y="267004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Include effect modifiers (interaction terms) if biologically plausible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64408" y="331012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Avoid: stepwise selection, p &lt; 0.05 as sole criterion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64408" y="395020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Rule of thumb: ≥ 10 events per variable (EPV rule)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44768" y="804672"/>
            <a:ext cx="283464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44768" y="804672"/>
            <a:ext cx="2834640" cy="47548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80467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50608" y="80467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54496" y="138988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distributions: histograms, box plots, Q-Q plots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202996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Examine missingness: MCAR / MAR / MNAR — consider multiple imputation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54496" y="267004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Assess linearity of continuous predictors (fractional polynomials / restricted cubic splines)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54496" y="331012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correlation matrix — flag multicollinearity (r &gt; 0.8)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54496" y="395020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Tabulate outcome by exposure (Table 1)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4–6: Choosing &amp; Fitting the Model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94360" cy="123444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8961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Model Type — Match the model to the outcome distribution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2344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Y → Linear  |  Binary Y → Logistic  |  Count Y → Poisson  |  Time-to-event Y → Cox  |  Correlated data → Mixed/GEE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16052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4160520" cy="47548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22402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Fit Crude (Unadjusted) Model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" y="2788920"/>
            <a:ext cx="3886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Regress Y on the main exposure X only
• Provides the unadjusted effect estimate (crude OR/β/HR)
• Always report alongside adjusted model
• Basis for 10% confounding rule (see below)
</a:t>
            </a:r>
            <a:r>
              <a:rPr lang="en-US" sz="12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β₁: </a:t>
            </a: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X on Y ignoring all confounders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240280"/>
            <a:ext cx="416052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2240280"/>
            <a:ext cx="4160520" cy="475488"/>
          </a:xfrm>
          <a:prstGeom prst="rect">
            <a:avLst/>
          </a:prstGeom>
          <a:solidFill>
            <a:srgbClr val="5C4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73168" y="22402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Fit Adjusted (Multivariable) Model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73168" y="278892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confounders and covariates identified in Step 2
• Adjusted β₁ represents the independent effect of X
• If |%Δβ₁| ≥ 10% → confounding confirmed; retain variable
• Consider biological plausibility — keep confounders even if p &gt; 0.05
</a:t>
            </a:r>
            <a:r>
              <a:rPr lang="en-US" sz="12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β₁: </a:t>
            </a:r>
            <a:r>
              <a:rPr lang="en-US" sz="12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X on Y holding all other variables constant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A8DAD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0"/>
            <a:ext cx="8796528" cy="50292"/>
          </a:xfrm>
          <a:prstGeom prst="rect">
            <a:avLst/>
          </a:prstGeom>
          <a:solidFill>
            <a:srgbClr val="A8DA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5093208"/>
            <a:ext cx="8796528" cy="50292"/>
          </a:xfrm>
          <a:prstGeom prst="rect">
            <a:avLst/>
          </a:prstGeom>
          <a:solidFill>
            <a:srgbClr val="A8DA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200400" cy="50292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27355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a continuous outcome — Chapters 20 &amp; 21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 (Ch. 20)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713232"/>
          </a:xfrm>
          <a:prstGeom prst="rect">
            <a:avLst/>
          </a:prstGeom>
          <a:solidFill>
            <a:srgbClr val="0E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β₀ + β₁X + ε     where ε ~ N(0, σ²)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420624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4206240" cy="42062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Interpretation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2148840"/>
            <a:ext cx="4059936" cy="576072"/>
          </a:xfrm>
          <a:prstGeom prst="rect">
            <a:avLst/>
          </a:prstGeom>
          <a:solidFill>
            <a:srgbClr val="D0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" y="217627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 (Intercept)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" y="24231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value of Y when X = 0. May not always have clinical meaning.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816352"/>
            <a:ext cx="4059936" cy="576072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" y="284378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(Slope)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" y="30906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change in Y for each 1-unit increase in X, holding all other variables constant.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483864"/>
            <a:ext cx="4059936" cy="576072"/>
          </a:xfrm>
          <a:prstGeom prst="rect">
            <a:avLst/>
          </a:prstGeom>
          <a:solidFill>
            <a:srgbClr val="D0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" y="3511296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σ² (Residual variance)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624" y="375818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of observations around the regression line. Estimated by the mean squared error (MSE).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4151376"/>
            <a:ext cx="4059936" cy="576072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" y="417880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(Coefficient of determination)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0624" y="442569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variation in Y explained by the model. Ranges 0–1; higher = better fit.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627632"/>
            <a:ext cx="420624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1627632"/>
            <a:ext cx="4206240" cy="420624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1627632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K&amp;S Example: Birthweight &amp; Gestational 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121408"/>
            <a:ext cx="4023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gestational age (X, weeks) predict birthweight (Y, kg)?
</a:t>
            </a: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Birthweight = β₀ + β₁(Gestational age) + ε
</a:t>
            </a: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Fitted: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−5.26 + 0.197 × (Gestational age)
</a:t>
            </a: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additional week of gestation, birthweight increases by 0.197 kg on average.
</a:t>
            </a:r>
            <a:r>
              <a:rPr lang="en-US" sz="1150" i="1" dirty="0">
                <a:solidFill>
                  <a:srgbClr val="5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(Kirkwood &amp; Sterne, Ch. 20, pp. 196–202)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 20, pp. 194–215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 (Ch. 20–21)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658368"/>
          </a:xfrm>
          <a:prstGeom prst="rect">
            <a:avLst/>
          </a:prstGeom>
          <a:solidFill>
            <a:srgbClr val="0E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β₀ + β₁X₁ + β₂X₂ + … + βₖXₖ + ε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25196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73152" cy="98755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60934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coefficients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90195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β represents the effect of Xⱼ on Y after adjusting for all other predictors in the model. This is the key advantage over simple regression.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572768"/>
            <a:ext cx="425196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572768"/>
            <a:ext cx="73152" cy="987552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9472" y="160934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variables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19472" y="190195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predictors with k levels are represented by k−1 dummy (0/1) variables. The omitted category is the reference group. (K&amp;S pp. 204–207)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688336"/>
            <a:ext cx="425196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688336"/>
            <a:ext cx="73152" cy="987552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272491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terms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8912" y="301752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product term Xⱼ×Xₘ to test whether the effect of Xⱼ on Y differs across levels of Xₘ. Significant interaction = effect modification. (Ch. 21)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688336"/>
            <a:ext cx="425196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688336"/>
            <a:ext cx="73152" cy="987552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9472" y="272491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F-test / ANOVA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19472" y="301752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compare nested models. Tests whether a group of predictors together significantly improve model fit (K&amp;S pp. 214–216).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803904"/>
            <a:ext cx="425196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803904"/>
            <a:ext cx="73152" cy="987552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8912" y="38404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38912" y="413308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correlation between predictors inflates standard errors. Diagnose with VIF &gt; 10. Consider removing redundant variables or using ridge regression.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803904"/>
            <a:ext cx="425196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3803904"/>
            <a:ext cx="73152" cy="9875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19472" y="38404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vs Adjusted R²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19472" y="413308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 penalises for the number of predictors, making it suitable for comparing models with different numbers of variables (K&amp;S p. 213).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 20–21, pp. 196–220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Diagnostics: Linear Regression  (Ch. 20)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828800" cy="34747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48840" y="777240"/>
            <a:ext cx="3200400" cy="34747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94560" y="7772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Check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94960" y="777240"/>
            <a:ext cx="3291840" cy="34747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40680" y="777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Violated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170432"/>
            <a:ext cx="1828800" cy="5486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11704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48840" y="1170432"/>
            <a:ext cx="32004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03704" y="1170432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vs. fitted plot — no systematic curve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1170432"/>
            <a:ext cx="32918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49824" y="1170432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X (log, square root) or use polynomial terms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792224"/>
            <a:ext cx="1828800" cy="5486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1792224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48840" y="1792224"/>
            <a:ext cx="3200400" cy="54864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03704" y="1792224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study design — independent subjects?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94960" y="1792224"/>
            <a:ext cx="3291840" cy="54864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49824" y="1792224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data → multilevel models or GEE (Ch. 29)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414016"/>
            <a:ext cx="1828800" cy="5486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414016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Homoscedasticity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148840" y="2414016"/>
            <a:ext cx="32004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03704" y="2414016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Scale-location plot — constant spread around zero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94960" y="2414016"/>
            <a:ext cx="32918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49824" y="2414016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least squares; transform Y (log Y)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035808"/>
            <a:ext cx="1828800" cy="5486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303580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 of residuals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148840" y="3035808"/>
            <a:ext cx="3200400" cy="54864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203704" y="3035808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Q-Q plot — points on the diagonal line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94960" y="3035808"/>
            <a:ext cx="3291840" cy="54864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49824" y="3035808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samples: CLT protects. Small n: transform or non-parametric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657600"/>
            <a:ext cx="1828800" cy="5486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multicollinearity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148840" y="3657600"/>
            <a:ext cx="32004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203704" y="3657600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&lt; 10; pairwise correlations &lt; 0.8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94960" y="3657600"/>
            <a:ext cx="32918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49824" y="365760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one of two correlated variables; principal components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279392"/>
            <a:ext cx="1828800" cy="5486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0040" y="427939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influential outliers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148840" y="4279392"/>
            <a:ext cx="3200400" cy="54864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203704" y="4279392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Cook's distance &lt; 4/n; leverage vs. residuals plot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394960" y="4279392"/>
            <a:ext cx="3291840" cy="54864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49824" y="4279392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observation — data error or genuine outlier?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 20, pp. 207–214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Linear Regression Results  (Ch. 20–21)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76809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Predictors of systolic blood pressure (SBP) — Multiple linear regression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103120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0896" y="117043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170432"/>
            <a:ext cx="1005840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14016" y="1170432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(Crude)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170432"/>
            <a:ext cx="1691640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19856" y="1170432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74920" y="1170432"/>
            <a:ext cx="1170432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11496" y="11704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(Adjusted)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45352" y="1170432"/>
            <a:ext cx="1691640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81928" y="1170432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36992" y="1170432"/>
            <a:ext cx="1033272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73568" y="117043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1581912"/>
            <a:ext cx="210312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0896" y="1581912"/>
            <a:ext cx="20299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(per 10 yrs)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377440" y="1581912"/>
            <a:ext cx="10058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14016" y="1581912"/>
            <a:ext cx="9326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+3.8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83280" y="1581912"/>
            <a:ext cx="16916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19856" y="1581912"/>
            <a:ext cx="16184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to 5.1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74920" y="1581912"/>
            <a:ext cx="1170432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11496" y="1581912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45352" y="1581912"/>
            <a:ext cx="16916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81928" y="1581912"/>
            <a:ext cx="16184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to 4.4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936992" y="1581912"/>
            <a:ext cx="1033272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973568" y="1581912"/>
            <a:ext cx="960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2075688"/>
            <a:ext cx="2103120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0896" y="2075688"/>
            <a:ext cx="20299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Sex: Male (ref: Female)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377440" y="2075688"/>
            <a:ext cx="1005840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414016" y="2075688"/>
            <a:ext cx="9326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383280" y="2075688"/>
            <a:ext cx="1691640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19856" y="2075688"/>
            <a:ext cx="16184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to 8.6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74920" y="2075688"/>
            <a:ext cx="1170432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11496" y="2075688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+5.1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45352" y="2075688"/>
            <a:ext cx="1691640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81928" y="2075688"/>
            <a:ext cx="16184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to 7.5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936992" y="2075688"/>
            <a:ext cx="1033272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973568" y="2075688"/>
            <a:ext cx="960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74320" y="2569464"/>
            <a:ext cx="210312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10896" y="2569464"/>
            <a:ext cx="20299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(per 1 kg/m²)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377440" y="2569464"/>
            <a:ext cx="10058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414016" y="2569464"/>
            <a:ext cx="9326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383280" y="2569464"/>
            <a:ext cx="16916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419856" y="2569464"/>
            <a:ext cx="16184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to 1.5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074920" y="2569464"/>
            <a:ext cx="1170432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111496" y="2569464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45352" y="2569464"/>
            <a:ext cx="16916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81928" y="2569464"/>
            <a:ext cx="16184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to 1.3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936992" y="2569464"/>
            <a:ext cx="1033272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973568" y="2569464"/>
            <a:ext cx="960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74320" y="3063240"/>
            <a:ext cx="2103120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10896" y="3063240"/>
            <a:ext cx="20299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(current vs never)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377440" y="3063240"/>
            <a:ext cx="1005840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414016" y="3063240"/>
            <a:ext cx="9326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3383280" y="3063240"/>
            <a:ext cx="1691640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419856" y="3063240"/>
            <a:ext cx="16184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to 7.1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074920" y="3063240"/>
            <a:ext cx="1170432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111496" y="3063240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245352" y="3063240"/>
            <a:ext cx="1691640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281928" y="3063240"/>
            <a:ext cx="16184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to 5.8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7936992" y="3063240"/>
            <a:ext cx="1033272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973568" y="3063240"/>
            <a:ext cx="960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0.024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274320" y="3557016"/>
            <a:ext cx="210312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10896" y="3557016"/>
            <a:ext cx="20299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activity (active)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2377440" y="3557016"/>
            <a:ext cx="10058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414016" y="3557016"/>
            <a:ext cx="9326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−3.6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3383280" y="3557016"/>
            <a:ext cx="16916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419856" y="3557016"/>
            <a:ext cx="16184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−5.8 to −1.4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5074920" y="3557016"/>
            <a:ext cx="1170432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111496" y="3557016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−2.8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6245352" y="3557016"/>
            <a:ext cx="16916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281928" y="3557016"/>
            <a:ext cx="16184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−5.0 to −0.6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7936992" y="3557016"/>
            <a:ext cx="1033272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973568" y="3557016"/>
            <a:ext cx="960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0.013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274320" y="415137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R² = 0.34 (34% of variance in SBP explained). All β are in mmHg. Adjusted for all variables shown. n = 820.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274320" y="4517136"/>
            <a:ext cx="8595360" cy="256032"/>
          </a:xfrm>
          <a:prstGeom prst="rect">
            <a:avLst/>
          </a:prstGeom>
          <a:solidFill>
            <a:srgbClr val="D0E8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65760" y="4517136"/>
            <a:ext cx="8366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n, R², adjusted R², regression coefficients with 95% CIs, p-values, which variables were adjusted for, and how assumptions were checked  (STROBE checklist)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 20–21, pp. 214–220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C8922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0"/>
            <a:ext cx="8796528" cy="50292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5093208"/>
            <a:ext cx="8796528" cy="50292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200400" cy="50292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27355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outcomes and odds ratios — Chapters 22 &amp; 23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Rationale &amp; Model  (Ch. 22)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Linear Regression?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393192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 is binary (0/1):
</a:t>
            </a: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Predicted values can fall outside [0, 1]
• Residuals are not normally distributed
• Variance is not constant (heteroscedastic)
→ We model the </a:t>
            </a:r>
            <a:r>
              <a:rPr lang="en-US" sz="12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log-odds (logit)</a:t>
            </a: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outcome instead of Y itself.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777240"/>
            <a:ext cx="4251960" cy="2240280"/>
          </a:xfrm>
          <a:prstGeom prst="rect">
            <a:avLst/>
          </a:prstGeom>
          <a:solidFill>
            <a:srgbClr val="0E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804672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Logistic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207008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log[π/(1−π)] = β₀ + β₁X₁ + … + βₖXₖ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175564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4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π = P(Y = 1 | X)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09160" y="210312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Back-transform: π = eη / (1 + eη)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η = β₀ + β₁X₁ + … + βₖXₖ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54680"/>
            <a:ext cx="8595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8595360" cy="438912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1546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Odds Ratio (OR) — Key Output of Logistic Regression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639312"/>
            <a:ext cx="822960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= e^β₁</a:t>
            </a: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For a 1-unit increase in X₁, the </a:t>
            </a:r>
            <a:r>
              <a:rPr lang="en-US" sz="120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</a:t>
            </a: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outcome are multiplied by e^β₁
</a:t>
            </a:r>
            <a:r>
              <a:rPr lang="en-US" sz="120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= 1.0: </a:t>
            </a: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association   |   </a:t>
            </a:r>
            <a:r>
              <a:rPr lang="en-US" sz="120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&gt; 1: </a:t>
            </a: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odds   |   </a:t>
            </a:r>
            <a:r>
              <a:rPr lang="en-US" sz="120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&lt; 1: </a:t>
            </a: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Decreased odds
</a:t>
            </a:r>
            <a:r>
              <a:rPr lang="en-US" sz="12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K&amp;S Example (Ch. 22): </a:t>
            </a: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= 2.4 for smoking and lung disease → Smokers have 2.4 times the odds of lung disease compared to non-smokers, adjusting for age and sex.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 22, pp. 225–240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Logistic Regression  (Ch. 22–23)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519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251960" cy="438912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Odds Ratios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406908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 is adjusted for all other variables in the model.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the OR for X₁ is the effect of X₁ on the odds of Y, holding X₂, X₃, … Xₖ constant.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controls for confounding (K&amp;S p. 236).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2519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251960" cy="438912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82296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Categorical Predictors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406908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k−1 dummy variables for a factor with k categories.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reference category (usually the lowest risk or most common group).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 compares that category to the reference.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2519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251960" cy="438912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92608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vs. Relative Risk (RR)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429000"/>
            <a:ext cx="406908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≈ RR when outcome is rare (&lt; 10%).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outcome is common, OR overestimates RR.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common outcomes: use log-binomial regression to estimate RR directly (K&amp;S pp. 246–247).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2519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4251960" cy="43891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292608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Likelihood Estimation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429000"/>
            <a:ext cx="406908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parameters are estimated by maximising the likelihood function — the probability of observing the data given the model.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closed-form solution: uses iterative numerical methods (Newton-Raphson).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 22–23, pp. 235–255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Logistic Regression Model Fit  (Ch. 22–23)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64008" cy="1298448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850392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Ratio Test (LRT)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9768" y="1152144"/>
            <a:ext cx="4005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log-likelihood of the full model vs. a nested reduced model.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2(log L_full − log L_reduced) ~ χ² with df = number of extra parameters.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LRT → added variables significantly improve fit (K&amp;S p. 240).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64008" cy="129844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0328" y="850392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Hosmer–Lemeshow Test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10328" y="1152144"/>
            <a:ext cx="4005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data into ~10 groups by predicted probability. Compares observed vs. expected number of events in each group.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0.05 = acceptable calibration. Can be insensitive with small samples (K&amp;S p. 242).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49424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249424"/>
            <a:ext cx="64008" cy="1298448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" y="229514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/ C-statistic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9768" y="2596896"/>
            <a:ext cx="4005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the ROC curve — measures the model's discrimination ability (ability to rank a case higher than a control).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= no discrimination; 0.7–0.8 = acceptable; &gt; 0.8 = excellent (K&amp;S p. 243).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49424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249424"/>
            <a:ext cx="64008" cy="1298448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0328" y="229514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/ BIC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10328" y="2596896"/>
            <a:ext cx="4005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Akaike (AIC) and Bayesian (BIC) Information Criteria penalise model complexity.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values indicate a better-fitting, more parsimonious model.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comparing non-nested models.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694176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694176"/>
            <a:ext cx="64008" cy="1298448"/>
          </a:xfrm>
          <a:prstGeom prst="rect">
            <a:avLst/>
          </a:prstGeom>
          <a:solidFill>
            <a:srgbClr val="E07B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9768" y="373989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Pseudo-R² (Nagelkerke)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29768" y="4041648"/>
            <a:ext cx="4005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Approximates the proportion of variation explained. Not directly comparable to OLS R².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for comparing models on the same dataset. Report alongside LRT (K&amp;S p. 241).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694176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3694176"/>
            <a:ext cx="64008" cy="12984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0328" y="373989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&amp; Influence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10328" y="4041648"/>
            <a:ext cx="4005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residuals, deviance residuals, and influence statistics (DFBETA, leverage).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against covariate values to detect outliers and influential observations (K&amp;S pp. 244–245).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 22–23, pp. 239–248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Logistic Regression Results  (Ch. 22)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Risk factors for low birthweight (&lt;2.5 kg) — K&amp;S Chapter 22 dataset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33856"/>
            <a:ext cx="2212848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0896" y="1133856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87168" y="1133856"/>
            <a:ext cx="896112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23744" y="113385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(%)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133856"/>
            <a:ext cx="1828800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19856" y="1133856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OR (95% CI)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0" y="1133856"/>
            <a:ext cx="566928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48656" y="1133856"/>
            <a:ext cx="493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79008" y="1133856"/>
            <a:ext cx="1920240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15584" y="1133856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OR (95% CI)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99248" y="1133856"/>
            <a:ext cx="566928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35824" y="1133856"/>
            <a:ext cx="493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1536192"/>
            <a:ext cx="2212848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0896" y="1536192"/>
            <a:ext cx="213969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age &lt; 20 yrs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87168" y="1536192"/>
            <a:ext cx="896112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23744" y="1536192"/>
            <a:ext cx="822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(18%)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1536192"/>
            <a:ext cx="182880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19856" y="1536192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(1.3–3.4)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12080" y="1536192"/>
            <a:ext cx="566928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48656" y="1536192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79008" y="1536192"/>
            <a:ext cx="19202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15584" y="1536192"/>
            <a:ext cx="18470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(1.1–3.0)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99248" y="1536192"/>
            <a:ext cx="566928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35824" y="1536192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029968"/>
            <a:ext cx="2212848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0896" y="2029968"/>
            <a:ext cx="213969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 in pregnancy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87168" y="2029968"/>
            <a:ext cx="896112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523744" y="2029968"/>
            <a:ext cx="822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(29%)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83280" y="2029968"/>
            <a:ext cx="1828800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19856" y="2029968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(1.9–4.1)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212080" y="2029968"/>
            <a:ext cx="566928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48656" y="2029968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779008" y="2029968"/>
            <a:ext cx="1920240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815584" y="2029968"/>
            <a:ext cx="18470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(1.6–3.6)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99248" y="2029968"/>
            <a:ext cx="566928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735824" y="2029968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2523744"/>
            <a:ext cx="2212848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10896" y="2523744"/>
            <a:ext cx="213969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antenatal care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487168" y="2523744"/>
            <a:ext cx="896112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523744" y="2523744"/>
            <a:ext cx="822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(20%)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383280" y="2523744"/>
            <a:ext cx="182880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419856" y="2523744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(2.2–5.5)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212080" y="2523744"/>
            <a:ext cx="566928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248656" y="2523744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&lt;0.001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779008" y="2523744"/>
            <a:ext cx="19202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815584" y="2523744"/>
            <a:ext cx="18470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 (1.8–4.7)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699248" y="2523744"/>
            <a:ext cx="566928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735824" y="2523744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3017520"/>
            <a:ext cx="2212848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10896" y="3017520"/>
            <a:ext cx="213969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maternal weight (&lt;50kg)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487168" y="3017520"/>
            <a:ext cx="896112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523744" y="3017520"/>
            <a:ext cx="822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(23%)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383280" y="3017520"/>
            <a:ext cx="1828800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419856" y="3017520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(1.3–3.1)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212080" y="3017520"/>
            <a:ext cx="566928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248656" y="3017520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779008" y="3017520"/>
            <a:ext cx="1920240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815584" y="3017520"/>
            <a:ext cx="18470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(1.1–2.7)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699248" y="3017520"/>
            <a:ext cx="566928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735824" y="3017520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0.024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74320" y="3511296"/>
            <a:ext cx="2212848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10896" y="3511296"/>
            <a:ext cx="213969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infant (ref: Female)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487168" y="3511296"/>
            <a:ext cx="896112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523744" y="3511296"/>
            <a:ext cx="822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(51%)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383280" y="3511296"/>
            <a:ext cx="182880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419856" y="3511296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(0.8–1.7)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212080" y="3511296"/>
            <a:ext cx="566928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248656" y="3511296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779008" y="3511296"/>
            <a:ext cx="19202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815584" y="3511296"/>
            <a:ext cx="18470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(0.8–1.6)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699248" y="3511296"/>
            <a:ext cx="566928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735824" y="3511296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274320" y="418795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490; 128 cases of low birthweight (26%). Model: Hosmer–Lemeshow p = 0.42; AUC = 0.76; Nagelkerke R² = 0.22. Adjusted for all variables listed.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74320" y="4526280"/>
            <a:ext cx="8595360" cy="256032"/>
          </a:xfrm>
          <a:prstGeom prst="rect">
            <a:avLst/>
          </a:prstGeom>
          <a:solidFill>
            <a:srgbClr val="F5D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84048" y="45262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K&amp;S Note: Always check whether OR approximates RR — here outcome prevalence = 26%, so OR overestimates RR. Consider log-binomial model.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 22, pp. 237–248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C8922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0"/>
            <a:ext cx="8796528" cy="50292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5093208"/>
            <a:ext cx="8796528" cy="50292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Data Models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200400" cy="50292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27355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Incidence rates, count outcomes, and rate ratios — Chapter 24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E07B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Regression: Rates &amp; Counts  (Ch. 24)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658368"/>
          </a:xfrm>
          <a:prstGeom prst="rect">
            <a:avLst/>
          </a:prstGeom>
          <a:solidFill>
            <a:srgbClr val="0E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log(λ) = β₀ + β₁X₁ + … + βₖXₖ     |     Rate Ratio (RR) = e^βⱼ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4114800" cy="438912"/>
          </a:xfrm>
          <a:prstGeom prst="rect">
            <a:avLst/>
          </a:prstGeom>
          <a:solidFill>
            <a:srgbClr val="E07B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Poisson Regression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084832"/>
            <a:ext cx="3931920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 outcome is:
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count of events (number of hospital admissions, seizures, injuries)
• An incidence rate (events per person-year)
• A proportion with a common outcome (as alternative to logistic regression)
</a:t>
            </a: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assumption:
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 = Variance (equidispersion). If variance &gt; mean → overdispersion → use Negative Binomial or robust SEs
</a:t>
            </a: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term:
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Include log(person-time) as an offset to model rates: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log(λ) = log(PT) + β₀ + β₁X₁ + … (K&amp;S p. 268)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17720" y="1572768"/>
            <a:ext cx="42519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572768"/>
            <a:ext cx="4251960" cy="43891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572768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K&amp;S Example: Child Mortality Rates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2084832"/>
            <a:ext cx="4069080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maternal education predict under-5 mortality rate?
</a:t>
            </a: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child deaths per 1000 child-years
</a:t>
            </a: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
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log(deaths) = log(child-years) + β₀ + β₁(mother educ.) + β₂(wealth)
</a:t>
            </a: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= 0.67 (95% CI: 0.52–0.86) for secondary vs. no education
→ Children of mothers with secondary education have 33% lower mortality rate.
</a:t>
            </a:r>
            <a:r>
              <a:rPr lang="en-US" sz="1150" i="1" dirty="0">
                <a:solidFill>
                  <a:srgbClr val="5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(K&amp;S Ch. 24, pp. 265–278)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 24, pp. 262–280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E07B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Overdispersion &amp; Negative Binomial Regression  (Ch. 24)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80467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Overdispersion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occurs when the observed variance in count data exceeds the mean — violating Poisson's core assumption. Causes: excess zeros, clustering, unobserved heterogeneity. (K&amp;S p. 274)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55648"/>
            <a:ext cx="425196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4251960" cy="420624"/>
          </a:xfrm>
          <a:prstGeom prst="rect">
            <a:avLst/>
          </a:prstGeom>
          <a:solidFill>
            <a:srgbClr val="E07B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755648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Overdispersion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231136"/>
            <a:ext cx="406908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Pearson χ² / df &gt;&gt; 1 (&gt; 1.5 suggests overdispersion)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Deviance / df ratio &gt; 1.5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Negative Binomial fits significantly better than Poisson (LRT)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Compare AIC: Neg. Binomial should show lower AIC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755648"/>
            <a:ext cx="425196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755648"/>
            <a:ext cx="4251960" cy="420624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755648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Solutions: Negative Binomial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231136"/>
            <a:ext cx="406908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dispersion parameter α to account for extra-Poisson variation.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Var(Y) = μ + α·μ² (α = 0 → reduces to Poisson)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interpretations remain as rate ratios (e^β).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appropriate when overdispersion is substantial.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474720"/>
            <a:ext cx="425196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51960" cy="42062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474720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Solutions: Robust Standard Errors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950208"/>
            <a:ext cx="406908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sandwich (Huber-White) variance estimator.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unchanged; SEs are corrected for overdispersion.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Quicker fix; less formally tests for overdispersion.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K&amp;S recommend examining both approaches (p. 276).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425196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3474720"/>
            <a:ext cx="4251960" cy="420624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3474720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Zero-Inflated Models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950208"/>
            <a:ext cx="406908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excess zeros exist (two data-generating processes):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ZIP: Zero-Inflated Poisson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ZINB: Zero-Inflated Negative Binomial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probability of structural zeros separately from the count process.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 24, pp. 273–280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E07B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Poisson to Estimate Relative Risks  (Ch. 24)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868680"/>
          </a:xfrm>
          <a:prstGeom prst="rect">
            <a:avLst/>
          </a:prstGeom>
          <a:solidFill>
            <a:srgbClr val="0E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95528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binary outcome is </a:t>
            </a:r>
            <a:r>
              <a:rPr lang="en-US" sz="12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(&gt; 10%)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logistic regression overestimates the relative risk. Poisson regression with robust standard errors estimates the </a:t>
            </a:r>
            <a:r>
              <a:rPr lang="en-US" sz="1250" b="1" dirty="0">
                <a:solidFill>
                  <a:srgbClr val="4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Risk (RR)</a:t>
            </a:r>
            <a:r>
              <a:rPr lang="en-US" sz="12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directly — preferred in cross-sectional studies.  (K&amp;S pp. 246, 278)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278892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2788920" cy="566928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" y="17830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(gives OR)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423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logit(π) = β₀ + β₁X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01752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 (OR = e^β)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61188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3611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outcomes (&lt; 10%)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Case-control studies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2062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4206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overestimates RR when outcome is common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783080"/>
            <a:ext cx="278892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0" y="1783080"/>
            <a:ext cx="2788920" cy="566928"/>
          </a:xfrm>
          <a:prstGeom prst="rect">
            <a:avLst/>
          </a:prstGeom>
          <a:solidFill>
            <a:srgbClr val="E07B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64408" y="17830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+ robust 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(gives RR)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242316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77640" y="2423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log(π) = β₀ + β₁X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01752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77640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Risk (RR = e^β)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61188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77640" y="3611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outcomes (&gt; 10%)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studies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42062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77640" y="4206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Preferred: directly interpretable as risk ratio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1783080"/>
            <a:ext cx="278892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1783080"/>
            <a:ext cx="2788920" cy="56692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90488" y="17830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LOG-BINOMIAL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(gives RR)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242316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03720" y="2423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log(π) = β₀ + β₁X (Binomial family)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301752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Risk (RR = e^β)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361188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03720" y="3611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binary outcomes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42062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03720" y="4206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fail to converge; Poisson + robust SE is more stable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 24, pp. 275–280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9B72D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" y="0"/>
            <a:ext cx="8796528" cy="50292"/>
          </a:xfrm>
          <a:prstGeom prst="rect">
            <a:avLst/>
          </a:prstGeom>
          <a:solidFill>
            <a:srgbClr val="9B72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" y="5093208"/>
            <a:ext cx="8796528" cy="50292"/>
          </a:xfrm>
          <a:prstGeom prst="rect">
            <a:avLst/>
          </a:prstGeom>
          <a:solidFill>
            <a:srgbClr val="9B72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Analysis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Cox Regression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200400" cy="50292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27355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Time-to-event outcomes and hazard ratios — Chapter 25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Analysis: Key Concepts  (Ch. 25)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64008" cy="1298448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850392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Time (T)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152144"/>
            <a:ext cx="3995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from a defined origin (entry, diagnosis, randomisation) to the event of interest or censoring.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unambiguously defined in the study protocol.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64008" cy="1298448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0328" y="850392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152144"/>
            <a:ext cx="3995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ends before the event occurs: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Right-censored: lost to follow-up, withdrawn, or study ends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censoring is non-informative (independent of event) — K&amp;S p. 293.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49424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249424"/>
            <a:ext cx="64008" cy="129844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" y="2295144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Function S(t)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" y="2596896"/>
            <a:ext cx="3995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S(t) = P(T &gt; t) — the probability of surviving beyond time 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Kaplan-Meier estimator (non-parametric) is the standard method.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Log-rank test compares survival between groups.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49424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249424"/>
            <a:ext cx="64008" cy="1298448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0328" y="2295144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Function h(t)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0328" y="2596896"/>
            <a:ext cx="3995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instantaneous rate of the event at time t, given survival to 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h(t) = lim Δt→0 P(t ≤ T &lt; t+Δt | T ≥ t) / Δt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Cox regression models (K&amp;S p. 298).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694176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694176"/>
            <a:ext cx="64008" cy="1298448"/>
          </a:xfrm>
          <a:prstGeom prst="rect">
            <a:avLst/>
          </a:prstGeom>
          <a:solidFill>
            <a:srgbClr val="E07B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9768" y="3739896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Hazard H(t)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" y="4041648"/>
            <a:ext cx="3995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H(t) = −log[S(t)]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model diagnostics: log(H(t)) vs. log(t) should be parallel lines if proportional hazards assumption holds (K&amp;S p. 305).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694176"/>
            <a:ext cx="4251960" cy="129844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3694176"/>
            <a:ext cx="64008" cy="12984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0328" y="3739896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Person-Time at Risk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0328" y="4041648"/>
            <a:ext cx="3995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participant contributes person-time from entry until event or censoring.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person-time = sum of all individual follow-up durations.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the denominator of incidence rates.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 25, pp. 288–308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Proportional Hazards Regression  (Ch. 25)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713232"/>
          </a:xfrm>
          <a:prstGeom prst="rect">
            <a:avLst/>
          </a:prstGeom>
          <a:solidFill>
            <a:srgbClr val="0E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h(t|X) = h₀(t) · exp(β₁X₁ + β₂X₂ + … + βₖXₖ)     |     HR = e^βⱼ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1618488"/>
            <a:ext cx="411480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618488"/>
            <a:ext cx="4114800" cy="438912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61848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Features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103120"/>
            <a:ext cx="39319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Semi-parametric:
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h₀(t) is an unspecified baseline hazard — no parametric distribution for T assumed. This is the strength of Cox regression.
</a:t>
            </a: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likelihood:
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estimated using only the rank-ordering of event times, not the actual times. Censored observations contribute information (K&amp;S p. 303).
</a:t>
            </a: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Ratio (HR):
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= e^βⱼ. Interpreted as the ratio of hazard rates between two groups at any time point, assuming proportional hazards.
</a:t>
            </a:r>
            <a:r>
              <a:rPr lang="en-US" sz="1150" i="1" dirty="0">
                <a:solidFill>
                  <a:srgbClr val="5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= 1: No effect  |  HR &gt; 1: Increased hazard  |  HR &lt; 1: Protective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17720" y="1618488"/>
            <a:ext cx="425196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618488"/>
            <a:ext cx="4251960" cy="43891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618488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Assumption &amp; Diagnostics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2103120"/>
            <a:ext cx="40690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Hazards (PH) assumption:
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HR is constant over time — the hazard ratio between groups does not change.
</a:t>
            </a: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check:
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Log-log survival plot: log(−log(S(t))) vs. log(t) — lines should be parallel
• Schoenfeld residuals vs. time — should show no trend
• Include time-dependent covariate (X × time) — should not be significant
</a:t>
            </a:r>
            <a:r>
              <a:rPr lang="en-US" sz="115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violated:
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Stratify Cox model by the violating variable
• Use extended Cox model with time-varying covariates
• Consider accelerated failure time (AFT) models (K&amp;S p. 310)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 25, pp. 298–315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Cox Regression Results  (Ch. 25)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Predictors of time to death in HIV-positive adults on ART — K&amp;S style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133856"/>
            <a:ext cx="2212848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0896" y="1133856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87168" y="1133856"/>
            <a:ext cx="1005840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23744" y="1133856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Events/N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93008" y="1133856"/>
            <a:ext cx="1828800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9584" y="1133856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HR (95% CI)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21808" y="1133856"/>
            <a:ext cx="566928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58384" y="1133856"/>
            <a:ext cx="493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88736" y="1133856"/>
            <a:ext cx="1828800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25312" y="1133856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HR (95% CI)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17536" y="1133856"/>
            <a:ext cx="566928" cy="365760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54112" y="1133856"/>
            <a:ext cx="493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1536192"/>
            <a:ext cx="2212848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0896" y="1536192"/>
            <a:ext cx="213969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CD4 &lt; 200 cells/μL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87168" y="1536192"/>
            <a:ext cx="10058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23744" y="1536192"/>
            <a:ext cx="9326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68/180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93008" y="1536192"/>
            <a:ext cx="182880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29584" y="1536192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(2.1–4.9)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21808" y="1536192"/>
            <a:ext cx="566928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58384" y="1536192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88736" y="1536192"/>
            <a:ext cx="182880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25312" y="1536192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(1.7–4.2)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17536" y="1536192"/>
            <a:ext cx="566928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54112" y="1536192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029968"/>
            <a:ext cx="2212848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0896" y="2029968"/>
            <a:ext cx="213969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Stage III/IV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87168" y="2029968"/>
            <a:ext cx="1005840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523744" y="2029968"/>
            <a:ext cx="9326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55/140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93008" y="2029968"/>
            <a:ext cx="1828800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529584" y="2029968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(1.8–4.3)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21808" y="2029968"/>
            <a:ext cx="566928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58384" y="2029968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88736" y="2029968"/>
            <a:ext cx="1828800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25312" y="2029968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(1.4–3.5)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17536" y="2029968"/>
            <a:ext cx="566928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754112" y="2029968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2523744"/>
            <a:ext cx="2212848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10896" y="2523744"/>
            <a:ext cx="213969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&gt; 40 yrs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487168" y="2523744"/>
            <a:ext cx="10058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523744" y="2523744"/>
            <a:ext cx="9326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42/115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493008" y="2523744"/>
            <a:ext cx="182880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529584" y="2523744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 (1.2–3.0)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321808" y="2523744"/>
            <a:ext cx="566928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358384" y="2523744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888736" y="2523744"/>
            <a:ext cx="182880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925312" y="2523744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 (1.0–2.5)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717536" y="2523744"/>
            <a:ext cx="566928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754112" y="2523744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0.042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3017520"/>
            <a:ext cx="2212848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10896" y="3017520"/>
            <a:ext cx="213969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sex (ref: Female)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487168" y="3017520"/>
            <a:ext cx="1005840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523744" y="3017520"/>
            <a:ext cx="9326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51/170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493008" y="3017520"/>
            <a:ext cx="1828800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529584" y="3017520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(0.9–1.9)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321808" y="3017520"/>
            <a:ext cx="566928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358384" y="3017520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888736" y="3017520"/>
            <a:ext cx="1828800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925312" y="3017520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(0.8–1.8)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717536" y="3017520"/>
            <a:ext cx="566928" cy="42976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754112" y="3017520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74320" y="3511296"/>
            <a:ext cx="2212848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10896" y="3511296"/>
            <a:ext cx="213969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cotrimoxazole prophylaxis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487168" y="3511296"/>
            <a:ext cx="100584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523744" y="3511296"/>
            <a:ext cx="93268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28/180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493008" y="3511296"/>
            <a:ext cx="182880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529584" y="3511296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(0.4–0.9)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321808" y="3511296"/>
            <a:ext cx="566928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358384" y="3511296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0.018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888736" y="3511296"/>
            <a:ext cx="1828800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925312" y="3511296"/>
            <a:ext cx="17556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(0.4–1.0)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717536" y="3511296"/>
            <a:ext cx="566928" cy="4297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754112" y="3511296"/>
            <a:ext cx="493776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0.056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274320" y="418795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490; 182 deaths; median follow-up 24 months. PH assumption verified by Schoenfeld residuals (all p &gt; 0.10). Adjusted for all variables listed.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74320" y="4526280"/>
            <a:ext cx="8595360" cy="256032"/>
          </a:xfrm>
          <a:prstGeom prst="rect">
            <a:avLst/>
          </a:prstGeom>
          <a:solidFill>
            <a:srgbClr val="DDD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84048" y="45262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HR with 95% CI, PH assumption check, number of events/total, censoring method, and which covariates were adjusted for (STROBE item 16b)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 25, pp. 308–320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05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85800" y="3246120"/>
            <a:ext cx="36576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0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violates its assumptions produces misleading inferences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Linear Regression (OLS)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2240280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8328" y="795528"/>
            <a:ext cx="2112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795528"/>
            <a:ext cx="3108960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24328" y="795528"/>
            <a:ext cx="2980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15000" y="795528"/>
            <a:ext cx="3127248" cy="347472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79008" y="795528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Check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207008"/>
            <a:ext cx="2240280" cy="54864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12070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1207008"/>
            <a:ext cx="310896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24328" y="1207008"/>
            <a:ext cx="2980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X and Y is linear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15000" y="1207008"/>
            <a:ext cx="3127248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79008" y="1207008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vs. fitted plot — no pattern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1837944"/>
            <a:ext cx="2240280" cy="54864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183794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0" y="1837944"/>
            <a:ext cx="3108960" cy="548640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624328" y="1837944"/>
            <a:ext cx="2980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are independent of each other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715000" y="1837944"/>
            <a:ext cx="3127248" cy="548640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79008" y="1837944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 — cluster/repeated use MLM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2468880"/>
            <a:ext cx="2240280" cy="54864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468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Homoscedasticity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0" y="2468880"/>
            <a:ext cx="310896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24328" y="2468880"/>
            <a:ext cx="2980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variance of residuals across fitted values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715000" y="2468880"/>
            <a:ext cx="3127248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79008" y="2468880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Scale-location plot — flat smooth line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3099816"/>
            <a:ext cx="2240280" cy="54864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309981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60320" y="3099816"/>
            <a:ext cx="3108960" cy="548640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624328" y="3099816"/>
            <a:ext cx="2980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are approximately normally distributed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715000" y="3099816"/>
            <a:ext cx="3127248" cy="548640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779008" y="3099816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Q-Q plot — points lie on diagonal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74320" y="3730752"/>
            <a:ext cx="2240280" cy="54864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" y="373075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multicollinearity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60320" y="3730752"/>
            <a:ext cx="310896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624328" y="3730752"/>
            <a:ext cx="2980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are not highly correlated with each other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715000" y="3730752"/>
            <a:ext cx="3127248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779008" y="3730752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&lt; 10 (strict: &lt; 5); condition index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74320" y="4361688"/>
            <a:ext cx="2240280" cy="54864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0040" y="436168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influential outliers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560320" y="4361688"/>
            <a:ext cx="3108960" cy="548640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624328" y="4361688"/>
            <a:ext cx="2980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observation unduly drives the model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15000" y="4361688"/>
            <a:ext cx="3127248" cy="548640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779008" y="4361688"/>
            <a:ext cx="2999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Cook's distance &lt; 4/n; leverage plots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Fit: Logistic Regression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5720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380744"/>
            <a:ext cx="73152" cy="45720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3807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outcome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coded 0/1; no ordered structure assumed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1929384"/>
            <a:ext cx="73152" cy="45720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92938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148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independent (use GEE for clusters)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478024"/>
            <a:ext cx="73152" cy="45720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4780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in log-odds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697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Log-odds of outcome is linear in continuous predictors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3026664"/>
            <a:ext cx="73152" cy="45720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0266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perfect separation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246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must not perfectly predict Y (leads to infinite β)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575304"/>
            <a:ext cx="73152" cy="45720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5753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multicollinearity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794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&lt; 10; check correlation matrix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4123944"/>
            <a:ext cx="73152" cy="45720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1239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sample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343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10 events per variable (EPV ≥ 10)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822960"/>
            <a:ext cx="425196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17720" y="822960"/>
            <a:ext cx="4251960" cy="4572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82296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 Statistics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1371600"/>
            <a:ext cx="4160520" cy="566928"/>
          </a:xfrm>
          <a:prstGeom prst="rect">
            <a:avLst/>
          </a:prstGeom>
          <a:solidFill>
            <a:srgbClr val="D6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139903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Hosmer-Lemeshow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163677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calibration: observed vs. expected frequencies across deciles. p &gt; 0.05 = good fit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029968"/>
            <a:ext cx="4160520" cy="566928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205740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/ C-statistic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229514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Discrimination: area under ROC curve. 0.7-0.8 = acceptable; &gt; 0.8 = excellent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2688336"/>
            <a:ext cx="4160520" cy="566928"/>
          </a:xfrm>
          <a:prstGeom prst="rect">
            <a:avLst/>
          </a:prstGeom>
          <a:solidFill>
            <a:srgbClr val="D6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2715768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Pseudo-R² (Nagelkerke)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4880" y="295351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Approximates proportion of variance explained. Compare between models (not absolute)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346704"/>
            <a:ext cx="4160520" cy="566928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3374136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/ BIC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54880" y="36118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criteria for model comparison. Lower = better fit (penalised for complexity)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4005072"/>
            <a:ext cx="4160520" cy="566928"/>
          </a:xfrm>
          <a:prstGeom prst="rect">
            <a:avLst/>
          </a:prstGeom>
          <a:solidFill>
            <a:srgbClr val="D6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54880" y="4032504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Ratio Test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54880" y="427024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nested models. Significant LRT = additional variables improve fit significantly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Model Checking  (K&amp;S Ch. 18–25)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5196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251960" cy="420624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2529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outcome distribution correctly specified?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continuous predictors linear on the link scale?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197510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important confounders included? (10% rule)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35000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interaction terms needed? Test product terms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804672"/>
            <a:ext cx="425196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804672"/>
            <a:ext cx="4251960" cy="42062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804672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22529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residuals vs. fitted values — no pattern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Q-Q plot of residuals (linear only)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197510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Deviance / Pearson residuals (GLMs)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235000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influential observations (Cook's D, DFBETA)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2953512"/>
            <a:ext cx="425196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953512"/>
            <a:ext cx="4251960" cy="420624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2953512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37413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Ratio Test — nested model comparison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374904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/ BIC — compare competing models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12394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Goodness-of-fit: HL test (logistic), deviance (Poisson)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449884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ROC/AUC for discrimination (prediction models)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2953512"/>
            <a:ext cx="4251960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2953512"/>
            <a:ext cx="4251960" cy="42062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2953512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37413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hazards — Schoenfeld residuals (Cox)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46320" y="374904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— study design review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0" y="4123944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Overdispersion — Pearson χ²/df (Poisson)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46320" y="449884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&lt; 10 — multicollinearity (all models)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Chapters 18–25, K&amp;S model diagnostics sections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Modelling Pitfalls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251960" cy="47548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82296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Multicollinearity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353312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correlated predictors inflate standard errors, making coefficients unstable and hard to interpret.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VIF &gt; 10 (threshold) | correlation matrix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Remove redundant variable, use PCA, or ridge regression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251960" cy="475488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64608" y="82296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  Missing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4608" y="1353312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case analysis (listwise deletion) produces biased estimates if data is not MCAR.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MAR: Multiple imputation (MI) by chained equations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MNAR: Sensitivity analysis; pattern-mixture models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Amount, pattern, and method used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852928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852928"/>
            <a:ext cx="4251960" cy="475488"/>
          </a:xfrm>
          <a:prstGeom prst="rect">
            <a:avLst/>
          </a:prstGeom>
          <a:solidFill>
            <a:srgbClr val="5C4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285292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Overfitting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" y="338328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fits training data too closely — poor generalisability to new data.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Prevention: Follow EPV ≥ 10 rule; avoid stepwise selection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Internal (bootstrap, cross-validation) or external cohort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852928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852928"/>
            <a:ext cx="4251960" cy="475488"/>
          </a:xfrm>
          <a:prstGeom prst="rect">
            <a:avLst/>
          </a:prstGeom>
          <a:solidFill>
            <a:srgbClr val="1E7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4608" y="285292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 Non-linearity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64608" y="338328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continuous predictors as linear when the relationship is curved.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Martingale residuals (Cox); LOWESS smoother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Restricted cubic splines (RCS) or fractional polynomials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7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&amp;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85800" y="3246120"/>
            <a:ext cx="36576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0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model output into evidence that informs public health decisions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E7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Model Coefficients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554480" cy="126187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(unstandardised)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86868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1-unit increase in X, Y increases/decreases by β units, holding all other variables constant.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128016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β = 2.3 mmHg → Each 1-year increase in age is associated with a 2.3 mmHg higher systolic BP.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20240" y="164592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Standardised β compares effect sizes across predictors with different units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859536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212848"/>
            <a:ext cx="1554480" cy="1261872"/>
          </a:xfrm>
          <a:prstGeom prst="rect">
            <a:avLst/>
          </a:prstGeom>
          <a:solidFill>
            <a:srgbClr val="5C4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3042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280720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 (OR = e^β)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258568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1-unit increase in X, the odds of the outcome are multiplied by OR, holding all others constant.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2670048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OR = 1.45 → Each 1-unit increase in X is associated with 45% higher odds of disease.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920240" y="3035808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OR ≠ RR (relative risk) when outcome is common (&gt;10%); use log-binomial for RR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602736"/>
            <a:ext cx="859536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602736"/>
            <a:ext cx="1554480" cy="1261872"/>
          </a:xfrm>
          <a:prstGeom prst="rect">
            <a:avLst/>
          </a:prstGeom>
          <a:solidFill>
            <a:srgbClr val="1E7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69417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Regression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419709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Ratio (HR = e^β)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3648456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1-unit increase in X, the instantaneous hazard of the event is multiplied by HR at any given time.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4059936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7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HR = 0.72 → Treatment reduces the hazard of death by 28% at any point in follow-up.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920240" y="4425696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Assumes proportional hazards — verify with Schoenfeld residuals or log-log plot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E7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Standards for Multivariable Studies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7548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STROBE  (Observational Studies)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41732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Study design and setting clearly described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183794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Eligibility criteria (inclusion/exclusion)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225856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Outcome, exposure, and covariate definitions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267919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How confounders were selected and handled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309981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Methods for addressing missing data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4048" y="352044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Number of participants at each stage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4048" y="394106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Crude and adjusted estimates with 95% CI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4048" y="436168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Sensitivity analyses and subgroup results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822960"/>
            <a:ext cx="425196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17720" y="822960"/>
            <a:ext cx="4251960" cy="475488"/>
          </a:xfrm>
          <a:prstGeom prst="rect">
            <a:avLst/>
          </a:prstGeom>
          <a:solidFill>
            <a:srgbClr val="5C4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822960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TRIPOD  (Prediction Models)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27448" y="14173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Type of model: development or validation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27448" y="183794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Source of data and study period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27448" y="22585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Outcome(s) and predictor(s) defined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27448" y="267919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Sample size and events-per-variable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27448" y="309981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Missing data handling method stated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27448" y="35204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Model development: selection, shrinkage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27448" y="394106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Model performance: calibration + discrimination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27448" y="436168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Limitations: overfitting, generalisability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E7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Results: The Regression Table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Predictors of hypertension (logistic regression)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92024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0896" y="118872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1188720"/>
            <a:ext cx="8686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31136" y="1188720"/>
            <a:ext cx="795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(%)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1188720"/>
            <a:ext cx="169164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99816" y="1188720"/>
            <a:ext cx="161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OR (95% CI)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749808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91456" y="1188720"/>
            <a:ext cx="676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04688" y="1188720"/>
            <a:ext cx="1810512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41264" y="1188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OR (95% CI)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1188720"/>
            <a:ext cx="749808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51776" y="1188720"/>
            <a:ext cx="676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1627632"/>
            <a:ext cx="19202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0896" y="1627632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(per 10 yrs)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1627632"/>
            <a:ext cx="8686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31136" y="1627632"/>
            <a:ext cx="795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63240" y="1627632"/>
            <a:ext cx="16916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099816" y="1627632"/>
            <a:ext cx="1618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 (1.31–1.76)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627632"/>
            <a:ext cx="749808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91456" y="1627632"/>
            <a:ext cx="676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04688" y="1627632"/>
            <a:ext cx="181051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41264" y="162763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 (1.22–1.69)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1627632"/>
            <a:ext cx="749808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51776" y="1627632"/>
            <a:ext cx="676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084832"/>
            <a:ext cx="1920240" cy="420624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0896" y="2084832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Sex: Male (ref: Female)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2084832"/>
            <a:ext cx="868680" cy="420624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231136" y="2084832"/>
            <a:ext cx="795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 (48%)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063240" y="2084832"/>
            <a:ext cx="1691640" cy="420624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099816" y="2084832"/>
            <a:ext cx="1618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 (1.42–2.41)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2084832"/>
            <a:ext cx="749808" cy="420624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91456" y="2084832"/>
            <a:ext cx="676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04688" y="2084832"/>
            <a:ext cx="1810512" cy="420624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41264" y="208483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1.61 (1.21–2.14)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0" y="2084832"/>
            <a:ext cx="749808" cy="420624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51776" y="2084832"/>
            <a:ext cx="676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2542032"/>
            <a:ext cx="19202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10896" y="2542032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Obese (BMI ≥ 30)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194560" y="2542032"/>
            <a:ext cx="8686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231136" y="2542032"/>
            <a:ext cx="795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 (31%)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063240" y="2542032"/>
            <a:ext cx="16916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099816" y="2542032"/>
            <a:ext cx="1618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2.34 (1.78–3.08)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54880" y="2542032"/>
            <a:ext cx="749808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91456" y="2542032"/>
            <a:ext cx="676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504688" y="2542032"/>
            <a:ext cx="181051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541264" y="254203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2.07 (1.55–2.76)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15200" y="2542032"/>
            <a:ext cx="749808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351776" y="2542032"/>
            <a:ext cx="676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2999232"/>
            <a:ext cx="1920240" cy="420624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10896" y="2999232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smoker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194560" y="2999232"/>
            <a:ext cx="868680" cy="420624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231136" y="2999232"/>
            <a:ext cx="795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(22%)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063240" y="2999232"/>
            <a:ext cx="1691640" cy="420624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099816" y="2999232"/>
            <a:ext cx="1618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 (0.95–1.72)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754880" y="2999232"/>
            <a:ext cx="749808" cy="420624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791456" y="2999232"/>
            <a:ext cx="676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504688" y="2999232"/>
            <a:ext cx="1810512" cy="420624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541264" y="299923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 (0.86–1.62)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315200" y="2999232"/>
            <a:ext cx="749808" cy="420624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351776" y="2999232"/>
            <a:ext cx="676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74320" y="3456432"/>
            <a:ext cx="19202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10896" y="3456432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inactivity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194560" y="3456432"/>
            <a:ext cx="86868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231136" y="3456432"/>
            <a:ext cx="795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(34%)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063240" y="3456432"/>
            <a:ext cx="169164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099816" y="3456432"/>
            <a:ext cx="1618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1.76 (1.35–2.29)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754880" y="3456432"/>
            <a:ext cx="749808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791456" y="3456432"/>
            <a:ext cx="676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504688" y="3456432"/>
            <a:ext cx="181051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541264" y="345643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1.53 (1.16–2.01)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315200" y="3456432"/>
            <a:ext cx="749808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351776" y="3456432"/>
            <a:ext cx="676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74320" y="3913632"/>
            <a:ext cx="1920240" cy="420624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310896" y="3913632"/>
            <a:ext cx="1847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mellitus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2194560" y="3913632"/>
            <a:ext cx="868680" cy="420624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2231136" y="3913632"/>
            <a:ext cx="7955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(15%)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3063240" y="3913632"/>
            <a:ext cx="1691640" cy="420624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3099816" y="3913632"/>
            <a:ext cx="1618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2.92 (2.08–4.09)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4754880" y="3913632"/>
            <a:ext cx="749808" cy="420624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791456" y="3913632"/>
            <a:ext cx="676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5504688" y="3913632"/>
            <a:ext cx="1810512" cy="420624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5541264" y="3913632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2.44 (1.71–3.48)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7315200" y="3913632"/>
            <a:ext cx="749808" cy="420624"/>
          </a:xfrm>
          <a:prstGeom prst="rect">
            <a:avLst/>
          </a:prstGeom>
          <a:solidFill>
            <a:srgbClr val="E8ED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7351776" y="3913632"/>
            <a:ext cx="6766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274320" y="4480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for all variables listed. Bold = statistically significant (p &lt; 0.05). n = 645 participants; 218 events.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Standards: STROBE &amp; K&amp;S Guidance  (Ch. 18–25)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658368"/>
          </a:xfrm>
          <a:prstGeom prst="rect">
            <a:avLst/>
          </a:prstGeom>
          <a:solidFill>
            <a:srgbClr val="0E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955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STROBE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(STrengthening the Reporting of OBservational studies in Epidemiology) provides a </a:t>
            </a:r>
            <a:r>
              <a:rPr lang="en-US" sz="1250" b="1" dirty="0">
                <a:solidFill>
                  <a:srgbClr val="4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22-item checklist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transparent reporting of regression analyses in cohort, case-control, and cross-sectional studies.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251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1234440" cy="7315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" y="1572768"/>
            <a:ext cx="1115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Title/Abstract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162763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study design; abstract should give informative summary of results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754880" y="1572768"/>
            <a:ext cx="4251960" cy="731520"/>
          </a:xfrm>
          <a:prstGeom prst="rect">
            <a:avLst/>
          </a:prstGeom>
          <a:solidFill>
            <a:srgbClr val="E8EDF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572768"/>
            <a:ext cx="1234440" cy="7315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18888" y="1572768"/>
            <a:ext cx="1115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162763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background; specific research objectives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274320" y="2414016"/>
            <a:ext cx="4251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414016"/>
            <a:ext cx="1234440" cy="731520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" y="2414016"/>
            <a:ext cx="1115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2468880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study design; eligibility criteria; sources and methods for selection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754880" y="2414016"/>
            <a:ext cx="4251960" cy="731520"/>
          </a:xfrm>
          <a:prstGeom prst="rect">
            <a:avLst/>
          </a:prstGeom>
          <a:solidFill>
            <a:srgbClr val="E8EDF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414016"/>
            <a:ext cx="1234440" cy="731520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18888" y="2414016"/>
            <a:ext cx="1115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80760" y="2468880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outcome, exposures, covariates; sources; measurement methods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274320" y="3255264"/>
            <a:ext cx="4251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255264"/>
            <a:ext cx="1234440" cy="731520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8328" y="3255264"/>
            <a:ext cx="1115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00200" y="3310128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all statistical methods; how confounders handled; subgroup analyses; how missing data addressed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754880" y="3255264"/>
            <a:ext cx="4251960" cy="731520"/>
          </a:xfrm>
          <a:prstGeom prst="rect">
            <a:avLst/>
          </a:prstGeom>
          <a:solidFill>
            <a:srgbClr val="E8EDF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3255264"/>
            <a:ext cx="1234440" cy="731520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18888" y="3255264"/>
            <a:ext cx="1115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Participants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80760" y="3310128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in each stage; reasons for non-participation; Table 1 characteristics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274320" y="4096512"/>
            <a:ext cx="4251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4096512"/>
            <a:ext cx="1234440" cy="73152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8328" y="4096512"/>
            <a:ext cx="1115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Outcome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00200" y="4151376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unadjusted AND adjusted estimates; 95% CIs; which covariates adjusted for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4754880" y="4096512"/>
            <a:ext cx="4251960" cy="731520"/>
          </a:xfrm>
          <a:prstGeom prst="rect">
            <a:avLst/>
          </a:prstGeom>
          <a:solidFill>
            <a:srgbClr val="E8EDF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54880" y="4096512"/>
            <a:ext cx="1234440" cy="731520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18888" y="4096512"/>
            <a:ext cx="11155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80760" y="4151376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results; limitations including bias/imprecision; generalisability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B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Kirkwood &amp; Sterne – Medical Statistics (2nd ed.) | STROBE Statement (Lancet 2007); K&amp;S Ch. 18–25 reporting guidance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Principles from Kirkwood &amp; Sterne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4297680" cy="694944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38912" cy="694944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804672"/>
            <a:ext cx="438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8412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first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1338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subject-matter knowledge and DAGs — not stepwise p-values — to select variables (K&amp;S p. 180)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297680" cy="694944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38912" cy="694944"/>
          </a:xfrm>
          <a:prstGeom prst="rect">
            <a:avLst/>
          </a:prstGeom>
          <a:solidFill>
            <a:srgbClr val="4A9C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804672"/>
            <a:ext cx="438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39512" y="8412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model to outcome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39512" y="11338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distribution determines the model family and link function (K&amp;S Ch. 18)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2880" y="1627632"/>
            <a:ext cx="4297680" cy="694944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2880" y="1627632"/>
            <a:ext cx="438912" cy="694944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2880" y="1627632"/>
            <a:ext cx="438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3232" y="16642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report crude + adjusted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19568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unadjusted effect alongside the adjusted — transparency on confounding control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1627632"/>
            <a:ext cx="4297680" cy="694944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1627632"/>
            <a:ext cx="438912" cy="694944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1627632"/>
            <a:ext cx="438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39512" y="16642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10% rule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39512" y="19568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confounder if its inclusion changes the main coefficient by ≥ 10% (K&amp;S p. 237)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2880" y="2450592"/>
            <a:ext cx="4297680" cy="694944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" y="2450592"/>
            <a:ext cx="438912" cy="694944"/>
          </a:xfrm>
          <a:prstGeom prst="rect">
            <a:avLst/>
          </a:prstGeom>
          <a:solidFill>
            <a:srgbClr val="E07B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82880" y="2450592"/>
            <a:ext cx="438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3232" y="24871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assumption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" y="27797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Violated assumptions produce biased estimates. Residual plots are non-negotiable (K&amp;S Ch. 20–25)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2450592"/>
            <a:ext cx="4297680" cy="694944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2450592"/>
            <a:ext cx="438912" cy="694944"/>
          </a:xfrm>
          <a:prstGeom prst="rect">
            <a:avLst/>
          </a:prstGeom>
          <a:solidFill>
            <a:srgbClr val="5B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9160" y="2450592"/>
            <a:ext cx="438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239512" y="24871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EPV rule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9512" y="27797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at most 1 variable per 10 events to avoid overfitting (K&amp;S p. 246)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82880" y="3273552"/>
            <a:ext cx="4297680" cy="694944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82880" y="3273552"/>
            <a:ext cx="438912" cy="69494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82880" y="3273552"/>
            <a:ext cx="438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13232" y="3310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missing data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" y="36027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mechanism (MCAR/MAR/MNAR); use multiple imputation when appropriate (K&amp;S p. 188)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3273552"/>
            <a:ext cx="4297680" cy="694944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09160" y="3273552"/>
            <a:ext cx="438912" cy="694944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09160" y="3273552"/>
            <a:ext cx="438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239512" y="3310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95% CIs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39512" y="36027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P-values alone are insufficient — confidence intervals show magnitude and precision (K&amp;S Ch. 8)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82880" y="4096512"/>
            <a:ext cx="4297680" cy="694944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82880" y="4096512"/>
            <a:ext cx="438912" cy="694944"/>
          </a:xfrm>
          <a:prstGeom prst="rect">
            <a:avLst/>
          </a:prstGeom>
          <a:solidFill>
            <a:srgbClr val="2C6F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82880" y="4096512"/>
            <a:ext cx="438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13232" y="4133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STROBE checklist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13232" y="44256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transparent reporting ensures reproducibility and peer review acceptance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09160" y="4096512"/>
            <a:ext cx="4297680" cy="694944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709160" y="4096512"/>
            <a:ext cx="438912" cy="694944"/>
          </a:xfrm>
          <a:prstGeom prst="rect">
            <a:avLst/>
          </a:prstGeom>
          <a:solidFill>
            <a:srgbClr val="4A9C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709160" y="4096512"/>
            <a:ext cx="438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239512" y="4133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limitations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239512" y="44256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confounding, selection bias, measurement error, and generalisability (K&amp;S Ch. 19)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Principles of Good Modelling Practice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297680" cy="667512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64008" cy="66751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" y="85953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theory guide variable selection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1521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DAGs and prior knowledge — not stepwise p-values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97680" cy="667512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64008" cy="667512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64608" y="85953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model to the outcome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1521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Y determines the model family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1627632"/>
            <a:ext cx="4297680" cy="667512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2880" y="1627632"/>
            <a:ext cx="64008" cy="667512"/>
          </a:xfrm>
          <a:prstGeom prst="rect">
            <a:avLst/>
          </a:prstGeom>
          <a:solidFill>
            <a:srgbClr val="5C4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" y="16642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report crude + adjusted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" y="19568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confounding adjustment transparently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627632"/>
            <a:ext cx="4297680" cy="667512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1627632"/>
            <a:ext cx="64008" cy="667512"/>
          </a:xfrm>
          <a:prstGeom prst="rect">
            <a:avLst/>
          </a:prstGeom>
          <a:solidFill>
            <a:srgbClr val="5C4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4608" y="16642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assumption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64608" y="19568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Violated assumptions → biased, misleading results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2432304"/>
            <a:ext cx="4297680" cy="667512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2880" y="2432304"/>
            <a:ext cx="64008" cy="66751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8328" y="24688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the EPV rule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" y="27614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 events per variable to avoid overfitting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432304"/>
            <a:ext cx="4297680" cy="667512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2432304"/>
            <a:ext cx="64008" cy="66751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24688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data explicitly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27614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mechanism and method — don't just delete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" y="3236976"/>
            <a:ext cx="4297680" cy="667512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2880" y="3236976"/>
            <a:ext cx="64008" cy="667512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8328" y="3273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your model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" y="35661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or external validation before publication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3236976"/>
            <a:ext cx="4297680" cy="667512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09160" y="3236976"/>
            <a:ext cx="64008" cy="667512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64608" y="32735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effect sizes + 95% CI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64608" y="35661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P-values alone are not enough — magnitude matters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2880" y="4041648"/>
            <a:ext cx="4297680" cy="667512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82880" y="4041648"/>
            <a:ext cx="64008" cy="667512"/>
          </a:xfrm>
          <a:prstGeom prst="rect">
            <a:avLst/>
          </a:prstGeom>
          <a:solidFill>
            <a:srgbClr val="1E7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38328" y="40782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STROBE or TRIPOD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8328" y="43708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reporting improves reproducibility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4041648"/>
            <a:ext cx="4297680" cy="667512"/>
          </a:xfrm>
          <a:prstGeom prst="rect">
            <a:avLst/>
          </a:prstGeom>
          <a:solidFill>
            <a:srgbClr val="0E1F3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09160" y="4041648"/>
            <a:ext cx="64008" cy="667512"/>
          </a:xfrm>
          <a:prstGeom prst="rect">
            <a:avLst/>
          </a:prstGeom>
          <a:solidFill>
            <a:srgbClr val="1E7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64608" y="40782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limitations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64608" y="43708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confounding, generalisability, selection bias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6791</Words>
  <Application>Microsoft Macintosh PowerPoint</Application>
  <PresentationFormat>On-screen Show (16:9)</PresentationFormat>
  <Paragraphs>876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Modelling in Public Health</dc:title>
  <dc:subject>PptxGenJS Presentation</dc:subject>
  <dc:creator>PptxGenJS</dc:creator>
  <cp:lastModifiedBy>MUHAMMAD 'ADIL BIN ZAINAL ABIDIN</cp:lastModifiedBy>
  <cp:revision>3</cp:revision>
  <dcterms:created xsi:type="dcterms:W3CDTF">2026-03-04T00:55:57Z</dcterms:created>
  <dcterms:modified xsi:type="dcterms:W3CDTF">2026-03-04T01:22:59Z</dcterms:modified>
</cp:coreProperties>
</file>