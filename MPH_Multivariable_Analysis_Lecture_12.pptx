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5"/>
  </p:notesMasterIdLst>
  <p:sldIdLst>
    <p:sldId id="256" r:id="rId2"/>
    <p:sldId id="257" r:id="rId3"/>
    <p:sldId id="258" r:id="rId4"/>
    <p:sldId id="259" r:id="rId5"/>
    <p:sldId id="260" r:id="rId6"/>
    <p:sldId id="261" r:id="rId7"/>
    <p:sldId id="262" r:id="rId8"/>
    <p:sldId id="311" r:id="rId9"/>
    <p:sldId id="312" r:id="rId10"/>
    <p:sldId id="313" r:id="rId11"/>
    <p:sldId id="327" r:id="rId12"/>
    <p:sldId id="314" r:id="rId13"/>
    <p:sldId id="315" r:id="rId14"/>
    <p:sldId id="282" r:id="rId15"/>
    <p:sldId id="283" r:id="rId16"/>
    <p:sldId id="320" r:id="rId17"/>
    <p:sldId id="284" r:id="rId18"/>
    <p:sldId id="330" r:id="rId19"/>
    <p:sldId id="263" r:id="rId20"/>
    <p:sldId id="264" r:id="rId21"/>
    <p:sldId id="331" r:id="rId22"/>
    <p:sldId id="332" r:id="rId23"/>
    <p:sldId id="333" r:id="rId24"/>
    <p:sldId id="334" r:id="rId25"/>
    <p:sldId id="335" r:id="rId26"/>
    <p:sldId id="336" r:id="rId27"/>
    <p:sldId id="337" r:id="rId28"/>
    <p:sldId id="338" r:id="rId29"/>
    <p:sldId id="265" r:id="rId30"/>
    <p:sldId id="266" r:id="rId31"/>
    <p:sldId id="267" r:id="rId32"/>
    <p:sldId id="297" r:id="rId33"/>
    <p:sldId id="296" r:id="rId34"/>
    <p:sldId id="268" r:id="rId35"/>
    <p:sldId id="316" r:id="rId36"/>
    <p:sldId id="269" r:id="rId37"/>
    <p:sldId id="317" r:id="rId38"/>
    <p:sldId id="270" r:id="rId39"/>
    <p:sldId id="339" r:id="rId40"/>
    <p:sldId id="271" r:id="rId41"/>
    <p:sldId id="272" r:id="rId42"/>
    <p:sldId id="273" r:id="rId43"/>
    <p:sldId id="274" r:id="rId44"/>
    <p:sldId id="275" r:id="rId45"/>
    <p:sldId id="276" r:id="rId46"/>
    <p:sldId id="277" r:id="rId47"/>
    <p:sldId id="278" r:id="rId48"/>
    <p:sldId id="318" r:id="rId49"/>
    <p:sldId id="319" r:id="rId50"/>
    <p:sldId id="279" r:id="rId51"/>
    <p:sldId id="329" r:id="rId52"/>
    <p:sldId id="285" r:id="rId53"/>
    <p:sldId id="286" r:id="rId54"/>
    <p:sldId id="287" r:id="rId55"/>
    <p:sldId id="298" r:id="rId56"/>
    <p:sldId id="288" r:id="rId57"/>
    <p:sldId id="325" r:id="rId58"/>
    <p:sldId id="289" r:id="rId59"/>
    <p:sldId id="290" r:id="rId60"/>
    <p:sldId id="291" r:id="rId61"/>
    <p:sldId id="292" r:id="rId62"/>
    <p:sldId id="293" r:id="rId63"/>
    <p:sldId id="294" r:id="rId64"/>
    <p:sldId id="299" r:id="rId65"/>
    <p:sldId id="300" r:id="rId66"/>
    <p:sldId id="321" r:id="rId67"/>
    <p:sldId id="322" r:id="rId68"/>
    <p:sldId id="326" r:id="rId69"/>
    <p:sldId id="301" r:id="rId70"/>
    <p:sldId id="302" r:id="rId71"/>
    <p:sldId id="303" r:id="rId72"/>
    <p:sldId id="323" r:id="rId73"/>
    <p:sldId id="324" r:id="rId74"/>
    <p:sldId id="304" r:id="rId75"/>
    <p:sldId id="305" r:id="rId76"/>
    <p:sldId id="306" r:id="rId77"/>
    <p:sldId id="307" r:id="rId78"/>
    <p:sldId id="308" r:id="rId79"/>
    <p:sldId id="309" r:id="rId80"/>
    <p:sldId id="280" r:id="rId81"/>
    <p:sldId id="310" r:id="rId82"/>
    <p:sldId id="328" r:id="rId83"/>
    <p:sldId id="281" r:id="rId8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7544"/>
    <p:restoredTop sz="94610"/>
  </p:normalViewPr>
  <p:slideViewPr>
    <p:cSldViewPr snapToGrid="0" snapToObjects="1">
      <p:cViewPr varScale="1">
        <p:scale>
          <a:sx n="85" d="100"/>
          <a:sy n="85" d="100"/>
        </p:scale>
        <p:origin x="176" y="15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tableStyles" Target="tableStyle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viewProps" Target="view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075074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181E54-DF36-4F60-8D91-221118A3B3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80F746-0695-23BE-8ABB-F090A6776DD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53AE716-D0D9-3A90-2672-54EBAC66D40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289C49A-062C-DB55-81E7-7A0EF68604D9}"/>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74039823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EC2703-A519-C163-A102-2A2F016C46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05FC04-779F-94CA-F0AE-0F092E8341C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B7FC51-C894-C1FB-9FEF-EEF20B03C5F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89FDA07-84AC-7D34-C50D-C0AF65BBE829}"/>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418920030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F6D450-1F5D-6F8E-2AE8-1BED0BC74D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8417AF-8BC3-A097-1E48-9A6CD1882F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7E0B691-0685-76F7-C123-5F7BBB240B5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1CAD68A-AA49-39BA-6672-72848741C762}"/>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353687736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EE9FB-5957-3EBD-49C8-1EDFC9CC0D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782B6A-2F40-A8C6-A822-F40E6CF64CB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57E79B-C0F4-623B-7191-E59835B1D4A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E198B4E-9361-49B1-4B88-26EC02CD3B66}"/>
              </a:ext>
            </a:extLst>
          </p:cNvPr>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320272243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77EB32-1A45-B51F-751A-67D413C87F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1AFF40-8486-479B-AC69-E2E25B9E325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CA64ADF-8558-6CD1-FBBE-1B4A0E2DB5C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9DB147B-0AA9-7E37-A55C-61BA8007B894}"/>
              </a:ext>
            </a:extLst>
          </p:cNvPr>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281793764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969F31-F254-C494-65E6-7185685B7D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D00CA6-1E2D-8888-AAA0-ED90C1B2B0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97EA295-D06E-3104-308B-AE1B9C7D045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DF0AC96-3D54-290F-C3C2-F2767748E6B9}"/>
              </a:ext>
            </a:extLst>
          </p:cNvPr>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324677239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80C56B-2BE5-1523-6D8B-6E41CE85B4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DFCC02-E5B1-FE56-12B3-9CA7866468E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06F579-8C6C-D48E-53C6-B90268DDAFE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C155B91-B5BB-3803-7388-8FD24EB8F06A}"/>
              </a:ext>
            </a:extLst>
          </p:cNvPr>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323567195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D8CCCC-0615-B75E-E3AE-D7DA6F7F32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54C1DD-F15E-3741-C0E9-0312E1D2D21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EDD98C3-5EB4-DC3D-B590-0209C65CB48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903EFF4-0142-294B-2FEA-9EB0AC025E01}"/>
              </a:ext>
            </a:extLst>
          </p:cNvPr>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2887010113"/>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23E5C"/>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2C39A"/>
          </a:solidFill>
          <a:ln/>
        </p:spPr>
        <p:txBody>
          <a:bodyPr/>
          <a:lstStyle/>
          <a:p>
            <a:endParaRPr lang="en-US"/>
          </a:p>
        </p:txBody>
      </p:sp>
      <p:sp>
        <p:nvSpPr>
          <p:cNvPr id="3" name="Shape 1"/>
          <p:cNvSpPr/>
          <p:nvPr/>
        </p:nvSpPr>
        <p:spPr>
          <a:xfrm>
            <a:off x="0" y="4114800"/>
            <a:ext cx="9144000" cy="1028700"/>
          </a:xfrm>
          <a:prstGeom prst="rect">
            <a:avLst/>
          </a:prstGeom>
          <a:solidFill>
            <a:srgbClr val="028090"/>
          </a:solidFill>
          <a:ln/>
        </p:spPr>
        <p:txBody>
          <a:bodyPr/>
          <a:lstStyle/>
          <a:p>
            <a:endParaRPr lang="en-US"/>
          </a:p>
        </p:txBody>
      </p:sp>
      <p:sp>
        <p:nvSpPr>
          <p:cNvPr id="4" name="Shape 2"/>
          <p:cNvSpPr/>
          <p:nvPr/>
        </p:nvSpPr>
        <p:spPr>
          <a:xfrm>
            <a:off x="6858000" y="-457200"/>
            <a:ext cx="3200400" cy="3200400"/>
          </a:xfrm>
          <a:prstGeom prst="ellipse">
            <a:avLst/>
          </a:prstGeom>
          <a:solidFill>
            <a:srgbClr val="028090">
              <a:alpha val="25000"/>
            </a:srgbClr>
          </a:solidFill>
          <a:ln w="12700">
            <a:solidFill>
              <a:srgbClr val="028090">
                <a:alpha val="25000"/>
              </a:srgbClr>
            </a:solidFill>
            <a:prstDash val="solid"/>
          </a:ln>
        </p:spPr>
        <p:txBody>
          <a:bodyPr/>
          <a:lstStyle/>
          <a:p>
            <a:endParaRPr lang="en-US"/>
          </a:p>
        </p:txBody>
      </p:sp>
      <p:sp>
        <p:nvSpPr>
          <p:cNvPr id="5" name="Shape 3"/>
          <p:cNvSpPr/>
          <p:nvPr/>
        </p:nvSpPr>
        <p:spPr>
          <a:xfrm>
            <a:off x="7315200" y="3200400"/>
            <a:ext cx="2286000" cy="2286000"/>
          </a:xfrm>
          <a:prstGeom prst="ellipse">
            <a:avLst/>
          </a:prstGeom>
          <a:solidFill>
            <a:srgbClr val="00A896">
              <a:alpha val="20000"/>
            </a:srgbClr>
          </a:solidFill>
          <a:ln w="12700">
            <a:solidFill>
              <a:srgbClr val="00A896">
                <a:alpha val="20000"/>
              </a:srgbClr>
            </a:solidFill>
            <a:prstDash val="solid"/>
          </a:ln>
        </p:spPr>
        <p:txBody>
          <a:bodyPr/>
          <a:lstStyle/>
          <a:p>
            <a:endParaRPr lang="en-US"/>
          </a:p>
        </p:txBody>
      </p:sp>
      <p:sp>
        <p:nvSpPr>
          <p:cNvPr id="6" name="Text 4"/>
          <p:cNvSpPr/>
          <p:nvPr/>
        </p:nvSpPr>
        <p:spPr>
          <a:xfrm>
            <a:off x="365760" y="640080"/>
            <a:ext cx="8229600" cy="457200"/>
          </a:xfrm>
          <a:prstGeom prst="rect">
            <a:avLst/>
          </a:prstGeom>
          <a:noFill/>
          <a:ln/>
        </p:spPr>
        <p:txBody>
          <a:bodyPr wrap="square" rtlCol="0" anchor="ctr"/>
          <a:lstStyle/>
          <a:p>
            <a:pPr marL="0" indent="0">
              <a:buNone/>
            </a:pPr>
            <a:r>
              <a:rPr lang="en-US" sz="1400" b="1" kern="0" spc="500" dirty="0">
                <a:solidFill>
                  <a:srgbClr val="02C39A"/>
                </a:solidFill>
                <a:latin typeface="Calibri" pitchFamily="34" charset="0"/>
                <a:ea typeface="Calibri" pitchFamily="34" charset="-122"/>
                <a:cs typeface="Calibri" pitchFamily="34" charset="-120"/>
              </a:rPr>
              <a:t>INTRODUCTION TO</a:t>
            </a:r>
            <a:endParaRPr lang="en-US" sz="1400" dirty="0"/>
          </a:p>
        </p:txBody>
      </p:sp>
      <p:sp>
        <p:nvSpPr>
          <p:cNvPr id="7" name="Text 5"/>
          <p:cNvSpPr/>
          <p:nvPr/>
        </p:nvSpPr>
        <p:spPr>
          <a:xfrm>
            <a:off x="365760" y="1097280"/>
            <a:ext cx="7315200" cy="2011680"/>
          </a:xfrm>
          <a:prstGeom prst="rect">
            <a:avLst/>
          </a:prstGeom>
          <a:noFill/>
          <a:ln/>
        </p:spPr>
        <p:txBody>
          <a:bodyPr wrap="square" rtlCol="0" anchor="t"/>
          <a:lstStyle/>
          <a:p>
            <a:pPr marL="0" indent="0" algn="l">
              <a:buNone/>
            </a:pPr>
            <a:r>
              <a:rPr lang="en-US" sz="4000" b="1" dirty="0">
                <a:solidFill>
                  <a:srgbClr val="FFFFFF"/>
                </a:solidFill>
                <a:latin typeface="Georgia" pitchFamily="34" charset="0"/>
                <a:ea typeface="Georgia" pitchFamily="34" charset="-122"/>
                <a:cs typeface="Georgia" pitchFamily="34" charset="-120"/>
              </a:rPr>
              <a:t>Multivariate &amp;</a:t>
            </a:r>
            <a:endParaRPr lang="en-US" sz="4000" dirty="0"/>
          </a:p>
          <a:p>
            <a:pPr marL="0" indent="0" algn="l">
              <a:buNone/>
            </a:pPr>
            <a:r>
              <a:rPr lang="en-US" sz="4000" b="1" dirty="0">
                <a:solidFill>
                  <a:srgbClr val="FFFFFF"/>
                </a:solidFill>
                <a:latin typeface="Georgia" pitchFamily="34" charset="0"/>
                <a:ea typeface="Georgia" pitchFamily="34" charset="-122"/>
                <a:cs typeface="Georgia" pitchFamily="34" charset="-120"/>
              </a:rPr>
              <a:t>Multivariable Analysis</a:t>
            </a:r>
            <a:endParaRPr lang="en-US" sz="4000" dirty="0"/>
          </a:p>
        </p:txBody>
      </p:sp>
      <p:sp>
        <p:nvSpPr>
          <p:cNvPr id="8" name="Text 6"/>
          <p:cNvSpPr/>
          <p:nvPr/>
        </p:nvSpPr>
        <p:spPr>
          <a:xfrm>
            <a:off x="365760" y="3200400"/>
            <a:ext cx="6400800" cy="457200"/>
          </a:xfrm>
          <a:prstGeom prst="rect">
            <a:avLst/>
          </a:prstGeom>
          <a:noFill/>
          <a:ln/>
        </p:spPr>
        <p:txBody>
          <a:bodyPr wrap="square" rtlCol="0" anchor="ctr"/>
          <a:lstStyle/>
          <a:p>
            <a:pPr marL="0" indent="0">
              <a:buNone/>
            </a:pPr>
            <a:r>
              <a:rPr lang="en-US" sz="1600" i="1" dirty="0">
                <a:solidFill>
                  <a:srgbClr val="E8F4F5"/>
                </a:solidFill>
                <a:latin typeface="Calibri" pitchFamily="34" charset="0"/>
                <a:ea typeface="Calibri" pitchFamily="34" charset="-122"/>
                <a:cs typeface="Calibri" pitchFamily="34" charset="-120"/>
              </a:rPr>
              <a:t>STAT7242 ADVANCES BIOSTATISTICS</a:t>
            </a:r>
          </a:p>
          <a:p>
            <a:pPr marL="0" indent="0">
              <a:buNone/>
            </a:pPr>
            <a:endParaRPr lang="en-US" sz="1600" i="1" dirty="0">
              <a:solidFill>
                <a:srgbClr val="E8F4F5"/>
              </a:solidFill>
              <a:latin typeface="Calibri" pitchFamily="34" charset="0"/>
              <a:cs typeface="Calibri" pitchFamily="34" charset="-120"/>
            </a:endParaRPr>
          </a:p>
          <a:p>
            <a:pPr marL="0" indent="0">
              <a:buNone/>
            </a:pPr>
            <a:r>
              <a:rPr lang="en-US" sz="1600" i="1" dirty="0">
                <a:solidFill>
                  <a:srgbClr val="E8F4F5"/>
                </a:solidFill>
                <a:latin typeface="Calibri" pitchFamily="34" charset="0"/>
                <a:cs typeface="Calibri" pitchFamily="34" charset="-120"/>
              </a:rPr>
              <a:t>Dr Muhammad Adil bin Zainal Abidin </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7F8"/>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23E5C"/>
          </a:solidFill>
          <a:ln/>
        </p:spPr>
        <p:txBody>
          <a:bodyPr/>
          <a:lstStyle/>
          <a:p>
            <a:endParaRPr lang="en-US"/>
          </a:p>
        </p:txBody>
      </p:sp>
      <p:sp>
        <p:nvSpPr>
          <p:cNvPr id="3" name="Text 1"/>
          <p:cNvSpPr/>
          <p:nvPr/>
        </p:nvSpPr>
        <p:spPr>
          <a:xfrm>
            <a:off x="365760" y="0"/>
            <a:ext cx="8229600" cy="1005840"/>
          </a:xfrm>
          <a:prstGeom prst="rect">
            <a:avLst/>
          </a:prstGeom>
          <a:noFill/>
          <a:ln/>
        </p:spPr>
        <p:txBody>
          <a:bodyPr wrap="square" rtlCol="0" anchor="ctr"/>
          <a:lstStyle/>
          <a:p>
            <a:pPr marL="0" indent="0">
              <a:buNone/>
            </a:pPr>
            <a:r>
              <a:rPr lang="en-US" sz="2000" b="1" kern="0" spc="300" dirty="0">
                <a:solidFill>
                  <a:srgbClr val="FFFFFF"/>
                </a:solidFill>
                <a:latin typeface="Calibri" pitchFamily="34" charset="0"/>
                <a:ea typeface="Calibri" pitchFamily="34" charset="-122"/>
                <a:cs typeface="Calibri" pitchFamily="34" charset="-120"/>
              </a:rPr>
              <a:t>LEARNING OBJECTIVES</a:t>
            </a:r>
            <a:endParaRPr lang="en-US" sz="2000" dirty="0"/>
          </a:p>
        </p:txBody>
      </p:sp>
      <p:sp>
        <p:nvSpPr>
          <p:cNvPr id="4" name="Shape 2"/>
          <p:cNvSpPr/>
          <p:nvPr/>
        </p:nvSpPr>
        <p:spPr>
          <a:xfrm>
            <a:off x="320040" y="1207008"/>
            <a:ext cx="475488" cy="475488"/>
          </a:xfrm>
          <a:prstGeom prst="ellipse">
            <a:avLst/>
          </a:prstGeom>
          <a:solidFill>
            <a:srgbClr val="028090"/>
          </a:solidFill>
          <a:ln w="12700">
            <a:solidFill>
              <a:srgbClr val="028090"/>
            </a:solidFill>
            <a:prstDash val="solid"/>
          </a:ln>
        </p:spPr>
        <p:txBody>
          <a:bodyPr/>
          <a:lstStyle/>
          <a:p>
            <a:endParaRPr lang="en-US"/>
          </a:p>
        </p:txBody>
      </p:sp>
      <p:sp>
        <p:nvSpPr>
          <p:cNvPr id="5" name="Text 3"/>
          <p:cNvSpPr/>
          <p:nvPr/>
        </p:nvSpPr>
        <p:spPr>
          <a:xfrm>
            <a:off x="320040" y="1207008"/>
            <a:ext cx="475488" cy="47548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01</a:t>
            </a:r>
            <a:endParaRPr lang="en-US" sz="1200" dirty="0"/>
          </a:p>
        </p:txBody>
      </p:sp>
      <p:sp>
        <p:nvSpPr>
          <p:cNvPr id="6" name="Text 4"/>
          <p:cNvSpPr/>
          <p:nvPr/>
        </p:nvSpPr>
        <p:spPr>
          <a:xfrm>
            <a:off x="960120" y="1188720"/>
            <a:ext cx="7772400" cy="512064"/>
          </a:xfrm>
          <a:prstGeom prst="rect">
            <a:avLst/>
          </a:prstGeom>
          <a:noFill/>
          <a:ln/>
        </p:spPr>
        <p:txBody>
          <a:bodyPr wrap="square" rtlCol="0" anchor="ctr"/>
          <a:lstStyle/>
          <a:p>
            <a:pPr marL="0" indent="0">
              <a:buNone/>
            </a:pPr>
            <a:r>
              <a:rPr lang="en-US" sz="1500" dirty="0">
                <a:solidFill>
                  <a:srgbClr val="1A2E35"/>
                </a:solidFill>
                <a:latin typeface="Calibri" pitchFamily="34" charset="0"/>
                <a:ea typeface="Calibri" pitchFamily="34" charset="-122"/>
                <a:cs typeface="Calibri" pitchFamily="34" charset="-120"/>
              </a:rPr>
              <a:t>Distinguish between multivariable and multivariate analysis</a:t>
            </a:r>
            <a:endParaRPr lang="en-US" sz="1500" dirty="0"/>
          </a:p>
        </p:txBody>
      </p:sp>
      <p:sp>
        <p:nvSpPr>
          <p:cNvPr id="7" name="Shape 5"/>
          <p:cNvSpPr/>
          <p:nvPr/>
        </p:nvSpPr>
        <p:spPr>
          <a:xfrm>
            <a:off x="320040" y="1920240"/>
            <a:ext cx="475488" cy="475488"/>
          </a:xfrm>
          <a:prstGeom prst="ellipse">
            <a:avLst/>
          </a:prstGeom>
          <a:solidFill>
            <a:srgbClr val="028090"/>
          </a:solidFill>
          <a:ln w="12700">
            <a:solidFill>
              <a:srgbClr val="028090"/>
            </a:solidFill>
            <a:prstDash val="solid"/>
          </a:ln>
        </p:spPr>
        <p:txBody>
          <a:bodyPr/>
          <a:lstStyle/>
          <a:p>
            <a:endParaRPr lang="en-US"/>
          </a:p>
        </p:txBody>
      </p:sp>
      <p:sp>
        <p:nvSpPr>
          <p:cNvPr id="8" name="Text 6"/>
          <p:cNvSpPr/>
          <p:nvPr/>
        </p:nvSpPr>
        <p:spPr>
          <a:xfrm>
            <a:off x="320040" y="1920240"/>
            <a:ext cx="475488" cy="47548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02</a:t>
            </a:r>
            <a:endParaRPr lang="en-US" sz="1200" dirty="0"/>
          </a:p>
        </p:txBody>
      </p:sp>
      <p:sp>
        <p:nvSpPr>
          <p:cNvPr id="9" name="Text 7"/>
          <p:cNvSpPr/>
          <p:nvPr/>
        </p:nvSpPr>
        <p:spPr>
          <a:xfrm>
            <a:off x="960120" y="1901952"/>
            <a:ext cx="7772400" cy="512064"/>
          </a:xfrm>
          <a:prstGeom prst="rect">
            <a:avLst/>
          </a:prstGeom>
          <a:noFill/>
          <a:ln/>
        </p:spPr>
        <p:txBody>
          <a:bodyPr wrap="square" rtlCol="0" anchor="ctr"/>
          <a:lstStyle/>
          <a:p>
            <a:pPr marL="0" indent="0">
              <a:buNone/>
            </a:pPr>
            <a:r>
              <a:rPr lang="en-US" sz="1500" dirty="0">
                <a:solidFill>
                  <a:srgbClr val="1A2E35"/>
                </a:solidFill>
                <a:latin typeface="Calibri" pitchFamily="34" charset="0"/>
                <a:ea typeface="Calibri" pitchFamily="34" charset="-122"/>
                <a:cs typeface="Calibri" pitchFamily="34" charset="-120"/>
              </a:rPr>
              <a:t>Understand why we control for confounding in public health research</a:t>
            </a:r>
            <a:endParaRPr lang="en-US" sz="1500" dirty="0"/>
          </a:p>
        </p:txBody>
      </p:sp>
      <p:sp>
        <p:nvSpPr>
          <p:cNvPr id="10" name="Shape 8"/>
          <p:cNvSpPr/>
          <p:nvPr/>
        </p:nvSpPr>
        <p:spPr>
          <a:xfrm>
            <a:off x="320040" y="2633472"/>
            <a:ext cx="475488" cy="475488"/>
          </a:xfrm>
          <a:prstGeom prst="ellipse">
            <a:avLst/>
          </a:prstGeom>
          <a:solidFill>
            <a:srgbClr val="028090"/>
          </a:solidFill>
          <a:ln w="12700">
            <a:solidFill>
              <a:srgbClr val="028090"/>
            </a:solidFill>
            <a:prstDash val="solid"/>
          </a:ln>
        </p:spPr>
        <p:txBody>
          <a:bodyPr/>
          <a:lstStyle/>
          <a:p>
            <a:endParaRPr lang="en-US"/>
          </a:p>
        </p:txBody>
      </p:sp>
      <p:sp>
        <p:nvSpPr>
          <p:cNvPr id="11" name="Text 9"/>
          <p:cNvSpPr/>
          <p:nvPr/>
        </p:nvSpPr>
        <p:spPr>
          <a:xfrm>
            <a:off x="320040" y="2633472"/>
            <a:ext cx="475488" cy="47548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03</a:t>
            </a:r>
            <a:endParaRPr lang="en-US" sz="1200" dirty="0"/>
          </a:p>
        </p:txBody>
      </p:sp>
      <p:sp>
        <p:nvSpPr>
          <p:cNvPr id="12" name="Text 10"/>
          <p:cNvSpPr/>
          <p:nvPr/>
        </p:nvSpPr>
        <p:spPr>
          <a:xfrm>
            <a:off x="960120" y="2615184"/>
            <a:ext cx="7772400" cy="512064"/>
          </a:xfrm>
          <a:prstGeom prst="rect">
            <a:avLst/>
          </a:prstGeom>
          <a:noFill/>
          <a:ln/>
        </p:spPr>
        <p:txBody>
          <a:bodyPr wrap="square" rtlCol="0" anchor="ctr"/>
          <a:lstStyle/>
          <a:p>
            <a:pPr marL="0" indent="0">
              <a:buNone/>
            </a:pPr>
            <a:r>
              <a:rPr lang="en-US" sz="1500" dirty="0">
                <a:solidFill>
                  <a:srgbClr val="1A2E35"/>
                </a:solidFill>
                <a:latin typeface="Calibri" pitchFamily="34" charset="0"/>
                <a:ea typeface="Calibri" pitchFamily="34" charset="-122"/>
                <a:cs typeface="Calibri" pitchFamily="34" charset="-120"/>
              </a:rPr>
              <a:t>Identify the correct regression model for different outcome types</a:t>
            </a:r>
            <a:endParaRPr lang="en-US" sz="1500" dirty="0"/>
          </a:p>
        </p:txBody>
      </p:sp>
      <p:sp>
        <p:nvSpPr>
          <p:cNvPr id="13" name="Shape 11"/>
          <p:cNvSpPr/>
          <p:nvPr/>
        </p:nvSpPr>
        <p:spPr>
          <a:xfrm>
            <a:off x="320040" y="3346704"/>
            <a:ext cx="475488" cy="475488"/>
          </a:xfrm>
          <a:prstGeom prst="ellipse">
            <a:avLst/>
          </a:prstGeom>
          <a:solidFill>
            <a:srgbClr val="028090"/>
          </a:solidFill>
          <a:ln w="12700">
            <a:solidFill>
              <a:srgbClr val="028090"/>
            </a:solidFill>
            <a:prstDash val="solid"/>
          </a:ln>
        </p:spPr>
        <p:txBody>
          <a:bodyPr/>
          <a:lstStyle/>
          <a:p>
            <a:endParaRPr lang="en-US"/>
          </a:p>
        </p:txBody>
      </p:sp>
      <p:sp>
        <p:nvSpPr>
          <p:cNvPr id="14" name="Text 12"/>
          <p:cNvSpPr/>
          <p:nvPr/>
        </p:nvSpPr>
        <p:spPr>
          <a:xfrm>
            <a:off x="320040" y="3346704"/>
            <a:ext cx="475488" cy="47548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04</a:t>
            </a:r>
            <a:endParaRPr lang="en-US" sz="1200" dirty="0"/>
          </a:p>
        </p:txBody>
      </p:sp>
      <p:sp>
        <p:nvSpPr>
          <p:cNvPr id="15" name="Text 13"/>
          <p:cNvSpPr/>
          <p:nvPr/>
        </p:nvSpPr>
        <p:spPr>
          <a:xfrm>
            <a:off x="960120" y="3328416"/>
            <a:ext cx="7772400" cy="512064"/>
          </a:xfrm>
          <a:prstGeom prst="rect">
            <a:avLst/>
          </a:prstGeom>
          <a:noFill/>
          <a:ln/>
        </p:spPr>
        <p:txBody>
          <a:bodyPr wrap="square" rtlCol="0" anchor="ctr"/>
          <a:lstStyle/>
          <a:p>
            <a:pPr marL="0" indent="0">
              <a:buNone/>
            </a:pPr>
            <a:r>
              <a:rPr lang="en-US" sz="1500" dirty="0">
                <a:solidFill>
                  <a:srgbClr val="1A2E35"/>
                </a:solidFill>
                <a:latin typeface="Calibri" pitchFamily="34" charset="0"/>
                <a:ea typeface="Calibri" pitchFamily="34" charset="-122"/>
                <a:cs typeface="Calibri" pitchFamily="34" charset="-120"/>
              </a:rPr>
              <a:t>Interpret key outputs: coefficients, odds ratios, confidence intervals</a:t>
            </a:r>
            <a:endParaRPr lang="en-US" sz="1500" dirty="0"/>
          </a:p>
        </p:txBody>
      </p:sp>
      <p:sp>
        <p:nvSpPr>
          <p:cNvPr id="16" name="Shape 14"/>
          <p:cNvSpPr/>
          <p:nvPr/>
        </p:nvSpPr>
        <p:spPr>
          <a:xfrm>
            <a:off x="320040" y="4059936"/>
            <a:ext cx="475488" cy="475488"/>
          </a:xfrm>
          <a:prstGeom prst="ellipse">
            <a:avLst/>
          </a:prstGeom>
          <a:solidFill>
            <a:srgbClr val="028090"/>
          </a:solidFill>
          <a:ln w="12700">
            <a:solidFill>
              <a:srgbClr val="028090"/>
            </a:solidFill>
            <a:prstDash val="solid"/>
          </a:ln>
        </p:spPr>
        <p:txBody>
          <a:bodyPr/>
          <a:lstStyle/>
          <a:p>
            <a:endParaRPr lang="en-US"/>
          </a:p>
        </p:txBody>
      </p:sp>
      <p:sp>
        <p:nvSpPr>
          <p:cNvPr id="17" name="Text 15"/>
          <p:cNvSpPr/>
          <p:nvPr/>
        </p:nvSpPr>
        <p:spPr>
          <a:xfrm>
            <a:off x="320040" y="4059936"/>
            <a:ext cx="475488" cy="47548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05</a:t>
            </a:r>
            <a:endParaRPr lang="en-US" sz="1200" dirty="0"/>
          </a:p>
        </p:txBody>
      </p:sp>
      <p:sp>
        <p:nvSpPr>
          <p:cNvPr id="18" name="Text 16"/>
          <p:cNvSpPr/>
          <p:nvPr/>
        </p:nvSpPr>
        <p:spPr>
          <a:xfrm>
            <a:off x="960120" y="4041648"/>
            <a:ext cx="7772400" cy="512064"/>
          </a:xfrm>
          <a:prstGeom prst="rect">
            <a:avLst/>
          </a:prstGeom>
          <a:noFill/>
          <a:ln/>
        </p:spPr>
        <p:txBody>
          <a:bodyPr wrap="square" rtlCol="0" anchor="ctr"/>
          <a:lstStyle/>
          <a:p>
            <a:pPr marL="0" indent="0">
              <a:buNone/>
            </a:pPr>
            <a:r>
              <a:rPr lang="en-US" sz="1500" dirty="0">
                <a:solidFill>
                  <a:srgbClr val="1A2E35"/>
                </a:solidFill>
                <a:latin typeface="Calibri" pitchFamily="34" charset="0"/>
                <a:ea typeface="Calibri" pitchFamily="34" charset="-122"/>
                <a:cs typeface="Calibri" pitchFamily="34" charset="-120"/>
              </a:rPr>
              <a:t>Recognize assumptions and limitations of regression methods</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28090"/>
          </a:solidFill>
          <a:ln/>
        </p:spPr>
        <p:txBody>
          <a:bodyPr/>
          <a:lstStyle/>
          <a:p>
            <a:endParaRPr lang="en-US"/>
          </a:p>
        </p:txBody>
      </p:sp>
      <p:sp>
        <p:nvSpPr>
          <p:cNvPr id="3" name="Text 1"/>
          <p:cNvSpPr/>
          <p:nvPr/>
        </p:nvSpPr>
        <p:spPr>
          <a:xfrm>
            <a:off x="365760" y="0"/>
            <a:ext cx="8229600" cy="1005840"/>
          </a:xfrm>
          <a:prstGeom prst="rect">
            <a:avLst/>
          </a:prstGeom>
          <a:noFill/>
          <a:ln/>
        </p:spPr>
        <p:txBody>
          <a:bodyPr wrap="square" rtlCol="0" anchor="ctr"/>
          <a:lstStyle/>
          <a:p>
            <a:pPr marL="0" indent="0">
              <a:buNone/>
            </a:pPr>
            <a:r>
              <a:rPr lang="en-US" sz="2000" b="1" kern="0" spc="300" dirty="0">
                <a:solidFill>
                  <a:srgbClr val="FFFFFF"/>
                </a:solidFill>
                <a:latin typeface="Calibri" pitchFamily="34" charset="0"/>
                <a:ea typeface="Calibri" pitchFamily="34" charset="-122"/>
                <a:cs typeface="Calibri" pitchFamily="34" charset="-120"/>
              </a:rPr>
              <a:t>SESSION OUTLINE</a:t>
            </a:r>
            <a:endParaRPr lang="en-US" sz="2000" dirty="0"/>
          </a:p>
        </p:txBody>
      </p:sp>
      <p:sp>
        <p:nvSpPr>
          <p:cNvPr id="4" name="Shape 2"/>
          <p:cNvSpPr/>
          <p:nvPr/>
        </p:nvSpPr>
        <p:spPr>
          <a:xfrm>
            <a:off x="274320" y="1188720"/>
            <a:ext cx="8595360" cy="594360"/>
          </a:xfrm>
          <a:prstGeom prst="rect">
            <a:avLst/>
          </a:prstGeom>
          <a:solidFill>
            <a:srgbClr val="E8F4F5"/>
          </a:solidFill>
          <a:ln w="6350">
            <a:solidFill>
              <a:srgbClr val="DDDDDD"/>
            </a:solidFill>
            <a:prstDash val="solid"/>
          </a:ln>
        </p:spPr>
        <p:txBody>
          <a:bodyPr/>
          <a:lstStyle/>
          <a:p>
            <a:endParaRPr lang="en-US"/>
          </a:p>
        </p:txBody>
      </p:sp>
      <p:sp>
        <p:nvSpPr>
          <p:cNvPr id="5" name="Shape 3"/>
          <p:cNvSpPr/>
          <p:nvPr/>
        </p:nvSpPr>
        <p:spPr>
          <a:xfrm>
            <a:off x="274320" y="1188720"/>
            <a:ext cx="91440" cy="594360"/>
          </a:xfrm>
          <a:prstGeom prst="rect">
            <a:avLst/>
          </a:prstGeom>
          <a:solidFill>
            <a:srgbClr val="028090"/>
          </a:solidFill>
          <a:ln w="12700">
            <a:solidFill>
              <a:srgbClr val="028090"/>
            </a:solidFill>
            <a:prstDash val="solid"/>
          </a:ln>
        </p:spPr>
        <p:txBody>
          <a:bodyPr/>
          <a:lstStyle/>
          <a:p>
            <a:endParaRPr lang="en-US"/>
          </a:p>
        </p:txBody>
      </p:sp>
      <p:sp>
        <p:nvSpPr>
          <p:cNvPr id="7" name="Text 5"/>
          <p:cNvSpPr/>
          <p:nvPr/>
        </p:nvSpPr>
        <p:spPr>
          <a:xfrm>
            <a:off x="2194560" y="1188720"/>
            <a:ext cx="6400800" cy="594360"/>
          </a:xfrm>
          <a:prstGeom prst="rect">
            <a:avLst/>
          </a:prstGeom>
          <a:noFill/>
          <a:ln/>
        </p:spPr>
        <p:txBody>
          <a:bodyPr wrap="square" rtlCol="0" anchor="ctr"/>
          <a:lstStyle/>
          <a:p>
            <a:pPr marL="0" indent="0">
              <a:buNone/>
            </a:pPr>
            <a:r>
              <a:rPr lang="en-US" sz="1400" dirty="0">
                <a:solidFill>
                  <a:srgbClr val="1A2E35"/>
                </a:solidFill>
                <a:latin typeface="Calibri" pitchFamily="34" charset="0"/>
                <a:ea typeface="Calibri" pitchFamily="34" charset="-122"/>
                <a:cs typeface="Calibri" pitchFamily="34" charset="-120"/>
              </a:rPr>
              <a:t>Foundations: Why Multivariable Analysis?</a:t>
            </a:r>
            <a:endParaRPr lang="en-US" sz="1400" dirty="0"/>
          </a:p>
        </p:txBody>
      </p:sp>
      <p:sp>
        <p:nvSpPr>
          <p:cNvPr id="8" name="Shape 6"/>
          <p:cNvSpPr/>
          <p:nvPr/>
        </p:nvSpPr>
        <p:spPr>
          <a:xfrm>
            <a:off x="274320" y="1938528"/>
            <a:ext cx="8595360" cy="594360"/>
          </a:xfrm>
          <a:prstGeom prst="rect">
            <a:avLst/>
          </a:prstGeom>
          <a:solidFill>
            <a:srgbClr val="E8F4F5"/>
          </a:solidFill>
          <a:ln w="6350">
            <a:solidFill>
              <a:srgbClr val="DDDDDD"/>
            </a:solidFill>
            <a:prstDash val="solid"/>
          </a:ln>
        </p:spPr>
        <p:txBody>
          <a:bodyPr/>
          <a:lstStyle/>
          <a:p>
            <a:endParaRPr lang="en-US"/>
          </a:p>
        </p:txBody>
      </p:sp>
      <p:sp>
        <p:nvSpPr>
          <p:cNvPr id="9" name="Shape 7"/>
          <p:cNvSpPr/>
          <p:nvPr/>
        </p:nvSpPr>
        <p:spPr>
          <a:xfrm>
            <a:off x="274320" y="1938528"/>
            <a:ext cx="91440" cy="594360"/>
          </a:xfrm>
          <a:prstGeom prst="rect">
            <a:avLst/>
          </a:prstGeom>
          <a:solidFill>
            <a:srgbClr val="00A896"/>
          </a:solidFill>
          <a:ln w="12700">
            <a:solidFill>
              <a:srgbClr val="00A896"/>
            </a:solidFill>
            <a:prstDash val="solid"/>
          </a:ln>
        </p:spPr>
        <p:txBody>
          <a:bodyPr/>
          <a:lstStyle/>
          <a:p>
            <a:endParaRPr lang="en-US"/>
          </a:p>
        </p:txBody>
      </p:sp>
      <p:sp>
        <p:nvSpPr>
          <p:cNvPr id="11" name="Text 9"/>
          <p:cNvSpPr/>
          <p:nvPr/>
        </p:nvSpPr>
        <p:spPr>
          <a:xfrm>
            <a:off x="2194560" y="1938528"/>
            <a:ext cx="6400800" cy="594360"/>
          </a:xfrm>
          <a:prstGeom prst="rect">
            <a:avLst/>
          </a:prstGeom>
          <a:noFill/>
          <a:ln/>
        </p:spPr>
        <p:txBody>
          <a:bodyPr wrap="square" rtlCol="0" anchor="ctr"/>
          <a:lstStyle/>
          <a:p>
            <a:pPr marL="0" indent="0">
              <a:buNone/>
            </a:pPr>
            <a:r>
              <a:rPr lang="en-US" sz="1400" dirty="0">
                <a:solidFill>
                  <a:srgbClr val="1A2E35"/>
                </a:solidFill>
                <a:latin typeface="Calibri" pitchFamily="34" charset="0"/>
                <a:ea typeface="Calibri" pitchFamily="34" charset="-122"/>
                <a:cs typeface="Calibri" pitchFamily="34" charset="-120"/>
              </a:rPr>
              <a:t>Key Terminology &amp; Conceptual Framework</a:t>
            </a:r>
            <a:endParaRPr lang="en-US" sz="1400" dirty="0"/>
          </a:p>
        </p:txBody>
      </p:sp>
      <p:sp>
        <p:nvSpPr>
          <p:cNvPr id="12" name="Shape 10"/>
          <p:cNvSpPr/>
          <p:nvPr/>
        </p:nvSpPr>
        <p:spPr>
          <a:xfrm>
            <a:off x="274320" y="2688336"/>
            <a:ext cx="8595360" cy="594360"/>
          </a:xfrm>
          <a:prstGeom prst="rect">
            <a:avLst/>
          </a:prstGeom>
          <a:solidFill>
            <a:srgbClr val="E8F4F5"/>
          </a:solidFill>
          <a:ln w="6350">
            <a:solidFill>
              <a:srgbClr val="DDDDDD"/>
            </a:solidFill>
            <a:prstDash val="solid"/>
          </a:ln>
        </p:spPr>
        <p:txBody>
          <a:bodyPr/>
          <a:lstStyle/>
          <a:p>
            <a:endParaRPr lang="en-US"/>
          </a:p>
        </p:txBody>
      </p:sp>
      <p:sp>
        <p:nvSpPr>
          <p:cNvPr id="13" name="Shape 11"/>
          <p:cNvSpPr/>
          <p:nvPr/>
        </p:nvSpPr>
        <p:spPr>
          <a:xfrm>
            <a:off x="274320" y="2688336"/>
            <a:ext cx="91440" cy="594360"/>
          </a:xfrm>
          <a:prstGeom prst="rect">
            <a:avLst/>
          </a:prstGeom>
          <a:solidFill>
            <a:srgbClr val="02C39A"/>
          </a:solidFill>
          <a:ln w="12700">
            <a:solidFill>
              <a:srgbClr val="02C39A"/>
            </a:solidFill>
            <a:prstDash val="solid"/>
          </a:ln>
        </p:spPr>
        <p:txBody>
          <a:bodyPr/>
          <a:lstStyle/>
          <a:p>
            <a:endParaRPr lang="en-US"/>
          </a:p>
        </p:txBody>
      </p:sp>
      <p:sp>
        <p:nvSpPr>
          <p:cNvPr id="15" name="Text 13"/>
          <p:cNvSpPr/>
          <p:nvPr/>
        </p:nvSpPr>
        <p:spPr>
          <a:xfrm>
            <a:off x="2194560" y="2688336"/>
            <a:ext cx="6400800" cy="594360"/>
          </a:xfrm>
          <a:prstGeom prst="rect">
            <a:avLst/>
          </a:prstGeom>
          <a:noFill/>
          <a:ln/>
        </p:spPr>
        <p:txBody>
          <a:bodyPr wrap="square" rtlCol="0" anchor="ctr"/>
          <a:lstStyle/>
          <a:p>
            <a:pPr marL="0" indent="0">
              <a:buNone/>
            </a:pPr>
            <a:r>
              <a:rPr lang="en-US" sz="1400" dirty="0">
                <a:solidFill>
                  <a:srgbClr val="1A2E35"/>
                </a:solidFill>
                <a:latin typeface="Calibri" pitchFamily="34" charset="0"/>
                <a:ea typeface="Calibri" pitchFamily="34" charset="-122"/>
                <a:cs typeface="Calibri" pitchFamily="34" charset="-120"/>
              </a:rPr>
              <a:t>Types of Regression Models in Public Health</a:t>
            </a:r>
            <a:endParaRPr lang="en-US" sz="1400" dirty="0"/>
          </a:p>
        </p:txBody>
      </p:sp>
      <p:sp>
        <p:nvSpPr>
          <p:cNvPr id="16" name="Shape 14"/>
          <p:cNvSpPr/>
          <p:nvPr/>
        </p:nvSpPr>
        <p:spPr>
          <a:xfrm>
            <a:off x="274320" y="3438144"/>
            <a:ext cx="8595360" cy="594360"/>
          </a:xfrm>
          <a:prstGeom prst="rect">
            <a:avLst/>
          </a:prstGeom>
          <a:solidFill>
            <a:srgbClr val="E8F4F5"/>
          </a:solidFill>
          <a:ln w="6350">
            <a:solidFill>
              <a:srgbClr val="DDDDDD"/>
            </a:solidFill>
            <a:prstDash val="solid"/>
          </a:ln>
        </p:spPr>
        <p:txBody>
          <a:bodyPr/>
          <a:lstStyle/>
          <a:p>
            <a:endParaRPr lang="en-US"/>
          </a:p>
        </p:txBody>
      </p:sp>
      <p:sp>
        <p:nvSpPr>
          <p:cNvPr id="17" name="Shape 15"/>
          <p:cNvSpPr/>
          <p:nvPr/>
        </p:nvSpPr>
        <p:spPr>
          <a:xfrm>
            <a:off x="274320" y="3438144"/>
            <a:ext cx="91440" cy="594360"/>
          </a:xfrm>
          <a:prstGeom prst="rect">
            <a:avLst/>
          </a:prstGeom>
          <a:solidFill>
            <a:srgbClr val="028090"/>
          </a:solidFill>
          <a:ln w="12700">
            <a:solidFill>
              <a:srgbClr val="028090"/>
            </a:solidFill>
            <a:prstDash val="solid"/>
          </a:ln>
        </p:spPr>
        <p:txBody>
          <a:bodyPr/>
          <a:lstStyle/>
          <a:p>
            <a:endParaRPr lang="en-US"/>
          </a:p>
        </p:txBody>
      </p:sp>
      <p:sp>
        <p:nvSpPr>
          <p:cNvPr id="19" name="Text 17"/>
          <p:cNvSpPr/>
          <p:nvPr/>
        </p:nvSpPr>
        <p:spPr>
          <a:xfrm>
            <a:off x="2194560" y="3438144"/>
            <a:ext cx="6400800" cy="594360"/>
          </a:xfrm>
          <a:prstGeom prst="rect">
            <a:avLst/>
          </a:prstGeom>
          <a:noFill/>
          <a:ln/>
        </p:spPr>
        <p:txBody>
          <a:bodyPr wrap="square" rtlCol="0" anchor="ctr"/>
          <a:lstStyle/>
          <a:p>
            <a:pPr marL="0" indent="0">
              <a:buNone/>
            </a:pPr>
            <a:r>
              <a:rPr lang="en-US" sz="1400" dirty="0">
                <a:solidFill>
                  <a:srgbClr val="1A2E35"/>
                </a:solidFill>
                <a:latin typeface="Calibri" pitchFamily="34" charset="0"/>
                <a:ea typeface="Calibri" pitchFamily="34" charset="-122"/>
                <a:cs typeface="Calibri" pitchFamily="34" charset="-120"/>
              </a:rPr>
              <a:t>Interpretation &amp; Practical Application</a:t>
            </a:r>
            <a:endParaRPr lang="en-US" sz="1400" dirty="0"/>
          </a:p>
        </p:txBody>
      </p:sp>
      <p:sp>
        <p:nvSpPr>
          <p:cNvPr id="20" name="Shape 18"/>
          <p:cNvSpPr/>
          <p:nvPr/>
        </p:nvSpPr>
        <p:spPr>
          <a:xfrm>
            <a:off x="274320" y="4187952"/>
            <a:ext cx="8595360" cy="594360"/>
          </a:xfrm>
          <a:prstGeom prst="rect">
            <a:avLst/>
          </a:prstGeom>
          <a:solidFill>
            <a:srgbClr val="E8F4F5"/>
          </a:solidFill>
          <a:ln w="6350">
            <a:solidFill>
              <a:srgbClr val="DDDDDD"/>
            </a:solidFill>
            <a:prstDash val="solid"/>
          </a:ln>
        </p:spPr>
        <p:txBody>
          <a:bodyPr/>
          <a:lstStyle/>
          <a:p>
            <a:endParaRPr lang="en-US"/>
          </a:p>
        </p:txBody>
      </p:sp>
      <p:sp>
        <p:nvSpPr>
          <p:cNvPr id="21" name="Shape 19"/>
          <p:cNvSpPr/>
          <p:nvPr/>
        </p:nvSpPr>
        <p:spPr>
          <a:xfrm>
            <a:off x="274320" y="4187952"/>
            <a:ext cx="91440" cy="594360"/>
          </a:xfrm>
          <a:prstGeom prst="rect">
            <a:avLst/>
          </a:prstGeom>
          <a:solidFill>
            <a:srgbClr val="00A896"/>
          </a:solidFill>
          <a:ln w="12700">
            <a:solidFill>
              <a:srgbClr val="00A896"/>
            </a:solidFill>
            <a:prstDash val="solid"/>
          </a:ln>
        </p:spPr>
        <p:txBody>
          <a:bodyPr/>
          <a:lstStyle/>
          <a:p>
            <a:endParaRPr lang="en-US"/>
          </a:p>
        </p:txBody>
      </p:sp>
      <p:sp>
        <p:nvSpPr>
          <p:cNvPr id="23" name="Text 21"/>
          <p:cNvSpPr/>
          <p:nvPr/>
        </p:nvSpPr>
        <p:spPr>
          <a:xfrm>
            <a:off x="2194560" y="4187952"/>
            <a:ext cx="6400800" cy="594360"/>
          </a:xfrm>
          <a:prstGeom prst="rect">
            <a:avLst/>
          </a:prstGeom>
          <a:noFill/>
          <a:ln/>
        </p:spPr>
        <p:txBody>
          <a:bodyPr wrap="square" rtlCol="0" anchor="ctr"/>
          <a:lstStyle/>
          <a:p>
            <a:pPr marL="0" indent="0">
              <a:buNone/>
            </a:pPr>
            <a:r>
              <a:rPr lang="en-US" sz="1400" dirty="0">
                <a:solidFill>
                  <a:srgbClr val="1A2E35"/>
                </a:solidFill>
                <a:latin typeface="Calibri" pitchFamily="34" charset="0"/>
                <a:ea typeface="Calibri" pitchFamily="34" charset="-122"/>
                <a:cs typeface="Calibri" pitchFamily="34" charset="-120"/>
              </a:rPr>
              <a:t>Assumptions, Limitations &amp; Summary</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28090"/>
        </a:solidFill>
        <a:effectLst/>
      </p:bgPr>
    </p:bg>
    <p:spTree>
      <p:nvGrpSpPr>
        <p:cNvPr id="1" name=""/>
        <p:cNvGrpSpPr/>
        <p:nvPr/>
      </p:nvGrpSpPr>
      <p:grpSpPr>
        <a:xfrm>
          <a:off x="0" y="0"/>
          <a:ext cx="0" cy="0"/>
          <a:chOff x="0" y="0"/>
          <a:chExt cx="0" cy="0"/>
        </a:xfrm>
      </p:grpSpPr>
      <p:sp>
        <p:nvSpPr>
          <p:cNvPr id="2" name="Shape 0"/>
          <p:cNvSpPr/>
          <p:nvPr/>
        </p:nvSpPr>
        <p:spPr>
          <a:xfrm>
            <a:off x="-914400" y="-914400"/>
            <a:ext cx="4572000" cy="4572000"/>
          </a:xfrm>
          <a:prstGeom prst="ellipse">
            <a:avLst/>
          </a:prstGeom>
          <a:solidFill>
            <a:srgbClr val="00A896">
              <a:alpha val="30000"/>
            </a:srgbClr>
          </a:solidFill>
          <a:ln w="12700">
            <a:solidFill>
              <a:srgbClr val="00A896">
                <a:alpha val="30000"/>
              </a:srgbClr>
            </a:solidFill>
            <a:prstDash val="solid"/>
          </a:ln>
        </p:spPr>
        <p:txBody>
          <a:bodyPr/>
          <a:lstStyle/>
          <a:p>
            <a:endParaRPr lang="en-US"/>
          </a:p>
        </p:txBody>
      </p:sp>
      <p:sp>
        <p:nvSpPr>
          <p:cNvPr id="3" name="Shape 1"/>
          <p:cNvSpPr/>
          <p:nvPr/>
        </p:nvSpPr>
        <p:spPr>
          <a:xfrm>
            <a:off x="5943600" y="2286000"/>
            <a:ext cx="3657600" cy="3657600"/>
          </a:xfrm>
          <a:prstGeom prst="ellipse">
            <a:avLst/>
          </a:prstGeom>
          <a:solidFill>
            <a:srgbClr val="023E5C">
              <a:alpha val="40000"/>
            </a:srgbClr>
          </a:solidFill>
          <a:ln w="12700">
            <a:solidFill>
              <a:srgbClr val="023E5C">
                <a:alpha val="40000"/>
              </a:srgbClr>
            </a:solidFill>
            <a:prstDash val="solid"/>
          </a:ln>
        </p:spPr>
        <p:txBody>
          <a:bodyPr/>
          <a:lstStyle/>
          <a:p>
            <a:endParaRPr lang="en-US"/>
          </a:p>
        </p:txBody>
      </p:sp>
      <p:sp>
        <p:nvSpPr>
          <p:cNvPr id="4" name="Text 2"/>
          <p:cNvSpPr/>
          <p:nvPr/>
        </p:nvSpPr>
        <p:spPr>
          <a:xfrm>
            <a:off x="914400" y="1371600"/>
            <a:ext cx="7315200" cy="457200"/>
          </a:xfrm>
          <a:prstGeom prst="rect">
            <a:avLst/>
          </a:prstGeom>
          <a:noFill/>
          <a:ln/>
        </p:spPr>
        <p:txBody>
          <a:bodyPr wrap="square" rtlCol="0" anchor="ctr"/>
          <a:lstStyle/>
          <a:p>
            <a:pPr marL="0" indent="0" algn="ctr">
              <a:buNone/>
            </a:pPr>
            <a:r>
              <a:rPr lang="en-US" sz="1400" b="1" kern="0" spc="600" dirty="0">
                <a:solidFill>
                  <a:srgbClr val="02C39A"/>
                </a:solidFill>
                <a:latin typeface="Calibri" pitchFamily="34" charset="0"/>
                <a:ea typeface="Calibri" pitchFamily="34" charset="-122"/>
                <a:cs typeface="Calibri" pitchFamily="34" charset="-120"/>
              </a:rPr>
              <a:t>PART 1</a:t>
            </a:r>
            <a:endParaRPr lang="en-US" sz="1400" dirty="0"/>
          </a:p>
        </p:txBody>
      </p:sp>
      <p:sp>
        <p:nvSpPr>
          <p:cNvPr id="5" name="Text 3"/>
          <p:cNvSpPr/>
          <p:nvPr/>
        </p:nvSpPr>
        <p:spPr>
          <a:xfrm>
            <a:off x="914400" y="1828800"/>
            <a:ext cx="7315200" cy="1097280"/>
          </a:xfrm>
          <a:prstGeom prst="rect">
            <a:avLst/>
          </a:prstGeom>
          <a:noFill/>
          <a:ln/>
        </p:spPr>
        <p:txBody>
          <a:bodyPr wrap="square" rtlCol="0" anchor="ctr"/>
          <a:lstStyle/>
          <a:p>
            <a:pPr marL="0" indent="0" algn="ctr">
              <a:buNone/>
            </a:pPr>
            <a:r>
              <a:rPr lang="en-US" sz="4400" b="1" dirty="0">
                <a:solidFill>
                  <a:srgbClr val="FFFFFF"/>
                </a:solidFill>
                <a:latin typeface="Georgia" pitchFamily="34" charset="0"/>
                <a:ea typeface="Georgia" pitchFamily="34" charset="-122"/>
                <a:cs typeface="Georgia" pitchFamily="34" charset="-120"/>
              </a:rPr>
              <a:t>Foundations</a:t>
            </a:r>
            <a:endParaRPr lang="en-US" sz="4400" dirty="0"/>
          </a:p>
        </p:txBody>
      </p:sp>
      <p:sp>
        <p:nvSpPr>
          <p:cNvPr id="6" name="Text 4"/>
          <p:cNvSpPr/>
          <p:nvPr/>
        </p:nvSpPr>
        <p:spPr>
          <a:xfrm>
            <a:off x="914400" y="2926080"/>
            <a:ext cx="7315200" cy="548640"/>
          </a:xfrm>
          <a:prstGeom prst="rect">
            <a:avLst/>
          </a:prstGeom>
          <a:noFill/>
          <a:ln/>
        </p:spPr>
        <p:txBody>
          <a:bodyPr wrap="square" rtlCol="0" anchor="ctr"/>
          <a:lstStyle/>
          <a:p>
            <a:pPr marL="0" indent="0" algn="ctr">
              <a:buNone/>
            </a:pPr>
            <a:r>
              <a:rPr lang="en-US" sz="1800" i="1" dirty="0">
                <a:solidFill>
                  <a:srgbClr val="E8F4F5"/>
                </a:solidFill>
                <a:latin typeface="Calibri" pitchFamily="34" charset="0"/>
                <a:ea typeface="Calibri" pitchFamily="34" charset="-122"/>
                <a:cs typeface="Calibri" pitchFamily="34" charset="-120"/>
              </a:rPr>
              <a:t>Why Multivariable Analysis?</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23E5C"/>
          </a:solidFill>
          <a:ln/>
        </p:spPr>
        <p:txBody>
          <a:bodyPr/>
          <a:lstStyle/>
          <a:p>
            <a:endParaRPr lang="en-US"/>
          </a:p>
        </p:txBody>
      </p:sp>
      <p:sp>
        <p:nvSpPr>
          <p:cNvPr id="3" name="Text 1"/>
          <p:cNvSpPr/>
          <p:nvPr/>
        </p:nvSpPr>
        <p:spPr>
          <a:xfrm>
            <a:off x="365760" y="0"/>
            <a:ext cx="8229600" cy="1005840"/>
          </a:xfrm>
          <a:prstGeom prst="rect">
            <a:avLst/>
          </a:prstGeom>
          <a:noFill/>
          <a:ln/>
        </p:spPr>
        <p:txBody>
          <a:bodyPr wrap="square" rtlCol="0" anchor="ctr"/>
          <a:lstStyle/>
          <a:p>
            <a:pPr marL="0" indent="0">
              <a:buNone/>
            </a:pPr>
            <a:r>
              <a:rPr lang="en-US" sz="2200" b="1" dirty="0">
                <a:solidFill>
                  <a:srgbClr val="FFFFFF"/>
                </a:solidFill>
                <a:latin typeface="Georgia" pitchFamily="34" charset="0"/>
                <a:ea typeface="Georgia" pitchFamily="34" charset="-122"/>
                <a:cs typeface="Georgia" pitchFamily="34" charset="-120"/>
              </a:rPr>
              <a:t>The Core Problem: Confounding</a:t>
            </a:r>
            <a:endParaRPr lang="en-US" sz="2200" dirty="0"/>
          </a:p>
        </p:txBody>
      </p:sp>
      <p:sp>
        <p:nvSpPr>
          <p:cNvPr id="4" name="Shape 2"/>
          <p:cNvSpPr/>
          <p:nvPr/>
        </p:nvSpPr>
        <p:spPr>
          <a:xfrm>
            <a:off x="365760" y="1828800"/>
            <a:ext cx="2194560" cy="777240"/>
          </a:xfrm>
          <a:prstGeom prst="rect">
            <a:avLst/>
          </a:prstGeom>
          <a:solidFill>
            <a:srgbClr val="028090"/>
          </a:solidFill>
          <a:ln w="12700">
            <a:solidFill>
              <a:srgbClr val="028090"/>
            </a:solidFill>
            <a:prstDash val="solid"/>
          </a:ln>
          <a:effectLst>
            <a:outerShdw blurRad="101600" dist="38100" dir="8100000" algn="bl" rotWithShape="0">
              <a:srgbClr val="000000">
                <a:alpha val="12000"/>
              </a:srgbClr>
            </a:outerShdw>
          </a:effectLst>
        </p:spPr>
        <p:txBody>
          <a:bodyPr/>
          <a:lstStyle/>
          <a:p>
            <a:endParaRPr lang="en-US"/>
          </a:p>
        </p:txBody>
      </p:sp>
      <p:sp>
        <p:nvSpPr>
          <p:cNvPr id="5" name="Text 3"/>
          <p:cNvSpPr/>
          <p:nvPr/>
        </p:nvSpPr>
        <p:spPr>
          <a:xfrm>
            <a:off x="365760" y="1828800"/>
            <a:ext cx="2194560" cy="77724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Exposure</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(e.g., Coffee Drinking)</a:t>
            </a:r>
            <a:endParaRPr lang="en-US" sz="1100" dirty="0"/>
          </a:p>
        </p:txBody>
      </p:sp>
      <p:sp>
        <p:nvSpPr>
          <p:cNvPr id="6" name="Shape 4"/>
          <p:cNvSpPr/>
          <p:nvPr/>
        </p:nvSpPr>
        <p:spPr>
          <a:xfrm>
            <a:off x="6583680" y="1828800"/>
            <a:ext cx="2194560" cy="777240"/>
          </a:xfrm>
          <a:prstGeom prst="rect">
            <a:avLst/>
          </a:prstGeom>
          <a:solidFill>
            <a:srgbClr val="023E5C"/>
          </a:solidFill>
          <a:ln w="12700">
            <a:solidFill>
              <a:srgbClr val="023E5C"/>
            </a:solidFill>
            <a:prstDash val="solid"/>
          </a:ln>
          <a:effectLst>
            <a:outerShdw blurRad="101600" dist="38100" dir="8100000" algn="bl" rotWithShape="0">
              <a:srgbClr val="000000">
                <a:alpha val="12000"/>
              </a:srgbClr>
            </a:outerShdw>
          </a:effectLst>
        </p:spPr>
        <p:txBody>
          <a:bodyPr/>
          <a:lstStyle/>
          <a:p>
            <a:endParaRPr lang="en-US"/>
          </a:p>
        </p:txBody>
      </p:sp>
      <p:sp>
        <p:nvSpPr>
          <p:cNvPr id="7" name="Text 5"/>
          <p:cNvSpPr/>
          <p:nvPr/>
        </p:nvSpPr>
        <p:spPr>
          <a:xfrm>
            <a:off x="6583680" y="1828800"/>
            <a:ext cx="2194560" cy="77724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Outcome</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(e.g., Lung Cancer)</a:t>
            </a:r>
            <a:endParaRPr lang="en-US" sz="1100" dirty="0"/>
          </a:p>
        </p:txBody>
      </p:sp>
      <p:sp>
        <p:nvSpPr>
          <p:cNvPr id="8" name="Shape 6"/>
          <p:cNvSpPr/>
          <p:nvPr/>
        </p:nvSpPr>
        <p:spPr>
          <a:xfrm>
            <a:off x="2606040" y="2221992"/>
            <a:ext cx="3977640" cy="0"/>
          </a:xfrm>
          <a:prstGeom prst="line">
            <a:avLst/>
          </a:prstGeom>
          <a:noFill/>
          <a:ln w="25400">
            <a:solidFill>
              <a:srgbClr val="7BA7B0"/>
            </a:solidFill>
            <a:prstDash val="dash"/>
          </a:ln>
        </p:spPr>
        <p:txBody>
          <a:bodyPr/>
          <a:lstStyle/>
          <a:p>
            <a:endParaRPr lang="en-US"/>
          </a:p>
        </p:txBody>
      </p:sp>
      <p:sp>
        <p:nvSpPr>
          <p:cNvPr id="9" name="Text 7"/>
          <p:cNvSpPr/>
          <p:nvPr/>
        </p:nvSpPr>
        <p:spPr>
          <a:xfrm>
            <a:off x="3200400" y="1920240"/>
            <a:ext cx="2743200" cy="365760"/>
          </a:xfrm>
          <a:prstGeom prst="rect">
            <a:avLst/>
          </a:prstGeom>
          <a:noFill/>
          <a:ln/>
        </p:spPr>
        <p:txBody>
          <a:bodyPr wrap="square" rtlCol="0" anchor="ctr"/>
          <a:lstStyle/>
          <a:p>
            <a:pPr marL="0" indent="0" algn="ctr">
              <a:buNone/>
            </a:pPr>
            <a:r>
              <a:rPr lang="en-US" sz="1000" i="1" dirty="0">
                <a:solidFill>
                  <a:srgbClr val="7BA7B0"/>
                </a:solidFill>
                <a:latin typeface="Calibri" pitchFamily="34" charset="0"/>
                <a:ea typeface="Calibri" pitchFamily="34" charset="-122"/>
                <a:cs typeface="Calibri" pitchFamily="34" charset="-120"/>
              </a:rPr>
              <a:t>Apparent association?</a:t>
            </a:r>
            <a:endParaRPr lang="en-US" sz="1000" dirty="0"/>
          </a:p>
        </p:txBody>
      </p:sp>
      <p:sp>
        <p:nvSpPr>
          <p:cNvPr id="10" name="Shape 8"/>
          <p:cNvSpPr/>
          <p:nvPr/>
        </p:nvSpPr>
        <p:spPr>
          <a:xfrm>
            <a:off x="3383280" y="3200400"/>
            <a:ext cx="2377440" cy="777240"/>
          </a:xfrm>
          <a:prstGeom prst="rect">
            <a:avLst/>
          </a:prstGeom>
          <a:solidFill>
            <a:srgbClr val="02C39A"/>
          </a:solidFill>
          <a:ln w="12700">
            <a:solidFill>
              <a:srgbClr val="02C39A"/>
            </a:solidFill>
            <a:prstDash val="solid"/>
          </a:ln>
          <a:effectLst>
            <a:outerShdw blurRad="101600" dist="38100" dir="8100000" algn="bl" rotWithShape="0">
              <a:srgbClr val="000000">
                <a:alpha val="12000"/>
              </a:srgbClr>
            </a:outerShdw>
          </a:effectLst>
        </p:spPr>
        <p:txBody>
          <a:bodyPr/>
          <a:lstStyle/>
          <a:p>
            <a:endParaRPr lang="en-US"/>
          </a:p>
        </p:txBody>
      </p:sp>
      <p:sp>
        <p:nvSpPr>
          <p:cNvPr id="11" name="Text 9"/>
          <p:cNvSpPr/>
          <p:nvPr/>
        </p:nvSpPr>
        <p:spPr>
          <a:xfrm>
            <a:off x="3383280" y="3200400"/>
            <a:ext cx="2377440" cy="777240"/>
          </a:xfrm>
          <a:prstGeom prst="rect">
            <a:avLst/>
          </a:prstGeom>
          <a:noFill/>
          <a:ln/>
        </p:spPr>
        <p:txBody>
          <a:bodyPr wrap="square" rtlCol="0" anchor="ctr"/>
          <a:lstStyle/>
          <a:p>
            <a:pPr marL="0" indent="0" algn="ctr">
              <a:buNone/>
            </a:pPr>
            <a:r>
              <a:rPr lang="en-US" sz="1100" b="1" dirty="0">
                <a:solidFill>
                  <a:srgbClr val="023E5C"/>
                </a:solidFill>
                <a:latin typeface="Calibri" pitchFamily="34" charset="0"/>
                <a:ea typeface="Calibri" pitchFamily="34" charset="-122"/>
                <a:cs typeface="Calibri" pitchFamily="34" charset="-120"/>
              </a:rPr>
              <a:t>Confounder</a:t>
            </a:r>
            <a:endParaRPr lang="en-US" sz="1100" dirty="0"/>
          </a:p>
          <a:p>
            <a:pPr marL="0" indent="0" algn="ctr">
              <a:buNone/>
            </a:pPr>
            <a:r>
              <a:rPr lang="en-US" sz="1100" b="1" dirty="0">
                <a:solidFill>
                  <a:srgbClr val="023E5C"/>
                </a:solidFill>
                <a:latin typeface="Calibri" pitchFamily="34" charset="0"/>
                <a:ea typeface="Calibri" pitchFamily="34" charset="-122"/>
                <a:cs typeface="Calibri" pitchFamily="34" charset="-120"/>
              </a:rPr>
              <a:t>(e.g., Smoking)</a:t>
            </a:r>
            <a:endParaRPr lang="en-US" sz="1100" dirty="0"/>
          </a:p>
        </p:txBody>
      </p:sp>
      <p:sp>
        <p:nvSpPr>
          <p:cNvPr id="12" name="Shape 10"/>
          <p:cNvSpPr/>
          <p:nvPr/>
        </p:nvSpPr>
        <p:spPr>
          <a:xfrm>
            <a:off x="2011680" y="2606040"/>
            <a:ext cx="1554480" cy="594360"/>
          </a:xfrm>
          <a:prstGeom prst="line">
            <a:avLst/>
          </a:prstGeom>
          <a:noFill/>
          <a:ln w="25400">
            <a:solidFill>
              <a:srgbClr val="00A896"/>
            </a:solidFill>
            <a:prstDash val="solid"/>
          </a:ln>
        </p:spPr>
        <p:txBody>
          <a:bodyPr/>
          <a:lstStyle/>
          <a:p>
            <a:endParaRPr lang="en-US"/>
          </a:p>
        </p:txBody>
      </p:sp>
      <p:sp>
        <p:nvSpPr>
          <p:cNvPr id="13" name="Shape 11"/>
          <p:cNvSpPr/>
          <p:nvPr/>
        </p:nvSpPr>
        <p:spPr>
          <a:xfrm flipV="1">
            <a:off x="5577840" y="2587752"/>
            <a:ext cx="1005840" cy="612648"/>
          </a:xfrm>
          <a:prstGeom prst="line">
            <a:avLst/>
          </a:prstGeom>
          <a:noFill/>
          <a:ln w="25400">
            <a:solidFill>
              <a:srgbClr val="00A896"/>
            </a:solidFill>
            <a:prstDash val="solid"/>
          </a:ln>
        </p:spPr>
        <p:txBody>
          <a:bodyPr/>
          <a:lstStyle/>
          <a:p>
            <a:endParaRPr lang="en-US"/>
          </a:p>
        </p:txBody>
      </p:sp>
      <p:sp>
        <p:nvSpPr>
          <p:cNvPr id="14" name="Text 12"/>
          <p:cNvSpPr/>
          <p:nvPr/>
        </p:nvSpPr>
        <p:spPr>
          <a:xfrm>
            <a:off x="365760" y="4297680"/>
            <a:ext cx="8412480" cy="548640"/>
          </a:xfrm>
          <a:prstGeom prst="rect">
            <a:avLst/>
          </a:prstGeom>
          <a:solidFill>
            <a:srgbClr val="E8F4F5"/>
          </a:solidFill>
          <a:ln/>
        </p:spPr>
        <p:txBody>
          <a:bodyPr wrap="square" rtlCol="0" anchor="ctr"/>
          <a:lstStyle/>
          <a:p>
            <a:pPr marL="0" indent="0" algn="ctr">
              <a:buNone/>
            </a:pPr>
            <a:r>
              <a:rPr lang="en-US" sz="1300" i="1" dirty="0">
                <a:solidFill>
                  <a:srgbClr val="1A2E35"/>
                </a:solidFill>
                <a:latin typeface="Calibri" pitchFamily="34" charset="0"/>
                <a:ea typeface="Calibri" pitchFamily="34" charset="-122"/>
                <a:cs typeface="Calibri" pitchFamily="34" charset="-120"/>
              </a:rPr>
              <a:t>Multivariable analysis allows us to isolate the effect of one variable while controlling for others.</a:t>
            </a:r>
            <a:endParaRPr lang="en-US" sz="1300" dirty="0"/>
          </a:p>
        </p:txBody>
      </p:sp>
      <p:sp>
        <p:nvSpPr>
          <p:cNvPr id="15" name="Text 13"/>
          <p:cNvSpPr/>
          <p:nvPr/>
        </p:nvSpPr>
        <p:spPr>
          <a:xfrm>
            <a:off x="365760" y="1097280"/>
            <a:ext cx="8412480" cy="548640"/>
          </a:xfrm>
          <a:prstGeom prst="rect">
            <a:avLst/>
          </a:prstGeom>
          <a:noFill/>
          <a:ln/>
        </p:spPr>
        <p:txBody>
          <a:bodyPr wrap="square" rtlCol="0" anchor="ctr"/>
          <a:lstStyle/>
          <a:p>
            <a:pPr marL="0" indent="0">
              <a:buNone/>
            </a:pPr>
            <a:r>
              <a:rPr lang="en-US" sz="1300" dirty="0">
                <a:solidFill>
                  <a:srgbClr val="3D6470"/>
                </a:solidFill>
                <a:latin typeface="Calibri" pitchFamily="34" charset="0"/>
                <a:ea typeface="Calibri" pitchFamily="34" charset="-122"/>
                <a:cs typeface="Calibri" pitchFamily="34" charset="-120"/>
              </a:rPr>
              <a:t>Key insight: Crude (unadjusted) associations may be misleading without controlling for confounders.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7F8"/>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23E5C"/>
          </a:solidFill>
          <a:ln/>
        </p:spPr>
        <p:txBody>
          <a:bodyPr/>
          <a:lstStyle/>
          <a:p>
            <a:endParaRPr lang="en-US"/>
          </a:p>
        </p:txBody>
      </p:sp>
      <p:sp>
        <p:nvSpPr>
          <p:cNvPr id="3" name="Text 1"/>
          <p:cNvSpPr/>
          <p:nvPr/>
        </p:nvSpPr>
        <p:spPr>
          <a:xfrm>
            <a:off x="365760" y="0"/>
            <a:ext cx="8229600" cy="1005840"/>
          </a:xfrm>
          <a:prstGeom prst="rect">
            <a:avLst/>
          </a:prstGeom>
          <a:noFill/>
          <a:ln/>
        </p:spPr>
        <p:txBody>
          <a:bodyPr wrap="square" rtlCol="0" anchor="ctr"/>
          <a:lstStyle/>
          <a:p>
            <a:pPr marL="0" indent="0">
              <a:buNone/>
            </a:pPr>
            <a:r>
              <a:rPr lang="en-US" sz="2200" b="1" dirty="0">
                <a:solidFill>
                  <a:srgbClr val="FFFFFF"/>
                </a:solidFill>
                <a:latin typeface="Georgia" pitchFamily="34" charset="0"/>
                <a:ea typeface="Georgia" pitchFamily="34" charset="-122"/>
                <a:cs typeface="Georgia" pitchFamily="34" charset="-120"/>
              </a:rPr>
              <a:t>Real-World Public Health Example</a:t>
            </a:r>
            <a:endParaRPr lang="en-US" sz="2200" dirty="0"/>
          </a:p>
        </p:txBody>
      </p:sp>
      <p:sp>
        <p:nvSpPr>
          <p:cNvPr id="4" name="Shape 2"/>
          <p:cNvSpPr/>
          <p:nvPr/>
        </p:nvSpPr>
        <p:spPr>
          <a:xfrm>
            <a:off x="320040" y="1143000"/>
            <a:ext cx="4023360" cy="3474720"/>
          </a:xfrm>
          <a:prstGeom prst="rect">
            <a:avLst/>
          </a:prstGeom>
          <a:solidFill>
            <a:srgbClr val="FFFFFF"/>
          </a:solidFill>
          <a:ln w="12700">
            <a:solidFill>
              <a:srgbClr val="DDDDDD"/>
            </a:solidFill>
            <a:prstDash val="solid"/>
          </a:ln>
          <a:effectLst>
            <a:outerShdw blurRad="101600" dist="38100" dir="8100000" algn="bl" rotWithShape="0">
              <a:srgbClr val="000000">
                <a:alpha val="12000"/>
              </a:srgbClr>
            </a:outerShdw>
          </a:effectLst>
        </p:spPr>
        <p:txBody>
          <a:bodyPr/>
          <a:lstStyle/>
          <a:p>
            <a:endParaRPr lang="en-US"/>
          </a:p>
        </p:txBody>
      </p:sp>
      <p:sp>
        <p:nvSpPr>
          <p:cNvPr id="5" name="Shape 3"/>
          <p:cNvSpPr/>
          <p:nvPr/>
        </p:nvSpPr>
        <p:spPr>
          <a:xfrm>
            <a:off x="320040" y="1143000"/>
            <a:ext cx="4023360" cy="502920"/>
          </a:xfrm>
          <a:prstGeom prst="rect">
            <a:avLst/>
          </a:prstGeom>
          <a:solidFill>
            <a:srgbClr val="7BA7B0"/>
          </a:solidFill>
          <a:ln w="12700">
            <a:solidFill>
              <a:srgbClr val="7BA7B0"/>
            </a:solidFill>
            <a:prstDash val="solid"/>
          </a:ln>
        </p:spPr>
        <p:txBody>
          <a:bodyPr/>
          <a:lstStyle/>
          <a:p>
            <a:endParaRPr lang="en-US"/>
          </a:p>
        </p:txBody>
      </p:sp>
      <p:sp>
        <p:nvSpPr>
          <p:cNvPr id="6" name="Text 4"/>
          <p:cNvSpPr/>
          <p:nvPr/>
        </p:nvSpPr>
        <p:spPr>
          <a:xfrm>
            <a:off x="320040" y="1143000"/>
            <a:ext cx="4023360" cy="50292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Crude (Unadjusted) Result</a:t>
            </a:r>
            <a:endParaRPr lang="en-US" sz="1300" dirty="0"/>
          </a:p>
        </p:txBody>
      </p:sp>
      <p:sp>
        <p:nvSpPr>
          <p:cNvPr id="7" name="Text 5"/>
          <p:cNvSpPr/>
          <p:nvPr/>
        </p:nvSpPr>
        <p:spPr>
          <a:xfrm>
            <a:off x="502920" y="1783080"/>
            <a:ext cx="3657600" cy="2651760"/>
          </a:xfrm>
          <a:prstGeom prst="rect">
            <a:avLst/>
          </a:prstGeom>
          <a:noFill/>
          <a:ln/>
        </p:spPr>
        <p:txBody>
          <a:bodyPr wrap="square" rtlCol="0" anchor="t"/>
          <a:lstStyle/>
          <a:p>
            <a:pPr marL="0" indent="0">
              <a:buNone/>
            </a:pPr>
            <a:r>
              <a:rPr lang="en-US" sz="1200" b="1" dirty="0">
                <a:solidFill>
                  <a:srgbClr val="1A2E35"/>
                </a:solidFill>
                <a:latin typeface="Calibri" pitchFamily="34" charset="0"/>
                <a:ea typeface="Calibri" pitchFamily="34" charset="-122"/>
                <a:cs typeface="Calibri" pitchFamily="34" charset="-120"/>
              </a:rPr>
              <a:t>Study: </a:t>
            </a:r>
            <a:r>
              <a:rPr lang="en-US" sz="1200" dirty="0">
                <a:solidFill>
                  <a:srgbClr val="1A2E35"/>
                </a:solidFill>
                <a:latin typeface="Calibri" pitchFamily="34" charset="0"/>
                <a:ea typeface="Calibri" pitchFamily="34" charset="-122"/>
                <a:cs typeface="Calibri" pitchFamily="34" charset="-120"/>
              </a:rPr>
              <a:t>Coffee intake &amp; MI risk</a:t>
            </a:r>
            <a:r>
              <a:rPr lang="en-US" sz="1600" b="1" dirty="0">
                <a:solidFill>
                  <a:srgbClr val="028090"/>
                </a:solidFill>
                <a:latin typeface="Calibri" pitchFamily="34" charset="0"/>
                <a:ea typeface="Calibri" pitchFamily="34" charset="-122"/>
                <a:cs typeface="Calibri" pitchFamily="34" charset="-120"/>
              </a:rPr>
              <a:t>
OR = 2.1 (95% CI: 1.6–2.8)
</a:t>
            </a:r>
            <a:r>
              <a:rPr lang="en-US" sz="1200" dirty="0">
                <a:solidFill>
                  <a:srgbClr val="1A2E35"/>
                </a:solidFill>
                <a:latin typeface="Calibri" pitchFamily="34" charset="0"/>
                <a:ea typeface="Calibri" pitchFamily="34" charset="-122"/>
                <a:cs typeface="Calibri" pitchFamily="34" charset="-120"/>
              </a:rPr>
              <a:t>"Coffee drinkers have 2× MI risk!"
⚠ But we have not adjusted for smoking, age, physical activity...</a:t>
            </a:r>
            <a:endParaRPr lang="en-US" sz="1200" dirty="0"/>
          </a:p>
        </p:txBody>
      </p:sp>
      <p:sp>
        <p:nvSpPr>
          <p:cNvPr id="8" name="Shape 6"/>
          <p:cNvSpPr/>
          <p:nvPr/>
        </p:nvSpPr>
        <p:spPr>
          <a:xfrm>
            <a:off x="4800600" y="1143000"/>
            <a:ext cx="4023360" cy="3474720"/>
          </a:xfrm>
          <a:prstGeom prst="rect">
            <a:avLst/>
          </a:prstGeom>
          <a:solidFill>
            <a:srgbClr val="FFFFFF"/>
          </a:solidFill>
          <a:ln w="12700">
            <a:solidFill>
              <a:srgbClr val="DDDDDD"/>
            </a:solidFill>
            <a:prstDash val="solid"/>
          </a:ln>
          <a:effectLst>
            <a:outerShdw blurRad="101600" dist="38100" dir="8100000" algn="bl" rotWithShape="0">
              <a:srgbClr val="000000">
                <a:alpha val="12000"/>
              </a:srgbClr>
            </a:outerShdw>
          </a:effectLst>
        </p:spPr>
        <p:txBody>
          <a:bodyPr/>
          <a:lstStyle/>
          <a:p>
            <a:endParaRPr lang="en-US"/>
          </a:p>
        </p:txBody>
      </p:sp>
      <p:sp>
        <p:nvSpPr>
          <p:cNvPr id="9" name="Shape 7"/>
          <p:cNvSpPr/>
          <p:nvPr/>
        </p:nvSpPr>
        <p:spPr>
          <a:xfrm>
            <a:off x="4800600" y="1143000"/>
            <a:ext cx="4023360" cy="502920"/>
          </a:xfrm>
          <a:prstGeom prst="rect">
            <a:avLst/>
          </a:prstGeom>
          <a:solidFill>
            <a:srgbClr val="028090"/>
          </a:solidFill>
          <a:ln w="12700">
            <a:solidFill>
              <a:srgbClr val="028090"/>
            </a:solidFill>
            <a:prstDash val="solid"/>
          </a:ln>
        </p:spPr>
        <p:txBody>
          <a:bodyPr/>
          <a:lstStyle/>
          <a:p>
            <a:endParaRPr lang="en-US"/>
          </a:p>
        </p:txBody>
      </p:sp>
      <p:sp>
        <p:nvSpPr>
          <p:cNvPr id="10" name="Text 8"/>
          <p:cNvSpPr/>
          <p:nvPr/>
        </p:nvSpPr>
        <p:spPr>
          <a:xfrm>
            <a:off x="4800600" y="1143000"/>
            <a:ext cx="4023360" cy="50292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Adjusted (Multivariable) Result</a:t>
            </a:r>
            <a:endParaRPr lang="en-US" sz="1300" dirty="0"/>
          </a:p>
        </p:txBody>
      </p:sp>
      <p:sp>
        <p:nvSpPr>
          <p:cNvPr id="11" name="Text 9"/>
          <p:cNvSpPr/>
          <p:nvPr/>
        </p:nvSpPr>
        <p:spPr>
          <a:xfrm>
            <a:off x="4983480" y="1783080"/>
            <a:ext cx="3657600" cy="2651760"/>
          </a:xfrm>
          <a:prstGeom prst="rect">
            <a:avLst/>
          </a:prstGeom>
          <a:noFill/>
          <a:ln/>
        </p:spPr>
        <p:txBody>
          <a:bodyPr wrap="square" rtlCol="0" anchor="t"/>
          <a:lstStyle/>
          <a:p>
            <a:pPr marL="0" indent="0">
              <a:buNone/>
            </a:pPr>
            <a:r>
              <a:rPr lang="en-US" sz="1200" dirty="0">
                <a:solidFill>
                  <a:srgbClr val="1A2E35"/>
                </a:solidFill>
                <a:latin typeface="Calibri" pitchFamily="34" charset="0"/>
                <a:ea typeface="Calibri" pitchFamily="34" charset="-122"/>
                <a:cs typeface="Calibri" pitchFamily="34" charset="-120"/>
              </a:rPr>
              <a:t>After controlling for: </a:t>
            </a:r>
            <a:r>
              <a:rPr lang="en-US" sz="1200" i="1" dirty="0">
                <a:solidFill>
                  <a:srgbClr val="1A2E35"/>
                </a:solidFill>
                <a:latin typeface="Calibri" pitchFamily="34" charset="0"/>
                <a:ea typeface="Calibri" pitchFamily="34" charset="-122"/>
                <a:cs typeface="Calibri" pitchFamily="34" charset="-120"/>
              </a:rPr>
              <a:t>age, sex, smoking, BMI, physical activity
</a:t>
            </a:r>
            <a:r>
              <a:rPr lang="en-US" sz="1600" b="1" dirty="0">
                <a:solidFill>
                  <a:srgbClr val="02C39A"/>
                </a:solidFill>
                <a:latin typeface="Calibri" pitchFamily="34" charset="0"/>
                <a:ea typeface="Calibri" pitchFamily="34" charset="-122"/>
                <a:cs typeface="Calibri" pitchFamily="34" charset="-120"/>
              </a:rPr>
              <a:t>OR = 1.05 (95% CI: 0.82–1.34)
</a:t>
            </a:r>
            <a:r>
              <a:rPr lang="en-US" sz="1200" dirty="0">
                <a:solidFill>
                  <a:srgbClr val="1A2E35"/>
                </a:solidFill>
                <a:latin typeface="Calibri" pitchFamily="34" charset="0"/>
                <a:ea typeface="Calibri" pitchFamily="34" charset="-122"/>
                <a:cs typeface="Calibri" pitchFamily="34" charset="-120"/>
              </a:rPr>
              <a:t>"No significant association!"
</a:t>
            </a:r>
            <a:r>
              <a:rPr lang="en-US" sz="1200" b="1" dirty="0">
                <a:solidFill>
                  <a:srgbClr val="1A2E35"/>
                </a:solidFill>
                <a:latin typeface="Calibri" pitchFamily="34" charset="0"/>
                <a:ea typeface="Calibri" pitchFamily="34" charset="-122"/>
                <a:cs typeface="Calibri" pitchFamily="34" charset="-120"/>
              </a:rPr>
              <a:t>✓ Smoking was the true confounder</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23E5C"/>
          </a:solidFill>
          <a:ln/>
        </p:spPr>
        <p:txBody>
          <a:bodyPr/>
          <a:lstStyle/>
          <a:p>
            <a:endParaRPr lang="en-US"/>
          </a:p>
        </p:txBody>
      </p:sp>
      <p:sp>
        <p:nvSpPr>
          <p:cNvPr id="3" name="Text 1"/>
          <p:cNvSpPr/>
          <p:nvPr/>
        </p:nvSpPr>
        <p:spPr>
          <a:xfrm>
            <a:off x="365760" y="0"/>
            <a:ext cx="8229600" cy="1005840"/>
          </a:xfrm>
          <a:prstGeom prst="rect">
            <a:avLst/>
          </a:prstGeom>
          <a:noFill/>
          <a:ln/>
        </p:spPr>
        <p:txBody>
          <a:bodyPr wrap="square" rtlCol="0" anchor="ctr"/>
          <a:lstStyle/>
          <a:p>
            <a:pPr marL="0" indent="0">
              <a:buNone/>
            </a:pPr>
            <a:r>
              <a:rPr lang="en-US" sz="2200" b="1" dirty="0">
                <a:solidFill>
                  <a:srgbClr val="FFFFFF"/>
                </a:solidFill>
                <a:latin typeface="Georgia" pitchFamily="34" charset="0"/>
                <a:ea typeface="Georgia" pitchFamily="34" charset="-122"/>
                <a:cs typeface="Georgia" pitchFamily="34" charset="-120"/>
              </a:rPr>
              <a:t>Terminology: A Common Confusion</a:t>
            </a:r>
            <a:endParaRPr lang="en-US" sz="2200" dirty="0"/>
          </a:p>
        </p:txBody>
      </p:sp>
      <p:sp>
        <p:nvSpPr>
          <p:cNvPr id="4" name="Shape 2"/>
          <p:cNvSpPr/>
          <p:nvPr/>
        </p:nvSpPr>
        <p:spPr>
          <a:xfrm>
            <a:off x="320040" y="1143000"/>
            <a:ext cx="4023360" cy="3749040"/>
          </a:xfrm>
          <a:prstGeom prst="rect">
            <a:avLst/>
          </a:prstGeom>
          <a:solidFill>
            <a:srgbClr val="E8F4F5"/>
          </a:solidFill>
          <a:ln w="12700">
            <a:solidFill>
              <a:srgbClr val="DDDDDD"/>
            </a:solidFill>
            <a:prstDash val="solid"/>
          </a:ln>
          <a:effectLst>
            <a:outerShdw blurRad="101600" dist="38100" dir="8100000" algn="bl" rotWithShape="0">
              <a:srgbClr val="000000">
                <a:alpha val="12000"/>
              </a:srgbClr>
            </a:outerShdw>
          </a:effectLst>
        </p:spPr>
        <p:txBody>
          <a:bodyPr/>
          <a:lstStyle/>
          <a:p>
            <a:endParaRPr lang="en-US"/>
          </a:p>
        </p:txBody>
      </p:sp>
      <p:sp>
        <p:nvSpPr>
          <p:cNvPr id="5" name="Shape 3"/>
          <p:cNvSpPr/>
          <p:nvPr/>
        </p:nvSpPr>
        <p:spPr>
          <a:xfrm>
            <a:off x="320040" y="1143000"/>
            <a:ext cx="4023360" cy="594360"/>
          </a:xfrm>
          <a:prstGeom prst="rect">
            <a:avLst/>
          </a:prstGeom>
          <a:solidFill>
            <a:srgbClr val="028090"/>
          </a:solidFill>
          <a:ln w="12700">
            <a:solidFill>
              <a:srgbClr val="028090"/>
            </a:solidFill>
            <a:prstDash val="solid"/>
          </a:ln>
        </p:spPr>
        <p:txBody>
          <a:bodyPr/>
          <a:lstStyle/>
          <a:p>
            <a:endParaRPr lang="en-US"/>
          </a:p>
        </p:txBody>
      </p:sp>
      <p:sp>
        <p:nvSpPr>
          <p:cNvPr id="6" name="Text 4"/>
          <p:cNvSpPr/>
          <p:nvPr/>
        </p:nvSpPr>
        <p:spPr>
          <a:xfrm>
            <a:off x="320040" y="1143000"/>
            <a:ext cx="4023360" cy="5943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Multivariable Analysis</a:t>
            </a:r>
            <a:endParaRPr lang="en-US" sz="1400" dirty="0"/>
          </a:p>
        </p:txBody>
      </p:sp>
      <p:sp>
        <p:nvSpPr>
          <p:cNvPr id="7" name="Text 5"/>
          <p:cNvSpPr/>
          <p:nvPr/>
        </p:nvSpPr>
        <p:spPr>
          <a:xfrm>
            <a:off x="411480" y="1783080"/>
            <a:ext cx="3840480" cy="411480"/>
          </a:xfrm>
          <a:prstGeom prst="rect">
            <a:avLst/>
          </a:prstGeom>
          <a:noFill/>
          <a:ln/>
        </p:spPr>
        <p:txBody>
          <a:bodyPr wrap="square" rtlCol="0" anchor="ctr"/>
          <a:lstStyle/>
          <a:p>
            <a:pPr marL="0" indent="0" algn="ctr">
              <a:buNone/>
            </a:pPr>
            <a:r>
              <a:rPr lang="en-US" sz="1200" b="1" dirty="0">
                <a:solidFill>
                  <a:srgbClr val="028090"/>
                </a:solidFill>
                <a:latin typeface="Calibri" pitchFamily="34" charset="0"/>
                <a:ea typeface="Calibri" pitchFamily="34" charset="-122"/>
                <a:cs typeface="Calibri" pitchFamily="34" charset="-120"/>
              </a:rPr>
              <a:t>Multiple predictors → ONE outcome</a:t>
            </a:r>
            <a:endParaRPr lang="en-US" sz="1200" dirty="0"/>
          </a:p>
        </p:txBody>
      </p:sp>
      <p:sp>
        <p:nvSpPr>
          <p:cNvPr id="8" name="Text 6"/>
          <p:cNvSpPr/>
          <p:nvPr/>
        </p:nvSpPr>
        <p:spPr>
          <a:xfrm>
            <a:off x="457200" y="2240280"/>
            <a:ext cx="3703320" cy="2560320"/>
          </a:xfrm>
          <a:prstGeom prst="rect">
            <a:avLst/>
          </a:prstGeom>
          <a:noFill/>
          <a:ln/>
        </p:spPr>
        <p:txBody>
          <a:bodyPr wrap="square" rtlCol="0" anchor="t"/>
          <a:lstStyle/>
          <a:p>
            <a:pPr marL="342900" indent="-342900">
              <a:spcAft>
                <a:spcPts val="400"/>
              </a:spcAft>
              <a:buSzPct val="100000"/>
              <a:buChar char="•"/>
            </a:pPr>
            <a:r>
              <a:rPr lang="en-US" sz="1200" dirty="0">
                <a:solidFill>
                  <a:srgbClr val="1A2E35"/>
                </a:solidFill>
                <a:latin typeface="Calibri" pitchFamily="34" charset="0"/>
                <a:ea typeface="Calibri" pitchFamily="34" charset="-122"/>
                <a:cs typeface="Calibri" pitchFamily="34" charset="-120"/>
              </a:rPr>
              <a:t>One dependent (outcome) variable</a:t>
            </a:r>
            <a:endParaRPr lang="en-US" sz="1200" dirty="0"/>
          </a:p>
          <a:p>
            <a:pPr marL="342900" indent="-342900">
              <a:spcAft>
                <a:spcPts val="400"/>
              </a:spcAft>
              <a:buSzPct val="100000"/>
              <a:buChar char="•"/>
            </a:pPr>
            <a:r>
              <a:rPr lang="en-US" sz="1200" dirty="0">
                <a:solidFill>
                  <a:srgbClr val="1A2E35"/>
                </a:solidFill>
                <a:latin typeface="Calibri" pitchFamily="34" charset="0"/>
                <a:ea typeface="Calibri" pitchFamily="34" charset="-122"/>
                <a:cs typeface="Calibri" pitchFamily="34" charset="-120"/>
              </a:rPr>
              <a:t>Multiple independent (predictor) variables</a:t>
            </a:r>
            <a:endParaRPr lang="en-US" sz="1200" dirty="0"/>
          </a:p>
          <a:p>
            <a:pPr marL="342900" indent="-342900">
              <a:spcAft>
                <a:spcPts val="400"/>
              </a:spcAft>
              <a:buSzPct val="100000"/>
              <a:buChar char="•"/>
            </a:pPr>
            <a:r>
              <a:rPr lang="en-US" sz="1200" dirty="0">
                <a:solidFill>
                  <a:srgbClr val="1A2E35"/>
                </a:solidFill>
                <a:latin typeface="Calibri" pitchFamily="34" charset="0"/>
                <a:ea typeface="Calibri" pitchFamily="34" charset="-122"/>
                <a:cs typeface="Calibri" pitchFamily="34" charset="-120"/>
              </a:rPr>
              <a:t>Most common in epidemiology &amp; public health</a:t>
            </a:r>
            <a:endParaRPr lang="en-US" sz="1200" dirty="0"/>
          </a:p>
          <a:p>
            <a:pPr marL="342900" indent="-342900">
              <a:spcAft>
                <a:spcPts val="400"/>
              </a:spcAft>
              <a:buSzPct val="100000"/>
              <a:buChar char="•"/>
            </a:pPr>
            <a:r>
              <a:rPr lang="en-US" sz="1200" dirty="0">
                <a:solidFill>
                  <a:srgbClr val="1A2E35"/>
                </a:solidFill>
                <a:latin typeface="Calibri" pitchFamily="34" charset="0"/>
                <a:ea typeface="Calibri" pitchFamily="34" charset="-122"/>
                <a:cs typeface="Calibri" pitchFamily="34" charset="-120"/>
              </a:rPr>
              <a:t>Example: Blood pressure ~ age + BMI + salt intake + smoking</a:t>
            </a:r>
            <a:endParaRPr lang="en-US" sz="1200" dirty="0"/>
          </a:p>
          <a:p>
            <a:pPr marL="342900" indent="-342900">
              <a:spcAft>
                <a:spcPts val="400"/>
              </a:spcAft>
              <a:buSzPct val="100000"/>
              <a:buChar char="•"/>
            </a:pPr>
            <a:r>
              <a:rPr lang="en-US" sz="1200" dirty="0">
                <a:solidFill>
                  <a:srgbClr val="1A2E35"/>
                </a:solidFill>
                <a:latin typeface="Calibri" pitchFamily="34" charset="0"/>
                <a:ea typeface="Calibri" pitchFamily="34" charset="-122"/>
                <a:cs typeface="Calibri" pitchFamily="34" charset="-120"/>
              </a:rPr>
              <a:t>Methods: Multiple linear, logistic, Poisson regression</a:t>
            </a:r>
            <a:endParaRPr lang="en-US" sz="1200" dirty="0"/>
          </a:p>
        </p:txBody>
      </p:sp>
      <p:sp>
        <p:nvSpPr>
          <p:cNvPr id="9" name="Shape 7"/>
          <p:cNvSpPr/>
          <p:nvPr/>
        </p:nvSpPr>
        <p:spPr>
          <a:xfrm>
            <a:off x="4800600" y="1143000"/>
            <a:ext cx="4023360" cy="3749040"/>
          </a:xfrm>
          <a:prstGeom prst="rect">
            <a:avLst/>
          </a:prstGeom>
          <a:solidFill>
            <a:srgbClr val="E8F4F5"/>
          </a:solidFill>
          <a:ln w="12700">
            <a:solidFill>
              <a:srgbClr val="DDDDDD"/>
            </a:solidFill>
            <a:prstDash val="solid"/>
          </a:ln>
          <a:effectLst>
            <a:outerShdw blurRad="101600" dist="38100" dir="8100000" algn="bl" rotWithShape="0">
              <a:srgbClr val="000000">
                <a:alpha val="12000"/>
              </a:srgbClr>
            </a:outerShdw>
          </a:effectLst>
        </p:spPr>
        <p:txBody>
          <a:bodyPr/>
          <a:lstStyle/>
          <a:p>
            <a:endParaRPr lang="en-US"/>
          </a:p>
        </p:txBody>
      </p:sp>
      <p:sp>
        <p:nvSpPr>
          <p:cNvPr id="10" name="Shape 8"/>
          <p:cNvSpPr/>
          <p:nvPr/>
        </p:nvSpPr>
        <p:spPr>
          <a:xfrm>
            <a:off x="4800600" y="1143000"/>
            <a:ext cx="4023360" cy="594360"/>
          </a:xfrm>
          <a:prstGeom prst="rect">
            <a:avLst/>
          </a:prstGeom>
          <a:solidFill>
            <a:srgbClr val="023E5C"/>
          </a:solidFill>
          <a:ln w="12700">
            <a:solidFill>
              <a:srgbClr val="023E5C"/>
            </a:solidFill>
            <a:prstDash val="solid"/>
          </a:ln>
        </p:spPr>
        <p:txBody>
          <a:bodyPr/>
          <a:lstStyle/>
          <a:p>
            <a:endParaRPr lang="en-US"/>
          </a:p>
        </p:txBody>
      </p:sp>
      <p:sp>
        <p:nvSpPr>
          <p:cNvPr id="11" name="Text 9"/>
          <p:cNvSpPr/>
          <p:nvPr/>
        </p:nvSpPr>
        <p:spPr>
          <a:xfrm>
            <a:off x="4800600" y="1143000"/>
            <a:ext cx="4023360" cy="5943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Multivariate Analysis</a:t>
            </a:r>
            <a:endParaRPr lang="en-US" sz="1400" dirty="0"/>
          </a:p>
        </p:txBody>
      </p:sp>
      <p:sp>
        <p:nvSpPr>
          <p:cNvPr id="12" name="Text 10"/>
          <p:cNvSpPr/>
          <p:nvPr/>
        </p:nvSpPr>
        <p:spPr>
          <a:xfrm>
            <a:off x="4892040" y="1783080"/>
            <a:ext cx="3840480" cy="411480"/>
          </a:xfrm>
          <a:prstGeom prst="rect">
            <a:avLst/>
          </a:prstGeom>
          <a:noFill/>
          <a:ln/>
        </p:spPr>
        <p:txBody>
          <a:bodyPr wrap="square" rtlCol="0" anchor="ctr"/>
          <a:lstStyle/>
          <a:p>
            <a:pPr marL="0" indent="0" algn="ctr">
              <a:buNone/>
            </a:pPr>
            <a:r>
              <a:rPr lang="en-US" sz="1200" b="1" dirty="0">
                <a:solidFill>
                  <a:srgbClr val="023E5C"/>
                </a:solidFill>
                <a:latin typeface="Calibri" pitchFamily="34" charset="0"/>
                <a:ea typeface="Calibri" pitchFamily="34" charset="-122"/>
                <a:cs typeface="Calibri" pitchFamily="34" charset="-120"/>
              </a:rPr>
              <a:t>Multiple predictors → MULTIPLE outcomes</a:t>
            </a:r>
            <a:endParaRPr lang="en-US" sz="1200" dirty="0"/>
          </a:p>
        </p:txBody>
      </p:sp>
      <p:sp>
        <p:nvSpPr>
          <p:cNvPr id="13" name="Text 11"/>
          <p:cNvSpPr/>
          <p:nvPr/>
        </p:nvSpPr>
        <p:spPr>
          <a:xfrm>
            <a:off x="4937760" y="2240280"/>
            <a:ext cx="3703320" cy="2560320"/>
          </a:xfrm>
          <a:prstGeom prst="rect">
            <a:avLst/>
          </a:prstGeom>
          <a:noFill/>
          <a:ln/>
        </p:spPr>
        <p:txBody>
          <a:bodyPr wrap="square" rtlCol="0" anchor="t"/>
          <a:lstStyle/>
          <a:p>
            <a:pPr marL="342900" indent="-342900">
              <a:spcAft>
                <a:spcPts val="400"/>
              </a:spcAft>
              <a:buSzPct val="100000"/>
              <a:buChar char="•"/>
            </a:pPr>
            <a:r>
              <a:rPr lang="en-US" sz="1200" dirty="0">
                <a:solidFill>
                  <a:srgbClr val="1A2E35"/>
                </a:solidFill>
                <a:latin typeface="Calibri" pitchFamily="34" charset="0"/>
                <a:ea typeface="Calibri" pitchFamily="34" charset="-122"/>
                <a:cs typeface="Calibri" pitchFamily="34" charset="-120"/>
              </a:rPr>
              <a:t>Multiple dependent (outcome) variables simultaneously</a:t>
            </a:r>
            <a:endParaRPr lang="en-US" sz="1200" dirty="0"/>
          </a:p>
          <a:p>
            <a:pPr marL="342900" indent="-342900">
              <a:spcAft>
                <a:spcPts val="400"/>
              </a:spcAft>
              <a:buSzPct val="100000"/>
              <a:buChar char="•"/>
            </a:pPr>
            <a:r>
              <a:rPr lang="en-US" sz="1200" dirty="0">
                <a:solidFill>
                  <a:srgbClr val="1A2E35"/>
                </a:solidFill>
                <a:latin typeface="Calibri" pitchFamily="34" charset="0"/>
                <a:ea typeface="Calibri" pitchFamily="34" charset="-122"/>
                <a:cs typeface="Calibri" pitchFamily="34" charset="-120"/>
              </a:rPr>
              <a:t>Less common in public health practice</a:t>
            </a:r>
            <a:endParaRPr lang="en-US" sz="1200" dirty="0"/>
          </a:p>
          <a:p>
            <a:pPr marL="342900" indent="-342900">
              <a:spcAft>
                <a:spcPts val="400"/>
              </a:spcAft>
              <a:buSzPct val="100000"/>
              <a:buChar char="•"/>
            </a:pPr>
            <a:r>
              <a:rPr lang="en-US" sz="1200" dirty="0">
                <a:solidFill>
                  <a:srgbClr val="1A2E35"/>
                </a:solidFill>
                <a:latin typeface="Calibri" pitchFamily="34" charset="0"/>
                <a:ea typeface="Calibri" pitchFamily="34" charset="-122"/>
                <a:cs typeface="Calibri" pitchFamily="34" charset="-120"/>
              </a:rPr>
              <a:t>Example: [Diastolic, Systolic BP] ~ age + treatment</a:t>
            </a:r>
            <a:endParaRPr lang="en-US" sz="1200" dirty="0"/>
          </a:p>
          <a:p>
            <a:pPr marL="342900" indent="-342900">
              <a:spcAft>
                <a:spcPts val="400"/>
              </a:spcAft>
              <a:buSzPct val="100000"/>
              <a:buChar char="•"/>
            </a:pPr>
            <a:r>
              <a:rPr lang="en-US" sz="1200" dirty="0">
                <a:solidFill>
                  <a:srgbClr val="1A2E35"/>
                </a:solidFill>
                <a:latin typeface="Calibri" pitchFamily="34" charset="0"/>
                <a:ea typeface="Calibri" pitchFamily="34" charset="-122"/>
                <a:cs typeface="Calibri" pitchFamily="34" charset="-120"/>
              </a:rPr>
              <a:t>Methods: MANOVA, factor analysis, cluster analysis, PCA</a:t>
            </a:r>
            <a:endParaRPr lang="en-US" sz="1200" dirty="0"/>
          </a:p>
          <a:p>
            <a:pPr marL="342900" indent="-342900">
              <a:spcAft>
                <a:spcPts val="400"/>
              </a:spcAft>
              <a:buSzPct val="100000"/>
              <a:buChar char="•"/>
            </a:pPr>
            <a:r>
              <a:rPr lang="en-US" sz="1200" dirty="0">
                <a:solidFill>
                  <a:srgbClr val="1A2E35"/>
                </a:solidFill>
                <a:latin typeface="Calibri" pitchFamily="34" charset="0"/>
                <a:ea typeface="Calibri" pitchFamily="34" charset="-122"/>
                <a:cs typeface="Calibri" pitchFamily="34" charset="-120"/>
              </a:rPr>
              <a:t>Often used in psychological &amp; social sciences</a:t>
            </a:r>
            <a:endParaRPr lang="en-US" sz="1200" dirty="0"/>
          </a:p>
        </p:txBody>
      </p:sp>
      <p:sp>
        <p:nvSpPr>
          <p:cNvPr id="14" name="Text 12"/>
          <p:cNvSpPr/>
          <p:nvPr/>
        </p:nvSpPr>
        <p:spPr>
          <a:xfrm>
            <a:off x="320040" y="4709160"/>
            <a:ext cx="8503920" cy="320040"/>
          </a:xfrm>
          <a:prstGeom prst="rect">
            <a:avLst/>
          </a:prstGeom>
          <a:noFill/>
          <a:ln/>
        </p:spPr>
        <p:txBody>
          <a:bodyPr wrap="square" rtlCol="0" anchor="ctr"/>
          <a:lstStyle/>
          <a:p>
            <a:pPr marL="0" indent="0" algn="ctr">
              <a:buNone/>
            </a:pPr>
            <a:r>
              <a:rPr lang="en-US" sz="1100" i="1" dirty="0">
                <a:solidFill>
                  <a:srgbClr val="3D6470"/>
                </a:solidFill>
                <a:latin typeface="Calibri" pitchFamily="34" charset="0"/>
                <a:ea typeface="Calibri" pitchFamily="34" charset="-122"/>
                <a:cs typeface="Calibri" pitchFamily="34" charset="-120"/>
              </a:rPr>
              <a:t>💡 In this lecture, we focus on MULTIVARIABLE methods — the foundation of epidemiological analysis.</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82296"/>
          </a:xfrm>
          <a:prstGeom prst="rect">
            <a:avLst/>
          </a:prstGeom>
          <a:solidFill>
            <a:srgbClr val="D4A843"/>
          </a:solidFill>
          <a:ln w="12700">
            <a:solidFill>
              <a:srgbClr val="D4A843"/>
            </a:solidFill>
            <a:prstDash val="solid"/>
          </a:ln>
        </p:spPr>
        <p:txBody>
          <a:bodyPr/>
          <a:lstStyle/>
          <a:p>
            <a:endParaRPr lang="en-US"/>
          </a:p>
        </p:txBody>
      </p:sp>
      <p:sp>
        <p:nvSpPr>
          <p:cNvPr id="3" name="Text 1"/>
          <p:cNvSpPr/>
          <p:nvPr/>
        </p:nvSpPr>
        <p:spPr>
          <a:xfrm>
            <a:off x="411480" y="137160"/>
            <a:ext cx="8321040" cy="658368"/>
          </a:xfrm>
          <a:prstGeom prst="rect">
            <a:avLst/>
          </a:prstGeom>
          <a:noFill/>
          <a:ln/>
        </p:spPr>
        <p:txBody>
          <a:bodyPr wrap="square" lIns="0" tIns="0" rIns="0" bIns="0" rtlCol="0" anchor="ctr"/>
          <a:lstStyle/>
          <a:p>
            <a:pPr marL="0" indent="0">
              <a:buNone/>
            </a:pPr>
            <a:r>
              <a:rPr lang="en-US" sz="2700" b="1" dirty="0">
                <a:solidFill>
                  <a:srgbClr val="1E2761"/>
                </a:solidFill>
                <a:latin typeface="Georgia" pitchFamily="34" charset="0"/>
                <a:ea typeface="Georgia" pitchFamily="34" charset="-122"/>
                <a:cs typeface="Georgia" pitchFamily="34" charset="-120"/>
              </a:rPr>
              <a:t>The Terminology Problem in Public Health</a:t>
            </a:r>
            <a:endParaRPr lang="en-US" sz="2700" dirty="0"/>
          </a:p>
        </p:txBody>
      </p:sp>
      <p:sp>
        <p:nvSpPr>
          <p:cNvPr id="4" name="Text 2"/>
          <p:cNvSpPr/>
          <p:nvPr/>
        </p:nvSpPr>
        <p:spPr>
          <a:xfrm>
            <a:off x="411480" y="822960"/>
            <a:ext cx="8321040" cy="320040"/>
          </a:xfrm>
          <a:prstGeom prst="rect">
            <a:avLst/>
          </a:prstGeom>
          <a:noFill/>
          <a:ln/>
        </p:spPr>
        <p:txBody>
          <a:bodyPr wrap="square" lIns="0" tIns="0" rIns="0" bIns="0" rtlCol="0" anchor="ctr"/>
          <a:lstStyle/>
          <a:p>
            <a:pPr marL="0" indent="0">
              <a:buNone/>
            </a:pPr>
            <a:r>
              <a:rPr lang="en-US" sz="1300" i="1" dirty="0">
                <a:solidFill>
                  <a:srgbClr val="5C5F7A"/>
                </a:solidFill>
                <a:latin typeface="Calibri" pitchFamily="34" charset="0"/>
                <a:ea typeface="Calibri" pitchFamily="34" charset="-122"/>
                <a:cs typeface="Calibri" pitchFamily="34" charset="-120"/>
              </a:rPr>
              <a:t>These two terms are frequently confused — even in peer-reviewed journals</a:t>
            </a:r>
            <a:endParaRPr lang="en-US" sz="1300" dirty="0"/>
          </a:p>
        </p:txBody>
      </p:sp>
      <p:sp>
        <p:nvSpPr>
          <p:cNvPr id="5" name="Shape 3"/>
          <p:cNvSpPr/>
          <p:nvPr/>
        </p:nvSpPr>
        <p:spPr>
          <a:xfrm>
            <a:off x="365760" y="1170432"/>
            <a:ext cx="8412480" cy="914400"/>
          </a:xfrm>
          <a:prstGeom prst="rect">
            <a:avLst/>
          </a:prstGeom>
          <a:solidFill>
            <a:srgbClr val="1E2761"/>
          </a:solidFill>
          <a:ln w="12700">
            <a:solidFill>
              <a:srgbClr val="1E2761"/>
            </a:solidFill>
            <a:prstDash val="solid"/>
          </a:ln>
        </p:spPr>
        <p:txBody>
          <a:bodyPr/>
          <a:lstStyle/>
          <a:p>
            <a:endParaRPr lang="en-US"/>
          </a:p>
        </p:txBody>
      </p:sp>
      <p:sp>
        <p:nvSpPr>
          <p:cNvPr id="6" name="Text 4"/>
          <p:cNvSpPr/>
          <p:nvPr/>
        </p:nvSpPr>
        <p:spPr>
          <a:xfrm>
            <a:off x="502920" y="1216152"/>
            <a:ext cx="8138160" cy="822960"/>
          </a:xfrm>
          <a:prstGeom prst="rect">
            <a:avLst/>
          </a:prstGeom>
          <a:noFill/>
          <a:ln/>
        </p:spPr>
        <p:txBody>
          <a:bodyPr wrap="square" lIns="0" tIns="0" rIns="0" bIns="0" rtlCol="0" anchor="ctr"/>
          <a:lstStyle/>
          <a:p>
            <a:pPr marL="0" indent="0">
              <a:buNone/>
            </a:pPr>
            <a:r>
              <a:rPr lang="en-US" sz="1350" i="1" dirty="0">
                <a:solidFill>
                  <a:srgbClr val="FFFFFF"/>
                </a:solidFill>
                <a:latin typeface="Calibri" pitchFamily="34" charset="0"/>
                <a:ea typeface="Calibri" pitchFamily="34" charset="-122"/>
                <a:cs typeface="Calibri" pitchFamily="34" charset="-120"/>
              </a:rPr>
              <a:t>"The terms multivariate and multivariable are not synonymous, yet they are frequently used interchangeably — this leads to analytical and interpretive errors."</a:t>
            </a:r>
            <a:endParaRPr lang="en-US" sz="1350" dirty="0"/>
          </a:p>
        </p:txBody>
      </p:sp>
      <p:sp>
        <p:nvSpPr>
          <p:cNvPr id="7" name="Text 5"/>
          <p:cNvSpPr/>
          <p:nvPr/>
        </p:nvSpPr>
        <p:spPr>
          <a:xfrm>
            <a:off x="6400800" y="2103120"/>
            <a:ext cx="2560320" cy="274320"/>
          </a:xfrm>
          <a:prstGeom prst="rect">
            <a:avLst/>
          </a:prstGeom>
          <a:noFill/>
          <a:ln/>
        </p:spPr>
        <p:txBody>
          <a:bodyPr wrap="square" lIns="0" tIns="0" rIns="0" bIns="0" rtlCol="0" anchor="ctr"/>
          <a:lstStyle/>
          <a:p>
            <a:pPr marL="0" indent="0">
              <a:buNone/>
            </a:pPr>
            <a:r>
              <a:rPr lang="en-US" sz="1000" i="1" dirty="0">
                <a:solidFill>
                  <a:srgbClr val="5C5F7A"/>
                </a:solidFill>
                <a:latin typeface="Calibri" pitchFamily="34" charset="0"/>
                <a:ea typeface="Calibri" pitchFamily="34" charset="-122"/>
                <a:cs typeface="Calibri" pitchFamily="34" charset="-120"/>
              </a:rPr>
              <a:t>— Adapted from Tabachnick &amp; Fidell (2019), Ch. 1</a:t>
            </a:r>
            <a:endParaRPr lang="en-US" sz="1000" dirty="0"/>
          </a:p>
        </p:txBody>
      </p:sp>
      <p:sp>
        <p:nvSpPr>
          <p:cNvPr id="8" name="Shape 6"/>
          <p:cNvSpPr/>
          <p:nvPr/>
        </p:nvSpPr>
        <p:spPr>
          <a:xfrm>
            <a:off x="365760" y="2423160"/>
            <a:ext cx="4114800" cy="2514600"/>
          </a:xfrm>
          <a:prstGeom prst="rect">
            <a:avLst/>
          </a:prstGeom>
          <a:solidFill>
            <a:srgbClr val="1E2761"/>
          </a:solidFill>
          <a:ln w="12700">
            <a:solidFill>
              <a:srgbClr val="1E2761"/>
            </a:solidFill>
            <a:prstDash val="solid"/>
          </a:ln>
        </p:spPr>
        <p:txBody>
          <a:bodyPr/>
          <a:lstStyle/>
          <a:p>
            <a:endParaRPr lang="en-US"/>
          </a:p>
        </p:txBody>
      </p:sp>
      <p:sp>
        <p:nvSpPr>
          <p:cNvPr id="9" name="Text 7"/>
          <p:cNvSpPr/>
          <p:nvPr/>
        </p:nvSpPr>
        <p:spPr>
          <a:xfrm>
            <a:off x="502920" y="2487168"/>
            <a:ext cx="3840480" cy="411480"/>
          </a:xfrm>
          <a:prstGeom prst="rect">
            <a:avLst/>
          </a:prstGeom>
          <a:noFill/>
          <a:ln/>
        </p:spPr>
        <p:txBody>
          <a:bodyPr wrap="square" lIns="0" tIns="0" rIns="0" bIns="0" rtlCol="0" anchor="ctr"/>
          <a:lstStyle/>
          <a:p>
            <a:pPr marL="0" indent="0">
              <a:buNone/>
            </a:pPr>
            <a:r>
              <a:rPr lang="en-US" sz="1500" b="1" dirty="0">
                <a:solidFill>
                  <a:srgbClr val="D4A843"/>
                </a:solidFill>
                <a:latin typeface="Georgia" pitchFamily="34" charset="0"/>
                <a:ea typeface="Georgia" pitchFamily="34" charset="-122"/>
                <a:cs typeface="Georgia" pitchFamily="34" charset="-120"/>
              </a:rPr>
              <a:t>MULTIVARIABLE</a:t>
            </a:r>
            <a:endParaRPr lang="en-US" sz="1500" dirty="0"/>
          </a:p>
        </p:txBody>
      </p:sp>
      <p:sp>
        <p:nvSpPr>
          <p:cNvPr id="10" name="Text 8"/>
          <p:cNvSpPr/>
          <p:nvPr/>
        </p:nvSpPr>
        <p:spPr>
          <a:xfrm>
            <a:off x="502920" y="2944368"/>
            <a:ext cx="3840480" cy="1920240"/>
          </a:xfrm>
          <a:prstGeom prst="rect">
            <a:avLst/>
          </a:prstGeom>
          <a:noFill/>
          <a:ln/>
        </p:spPr>
        <p:txBody>
          <a:bodyPr wrap="square" rtlCol="0" anchor="t"/>
          <a:lstStyle/>
          <a:p>
            <a:pPr marL="342900" indent="-342900">
              <a:buSzPct val="100000"/>
              <a:buChar char="•"/>
            </a:pPr>
            <a:r>
              <a:rPr lang="en-US" sz="1250" dirty="0">
                <a:solidFill>
                  <a:srgbClr val="FFFFFF"/>
                </a:solidFill>
                <a:latin typeface="Calibri" pitchFamily="34" charset="0"/>
                <a:ea typeface="Calibri" pitchFamily="34" charset="-122"/>
                <a:cs typeface="Calibri" pitchFamily="34" charset="-120"/>
              </a:rPr>
              <a:t>One dependent variable (outcome)</a:t>
            </a:r>
            <a:endParaRPr lang="en-US" sz="1250" dirty="0"/>
          </a:p>
          <a:p>
            <a:pPr marL="342900" indent="-342900">
              <a:buSzPct val="100000"/>
              <a:buChar char="•"/>
            </a:pPr>
            <a:r>
              <a:rPr lang="en-US" sz="1250" dirty="0">
                <a:solidFill>
                  <a:srgbClr val="FFFFFF"/>
                </a:solidFill>
                <a:latin typeface="Calibri" pitchFamily="34" charset="0"/>
                <a:ea typeface="Calibri" pitchFamily="34" charset="-122"/>
                <a:cs typeface="Calibri" pitchFamily="34" charset="-120"/>
              </a:rPr>
              <a:t>Multiple independent variables (predictors)</a:t>
            </a:r>
            <a:endParaRPr lang="en-US" sz="1250" dirty="0"/>
          </a:p>
          <a:p>
            <a:pPr marL="342900" indent="-342900">
              <a:buSzPct val="100000"/>
              <a:buChar char="•"/>
            </a:pPr>
            <a:r>
              <a:rPr lang="en-US" sz="1250" dirty="0">
                <a:solidFill>
                  <a:srgbClr val="FFFFFF"/>
                </a:solidFill>
                <a:latin typeface="Calibri" pitchFamily="34" charset="0"/>
                <a:ea typeface="Calibri" pitchFamily="34" charset="-122"/>
                <a:cs typeface="Calibri" pitchFamily="34" charset="-120"/>
              </a:rPr>
              <a:t>Goal: explain or predict the single outcome</a:t>
            </a:r>
            <a:endParaRPr lang="en-US" sz="1250" dirty="0"/>
          </a:p>
          <a:p>
            <a:pPr marL="342900" indent="-342900">
              <a:buSzPct val="100000"/>
              <a:buChar char="•"/>
            </a:pPr>
            <a:r>
              <a:rPr lang="en-US" sz="1250" dirty="0">
                <a:solidFill>
                  <a:srgbClr val="FFFFFF"/>
                </a:solidFill>
                <a:latin typeface="Calibri" pitchFamily="34" charset="0"/>
                <a:ea typeface="Calibri" pitchFamily="34" charset="-122"/>
                <a:cs typeface="Calibri" pitchFamily="34" charset="-120"/>
              </a:rPr>
              <a:t>Example: multiple linear regression, logistic regression</a:t>
            </a:r>
            <a:endParaRPr lang="en-US" sz="1250" dirty="0"/>
          </a:p>
          <a:p>
            <a:pPr marL="342900" indent="-342900">
              <a:buSzPct val="100000"/>
              <a:buChar char="•"/>
            </a:pPr>
            <a:r>
              <a:rPr lang="en-US" sz="1250" dirty="0">
                <a:solidFill>
                  <a:srgbClr val="FFFFFF"/>
                </a:solidFill>
                <a:latin typeface="Calibri" pitchFamily="34" charset="0"/>
                <a:ea typeface="Calibri" pitchFamily="34" charset="-122"/>
                <a:cs typeface="Calibri" pitchFamily="34" charset="-120"/>
              </a:rPr>
              <a:t>Common in epidemiology &amp; clinical research</a:t>
            </a:r>
            <a:endParaRPr lang="en-US" sz="1250" dirty="0"/>
          </a:p>
        </p:txBody>
      </p:sp>
      <p:sp>
        <p:nvSpPr>
          <p:cNvPr id="11" name="Shape 9"/>
          <p:cNvSpPr/>
          <p:nvPr/>
        </p:nvSpPr>
        <p:spPr>
          <a:xfrm>
            <a:off x="4663440" y="2423160"/>
            <a:ext cx="4114800" cy="2514600"/>
          </a:xfrm>
          <a:prstGeom prst="rect">
            <a:avLst/>
          </a:prstGeom>
          <a:solidFill>
            <a:srgbClr val="6D2E46"/>
          </a:solidFill>
          <a:ln w="12700">
            <a:solidFill>
              <a:srgbClr val="6D2E46"/>
            </a:solidFill>
            <a:prstDash val="solid"/>
          </a:ln>
        </p:spPr>
        <p:txBody>
          <a:bodyPr/>
          <a:lstStyle/>
          <a:p>
            <a:endParaRPr lang="en-US"/>
          </a:p>
        </p:txBody>
      </p:sp>
      <p:sp>
        <p:nvSpPr>
          <p:cNvPr id="12" name="Text 10"/>
          <p:cNvSpPr/>
          <p:nvPr/>
        </p:nvSpPr>
        <p:spPr>
          <a:xfrm>
            <a:off x="4800600" y="2487168"/>
            <a:ext cx="3840480" cy="411480"/>
          </a:xfrm>
          <a:prstGeom prst="rect">
            <a:avLst/>
          </a:prstGeom>
          <a:noFill/>
          <a:ln/>
        </p:spPr>
        <p:txBody>
          <a:bodyPr wrap="square" lIns="0" tIns="0" rIns="0" bIns="0" rtlCol="0" anchor="ctr"/>
          <a:lstStyle/>
          <a:p>
            <a:pPr marL="0" indent="0">
              <a:buNone/>
            </a:pPr>
            <a:r>
              <a:rPr lang="en-US" sz="1500" b="1" dirty="0">
                <a:solidFill>
                  <a:srgbClr val="D4A843"/>
                </a:solidFill>
                <a:latin typeface="Georgia" pitchFamily="34" charset="0"/>
                <a:ea typeface="Georgia" pitchFamily="34" charset="-122"/>
                <a:cs typeface="Georgia" pitchFamily="34" charset="-120"/>
              </a:rPr>
              <a:t>MULTIVARIATE</a:t>
            </a:r>
            <a:endParaRPr lang="en-US" sz="1500" dirty="0"/>
          </a:p>
        </p:txBody>
      </p:sp>
      <p:sp>
        <p:nvSpPr>
          <p:cNvPr id="13" name="Text 11"/>
          <p:cNvSpPr/>
          <p:nvPr/>
        </p:nvSpPr>
        <p:spPr>
          <a:xfrm>
            <a:off x="4800600" y="2944368"/>
            <a:ext cx="3840480" cy="1920240"/>
          </a:xfrm>
          <a:prstGeom prst="rect">
            <a:avLst/>
          </a:prstGeom>
          <a:noFill/>
          <a:ln/>
        </p:spPr>
        <p:txBody>
          <a:bodyPr wrap="square" rtlCol="0" anchor="t"/>
          <a:lstStyle/>
          <a:p>
            <a:pPr marL="342900" indent="-342900">
              <a:buSzPct val="100000"/>
              <a:buChar char="•"/>
            </a:pPr>
            <a:r>
              <a:rPr lang="en-US" sz="1250" dirty="0">
                <a:solidFill>
                  <a:srgbClr val="FFFFFF"/>
                </a:solidFill>
                <a:latin typeface="Calibri" pitchFamily="34" charset="0"/>
                <a:ea typeface="Calibri" pitchFamily="34" charset="-122"/>
                <a:cs typeface="Calibri" pitchFamily="34" charset="-120"/>
              </a:rPr>
              <a:t>Two or more dependent variables simultaneously</a:t>
            </a:r>
            <a:endParaRPr lang="en-US" sz="1250" dirty="0"/>
          </a:p>
          <a:p>
            <a:pPr marL="342900" indent="-342900">
              <a:buSzPct val="100000"/>
              <a:buChar char="•"/>
            </a:pPr>
            <a:r>
              <a:rPr lang="en-US" sz="1250" dirty="0">
                <a:solidFill>
                  <a:srgbClr val="FFFFFF"/>
                </a:solidFill>
                <a:latin typeface="Calibri" pitchFamily="34" charset="0"/>
                <a:ea typeface="Calibri" pitchFamily="34" charset="-122"/>
                <a:cs typeface="Calibri" pitchFamily="34" charset="-120"/>
              </a:rPr>
              <a:t>Outcomes analysed together (not separately)</a:t>
            </a:r>
            <a:endParaRPr lang="en-US" sz="1250" dirty="0"/>
          </a:p>
          <a:p>
            <a:pPr marL="342900" indent="-342900">
              <a:buSzPct val="100000"/>
              <a:buChar char="•"/>
            </a:pPr>
            <a:r>
              <a:rPr lang="en-US" sz="1250" dirty="0">
                <a:solidFill>
                  <a:srgbClr val="FFFFFF"/>
                </a:solidFill>
                <a:latin typeface="Calibri" pitchFamily="34" charset="0"/>
                <a:ea typeface="Calibri" pitchFamily="34" charset="-122"/>
                <a:cs typeface="Calibri" pitchFamily="34" charset="-120"/>
              </a:rPr>
              <a:t>Goal: model the joint distribution of DVs</a:t>
            </a:r>
            <a:endParaRPr lang="en-US" sz="1250" dirty="0"/>
          </a:p>
          <a:p>
            <a:pPr marL="342900" indent="-342900">
              <a:buSzPct val="100000"/>
              <a:buChar char="•"/>
            </a:pPr>
            <a:r>
              <a:rPr lang="en-US" sz="1250" dirty="0">
                <a:solidFill>
                  <a:srgbClr val="FFFFFF"/>
                </a:solidFill>
                <a:latin typeface="Calibri" pitchFamily="34" charset="0"/>
                <a:ea typeface="Calibri" pitchFamily="34" charset="-122"/>
                <a:cs typeface="Calibri" pitchFamily="34" charset="-120"/>
              </a:rPr>
              <a:t>Example: MANOVA, SEM, factor analysis</a:t>
            </a:r>
            <a:endParaRPr lang="en-US" sz="1250" dirty="0"/>
          </a:p>
          <a:p>
            <a:pPr marL="342900" indent="-342900">
              <a:buSzPct val="100000"/>
              <a:buChar char="•"/>
            </a:pPr>
            <a:r>
              <a:rPr lang="en-US" sz="1250" dirty="0">
                <a:solidFill>
                  <a:srgbClr val="FFFFFF"/>
                </a:solidFill>
                <a:latin typeface="Calibri" pitchFamily="34" charset="0"/>
                <a:ea typeface="Calibri" pitchFamily="34" charset="-122"/>
                <a:cs typeface="Calibri" pitchFamily="34" charset="-120"/>
              </a:rPr>
              <a:t>Common in psychology, social science, complex PH</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82296"/>
          </a:xfrm>
          <a:prstGeom prst="rect">
            <a:avLst/>
          </a:prstGeom>
          <a:solidFill>
            <a:srgbClr val="D4A843"/>
          </a:solidFill>
          <a:ln w="12700">
            <a:solidFill>
              <a:srgbClr val="D4A843"/>
            </a:solidFill>
            <a:prstDash val="solid"/>
          </a:ln>
        </p:spPr>
        <p:txBody>
          <a:bodyPr/>
          <a:lstStyle/>
          <a:p>
            <a:endParaRPr lang="en-US"/>
          </a:p>
        </p:txBody>
      </p:sp>
      <p:sp>
        <p:nvSpPr>
          <p:cNvPr id="3" name="Text 1"/>
          <p:cNvSpPr/>
          <p:nvPr/>
        </p:nvSpPr>
        <p:spPr>
          <a:xfrm>
            <a:off x="411480" y="137160"/>
            <a:ext cx="8321040" cy="658368"/>
          </a:xfrm>
          <a:prstGeom prst="rect">
            <a:avLst/>
          </a:prstGeom>
          <a:noFill/>
          <a:ln/>
        </p:spPr>
        <p:txBody>
          <a:bodyPr wrap="square" lIns="0" tIns="0" rIns="0" bIns="0" rtlCol="0" anchor="ctr"/>
          <a:lstStyle/>
          <a:p>
            <a:pPr marL="0" indent="0">
              <a:buNone/>
            </a:pPr>
            <a:r>
              <a:rPr lang="en-US" sz="2700" b="1" dirty="0">
                <a:solidFill>
                  <a:srgbClr val="1E2761"/>
                </a:solidFill>
                <a:latin typeface="Georgia" pitchFamily="34" charset="0"/>
                <a:ea typeface="Georgia" pitchFamily="34" charset="-122"/>
                <a:cs typeface="Georgia" pitchFamily="34" charset="-120"/>
              </a:rPr>
              <a:t>A Visual Analogy: One River vs Many Streams</a:t>
            </a:r>
            <a:endParaRPr lang="en-US" sz="2700" dirty="0"/>
          </a:p>
        </p:txBody>
      </p:sp>
      <p:sp>
        <p:nvSpPr>
          <p:cNvPr id="4" name="Text 2"/>
          <p:cNvSpPr/>
          <p:nvPr/>
        </p:nvSpPr>
        <p:spPr>
          <a:xfrm>
            <a:off x="411480" y="822960"/>
            <a:ext cx="8321040" cy="320040"/>
          </a:xfrm>
          <a:prstGeom prst="rect">
            <a:avLst/>
          </a:prstGeom>
          <a:noFill/>
          <a:ln/>
        </p:spPr>
        <p:txBody>
          <a:bodyPr wrap="square" lIns="0" tIns="0" rIns="0" bIns="0" rtlCol="0" anchor="ctr"/>
          <a:lstStyle/>
          <a:p>
            <a:pPr marL="0" indent="0">
              <a:buNone/>
            </a:pPr>
            <a:r>
              <a:rPr lang="en-US" sz="1300" i="1" dirty="0">
                <a:solidFill>
                  <a:srgbClr val="5C5F7A"/>
                </a:solidFill>
                <a:latin typeface="Calibri" pitchFamily="34" charset="0"/>
                <a:ea typeface="Calibri" pitchFamily="34" charset="-122"/>
                <a:cs typeface="Calibri" pitchFamily="34" charset="-120"/>
              </a:rPr>
              <a:t>The number of outcome variables defines which class of analysis you need</a:t>
            </a:r>
            <a:endParaRPr lang="en-US" sz="1300" dirty="0"/>
          </a:p>
        </p:txBody>
      </p:sp>
      <p:sp>
        <p:nvSpPr>
          <p:cNvPr id="5" name="Shape 3"/>
          <p:cNvSpPr/>
          <p:nvPr/>
        </p:nvSpPr>
        <p:spPr>
          <a:xfrm>
            <a:off x="365760" y="1097280"/>
            <a:ext cx="4023360" cy="3840480"/>
          </a:xfrm>
          <a:prstGeom prst="rect">
            <a:avLst/>
          </a:prstGeom>
          <a:solidFill>
            <a:srgbClr val="ECEEF8"/>
          </a:solidFill>
          <a:ln w="12700">
            <a:solidFill>
              <a:srgbClr val="DDE0F0"/>
            </a:solidFill>
            <a:prstDash val="solid"/>
          </a:ln>
          <a:effectLst>
            <a:outerShdw blurRad="76200" dist="25400" dir="8100000" algn="bl" rotWithShape="0">
              <a:srgbClr val="000000">
                <a:alpha val="10000"/>
              </a:srgbClr>
            </a:outerShdw>
          </a:effectLst>
        </p:spPr>
        <p:txBody>
          <a:bodyPr/>
          <a:lstStyle/>
          <a:p>
            <a:endParaRPr lang="en-US"/>
          </a:p>
        </p:txBody>
      </p:sp>
      <p:sp>
        <p:nvSpPr>
          <p:cNvPr id="6" name="Shape 4"/>
          <p:cNvSpPr/>
          <p:nvPr/>
        </p:nvSpPr>
        <p:spPr>
          <a:xfrm>
            <a:off x="365760" y="1097280"/>
            <a:ext cx="4023360" cy="64008"/>
          </a:xfrm>
          <a:prstGeom prst="rect">
            <a:avLst/>
          </a:prstGeom>
          <a:solidFill>
            <a:srgbClr val="1E2761"/>
          </a:solidFill>
          <a:ln w="12700">
            <a:solidFill>
              <a:srgbClr val="1E2761"/>
            </a:solidFill>
            <a:prstDash val="solid"/>
          </a:ln>
        </p:spPr>
        <p:txBody>
          <a:bodyPr/>
          <a:lstStyle/>
          <a:p>
            <a:endParaRPr lang="en-US"/>
          </a:p>
        </p:txBody>
      </p:sp>
      <p:sp>
        <p:nvSpPr>
          <p:cNvPr id="7" name="Text 5"/>
          <p:cNvSpPr/>
          <p:nvPr/>
        </p:nvSpPr>
        <p:spPr>
          <a:xfrm>
            <a:off x="457200" y="1143000"/>
            <a:ext cx="3840480" cy="384048"/>
          </a:xfrm>
          <a:prstGeom prst="rect">
            <a:avLst/>
          </a:prstGeom>
          <a:noFill/>
          <a:ln/>
        </p:spPr>
        <p:txBody>
          <a:bodyPr wrap="square" lIns="0" tIns="0" rIns="0" bIns="0" rtlCol="0" anchor="ctr"/>
          <a:lstStyle/>
          <a:p>
            <a:pPr marL="0" indent="0" algn="ctr">
              <a:buNone/>
            </a:pPr>
            <a:r>
              <a:rPr lang="en-US" sz="1400" b="1" dirty="0">
                <a:solidFill>
                  <a:srgbClr val="1E2761"/>
                </a:solidFill>
                <a:latin typeface="Georgia" pitchFamily="34" charset="0"/>
                <a:ea typeface="Georgia" pitchFamily="34" charset="-122"/>
                <a:cs typeface="Georgia" pitchFamily="34" charset="-120"/>
              </a:rPr>
              <a:t>MULTIVARIABLE</a:t>
            </a:r>
            <a:endParaRPr lang="en-US" sz="1400" dirty="0"/>
          </a:p>
        </p:txBody>
      </p:sp>
      <p:sp>
        <p:nvSpPr>
          <p:cNvPr id="8" name="Shape 6"/>
          <p:cNvSpPr/>
          <p:nvPr/>
        </p:nvSpPr>
        <p:spPr>
          <a:xfrm>
            <a:off x="502920" y="1627632"/>
            <a:ext cx="1234440" cy="475488"/>
          </a:xfrm>
          <a:prstGeom prst="rect">
            <a:avLst/>
          </a:prstGeom>
          <a:solidFill>
            <a:srgbClr val="2E3F8F"/>
          </a:solidFill>
          <a:ln w="12700">
            <a:solidFill>
              <a:srgbClr val="2E3F8F"/>
            </a:solidFill>
            <a:prstDash val="solid"/>
          </a:ln>
        </p:spPr>
        <p:txBody>
          <a:bodyPr/>
          <a:lstStyle/>
          <a:p>
            <a:endParaRPr lang="en-US"/>
          </a:p>
        </p:txBody>
      </p:sp>
      <p:sp>
        <p:nvSpPr>
          <p:cNvPr id="9" name="Text 7"/>
          <p:cNvSpPr/>
          <p:nvPr/>
        </p:nvSpPr>
        <p:spPr>
          <a:xfrm>
            <a:off x="502920" y="1627632"/>
            <a:ext cx="1234440" cy="475488"/>
          </a:xfrm>
          <a:prstGeom prst="rect">
            <a:avLst/>
          </a:prstGeom>
          <a:noFill/>
          <a:ln/>
        </p:spPr>
        <p:txBody>
          <a:bodyPr wrap="square" lIns="0" tIns="0" rIns="0" bIns="0" rtlCol="0" anchor="ctr"/>
          <a:lstStyle/>
          <a:p>
            <a:pPr marL="0" indent="0" algn="ctr">
              <a:buNone/>
            </a:pPr>
            <a:r>
              <a:rPr lang="en-US" sz="1150" dirty="0">
                <a:solidFill>
                  <a:srgbClr val="FFFFFF"/>
                </a:solidFill>
                <a:latin typeface="Calibri" pitchFamily="34" charset="0"/>
                <a:ea typeface="Calibri" pitchFamily="34" charset="-122"/>
                <a:cs typeface="Calibri" pitchFamily="34" charset="-120"/>
              </a:rPr>
              <a:t>X₁ Age</a:t>
            </a:r>
            <a:endParaRPr lang="en-US" sz="1150" dirty="0"/>
          </a:p>
        </p:txBody>
      </p:sp>
      <p:sp>
        <p:nvSpPr>
          <p:cNvPr id="10" name="Shape 8"/>
          <p:cNvSpPr/>
          <p:nvPr/>
        </p:nvSpPr>
        <p:spPr>
          <a:xfrm>
            <a:off x="1737360" y="1865376"/>
            <a:ext cx="685800" cy="0"/>
          </a:xfrm>
          <a:prstGeom prst="line">
            <a:avLst/>
          </a:prstGeom>
          <a:noFill/>
          <a:ln w="25400">
            <a:solidFill>
              <a:srgbClr val="1E2761"/>
            </a:solidFill>
            <a:prstDash val="solid"/>
          </a:ln>
        </p:spPr>
        <p:txBody>
          <a:bodyPr/>
          <a:lstStyle/>
          <a:p>
            <a:endParaRPr lang="en-US"/>
          </a:p>
        </p:txBody>
      </p:sp>
      <p:sp>
        <p:nvSpPr>
          <p:cNvPr id="11" name="Shape 9"/>
          <p:cNvSpPr/>
          <p:nvPr/>
        </p:nvSpPr>
        <p:spPr>
          <a:xfrm>
            <a:off x="502920" y="2331720"/>
            <a:ext cx="1234440" cy="475488"/>
          </a:xfrm>
          <a:prstGeom prst="rect">
            <a:avLst/>
          </a:prstGeom>
          <a:solidFill>
            <a:srgbClr val="2E3F8F"/>
          </a:solidFill>
          <a:ln w="12700">
            <a:solidFill>
              <a:srgbClr val="2E3F8F"/>
            </a:solidFill>
            <a:prstDash val="solid"/>
          </a:ln>
        </p:spPr>
        <p:txBody>
          <a:bodyPr/>
          <a:lstStyle/>
          <a:p>
            <a:endParaRPr lang="en-US"/>
          </a:p>
        </p:txBody>
      </p:sp>
      <p:sp>
        <p:nvSpPr>
          <p:cNvPr id="12" name="Text 10"/>
          <p:cNvSpPr/>
          <p:nvPr/>
        </p:nvSpPr>
        <p:spPr>
          <a:xfrm>
            <a:off x="502920" y="2331720"/>
            <a:ext cx="1234440" cy="475488"/>
          </a:xfrm>
          <a:prstGeom prst="rect">
            <a:avLst/>
          </a:prstGeom>
          <a:noFill/>
          <a:ln/>
        </p:spPr>
        <p:txBody>
          <a:bodyPr wrap="square" lIns="0" tIns="0" rIns="0" bIns="0" rtlCol="0" anchor="ctr"/>
          <a:lstStyle/>
          <a:p>
            <a:pPr marL="0" indent="0" algn="ctr">
              <a:buNone/>
            </a:pPr>
            <a:r>
              <a:rPr lang="en-US" sz="1150" dirty="0">
                <a:solidFill>
                  <a:srgbClr val="FFFFFF"/>
                </a:solidFill>
                <a:latin typeface="Calibri" pitchFamily="34" charset="0"/>
                <a:ea typeface="Calibri" pitchFamily="34" charset="-122"/>
                <a:cs typeface="Calibri" pitchFamily="34" charset="-120"/>
              </a:rPr>
              <a:t>X₂ BMI</a:t>
            </a:r>
            <a:endParaRPr lang="en-US" sz="1150" dirty="0"/>
          </a:p>
        </p:txBody>
      </p:sp>
      <p:sp>
        <p:nvSpPr>
          <p:cNvPr id="13" name="Shape 11"/>
          <p:cNvSpPr/>
          <p:nvPr/>
        </p:nvSpPr>
        <p:spPr>
          <a:xfrm>
            <a:off x="1737360" y="2569464"/>
            <a:ext cx="685800" cy="0"/>
          </a:xfrm>
          <a:prstGeom prst="line">
            <a:avLst/>
          </a:prstGeom>
          <a:noFill/>
          <a:ln w="25400">
            <a:solidFill>
              <a:srgbClr val="1E2761"/>
            </a:solidFill>
            <a:prstDash val="solid"/>
          </a:ln>
        </p:spPr>
        <p:txBody>
          <a:bodyPr/>
          <a:lstStyle/>
          <a:p>
            <a:endParaRPr lang="en-US"/>
          </a:p>
        </p:txBody>
      </p:sp>
      <p:sp>
        <p:nvSpPr>
          <p:cNvPr id="14" name="Shape 12"/>
          <p:cNvSpPr/>
          <p:nvPr/>
        </p:nvSpPr>
        <p:spPr>
          <a:xfrm>
            <a:off x="502920" y="3035808"/>
            <a:ext cx="1234440" cy="475488"/>
          </a:xfrm>
          <a:prstGeom prst="rect">
            <a:avLst/>
          </a:prstGeom>
          <a:solidFill>
            <a:srgbClr val="2E3F8F"/>
          </a:solidFill>
          <a:ln w="12700">
            <a:solidFill>
              <a:srgbClr val="2E3F8F"/>
            </a:solidFill>
            <a:prstDash val="solid"/>
          </a:ln>
        </p:spPr>
        <p:txBody>
          <a:bodyPr/>
          <a:lstStyle/>
          <a:p>
            <a:endParaRPr lang="en-US"/>
          </a:p>
        </p:txBody>
      </p:sp>
      <p:sp>
        <p:nvSpPr>
          <p:cNvPr id="15" name="Text 13"/>
          <p:cNvSpPr/>
          <p:nvPr/>
        </p:nvSpPr>
        <p:spPr>
          <a:xfrm>
            <a:off x="502920" y="3035808"/>
            <a:ext cx="1234440" cy="475488"/>
          </a:xfrm>
          <a:prstGeom prst="rect">
            <a:avLst/>
          </a:prstGeom>
          <a:noFill/>
          <a:ln/>
        </p:spPr>
        <p:txBody>
          <a:bodyPr wrap="square" lIns="0" tIns="0" rIns="0" bIns="0" rtlCol="0" anchor="ctr"/>
          <a:lstStyle/>
          <a:p>
            <a:pPr marL="0" indent="0" algn="ctr">
              <a:buNone/>
            </a:pPr>
            <a:r>
              <a:rPr lang="en-US" sz="1150" dirty="0">
                <a:solidFill>
                  <a:srgbClr val="FFFFFF"/>
                </a:solidFill>
                <a:latin typeface="Calibri" pitchFamily="34" charset="0"/>
                <a:ea typeface="Calibri" pitchFamily="34" charset="-122"/>
                <a:cs typeface="Calibri" pitchFamily="34" charset="-120"/>
              </a:rPr>
              <a:t>X₃ Smoking</a:t>
            </a:r>
            <a:endParaRPr lang="en-US" sz="1150" dirty="0"/>
          </a:p>
        </p:txBody>
      </p:sp>
      <p:sp>
        <p:nvSpPr>
          <p:cNvPr id="16" name="Shape 14"/>
          <p:cNvSpPr/>
          <p:nvPr/>
        </p:nvSpPr>
        <p:spPr>
          <a:xfrm>
            <a:off x="1737360" y="3273552"/>
            <a:ext cx="685800" cy="0"/>
          </a:xfrm>
          <a:prstGeom prst="line">
            <a:avLst/>
          </a:prstGeom>
          <a:noFill/>
          <a:ln w="25400">
            <a:solidFill>
              <a:srgbClr val="1E2761"/>
            </a:solidFill>
            <a:prstDash val="solid"/>
          </a:ln>
        </p:spPr>
        <p:txBody>
          <a:bodyPr/>
          <a:lstStyle/>
          <a:p>
            <a:endParaRPr lang="en-US"/>
          </a:p>
        </p:txBody>
      </p:sp>
      <p:sp>
        <p:nvSpPr>
          <p:cNvPr id="17" name="Shape 15"/>
          <p:cNvSpPr/>
          <p:nvPr/>
        </p:nvSpPr>
        <p:spPr>
          <a:xfrm>
            <a:off x="502920" y="3739896"/>
            <a:ext cx="1234440" cy="475488"/>
          </a:xfrm>
          <a:prstGeom prst="rect">
            <a:avLst/>
          </a:prstGeom>
          <a:solidFill>
            <a:srgbClr val="2E3F8F"/>
          </a:solidFill>
          <a:ln w="12700">
            <a:solidFill>
              <a:srgbClr val="2E3F8F"/>
            </a:solidFill>
            <a:prstDash val="solid"/>
          </a:ln>
        </p:spPr>
        <p:txBody>
          <a:bodyPr/>
          <a:lstStyle/>
          <a:p>
            <a:endParaRPr lang="en-US"/>
          </a:p>
        </p:txBody>
      </p:sp>
      <p:sp>
        <p:nvSpPr>
          <p:cNvPr id="18" name="Text 16"/>
          <p:cNvSpPr/>
          <p:nvPr/>
        </p:nvSpPr>
        <p:spPr>
          <a:xfrm>
            <a:off x="502920" y="3739896"/>
            <a:ext cx="1234440" cy="475488"/>
          </a:xfrm>
          <a:prstGeom prst="rect">
            <a:avLst/>
          </a:prstGeom>
          <a:noFill/>
          <a:ln/>
        </p:spPr>
        <p:txBody>
          <a:bodyPr wrap="square" lIns="0" tIns="0" rIns="0" bIns="0" rtlCol="0" anchor="ctr"/>
          <a:lstStyle/>
          <a:p>
            <a:pPr marL="0" indent="0" algn="ctr">
              <a:buNone/>
            </a:pPr>
            <a:r>
              <a:rPr lang="en-US" sz="1150" dirty="0">
                <a:solidFill>
                  <a:srgbClr val="FFFFFF"/>
                </a:solidFill>
                <a:latin typeface="Calibri" pitchFamily="34" charset="0"/>
                <a:ea typeface="Calibri" pitchFamily="34" charset="-122"/>
                <a:cs typeface="Calibri" pitchFamily="34" charset="-120"/>
              </a:rPr>
              <a:t>X₄ SES</a:t>
            </a:r>
            <a:endParaRPr lang="en-US" sz="1150" dirty="0"/>
          </a:p>
        </p:txBody>
      </p:sp>
      <p:sp>
        <p:nvSpPr>
          <p:cNvPr id="19" name="Shape 17"/>
          <p:cNvSpPr/>
          <p:nvPr/>
        </p:nvSpPr>
        <p:spPr>
          <a:xfrm>
            <a:off x="1737360" y="3977640"/>
            <a:ext cx="685800" cy="0"/>
          </a:xfrm>
          <a:prstGeom prst="line">
            <a:avLst/>
          </a:prstGeom>
          <a:noFill/>
          <a:ln w="25400">
            <a:solidFill>
              <a:srgbClr val="1E2761"/>
            </a:solidFill>
            <a:prstDash val="solid"/>
          </a:ln>
        </p:spPr>
        <p:txBody>
          <a:bodyPr/>
          <a:lstStyle/>
          <a:p>
            <a:endParaRPr lang="en-US"/>
          </a:p>
        </p:txBody>
      </p:sp>
      <p:sp>
        <p:nvSpPr>
          <p:cNvPr id="20" name="Shape 18"/>
          <p:cNvSpPr/>
          <p:nvPr/>
        </p:nvSpPr>
        <p:spPr>
          <a:xfrm>
            <a:off x="2423160" y="1865376"/>
            <a:ext cx="0" cy="2112264"/>
          </a:xfrm>
          <a:prstGeom prst="line">
            <a:avLst/>
          </a:prstGeom>
          <a:noFill/>
          <a:ln w="25400">
            <a:solidFill>
              <a:srgbClr val="1E2761"/>
            </a:solidFill>
            <a:prstDash val="solid"/>
          </a:ln>
        </p:spPr>
        <p:txBody>
          <a:bodyPr/>
          <a:lstStyle/>
          <a:p>
            <a:endParaRPr lang="en-US"/>
          </a:p>
        </p:txBody>
      </p:sp>
      <p:sp>
        <p:nvSpPr>
          <p:cNvPr id="21" name="Shape 19"/>
          <p:cNvSpPr/>
          <p:nvPr/>
        </p:nvSpPr>
        <p:spPr>
          <a:xfrm>
            <a:off x="2423160" y="2606040"/>
            <a:ext cx="457200" cy="0"/>
          </a:xfrm>
          <a:prstGeom prst="line">
            <a:avLst/>
          </a:prstGeom>
          <a:noFill/>
          <a:ln w="25400">
            <a:solidFill>
              <a:srgbClr val="1E2761"/>
            </a:solidFill>
            <a:prstDash val="solid"/>
          </a:ln>
        </p:spPr>
        <p:txBody>
          <a:bodyPr/>
          <a:lstStyle/>
          <a:p>
            <a:endParaRPr lang="en-US"/>
          </a:p>
        </p:txBody>
      </p:sp>
      <p:sp>
        <p:nvSpPr>
          <p:cNvPr id="22" name="Shape 20"/>
          <p:cNvSpPr/>
          <p:nvPr/>
        </p:nvSpPr>
        <p:spPr>
          <a:xfrm>
            <a:off x="2880360" y="2331720"/>
            <a:ext cx="1325880" cy="530352"/>
          </a:xfrm>
          <a:prstGeom prst="rect">
            <a:avLst/>
          </a:prstGeom>
          <a:solidFill>
            <a:srgbClr val="D4A843"/>
          </a:solidFill>
          <a:ln w="12700">
            <a:solidFill>
              <a:srgbClr val="D4A843"/>
            </a:solidFill>
            <a:prstDash val="solid"/>
          </a:ln>
        </p:spPr>
        <p:txBody>
          <a:bodyPr/>
          <a:lstStyle/>
          <a:p>
            <a:endParaRPr lang="en-US"/>
          </a:p>
        </p:txBody>
      </p:sp>
      <p:sp>
        <p:nvSpPr>
          <p:cNvPr id="23" name="Text 21"/>
          <p:cNvSpPr/>
          <p:nvPr/>
        </p:nvSpPr>
        <p:spPr>
          <a:xfrm>
            <a:off x="2880360" y="2331720"/>
            <a:ext cx="1325880" cy="530352"/>
          </a:xfrm>
          <a:prstGeom prst="rect">
            <a:avLst/>
          </a:prstGeom>
          <a:noFill/>
          <a:ln/>
        </p:spPr>
        <p:txBody>
          <a:bodyPr wrap="square" lIns="0" tIns="0" rIns="0" bIns="0" rtlCol="0" anchor="ctr"/>
          <a:lstStyle/>
          <a:p>
            <a:pPr marL="0" indent="0" algn="ctr">
              <a:buNone/>
            </a:pPr>
            <a:r>
              <a:rPr lang="en-US" sz="1050" b="1" dirty="0">
                <a:solidFill>
                  <a:srgbClr val="1A1A2E"/>
                </a:solidFill>
                <a:latin typeface="Calibri" pitchFamily="34" charset="0"/>
                <a:ea typeface="Calibri" pitchFamily="34" charset="-122"/>
                <a:cs typeface="Calibri" pitchFamily="34" charset="-120"/>
              </a:rPr>
              <a:t>Y</a:t>
            </a:r>
            <a:endParaRPr lang="en-US" sz="1050" dirty="0"/>
          </a:p>
          <a:p>
            <a:pPr marL="0" indent="0" algn="ctr">
              <a:buNone/>
            </a:pPr>
            <a:r>
              <a:rPr lang="en-US" sz="1050" b="1" dirty="0">
                <a:solidFill>
                  <a:srgbClr val="1A1A2E"/>
                </a:solidFill>
                <a:latin typeface="Calibri" pitchFamily="34" charset="0"/>
                <a:ea typeface="Calibri" pitchFamily="34" charset="-122"/>
                <a:cs typeface="Calibri" pitchFamily="34" charset="-120"/>
              </a:rPr>
              <a:t>Blood Pressure</a:t>
            </a:r>
            <a:endParaRPr lang="en-US" sz="1050" dirty="0"/>
          </a:p>
        </p:txBody>
      </p:sp>
      <p:sp>
        <p:nvSpPr>
          <p:cNvPr id="24" name="Text 22"/>
          <p:cNvSpPr/>
          <p:nvPr/>
        </p:nvSpPr>
        <p:spPr>
          <a:xfrm>
            <a:off x="457200" y="4315968"/>
            <a:ext cx="3749040" cy="502920"/>
          </a:xfrm>
          <a:prstGeom prst="rect">
            <a:avLst/>
          </a:prstGeom>
          <a:noFill/>
          <a:ln/>
        </p:spPr>
        <p:txBody>
          <a:bodyPr wrap="square" lIns="0" tIns="0" rIns="0" bIns="0" rtlCol="0" anchor="ctr"/>
          <a:lstStyle/>
          <a:p>
            <a:pPr marL="0" indent="0" algn="ctr">
              <a:buNone/>
            </a:pPr>
            <a:r>
              <a:rPr lang="en-US" sz="1100" i="1" dirty="0">
                <a:solidFill>
                  <a:srgbClr val="5C5F7A"/>
                </a:solidFill>
                <a:latin typeface="Calibri" pitchFamily="34" charset="0"/>
                <a:ea typeface="Calibri" pitchFamily="34" charset="-122"/>
                <a:cs typeface="Calibri" pitchFamily="34" charset="-120"/>
              </a:rPr>
              <a:t>Many predictors → ONE outcome</a:t>
            </a:r>
            <a:endParaRPr lang="en-US" sz="1100" dirty="0"/>
          </a:p>
          <a:p>
            <a:pPr marL="0" indent="0" algn="ctr">
              <a:buNone/>
            </a:pPr>
            <a:r>
              <a:rPr lang="en-US" sz="1100" i="1" dirty="0">
                <a:solidFill>
                  <a:srgbClr val="5C5F7A"/>
                </a:solidFill>
                <a:latin typeface="Calibri" pitchFamily="34" charset="0"/>
                <a:ea typeface="Calibri" pitchFamily="34" charset="-122"/>
                <a:cs typeface="Calibri" pitchFamily="34" charset="-120"/>
              </a:rPr>
              <a:t>Each IV assessed controlling for others</a:t>
            </a:r>
            <a:endParaRPr lang="en-US" sz="1100" dirty="0"/>
          </a:p>
        </p:txBody>
      </p:sp>
      <p:sp>
        <p:nvSpPr>
          <p:cNvPr id="25" name="Shape 23"/>
          <p:cNvSpPr/>
          <p:nvPr/>
        </p:nvSpPr>
        <p:spPr>
          <a:xfrm>
            <a:off x="4754880" y="1097280"/>
            <a:ext cx="4023360" cy="3840480"/>
          </a:xfrm>
          <a:prstGeom prst="rect">
            <a:avLst/>
          </a:prstGeom>
          <a:solidFill>
            <a:srgbClr val="ECEEF8"/>
          </a:solidFill>
          <a:ln w="12700">
            <a:solidFill>
              <a:srgbClr val="DDE0F0"/>
            </a:solidFill>
            <a:prstDash val="solid"/>
          </a:ln>
          <a:effectLst>
            <a:outerShdw blurRad="76200" dist="25400" dir="8100000" algn="bl" rotWithShape="0">
              <a:srgbClr val="000000">
                <a:alpha val="10000"/>
              </a:srgbClr>
            </a:outerShdw>
          </a:effectLst>
        </p:spPr>
        <p:txBody>
          <a:bodyPr/>
          <a:lstStyle/>
          <a:p>
            <a:endParaRPr lang="en-US"/>
          </a:p>
        </p:txBody>
      </p:sp>
      <p:sp>
        <p:nvSpPr>
          <p:cNvPr id="26" name="Shape 24"/>
          <p:cNvSpPr/>
          <p:nvPr/>
        </p:nvSpPr>
        <p:spPr>
          <a:xfrm>
            <a:off x="4754880" y="1097280"/>
            <a:ext cx="4023360" cy="64008"/>
          </a:xfrm>
          <a:prstGeom prst="rect">
            <a:avLst/>
          </a:prstGeom>
          <a:solidFill>
            <a:srgbClr val="6D2E46"/>
          </a:solidFill>
          <a:ln w="12700">
            <a:solidFill>
              <a:srgbClr val="6D2E46"/>
            </a:solidFill>
            <a:prstDash val="solid"/>
          </a:ln>
        </p:spPr>
        <p:txBody>
          <a:bodyPr/>
          <a:lstStyle/>
          <a:p>
            <a:endParaRPr lang="en-US"/>
          </a:p>
        </p:txBody>
      </p:sp>
      <p:sp>
        <p:nvSpPr>
          <p:cNvPr id="27" name="Text 25"/>
          <p:cNvSpPr/>
          <p:nvPr/>
        </p:nvSpPr>
        <p:spPr>
          <a:xfrm>
            <a:off x="4846320" y="1143000"/>
            <a:ext cx="3840480" cy="384048"/>
          </a:xfrm>
          <a:prstGeom prst="rect">
            <a:avLst/>
          </a:prstGeom>
          <a:noFill/>
          <a:ln/>
        </p:spPr>
        <p:txBody>
          <a:bodyPr wrap="square" lIns="0" tIns="0" rIns="0" bIns="0" rtlCol="0" anchor="ctr"/>
          <a:lstStyle/>
          <a:p>
            <a:pPr marL="0" indent="0" algn="ctr">
              <a:buNone/>
            </a:pPr>
            <a:r>
              <a:rPr lang="en-US" sz="1400" b="1" dirty="0">
                <a:solidFill>
                  <a:srgbClr val="6D2E46"/>
                </a:solidFill>
                <a:latin typeface="Georgia" pitchFamily="34" charset="0"/>
                <a:ea typeface="Georgia" pitchFamily="34" charset="-122"/>
                <a:cs typeface="Georgia" pitchFamily="34" charset="-120"/>
              </a:rPr>
              <a:t>MULTIVARIATE</a:t>
            </a:r>
            <a:endParaRPr lang="en-US" sz="1400" dirty="0"/>
          </a:p>
        </p:txBody>
      </p:sp>
      <p:sp>
        <p:nvSpPr>
          <p:cNvPr id="28" name="Shape 26"/>
          <p:cNvSpPr/>
          <p:nvPr/>
        </p:nvSpPr>
        <p:spPr>
          <a:xfrm>
            <a:off x="4892040" y="1709928"/>
            <a:ext cx="1371600" cy="502920"/>
          </a:xfrm>
          <a:prstGeom prst="rect">
            <a:avLst/>
          </a:prstGeom>
          <a:solidFill>
            <a:srgbClr val="2E3F8F"/>
          </a:solidFill>
          <a:ln w="12700">
            <a:solidFill>
              <a:srgbClr val="2E3F8F"/>
            </a:solidFill>
            <a:prstDash val="solid"/>
          </a:ln>
        </p:spPr>
        <p:txBody>
          <a:bodyPr/>
          <a:lstStyle/>
          <a:p>
            <a:endParaRPr lang="en-US"/>
          </a:p>
        </p:txBody>
      </p:sp>
      <p:sp>
        <p:nvSpPr>
          <p:cNvPr id="29" name="Text 27"/>
          <p:cNvSpPr/>
          <p:nvPr/>
        </p:nvSpPr>
        <p:spPr>
          <a:xfrm>
            <a:off x="4892040" y="1709928"/>
            <a:ext cx="1371600" cy="502920"/>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Predictors</a:t>
            </a:r>
            <a:endParaRPr lang="en-US" sz="1100" dirty="0"/>
          </a:p>
          <a:p>
            <a:pPr marL="0" indent="0" algn="ctr">
              <a:buNone/>
            </a:pPr>
            <a:r>
              <a:rPr lang="en-US" sz="1100" dirty="0">
                <a:solidFill>
                  <a:srgbClr val="FFFFFF"/>
                </a:solidFill>
                <a:latin typeface="Calibri" pitchFamily="34" charset="0"/>
                <a:ea typeface="Calibri" pitchFamily="34" charset="-122"/>
                <a:cs typeface="Calibri" pitchFamily="34" charset="-120"/>
              </a:rPr>
              <a:t>X₁ X₂ X₃</a:t>
            </a:r>
            <a:endParaRPr lang="en-US" sz="1100" dirty="0"/>
          </a:p>
        </p:txBody>
      </p:sp>
      <p:sp>
        <p:nvSpPr>
          <p:cNvPr id="30" name="Shape 28"/>
          <p:cNvSpPr/>
          <p:nvPr/>
        </p:nvSpPr>
        <p:spPr>
          <a:xfrm>
            <a:off x="6263640" y="1956816"/>
            <a:ext cx="411480" cy="0"/>
          </a:xfrm>
          <a:prstGeom prst="line">
            <a:avLst/>
          </a:prstGeom>
          <a:noFill/>
          <a:ln w="25400">
            <a:solidFill>
              <a:srgbClr val="6D2E46"/>
            </a:solidFill>
            <a:prstDash val="solid"/>
          </a:ln>
        </p:spPr>
        <p:txBody>
          <a:bodyPr/>
          <a:lstStyle/>
          <a:p>
            <a:endParaRPr lang="en-US"/>
          </a:p>
        </p:txBody>
      </p:sp>
      <p:sp>
        <p:nvSpPr>
          <p:cNvPr id="31" name="Shape 29"/>
          <p:cNvSpPr/>
          <p:nvPr/>
        </p:nvSpPr>
        <p:spPr>
          <a:xfrm>
            <a:off x="6675120" y="1865376"/>
            <a:ext cx="0" cy="1975104"/>
          </a:xfrm>
          <a:prstGeom prst="line">
            <a:avLst/>
          </a:prstGeom>
          <a:noFill/>
          <a:ln w="25400">
            <a:solidFill>
              <a:srgbClr val="6D2E46"/>
            </a:solidFill>
            <a:prstDash val="solid"/>
          </a:ln>
        </p:spPr>
        <p:txBody>
          <a:bodyPr/>
          <a:lstStyle/>
          <a:p>
            <a:endParaRPr lang="en-US"/>
          </a:p>
        </p:txBody>
      </p:sp>
      <p:sp>
        <p:nvSpPr>
          <p:cNvPr id="32" name="Shape 30"/>
          <p:cNvSpPr/>
          <p:nvPr/>
        </p:nvSpPr>
        <p:spPr>
          <a:xfrm>
            <a:off x="6675120" y="1865376"/>
            <a:ext cx="411480" cy="0"/>
          </a:xfrm>
          <a:prstGeom prst="line">
            <a:avLst/>
          </a:prstGeom>
          <a:noFill/>
          <a:ln w="25400">
            <a:solidFill>
              <a:srgbClr val="6D2E46"/>
            </a:solidFill>
            <a:prstDash val="solid"/>
          </a:ln>
        </p:spPr>
        <p:txBody>
          <a:bodyPr/>
          <a:lstStyle/>
          <a:p>
            <a:endParaRPr lang="en-US"/>
          </a:p>
        </p:txBody>
      </p:sp>
      <p:sp>
        <p:nvSpPr>
          <p:cNvPr id="33" name="Shape 31"/>
          <p:cNvSpPr/>
          <p:nvPr/>
        </p:nvSpPr>
        <p:spPr>
          <a:xfrm>
            <a:off x="7086600" y="1627632"/>
            <a:ext cx="1508760" cy="475488"/>
          </a:xfrm>
          <a:prstGeom prst="rect">
            <a:avLst/>
          </a:prstGeom>
          <a:solidFill>
            <a:srgbClr val="6D2E46"/>
          </a:solidFill>
          <a:ln w="12700">
            <a:solidFill>
              <a:srgbClr val="6D2E46"/>
            </a:solidFill>
            <a:prstDash val="solid"/>
          </a:ln>
        </p:spPr>
        <p:txBody>
          <a:bodyPr/>
          <a:lstStyle/>
          <a:p>
            <a:endParaRPr lang="en-US"/>
          </a:p>
        </p:txBody>
      </p:sp>
      <p:sp>
        <p:nvSpPr>
          <p:cNvPr id="34" name="Text 32"/>
          <p:cNvSpPr/>
          <p:nvPr/>
        </p:nvSpPr>
        <p:spPr>
          <a:xfrm>
            <a:off x="7086600" y="1627632"/>
            <a:ext cx="1508760" cy="475488"/>
          </a:xfrm>
          <a:prstGeom prst="rect">
            <a:avLst/>
          </a:prstGeom>
          <a:noFill/>
          <a:ln/>
        </p:spPr>
        <p:txBody>
          <a:bodyPr wrap="square" lIns="0" tIns="0" rIns="0" bIns="0" rtlCol="0" anchor="ctr"/>
          <a:lstStyle/>
          <a:p>
            <a:pPr marL="0" indent="0" algn="ctr">
              <a:buNone/>
            </a:pPr>
            <a:r>
              <a:rPr lang="en-US" sz="1150" dirty="0">
                <a:solidFill>
                  <a:srgbClr val="FFFFFF"/>
                </a:solidFill>
                <a:latin typeface="Calibri" pitchFamily="34" charset="0"/>
                <a:ea typeface="Calibri" pitchFamily="34" charset="-122"/>
                <a:cs typeface="Calibri" pitchFamily="34" charset="-120"/>
              </a:rPr>
              <a:t>Y₁ SBP</a:t>
            </a:r>
            <a:endParaRPr lang="en-US" sz="1150" dirty="0"/>
          </a:p>
        </p:txBody>
      </p:sp>
      <p:sp>
        <p:nvSpPr>
          <p:cNvPr id="35" name="Shape 33"/>
          <p:cNvSpPr/>
          <p:nvPr/>
        </p:nvSpPr>
        <p:spPr>
          <a:xfrm>
            <a:off x="6675120" y="2523744"/>
            <a:ext cx="411480" cy="0"/>
          </a:xfrm>
          <a:prstGeom prst="line">
            <a:avLst/>
          </a:prstGeom>
          <a:noFill/>
          <a:ln w="25400">
            <a:solidFill>
              <a:srgbClr val="6D2E46"/>
            </a:solidFill>
            <a:prstDash val="solid"/>
          </a:ln>
        </p:spPr>
        <p:txBody>
          <a:bodyPr/>
          <a:lstStyle/>
          <a:p>
            <a:endParaRPr lang="en-US"/>
          </a:p>
        </p:txBody>
      </p:sp>
      <p:sp>
        <p:nvSpPr>
          <p:cNvPr id="36" name="Shape 34"/>
          <p:cNvSpPr/>
          <p:nvPr/>
        </p:nvSpPr>
        <p:spPr>
          <a:xfrm>
            <a:off x="7086600" y="2286000"/>
            <a:ext cx="1508760" cy="475488"/>
          </a:xfrm>
          <a:prstGeom prst="rect">
            <a:avLst/>
          </a:prstGeom>
          <a:solidFill>
            <a:srgbClr val="6D2E46"/>
          </a:solidFill>
          <a:ln w="12700">
            <a:solidFill>
              <a:srgbClr val="6D2E46"/>
            </a:solidFill>
            <a:prstDash val="solid"/>
          </a:ln>
        </p:spPr>
        <p:txBody>
          <a:bodyPr/>
          <a:lstStyle/>
          <a:p>
            <a:endParaRPr lang="en-US"/>
          </a:p>
        </p:txBody>
      </p:sp>
      <p:sp>
        <p:nvSpPr>
          <p:cNvPr id="37" name="Text 35"/>
          <p:cNvSpPr/>
          <p:nvPr/>
        </p:nvSpPr>
        <p:spPr>
          <a:xfrm>
            <a:off x="7086600" y="2286000"/>
            <a:ext cx="1508760" cy="475488"/>
          </a:xfrm>
          <a:prstGeom prst="rect">
            <a:avLst/>
          </a:prstGeom>
          <a:noFill/>
          <a:ln/>
        </p:spPr>
        <p:txBody>
          <a:bodyPr wrap="square" lIns="0" tIns="0" rIns="0" bIns="0" rtlCol="0" anchor="ctr"/>
          <a:lstStyle/>
          <a:p>
            <a:pPr marL="0" indent="0" algn="ctr">
              <a:buNone/>
            </a:pPr>
            <a:r>
              <a:rPr lang="en-US" sz="1150" dirty="0">
                <a:solidFill>
                  <a:srgbClr val="FFFFFF"/>
                </a:solidFill>
                <a:latin typeface="Calibri" pitchFamily="34" charset="0"/>
                <a:ea typeface="Calibri" pitchFamily="34" charset="-122"/>
                <a:cs typeface="Calibri" pitchFamily="34" charset="-120"/>
              </a:rPr>
              <a:t>Y₂ BMI</a:t>
            </a:r>
            <a:endParaRPr lang="en-US" sz="1150" dirty="0"/>
          </a:p>
        </p:txBody>
      </p:sp>
      <p:sp>
        <p:nvSpPr>
          <p:cNvPr id="38" name="Shape 36"/>
          <p:cNvSpPr/>
          <p:nvPr/>
        </p:nvSpPr>
        <p:spPr>
          <a:xfrm>
            <a:off x="6675120" y="3182112"/>
            <a:ext cx="411480" cy="0"/>
          </a:xfrm>
          <a:prstGeom prst="line">
            <a:avLst/>
          </a:prstGeom>
          <a:noFill/>
          <a:ln w="25400">
            <a:solidFill>
              <a:srgbClr val="6D2E46"/>
            </a:solidFill>
            <a:prstDash val="solid"/>
          </a:ln>
        </p:spPr>
        <p:txBody>
          <a:bodyPr/>
          <a:lstStyle/>
          <a:p>
            <a:endParaRPr lang="en-US"/>
          </a:p>
        </p:txBody>
      </p:sp>
      <p:sp>
        <p:nvSpPr>
          <p:cNvPr id="39" name="Shape 37"/>
          <p:cNvSpPr/>
          <p:nvPr/>
        </p:nvSpPr>
        <p:spPr>
          <a:xfrm>
            <a:off x="7086600" y="2944368"/>
            <a:ext cx="1508760" cy="475488"/>
          </a:xfrm>
          <a:prstGeom prst="rect">
            <a:avLst/>
          </a:prstGeom>
          <a:solidFill>
            <a:srgbClr val="6D2E46"/>
          </a:solidFill>
          <a:ln w="12700">
            <a:solidFill>
              <a:srgbClr val="6D2E46"/>
            </a:solidFill>
            <a:prstDash val="solid"/>
          </a:ln>
        </p:spPr>
        <p:txBody>
          <a:bodyPr/>
          <a:lstStyle/>
          <a:p>
            <a:endParaRPr lang="en-US"/>
          </a:p>
        </p:txBody>
      </p:sp>
      <p:sp>
        <p:nvSpPr>
          <p:cNvPr id="40" name="Text 38"/>
          <p:cNvSpPr/>
          <p:nvPr/>
        </p:nvSpPr>
        <p:spPr>
          <a:xfrm>
            <a:off x="7086600" y="2944368"/>
            <a:ext cx="1508760" cy="475488"/>
          </a:xfrm>
          <a:prstGeom prst="rect">
            <a:avLst/>
          </a:prstGeom>
          <a:noFill/>
          <a:ln/>
        </p:spPr>
        <p:txBody>
          <a:bodyPr wrap="square" lIns="0" tIns="0" rIns="0" bIns="0" rtlCol="0" anchor="ctr"/>
          <a:lstStyle/>
          <a:p>
            <a:pPr marL="0" indent="0" algn="ctr">
              <a:buNone/>
            </a:pPr>
            <a:r>
              <a:rPr lang="en-US" sz="1150" dirty="0">
                <a:solidFill>
                  <a:srgbClr val="FFFFFF"/>
                </a:solidFill>
                <a:latin typeface="Calibri" pitchFamily="34" charset="0"/>
                <a:ea typeface="Calibri" pitchFamily="34" charset="-122"/>
                <a:cs typeface="Calibri" pitchFamily="34" charset="-120"/>
              </a:rPr>
              <a:t>Y₃ Cholesterol</a:t>
            </a:r>
            <a:endParaRPr lang="en-US" sz="1150" dirty="0"/>
          </a:p>
        </p:txBody>
      </p:sp>
      <p:sp>
        <p:nvSpPr>
          <p:cNvPr id="41" name="Shape 39"/>
          <p:cNvSpPr/>
          <p:nvPr/>
        </p:nvSpPr>
        <p:spPr>
          <a:xfrm>
            <a:off x="6675120" y="3840480"/>
            <a:ext cx="411480" cy="0"/>
          </a:xfrm>
          <a:prstGeom prst="line">
            <a:avLst/>
          </a:prstGeom>
          <a:noFill/>
          <a:ln w="25400">
            <a:solidFill>
              <a:srgbClr val="6D2E46"/>
            </a:solidFill>
            <a:prstDash val="solid"/>
          </a:ln>
        </p:spPr>
        <p:txBody>
          <a:bodyPr/>
          <a:lstStyle/>
          <a:p>
            <a:endParaRPr lang="en-US"/>
          </a:p>
        </p:txBody>
      </p:sp>
      <p:sp>
        <p:nvSpPr>
          <p:cNvPr id="42" name="Shape 40"/>
          <p:cNvSpPr/>
          <p:nvPr/>
        </p:nvSpPr>
        <p:spPr>
          <a:xfrm>
            <a:off x="7086600" y="3602736"/>
            <a:ext cx="1508760" cy="475488"/>
          </a:xfrm>
          <a:prstGeom prst="rect">
            <a:avLst/>
          </a:prstGeom>
          <a:solidFill>
            <a:srgbClr val="6D2E46"/>
          </a:solidFill>
          <a:ln w="12700">
            <a:solidFill>
              <a:srgbClr val="6D2E46"/>
            </a:solidFill>
            <a:prstDash val="solid"/>
          </a:ln>
        </p:spPr>
        <p:txBody>
          <a:bodyPr/>
          <a:lstStyle/>
          <a:p>
            <a:endParaRPr lang="en-US"/>
          </a:p>
        </p:txBody>
      </p:sp>
      <p:sp>
        <p:nvSpPr>
          <p:cNvPr id="43" name="Text 41"/>
          <p:cNvSpPr/>
          <p:nvPr/>
        </p:nvSpPr>
        <p:spPr>
          <a:xfrm>
            <a:off x="7086600" y="3602736"/>
            <a:ext cx="1508760" cy="475488"/>
          </a:xfrm>
          <a:prstGeom prst="rect">
            <a:avLst/>
          </a:prstGeom>
          <a:noFill/>
          <a:ln/>
        </p:spPr>
        <p:txBody>
          <a:bodyPr wrap="square" lIns="0" tIns="0" rIns="0" bIns="0" rtlCol="0" anchor="ctr"/>
          <a:lstStyle/>
          <a:p>
            <a:pPr marL="0" indent="0" algn="ctr">
              <a:buNone/>
            </a:pPr>
            <a:r>
              <a:rPr lang="en-US" sz="1150" dirty="0">
                <a:solidFill>
                  <a:srgbClr val="FFFFFF"/>
                </a:solidFill>
                <a:latin typeface="Calibri" pitchFamily="34" charset="0"/>
                <a:ea typeface="Calibri" pitchFamily="34" charset="-122"/>
                <a:cs typeface="Calibri" pitchFamily="34" charset="-120"/>
              </a:rPr>
              <a:t>Y₄ Glucose</a:t>
            </a:r>
            <a:endParaRPr lang="en-US" sz="1150" dirty="0"/>
          </a:p>
        </p:txBody>
      </p:sp>
      <p:sp>
        <p:nvSpPr>
          <p:cNvPr id="44" name="Text 42"/>
          <p:cNvSpPr/>
          <p:nvPr/>
        </p:nvSpPr>
        <p:spPr>
          <a:xfrm>
            <a:off x="4846320" y="4315968"/>
            <a:ext cx="3749040" cy="502920"/>
          </a:xfrm>
          <a:prstGeom prst="rect">
            <a:avLst/>
          </a:prstGeom>
          <a:noFill/>
          <a:ln/>
        </p:spPr>
        <p:txBody>
          <a:bodyPr wrap="square" lIns="0" tIns="0" rIns="0" bIns="0" rtlCol="0" anchor="ctr"/>
          <a:lstStyle/>
          <a:p>
            <a:pPr marL="0" indent="0" algn="ctr">
              <a:buNone/>
            </a:pPr>
            <a:r>
              <a:rPr lang="en-US" sz="1100" i="1" dirty="0">
                <a:solidFill>
                  <a:srgbClr val="5C5F7A"/>
                </a:solidFill>
                <a:latin typeface="Calibri" pitchFamily="34" charset="0"/>
                <a:ea typeface="Calibri" pitchFamily="34" charset="-122"/>
                <a:cs typeface="Calibri" pitchFamily="34" charset="-120"/>
              </a:rPr>
              <a:t>One set of predictors → MULTIPLE outcomes</a:t>
            </a:r>
            <a:endParaRPr lang="en-US" sz="1100" dirty="0"/>
          </a:p>
          <a:p>
            <a:pPr marL="0" indent="0" algn="ctr">
              <a:buNone/>
            </a:pPr>
            <a:r>
              <a:rPr lang="en-US" sz="1100" i="1" dirty="0">
                <a:solidFill>
                  <a:srgbClr val="5C5F7A"/>
                </a:solidFill>
                <a:latin typeface="Calibri" pitchFamily="34" charset="0"/>
                <a:ea typeface="Calibri" pitchFamily="34" charset="-122"/>
                <a:cs typeface="Calibri" pitchFamily="34" charset="-120"/>
              </a:rPr>
              <a:t>Outcomes modelled jointly (not separately)</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82296"/>
          </a:xfrm>
          <a:prstGeom prst="rect">
            <a:avLst/>
          </a:prstGeom>
          <a:solidFill>
            <a:srgbClr val="D4A843"/>
          </a:solidFill>
          <a:ln w="12700">
            <a:solidFill>
              <a:srgbClr val="D4A843"/>
            </a:solidFill>
            <a:prstDash val="solid"/>
          </a:ln>
        </p:spPr>
        <p:txBody>
          <a:bodyPr/>
          <a:lstStyle/>
          <a:p>
            <a:endParaRPr lang="en-US"/>
          </a:p>
        </p:txBody>
      </p:sp>
      <p:sp>
        <p:nvSpPr>
          <p:cNvPr id="3" name="Text 1"/>
          <p:cNvSpPr/>
          <p:nvPr/>
        </p:nvSpPr>
        <p:spPr>
          <a:xfrm>
            <a:off x="411480" y="137160"/>
            <a:ext cx="8321040" cy="658368"/>
          </a:xfrm>
          <a:prstGeom prst="rect">
            <a:avLst/>
          </a:prstGeom>
          <a:noFill/>
          <a:ln/>
        </p:spPr>
        <p:txBody>
          <a:bodyPr wrap="square" lIns="0" tIns="0" rIns="0" bIns="0" rtlCol="0" anchor="ctr"/>
          <a:lstStyle/>
          <a:p>
            <a:pPr marL="0" indent="0">
              <a:buNone/>
            </a:pPr>
            <a:r>
              <a:rPr lang="en-US" sz="2700" b="1" dirty="0">
                <a:solidFill>
                  <a:srgbClr val="1E2761"/>
                </a:solidFill>
                <a:latin typeface="Georgia" pitchFamily="34" charset="0"/>
                <a:ea typeface="Georgia" pitchFamily="34" charset="-122"/>
                <a:cs typeface="Georgia" pitchFamily="34" charset="-120"/>
              </a:rPr>
              <a:t>Side-by-Side Comparison</a:t>
            </a:r>
            <a:endParaRPr lang="en-US" sz="2700" dirty="0"/>
          </a:p>
        </p:txBody>
      </p:sp>
      <p:graphicFrame>
        <p:nvGraphicFramePr>
          <p:cNvPr id="6" name="Table 0"/>
          <p:cNvGraphicFramePr>
            <a:graphicFrameLocks noGrp="1"/>
          </p:cNvGraphicFramePr>
          <p:nvPr/>
        </p:nvGraphicFramePr>
        <p:xfrm>
          <a:off x="274320" y="914400"/>
          <a:ext cx="8595360" cy="3953256"/>
        </p:xfrm>
        <a:graphic>
          <a:graphicData uri="http://schemas.openxmlformats.org/drawingml/2006/table">
            <a:tbl>
              <a:tblPr/>
              <a:tblGrid>
                <a:gridCol w="201168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gridCol w="3291840">
                  <a:extLst>
                    <a:ext uri="{9D8B030D-6E8A-4147-A177-3AD203B41FA5}">
                      <a16:colId xmlns:a16="http://schemas.microsoft.com/office/drawing/2014/main" val="20002"/>
                    </a:ext>
                  </a:extLst>
                </a:gridCol>
              </a:tblGrid>
              <a:tr h="438912">
                <a:tc>
                  <a:txBody>
                    <a:bodyPr/>
                    <a:lstStyle/>
                    <a:p>
                      <a:pPr marL="0" indent="0" algn="l">
                        <a:buNone/>
                      </a:pPr>
                      <a:r>
                        <a:rPr lang="en-US" sz="1150" b="1" dirty="0">
                          <a:solidFill>
                            <a:srgbClr val="FFFFFF"/>
                          </a:solidFill>
                          <a:latin typeface="Calibri" pitchFamily="34" charset="0"/>
                          <a:ea typeface="Calibri" pitchFamily="34" charset="-122"/>
                          <a:cs typeface="Calibri" pitchFamily="34" charset="-120"/>
                        </a:rPr>
                        <a:t>Feature</a:t>
                      </a:r>
                      <a:endParaRPr lang="en-US" sz="1150" dirty="0">
                        <a:latin typeface="Calibri" charset="0"/>
                        <a:ea typeface="Calibri" charset="0"/>
                        <a:cs typeface="Calibri" charset="0"/>
                      </a:endParaRPr>
                    </a:p>
                  </a:txBody>
                  <a:tcPr anchor="ctr">
                    <a:lnL w="6350" cap="flat" cmpd="sng" algn="ctr">
                      <a:solidFill>
                        <a:srgbClr val="DDE0F0"/>
                      </a:solidFill>
                      <a:prstDash val="solid"/>
                      <a:round/>
                      <a:headEnd type="none" w="med" len="med"/>
                      <a:tailEnd type="none" w="med" len="med"/>
                    </a:lnL>
                    <a:lnR w="6350" cap="flat" cmpd="sng" algn="ctr">
                      <a:solidFill>
                        <a:srgbClr val="DDE0F0"/>
                      </a:solidFill>
                      <a:prstDash val="solid"/>
                      <a:round/>
                      <a:headEnd type="none" w="med" len="med"/>
                      <a:tailEnd type="none" w="med" len="med"/>
                    </a:lnR>
                    <a:lnT w="6350" cap="flat" cmpd="sng" algn="ctr">
                      <a:solidFill>
                        <a:srgbClr val="DDE0F0"/>
                      </a:solidFill>
                      <a:prstDash val="solid"/>
                      <a:round/>
                      <a:headEnd type="none" w="med" len="med"/>
                      <a:tailEnd type="none" w="med" len="med"/>
                    </a:lnT>
                    <a:lnB w="6350" cap="flat" cmpd="sng" algn="ctr">
                      <a:solidFill>
                        <a:srgbClr val="DDE0F0"/>
                      </a:solidFill>
                      <a:prstDash val="solid"/>
                      <a:round/>
                      <a:headEnd type="none" w="med" len="med"/>
                      <a:tailEnd type="none" w="med" len="med"/>
                    </a:lnB>
                    <a:solidFill>
                      <a:srgbClr val="1A1A2E"/>
                    </a:solidFill>
                  </a:tcPr>
                </a:tc>
                <a:tc>
                  <a:txBody>
                    <a:bodyPr/>
                    <a:lstStyle/>
                    <a:p>
                      <a:pPr marL="0" indent="0" algn="l">
                        <a:buNone/>
                      </a:pPr>
                      <a:r>
                        <a:rPr lang="en-US" sz="1150" b="1" dirty="0">
                          <a:solidFill>
                            <a:srgbClr val="FFFFFF"/>
                          </a:solidFill>
                          <a:latin typeface="Calibri" pitchFamily="34" charset="0"/>
                          <a:ea typeface="Calibri" pitchFamily="34" charset="-122"/>
                          <a:cs typeface="Calibri" pitchFamily="34" charset="-120"/>
                        </a:rPr>
                        <a:t>MULTIVARIABLE</a:t>
                      </a:r>
                      <a:endParaRPr lang="en-US" sz="1150" dirty="0">
                        <a:latin typeface="Calibri" charset="0"/>
                        <a:ea typeface="Calibri" charset="0"/>
                        <a:cs typeface="Calibri" charset="0"/>
                      </a:endParaRPr>
                    </a:p>
                  </a:txBody>
                  <a:tcPr anchor="ctr">
                    <a:lnL w="6350" cap="flat" cmpd="sng" algn="ctr">
                      <a:solidFill>
                        <a:srgbClr val="DDE0F0"/>
                      </a:solidFill>
                      <a:prstDash val="solid"/>
                      <a:round/>
                      <a:headEnd type="none" w="med" len="med"/>
                      <a:tailEnd type="none" w="med" len="med"/>
                    </a:lnL>
                    <a:lnR w="6350" cap="flat" cmpd="sng" algn="ctr">
                      <a:solidFill>
                        <a:srgbClr val="DDE0F0"/>
                      </a:solidFill>
                      <a:prstDash val="solid"/>
                      <a:round/>
                      <a:headEnd type="none" w="med" len="med"/>
                      <a:tailEnd type="none" w="med" len="med"/>
                    </a:lnR>
                    <a:lnT w="6350" cap="flat" cmpd="sng" algn="ctr">
                      <a:solidFill>
                        <a:srgbClr val="DDE0F0"/>
                      </a:solidFill>
                      <a:prstDash val="solid"/>
                      <a:round/>
                      <a:headEnd type="none" w="med" len="med"/>
                      <a:tailEnd type="none" w="med" len="med"/>
                    </a:lnT>
                    <a:lnB w="6350" cap="flat" cmpd="sng" algn="ctr">
                      <a:solidFill>
                        <a:srgbClr val="DDE0F0"/>
                      </a:solidFill>
                      <a:prstDash val="solid"/>
                      <a:round/>
                      <a:headEnd type="none" w="med" len="med"/>
                      <a:tailEnd type="none" w="med" len="med"/>
                    </a:lnB>
                    <a:solidFill>
                      <a:srgbClr val="1E2761"/>
                    </a:solidFill>
                  </a:tcPr>
                </a:tc>
                <a:tc>
                  <a:txBody>
                    <a:bodyPr/>
                    <a:lstStyle/>
                    <a:p>
                      <a:pPr marL="0" indent="0" algn="l">
                        <a:buNone/>
                      </a:pPr>
                      <a:r>
                        <a:rPr lang="en-US" sz="1150" b="1" dirty="0">
                          <a:solidFill>
                            <a:srgbClr val="FFFFFF"/>
                          </a:solidFill>
                          <a:latin typeface="Calibri" pitchFamily="34" charset="0"/>
                          <a:ea typeface="Calibri" pitchFamily="34" charset="-122"/>
                          <a:cs typeface="Calibri" pitchFamily="34" charset="-120"/>
                        </a:rPr>
                        <a:t>MULTIVARIATE</a:t>
                      </a:r>
                      <a:endParaRPr lang="en-US" sz="1150" dirty="0">
                        <a:latin typeface="Calibri" charset="0"/>
                        <a:ea typeface="Calibri" charset="0"/>
                        <a:cs typeface="Calibri" charset="0"/>
                      </a:endParaRPr>
                    </a:p>
                  </a:txBody>
                  <a:tcPr anchor="ctr">
                    <a:lnL w="6350" cap="flat" cmpd="sng" algn="ctr">
                      <a:solidFill>
                        <a:srgbClr val="DDE0F0"/>
                      </a:solidFill>
                      <a:prstDash val="solid"/>
                      <a:round/>
                      <a:headEnd type="none" w="med" len="med"/>
                      <a:tailEnd type="none" w="med" len="med"/>
                    </a:lnL>
                    <a:lnR w="6350" cap="flat" cmpd="sng" algn="ctr">
                      <a:solidFill>
                        <a:srgbClr val="DDE0F0"/>
                      </a:solidFill>
                      <a:prstDash val="solid"/>
                      <a:round/>
                      <a:headEnd type="none" w="med" len="med"/>
                      <a:tailEnd type="none" w="med" len="med"/>
                    </a:lnR>
                    <a:lnT w="6350" cap="flat" cmpd="sng" algn="ctr">
                      <a:solidFill>
                        <a:srgbClr val="DDE0F0"/>
                      </a:solidFill>
                      <a:prstDash val="solid"/>
                      <a:round/>
                      <a:headEnd type="none" w="med" len="med"/>
                      <a:tailEnd type="none" w="med" len="med"/>
                    </a:lnT>
                    <a:lnB w="6350" cap="flat" cmpd="sng" algn="ctr">
                      <a:solidFill>
                        <a:srgbClr val="DDE0F0"/>
                      </a:solidFill>
                      <a:prstDash val="solid"/>
                      <a:round/>
                      <a:headEnd type="none" w="med" len="med"/>
                      <a:tailEnd type="none" w="med" len="med"/>
                    </a:lnB>
                    <a:solidFill>
                      <a:srgbClr val="6D2E46"/>
                    </a:solidFill>
                  </a:tcPr>
                </a:tc>
                <a:extLst>
                  <a:ext uri="{0D108BD9-81ED-4DB2-BD59-A6C34878D82A}">
                    <a16:rowId xmlns:a16="http://schemas.microsoft.com/office/drawing/2014/main" val="10000"/>
                  </a:ext>
                </a:extLst>
              </a:tr>
              <a:tr h="438912">
                <a:tc>
                  <a:txBody>
                    <a:bodyPr/>
                    <a:lstStyle/>
                    <a:p>
                      <a:pPr marL="0" indent="0" algn="l">
                        <a:buNone/>
                      </a:pPr>
                      <a:r>
                        <a:rPr lang="en-US" sz="1150" dirty="0">
                          <a:solidFill>
                            <a:srgbClr val="000000"/>
                          </a:solidFill>
                          <a:latin typeface="Calibri" pitchFamily="34" charset="0"/>
                          <a:ea typeface="Calibri" pitchFamily="34" charset="-122"/>
                          <a:cs typeface="Calibri" pitchFamily="34" charset="-120"/>
                        </a:rPr>
                        <a:t>Number of DVs</a:t>
                      </a:r>
                      <a:endParaRPr lang="en-US" sz="1150" dirty="0">
                        <a:latin typeface="Calibri" charset="0"/>
                        <a:ea typeface="Calibri" charset="0"/>
                        <a:cs typeface="Calibri" charset="0"/>
                      </a:endParaRPr>
                    </a:p>
                  </a:txBody>
                  <a:tcPr anchor="ctr">
                    <a:lnL w="6350" cap="flat" cmpd="sng" algn="ctr">
                      <a:solidFill>
                        <a:srgbClr val="DDE0F0"/>
                      </a:solidFill>
                      <a:prstDash val="solid"/>
                      <a:round/>
                      <a:headEnd type="none" w="med" len="med"/>
                      <a:tailEnd type="none" w="med" len="med"/>
                    </a:lnL>
                    <a:lnR w="6350" cap="flat" cmpd="sng" algn="ctr">
                      <a:solidFill>
                        <a:srgbClr val="DDE0F0"/>
                      </a:solidFill>
                      <a:prstDash val="solid"/>
                      <a:round/>
                      <a:headEnd type="none" w="med" len="med"/>
                      <a:tailEnd type="none" w="med" len="med"/>
                    </a:lnR>
                    <a:lnT w="6350" cap="flat" cmpd="sng" algn="ctr">
                      <a:solidFill>
                        <a:srgbClr val="DDE0F0"/>
                      </a:solidFill>
                      <a:prstDash val="solid"/>
                      <a:round/>
                      <a:headEnd type="none" w="med" len="med"/>
                      <a:tailEnd type="none" w="med" len="med"/>
                    </a:lnT>
                    <a:lnB w="6350" cap="flat" cmpd="sng" algn="ctr">
                      <a:solidFill>
                        <a:srgbClr val="DDE0F0"/>
                      </a:solidFill>
                      <a:prstDash val="solid"/>
                      <a:round/>
                      <a:headEnd type="none" w="med" len="med"/>
                      <a:tailEnd type="none" w="med" len="med"/>
                    </a:lnB>
                    <a:solidFill>
                      <a:srgbClr val="FFFFFF"/>
                    </a:solidFill>
                  </a:tcPr>
                </a:tc>
                <a:tc>
                  <a:txBody>
                    <a:bodyPr/>
                    <a:lstStyle/>
                    <a:p>
                      <a:pPr marL="0" indent="0" algn="l">
                        <a:buNone/>
                      </a:pPr>
                      <a:r>
                        <a:rPr lang="en-US" sz="1150" dirty="0">
                          <a:solidFill>
                            <a:srgbClr val="000000"/>
                          </a:solidFill>
                          <a:latin typeface="Calibri" pitchFamily="34" charset="0"/>
                          <a:ea typeface="Calibri" pitchFamily="34" charset="-122"/>
                          <a:cs typeface="Calibri" pitchFamily="34" charset="-120"/>
                        </a:rPr>
                        <a:t>Exactly ONE</a:t>
                      </a:r>
                      <a:endParaRPr lang="en-US" sz="1150" dirty="0">
                        <a:latin typeface="Calibri" charset="0"/>
                        <a:ea typeface="Calibri" charset="0"/>
                        <a:cs typeface="Calibri" charset="0"/>
                      </a:endParaRPr>
                    </a:p>
                  </a:txBody>
                  <a:tcPr anchor="ctr">
                    <a:lnL w="6350" cap="flat" cmpd="sng" algn="ctr">
                      <a:solidFill>
                        <a:srgbClr val="DDE0F0"/>
                      </a:solidFill>
                      <a:prstDash val="solid"/>
                      <a:round/>
                      <a:headEnd type="none" w="med" len="med"/>
                      <a:tailEnd type="none" w="med" len="med"/>
                    </a:lnL>
                    <a:lnR w="6350" cap="flat" cmpd="sng" algn="ctr">
                      <a:solidFill>
                        <a:srgbClr val="DDE0F0"/>
                      </a:solidFill>
                      <a:prstDash val="solid"/>
                      <a:round/>
                      <a:headEnd type="none" w="med" len="med"/>
                      <a:tailEnd type="none" w="med" len="med"/>
                    </a:lnR>
                    <a:lnT w="6350" cap="flat" cmpd="sng" algn="ctr">
                      <a:solidFill>
                        <a:srgbClr val="DDE0F0"/>
                      </a:solidFill>
                      <a:prstDash val="solid"/>
                      <a:round/>
                      <a:headEnd type="none" w="med" len="med"/>
                      <a:tailEnd type="none" w="med" len="med"/>
                    </a:lnT>
                    <a:lnB w="6350" cap="flat" cmpd="sng" algn="ctr">
                      <a:solidFill>
                        <a:srgbClr val="DDE0F0"/>
                      </a:solidFill>
                      <a:prstDash val="solid"/>
                      <a:round/>
                      <a:headEnd type="none" w="med" len="med"/>
                      <a:tailEnd type="none" w="med" len="med"/>
                    </a:lnB>
                    <a:solidFill>
                      <a:srgbClr val="FFFFFF"/>
                    </a:solidFill>
                  </a:tcPr>
                </a:tc>
                <a:tc>
                  <a:txBody>
                    <a:bodyPr/>
                    <a:lstStyle/>
                    <a:p>
                      <a:pPr marL="0" indent="0" algn="l">
                        <a:buNone/>
                      </a:pPr>
                      <a:r>
                        <a:rPr lang="en-US" sz="1150" dirty="0">
                          <a:solidFill>
                            <a:srgbClr val="000000"/>
                          </a:solidFill>
                          <a:latin typeface="Calibri" pitchFamily="34" charset="0"/>
                          <a:ea typeface="Calibri" pitchFamily="34" charset="-122"/>
                          <a:cs typeface="Calibri" pitchFamily="34" charset="-120"/>
                        </a:rPr>
                        <a:t>TWO or more</a:t>
                      </a:r>
                      <a:endParaRPr lang="en-US" sz="1150" dirty="0">
                        <a:latin typeface="Calibri" charset="0"/>
                        <a:ea typeface="Calibri" charset="0"/>
                        <a:cs typeface="Calibri" charset="0"/>
                      </a:endParaRPr>
                    </a:p>
                  </a:txBody>
                  <a:tcPr anchor="ctr">
                    <a:lnL w="6350" cap="flat" cmpd="sng" algn="ctr">
                      <a:solidFill>
                        <a:srgbClr val="DDE0F0"/>
                      </a:solidFill>
                      <a:prstDash val="solid"/>
                      <a:round/>
                      <a:headEnd type="none" w="med" len="med"/>
                      <a:tailEnd type="none" w="med" len="med"/>
                    </a:lnL>
                    <a:lnR w="6350" cap="flat" cmpd="sng" algn="ctr">
                      <a:solidFill>
                        <a:srgbClr val="DDE0F0"/>
                      </a:solidFill>
                      <a:prstDash val="solid"/>
                      <a:round/>
                      <a:headEnd type="none" w="med" len="med"/>
                      <a:tailEnd type="none" w="med" len="med"/>
                    </a:lnR>
                    <a:lnT w="6350" cap="flat" cmpd="sng" algn="ctr">
                      <a:solidFill>
                        <a:srgbClr val="DDE0F0"/>
                      </a:solidFill>
                      <a:prstDash val="solid"/>
                      <a:round/>
                      <a:headEnd type="none" w="med" len="med"/>
                      <a:tailEnd type="none" w="med" len="med"/>
                    </a:lnT>
                    <a:lnB w="6350" cap="flat" cmpd="sng" algn="ctr">
                      <a:solidFill>
                        <a:srgbClr val="DDE0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38912">
                <a:tc>
                  <a:txBody>
                    <a:bodyPr/>
                    <a:lstStyle/>
                    <a:p>
                      <a:pPr marL="0" indent="0" algn="l">
                        <a:buNone/>
                      </a:pPr>
                      <a:r>
                        <a:rPr lang="en-US" sz="1150" dirty="0">
                          <a:solidFill>
                            <a:srgbClr val="000000"/>
                          </a:solidFill>
                          <a:latin typeface="Calibri" pitchFamily="34" charset="0"/>
                          <a:ea typeface="Calibri" pitchFamily="34" charset="-122"/>
                          <a:cs typeface="Calibri" pitchFamily="34" charset="-120"/>
                        </a:rPr>
                        <a:t>Number of IVs</a:t>
                      </a:r>
                      <a:endParaRPr lang="en-US" sz="1150" dirty="0">
                        <a:latin typeface="Calibri" charset="0"/>
                        <a:ea typeface="Calibri" charset="0"/>
                        <a:cs typeface="Calibri" charset="0"/>
                      </a:endParaRPr>
                    </a:p>
                  </a:txBody>
                  <a:tcPr anchor="ctr">
                    <a:lnL w="6350" cap="flat" cmpd="sng" algn="ctr">
                      <a:solidFill>
                        <a:srgbClr val="DDE0F0"/>
                      </a:solidFill>
                      <a:prstDash val="solid"/>
                      <a:round/>
                      <a:headEnd type="none" w="med" len="med"/>
                      <a:tailEnd type="none" w="med" len="med"/>
                    </a:lnL>
                    <a:lnR w="6350" cap="flat" cmpd="sng" algn="ctr">
                      <a:solidFill>
                        <a:srgbClr val="DDE0F0"/>
                      </a:solidFill>
                      <a:prstDash val="solid"/>
                      <a:round/>
                      <a:headEnd type="none" w="med" len="med"/>
                      <a:tailEnd type="none" w="med" len="med"/>
                    </a:lnR>
                    <a:lnT w="6350" cap="flat" cmpd="sng" algn="ctr">
                      <a:solidFill>
                        <a:srgbClr val="DDE0F0"/>
                      </a:solidFill>
                      <a:prstDash val="solid"/>
                      <a:round/>
                      <a:headEnd type="none" w="med" len="med"/>
                      <a:tailEnd type="none" w="med" len="med"/>
                    </a:lnT>
                    <a:lnB w="6350" cap="flat" cmpd="sng" algn="ctr">
                      <a:solidFill>
                        <a:srgbClr val="DDE0F0"/>
                      </a:solidFill>
                      <a:prstDash val="solid"/>
                      <a:round/>
                      <a:headEnd type="none" w="med" len="med"/>
                      <a:tailEnd type="none" w="med" len="med"/>
                    </a:lnB>
                    <a:solidFill>
                      <a:srgbClr val="FFFFFF"/>
                    </a:solidFill>
                  </a:tcPr>
                </a:tc>
                <a:tc>
                  <a:txBody>
                    <a:bodyPr/>
                    <a:lstStyle/>
                    <a:p>
                      <a:pPr marL="0" indent="0" algn="l">
                        <a:buNone/>
                      </a:pPr>
                      <a:r>
                        <a:rPr lang="en-US" sz="1150" dirty="0">
                          <a:solidFill>
                            <a:srgbClr val="000000"/>
                          </a:solidFill>
                          <a:latin typeface="Calibri" pitchFamily="34" charset="0"/>
                          <a:ea typeface="Calibri" pitchFamily="34" charset="-122"/>
                          <a:cs typeface="Calibri" pitchFamily="34" charset="-120"/>
                        </a:rPr>
                        <a:t>Two or more (defines the 'multi')</a:t>
                      </a:r>
                      <a:endParaRPr lang="en-US" sz="1150" dirty="0">
                        <a:latin typeface="Calibri" charset="0"/>
                        <a:ea typeface="Calibri" charset="0"/>
                        <a:cs typeface="Calibri" charset="0"/>
                      </a:endParaRPr>
                    </a:p>
                  </a:txBody>
                  <a:tcPr anchor="ctr">
                    <a:lnL w="6350" cap="flat" cmpd="sng" algn="ctr">
                      <a:solidFill>
                        <a:srgbClr val="DDE0F0"/>
                      </a:solidFill>
                      <a:prstDash val="solid"/>
                      <a:round/>
                      <a:headEnd type="none" w="med" len="med"/>
                      <a:tailEnd type="none" w="med" len="med"/>
                    </a:lnL>
                    <a:lnR w="6350" cap="flat" cmpd="sng" algn="ctr">
                      <a:solidFill>
                        <a:srgbClr val="DDE0F0"/>
                      </a:solidFill>
                      <a:prstDash val="solid"/>
                      <a:round/>
                      <a:headEnd type="none" w="med" len="med"/>
                      <a:tailEnd type="none" w="med" len="med"/>
                    </a:lnR>
                    <a:lnT w="6350" cap="flat" cmpd="sng" algn="ctr">
                      <a:solidFill>
                        <a:srgbClr val="DDE0F0"/>
                      </a:solidFill>
                      <a:prstDash val="solid"/>
                      <a:round/>
                      <a:headEnd type="none" w="med" len="med"/>
                      <a:tailEnd type="none" w="med" len="med"/>
                    </a:lnT>
                    <a:lnB w="6350" cap="flat" cmpd="sng" algn="ctr">
                      <a:solidFill>
                        <a:srgbClr val="DDE0F0"/>
                      </a:solidFill>
                      <a:prstDash val="solid"/>
                      <a:round/>
                      <a:headEnd type="none" w="med" len="med"/>
                      <a:tailEnd type="none" w="med" len="med"/>
                    </a:lnB>
                    <a:solidFill>
                      <a:srgbClr val="FFFFFF"/>
                    </a:solidFill>
                  </a:tcPr>
                </a:tc>
                <a:tc>
                  <a:txBody>
                    <a:bodyPr/>
                    <a:lstStyle/>
                    <a:p>
                      <a:pPr marL="0" indent="0" algn="l">
                        <a:buNone/>
                      </a:pPr>
                      <a:r>
                        <a:rPr lang="en-US" sz="1150" dirty="0">
                          <a:solidFill>
                            <a:srgbClr val="000000"/>
                          </a:solidFill>
                          <a:latin typeface="Calibri" pitchFamily="34" charset="0"/>
                          <a:ea typeface="Calibri" pitchFamily="34" charset="-122"/>
                          <a:cs typeface="Calibri" pitchFamily="34" charset="-120"/>
                        </a:rPr>
                        <a:t>One or more</a:t>
                      </a:r>
                      <a:endParaRPr lang="en-US" sz="1150" dirty="0">
                        <a:latin typeface="Calibri" charset="0"/>
                        <a:ea typeface="Calibri" charset="0"/>
                        <a:cs typeface="Calibri" charset="0"/>
                      </a:endParaRPr>
                    </a:p>
                  </a:txBody>
                  <a:tcPr anchor="ctr">
                    <a:lnL w="6350" cap="flat" cmpd="sng" algn="ctr">
                      <a:solidFill>
                        <a:srgbClr val="DDE0F0"/>
                      </a:solidFill>
                      <a:prstDash val="solid"/>
                      <a:round/>
                      <a:headEnd type="none" w="med" len="med"/>
                      <a:tailEnd type="none" w="med" len="med"/>
                    </a:lnL>
                    <a:lnR w="6350" cap="flat" cmpd="sng" algn="ctr">
                      <a:solidFill>
                        <a:srgbClr val="DDE0F0"/>
                      </a:solidFill>
                      <a:prstDash val="solid"/>
                      <a:round/>
                      <a:headEnd type="none" w="med" len="med"/>
                      <a:tailEnd type="none" w="med" len="med"/>
                    </a:lnR>
                    <a:lnT w="6350" cap="flat" cmpd="sng" algn="ctr">
                      <a:solidFill>
                        <a:srgbClr val="DDE0F0"/>
                      </a:solidFill>
                      <a:prstDash val="solid"/>
                      <a:round/>
                      <a:headEnd type="none" w="med" len="med"/>
                      <a:tailEnd type="none" w="med" len="med"/>
                    </a:lnT>
                    <a:lnB w="6350" cap="flat" cmpd="sng" algn="ctr">
                      <a:solidFill>
                        <a:srgbClr val="DDE0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38912">
                <a:tc>
                  <a:txBody>
                    <a:bodyPr/>
                    <a:lstStyle/>
                    <a:p>
                      <a:pPr marL="0" indent="0" algn="l">
                        <a:buNone/>
                      </a:pPr>
                      <a:r>
                        <a:rPr lang="en-US" sz="1150" dirty="0">
                          <a:solidFill>
                            <a:srgbClr val="000000"/>
                          </a:solidFill>
                          <a:latin typeface="Calibri" pitchFamily="34" charset="0"/>
                          <a:ea typeface="Calibri" pitchFamily="34" charset="-122"/>
                          <a:cs typeface="Calibri" pitchFamily="34" charset="-120"/>
                        </a:rPr>
                        <a:t>Core question</a:t>
                      </a:r>
                      <a:endParaRPr lang="en-US" sz="1150" dirty="0">
                        <a:latin typeface="Calibri" charset="0"/>
                        <a:ea typeface="Calibri" charset="0"/>
                        <a:cs typeface="Calibri" charset="0"/>
                      </a:endParaRPr>
                    </a:p>
                  </a:txBody>
                  <a:tcPr anchor="ctr">
                    <a:lnL w="6350" cap="flat" cmpd="sng" algn="ctr">
                      <a:solidFill>
                        <a:srgbClr val="DDE0F0"/>
                      </a:solidFill>
                      <a:prstDash val="solid"/>
                      <a:round/>
                      <a:headEnd type="none" w="med" len="med"/>
                      <a:tailEnd type="none" w="med" len="med"/>
                    </a:lnL>
                    <a:lnR w="6350" cap="flat" cmpd="sng" algn="ctr">
                      <a:solidFill>
                        <a:srgbClr val="DDE0F0"/>
                      </a:solidFill>
                      <a:prstDash val="solid"/>
                      <a:round/>
                      <a:headEnd type="none" w="med" len="med"/>
                      <a:tailEnd type="none" w="med" len="med"/>
                    </a:lnR>
                    <a:lnT w="6350" cap="flat" cmpd="sng" algn="ctr">
                      <a:solidFill>
                        <a:srgbClr val="DDE0F0"/>
                      </a:solidFill>
                      <a:prstDash val="solid"/>
                      <a:round/>
                      <a:headEnd type="none" w="med" len="med"/>
                      <a:tailEnd type="none" w="med" len="med"/>
                    </a:lnT>
                    <a:lnB w="6350" cap="flat" cmpd="sng" algn="ctr">
                      <a:solidFill>
                        <a:srgbClr val="DDE0F0"/>
                      </a:solidFill>
                      <a:prstDash val="solid"/>
                      <a:round/>
                      <a:headEnd type="none" w="med" len="med"/>
                      <a:tailEnd type="none" w="med" len="med"/>
                    </a:lnB>
                    <a:solidFill>
                      <a:srgbClr val="FFFFFF"/>
                    </a:solidFill>
                  </a:tcPr>
                </a:tc>
                <a:tc>
                  <a:txBody>
                    <a:bodyPr/>
                    <a:lstStyle/>
                    <a:p>
                      <a:pPr marL="0" indent="0" algn="l">
                        <a:buNone/>
                      </a:pPr>
                      <a:r>
                        <a:rPr lang="en-US" sz="1150" dirty="0">
                          <a:solidFill>
                            <a:srgbClr val="000000"/>
                          </a:solidFill>
                          <a:latin typeface="Calibri" pitchFamily="34" charset="0"/>
                          <a:ea typeface="Calibri" pitchFamily="34" charset="-122"/>
                          <a:cs typeface="Calibri" pitchFamily="34" charset="-120"/>
                        </a:rPr>
                        <a:t>What predicts Y?</a:t>
                      </a:r>
                      <a:endParaRPr lang="en-US" sz="1150" dirty="0">
                        <a:latin typeface="Calibri" charset="0"/>
                        <a:ea typeface="Calibri" charset="0"/>
                        <a:cs typeface="Calibri" charset="0"/>
                      </a:endParaRPr>
                    </a:p>
                  </a:txBody>
                  <a:tcPr anchor="ctr">
                    <a:lnL w="6350" cap="flat" cmpd="sng" algn="ctr">
                      <a:solidFill>
                        <a:srgbClr val="DDE0F0"/>
                      </a:solidFill>
                      <a:prstDash val="solid"/>
                      <a:round/>
                      <a:headEnd type="none" w="med" len="med"/>
                      <a:tailEnd type="none" w="med" len="med"/>
                    </a:lnL>
                    <a:lnR w="6350" cap="flat" cmpd="sng" algn="ctr">
                      <a:solidFill>
                        <a:srgbClr val="DDE0F0"/>
                      </a:solidFill>
                      <a:prstDash val="solid"/>
                      <a:round/>
                      <a:headEnd type="none" w="med" len="med"/>
                      <a:tailEnd type="none" w="med" len="med"/>
                    </a:lnR>
                    <a:lnT w="6350" cap="flat" cmpd="sng" algn="ctr">
                      <a:solidFill>
                        <a:srgbClr val="DDE0F0"/>
                      </a:solidFill>
                      <a:prstDash val="solid"/>
                      <a:round/>
                      <a:headEnd type="none" w="med" len="med"/>
                      <a:tailEnd type="none" w="med" len="med"/>
                    </a:lnT>
                    <a:lnB w="6350" cap="flat" cmpd="sng" algn="ctr">
                      <a:solidFill>
                        <a:srgbClr val="DDE0F0"/>
                      </a:solidFill>
                      <a:prstDash val="solid"/>
                      <a:round/>
                      <a:headEnd type="none" w="med" len="med"/>
                      <a:tailEnd type="none" w="med" len="med"/>
                    </a:lnB>
                    <a:solidFill>
                      <a:srgbClr val="FFFFFF"/>
                    </a:solidFill>
                  </a:tcPr>
                </a:tc>
                <a:tc>
                  <a:txBody>
                    <a:bodyPr/>
                    <a:lstStyle/>
                    <a:p>
                      <a:pPr marL="0" indent="0" algn="l">
                        <a:buNone/>
                      </a:pPr>
                      <a:r>
                        <a:rPr lang="en-US" sz="1150" dirty="0">
                          <a:solidFill>
                            <a:srgbClr val="000000"/>
                          </a:solidFill>
                          <a:latin typeface="Calibri" pitchFamily="34" charset="0"/>
                          <a:ea typeface="Calibri" pitchFamily="34" charset="-122"/>
                          <a:cs typeface="Calibri" pitchFamily="34" charset="-120"/>
                        </a:rPr>
                        <a:t>What predicts Y₁, Y₂, … Yₖ jointly?</a:t>
                      </a:r>
                      <a:endParaRPr lang="en-US" sz="1150" dirty="0">
                        <a:latin typeface="Calibri" charset="0"/>
                        <a:ea typeface="Calibri" charset="0"/>
                        <a:cs typeface="Calibri" charset="0"/>
                      </a:endParaRPr>
                    </a:p>
                  </a:txBody>
                  <a:tcPr anchor="ctr">
                    <a:lnL w="6350" cap="flat" cmpd="sng" algn="ctr">
                      <a:solidFill>
                        <a:srgbClr val="DDE0F0"/>
                      </a:solidFill>
                      <a:prstDash val="solid"/>
                      <a:round/>
                      <a:headEnd type="none" w="med" len="med"/>
                      <a:tailEnd type="none" w="med" len="med"/>
                    </a:lnL>
                    <a:lnR w="6350" cap="flat" cmpd="sng" algn="ctr">
                      <a:solidFill>
                        <a:srgbClr val="DDE0F0"/>
                      </a:solidFill>
                      <a:prstDash val="solid"/>
                      <a:round/>
                      <a:headEnd type="none" w="med" len="med"/>
                      <a:tailEnd type="none" w="med" len="med"/>
                    </a:lnR>
                    <a:lnT w="6350" cap="flat" cmpd="sng" algn="ctr">
                      <a:solidFill>
                        <a:srgbClr val="DDE0F0"/>
                      </a:solidFill>
                      <a:prstDash val="solid"/>
                      <a:round/>
                      <a:headEnd type="none" w="med" len="med"/>
                      <a:tailEnd type="none" w="med" len="med"/>
                    </a:lnT>
                    <a:lnB w="6350" cap="flat" cmpd="sng" algn="ctr">
                      <a:solidFill>
                        <a:srgbClr val="DDE0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38912">
                <a:tc>
                  <a:txBody>
                    <a:bodyPr/>
                    <a:lstStyle/>
                    <a:p>
                      <a:pPr marL="0" indent="0" algn="l">
                        <a:buNone/>
                      </a:pPr>
                      <a:r>
                        <a:rPr lang="en-US" sz="1150" dirty="0">
                          <a:solidFill>
                            <a:srgbClr val="000000"/>
                          </a:solidFill>
                          <a:latin typeface="Calibri" pitchFamily="34" charset="0"/>
                          <a:ea typeface="Calibri" pitchFamily="34" charset="-122"/>
                          <a:cs typeface="Calibri" pitchFamily="34" charset="-120"/>
                        </a:rPr>
                        <a:t>Statistical model</a:t>
                      </a:r>
                      <a:endParaRPr lang="en-US" sz="1150" dirty="0">
                        <a:latin typeface="Calibri" charset="0"/>
                        <a:ea typeface="Calibri" charset="0"/>
                        <a:cs typeface="Calibri" charset="0"/>
                      </a:endParaRPr>
                    </a:p>
                  </a:txBody>
                  <a:tcPr anchor="ctr">
                    <a:lnL w="6350" cap="flat" cmpd="sng" algn="ctr">
                      <a:solidFill>
                        <a:srgbClr val="DDE0F0"/>
                      </a:solidFill>
                      <a:prstDash val="solid"/>
                      <a:round/>
                      <a:headEnd type="none" w="med" len="med"/>
                      <a:tailEnd type="none" w="med" len="med"/>
                    </a:lnL>
                    <a:lnR w="6350" cap="flat" cmpd="sng" algn="ctr">
                      <a:solidFill>
                        <a:srgbClr val="DDE0F0"/>
                      </a:solidFill>
                      <a:prstDash val="solid"/>
                      <a:round/>
                      <a:headEnd type="none" w="med" len="med"/>
                      <a:tailEnd type="none" w="med" len="med"/>
                    </a:lnR>
                    <a:lnT w="6350" cap="flat" cmpd="sng" algn="ctr">
                      <a:solidFill>
                        <a:srgbClr val="DDE0F0"/>
                      </a:solidFill>
                      <a:prstDash val="solid"/>
                      <a:round/>
                      <a:headEnd type="none" w="med" len="med"/>
                      <a:tailEnd type="none" w="med" len="med"/>
                    </a:lnT>
                    <a:lnB w="6350" cap="flat" cmpd="sng" algn="ctr">
                      <a:solidFill>
                        <a:srgbClr val="DDE0F0"/>
                      </a:solidFill>
                      <a:prstDash val="solid"/>
                      <a:round/>
                      <a:headEnd type="none" w="med" len="med"/>
                      <a:tailEnd type="none" w="med" len="med"/>
                    </a:lnB>
                    <a:solidFill>
                      <a:srgbClr val="FFFFFF"/>
                    </a:solidFill>
                  </a:tcPr>
                </a:tc>
                <a:tc>
                  <a:txBody>
                    <a:bodyPr/>
                    <a:lstStyle/>
                    <a:p>
                      <a:pPr marL="0" indent="0" algn="l">
                        <a:buNone/>
                      </a:pPr>
                      <a:r>
                        <a:rPr lang="en-US" sz="1150" dirty="0">
                          <a:solidFill>
                            <a:srgbClr val="000000"/>
                          </a:solidFill>
                          <a:latin typeface="Calibri" pitchFamily="34" charset="0"/>
                          <a:ea typeface="Calibri" pitchFamily="34" charset="-122"/>
                          <a:cs typeface="Calibri" pitchFamily="34" charset="-120"/>
                        </a:rPr>
                        <a:t>Regression equation: Ŷ = B₀ + B₁X₁ + …</a:t>
                      </a:r>
                      <a:endParaRPr lang="en-US" sz="1150" dirty="0">
                        <a:latin typeface="Calibri" charset="0"/>
                        <a:ea typeface="Calibri" charset="0"/>
                        <a:cs typeface="Calibri" charset="0"/>
                      </a:endParaRPr>
                    </a:p>
                  </a:txBody>
                  <a:tcPr anchor="ctr">
                    <a:lnL w="6350" cap="flat" cmpd="sng" algn="ctr">
                      <a:solidFill>
                        <a:srgbClr val="DDE0F0"/>
                      </a:solidFill>
                      <a:prstDash val="solid"/>
                      <a:round/>
                      <a:headEnd type="none" w="med" len="med"/>
                      <a:tailEnd type="none" w="med" len="med"/>
                    </a:lnL>
                    <a:lnR w="6350" cap="flat" cmpd="sng" algn="ctr">
                      <a:solidFill>
                        <a:srgbClr val="DDE0F0"/>
                      </a:solidFill>
                      <a:prstDash val="solid"/>
                      <a:round/>
                      <a:headEnd type="none" w="med" len="med"/>
                      <a:tailEnd type="none" w="med" len="med"/>
                    </a:lnR>
                    <a:lnT w="6350" cap="flat" cmpd="sng" algn="ctr">
                      <a:solidFill>
                        <a:srgbClr val="DDE0F0"/>
                      </a:solidFill>
                      <a:prstDash val="solid"/>
                      <a:round/>
                      <a:headEnd type="none" w="med" len="med"/>
                      <a:tailEnd type="none" w="med" len="med"/>
                    </a:lnT>
                    <a:lnB w="6350" cap="flat" cmpd="sng" algn="ctr">
                      <a:solidFill>
                        <a:srgbClr val="DDE0F0"/>
                      </a:solidFill>
                      <a:prstDash val="solid"/>
                      <a:round/>
                      <a:headEnd type="none" w="med" len="med"/>
                      <a:tailEnd type="none" w="med" len="med"/>
                    </a:lnB>
                    <a:solidFill>
                      <a:srgbClr val="FFFFFF"/>
                    </a:solidFill>
                  </a:tcPr>
                </a:tc>
                <a:tc>
                  <a:txBody>
                    <a:bodyPr/>
                    <a:lstStyle/>
                    <a:p>
                      <a:pPr marL="0" indent="0" algn="l">
                        <a:buNone/>
                      </a:pPr>
                      <a:r>
                        <a:rPr lang="en-US" sz="1150" dirty="0">
                          <a:solidFill>
                            <a:srgbClr val="000000"/>
                          </a:solidFill>
                          <a:latin typeface="Calibri" pitchFamily="34" charset="0"/>
                          <a:ea typeface="Calibri" pitchFamily="34" charset="-122"/>
                          <a:cs typeface="Calibri" pitchFamily="34" charset="-120"/>
                        </a:rPr>
                        <a:t>System of equations or linear combination of DVs</a:t>
                      </a:r>
                      <a:endParaRPr lang="en-US" sz="1150" dirty="0">
                        <a:latin typeface="Calibri" charset="0"/>
                        <a:ea typeface="Calibri" charset="0"/>
                        <a:cs typeface="Calibri" charset="0"/>
                      </a:endParaRPr>
                    </a:p>
                  </a:txBody>
                  <a:tcPr anchor="ctr">
                    <a:lnL w="6350" cap="flat" cmpd="sng" algn="ctr">
                      <a:solidFill>
                        <a:srgbClr val="DDE0F0"/>
                      </a:solidFill>
                      <a:prstDash val="solid"/>
                      <a:round/>
                      <a:headEnd type="none" w="med" len="med"/>
                      <a:tailEnd type="none" w="med" len="med"/>
                    </a:lnL>
                    <a:lnR w="6350" cap="flat" cmpd="sng" algn="ctr">
                      <a:solidFill>
                        <a:srgbClr val="DDE0F0"/>
                      </a:solidFill>
                      <a:prstDash val="solid"/>
                      <a:round/>
                      <a:headEnd type="none" w="med" len="med"/>
                      <a:tailEnd type="none" w="med" len="med"/>
                    </a:lnR>
                    <a:lnT w="6350" cap="flat" cmpd="sng" algn="ctr">
                      <a:solidFill>
                        <a:srgbClr val="DDE0F0"/>
                      </a:solidFill>
                      <a:prstDash val="solid"/>
                      <a:round/>
                      <a:headEnd type="none" w="med" len="med"/>
                      <a:tailEnd type="none" w="med" len="med"/>
                    </a:lnT>
                    <a:lnB w="6350" cap="flat" cmpd="sng" algn="ctr">
                      <a:solidFill>
                        <a:srgbClr val="DDE0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38912">
                <a:tc>
                  <a:txBody>
                    <a:bodyPr/>
                    <a:lstStyle/>
                    <a:p>
                      <a:pPr marL="0" indent="0" algn="l">
                        <a:buNone/>
                      </a:pPr>
                      <a:r>
                        <a:rPr lang="en-US" sz="1150" dirty="0">
                          <a:solidFill>
                            <a:srgbClr val="000000"/>
                          </a:solidFill>
                          <a:latin typeface="Calibri" pitchFamily="34" charset="0"/>
                          <a:ea typeface="Calibri" pitchFamily="34" charset="-122"/>
                          <a:cs typeface="Calibri" pitchFamily="34" charset="-120"/>
                        </a:rPr>
                        <a:t>Key techniques</a:t>
                      </a:r>
                      <a:endParaRPr lang="en-US" sz="1150" dirty="0">
                        <a:latin typeface="Calibri" charset="0"/>
                        <a:ea typeface="Calibri" charset="0"/>
                        <a:cs typeface="Calibri" charset="0"/>
                      </a:endParaRPr>
                    </a:p>
                  </a:txBody>
                  <a:tcPr anchor="ctr">
                    <a:lnL w="6350" cap="flat" cmpd="sng" algn="ctr">
                      <a:solidFill>
                        <a:srgbClr val="DDE0F0"/>
                      </a:solidFill>
                      <a:prstDash val="solid"/>
                      <a:round/>
                      <a:headEnd type="none" w="med" len="med"/>
                      <a:tailEnd type="none" w="med" len="med"/>
                    </a:lnL>
                    <a:lnR w="6350" cap="flat" cmpd="sng" algn="ctr">
                      <a:solidFill>
                        <a:srgbClr val="DDE0F0"/>
                      </a:solidFill>
                      <a:prstDash val="solid"/>
                      <a:round/>
                      <a:headEnd type="none" w="med" len="med"/>
                      <a:tailEnd type="none" w="med" len="med"/>
                    </a:lnR>
                    <a:lnT w="6350" cap="flat" cmpd="sng" algn="ctr">
                      <a:solidFill>
                        <a:srgbClr val="DDE0F0"/>
                      </a:solidFill>
                      <a:prstDash val="solid"/>
                      <a:round/>
                      <a:headEnd type="none" w="med" len="med"/>
                      <a:tailEnd type="none" w="med" len="med"/>
                    </a:lnT>
                    <a:lnB w="6350" cap="flat" cmpd="sng" algn="ctr">
                      <a:solidFill>
                        <a:srgbClr val="DDE0F0"/>
                      </a:solidFill>
                      <a:prstDash val="solid"/>
                      <a:round/>
                      <a:headEnd type="none" w="med" len="med"/>
                      <a:tailEnd type="none" w="med" len="med"/>
                    </a:lnB>
                    <a:solidFill>
                      <a:srgbClr val="FFFFFF"/>
                    </a:solidFill>
                  </a:tcPr>
                </a:tc>
                <a:tc>
                  <a:txBody>
                    <a:bodyPr/>
                    <a:lstStyle/>
                    <a:p>
                      <a:pPr marL="0" indent="0" algn="l">
                        <a:buNone/>
                      </a:pPr>
                      <a:r>
                        <a:rPr lang="en-US" sz="1150" dirty="0">
                          <a:solidFill>
                            <a:srgbClr val="000000"/>
                          </a:solidFill>
                          <a:latin typeface="Calibri" pitchFamily="34" charset="0"/>
                          <a:ea typeface="Calibri" pitchFamily="34" charset="-122"/>
                          <a:cs typeface="Calibri" pitchFamily="34" charset="-120"/>
                        </a:rPr>
                        <a:t>Multiple regression, logistic regression, Cox</a:t>
                      </a:r>
                      <a:endParaRPr lang="en-US" sz="1150" dirty="0">
                        <a:latin typeface="Calibri" charset="0"/>
                        <a:ea typeface="Calibri" charset="0"/>
                        <a:cs typeface="Calibri" charset="0"/>
                      </a:endParaRPr>
                    </a:p>
                  </a:txBody>
                  <a:tcPr anchor="ctr">
                    <a:lnL w="6350" cap="flat" cmpd="sng" algn="ctr">
                      <a:solidFill>
                        <a:srgbClr val="DDE0F0"/>
                      </a:solidFill>
                      <a:prstDash val="solid"/>
                      <a:round/>
                      <a:headEnd type="none" w="med" len="med"/>
                      <a:tailEnd type="none" w="med" len="med"/>
                    </a:lnL>
                    <a:lnR w="6350" cap="flat" cmpd="sng" algn="ctr">
                      <a:solidFill>
                        <a:srgbClr val="DDE0F0"/>
                      </a:solidFill>
                      <a:prstDash val="solid"/>
                      <a:round/>
                      <a:headEnd type="none" w="med" len="med"/>
                      <a:tailEnd type="none" w="med" len="med"/>
                    </a:lnR>
                    <a:lnT w="6350" cap="flat" cmpd="sng" algn="ctr">
                      <a:solidFill>
                        <a:srgbClr val="DDE0F0"/>
                      </a:solidFill>
                      <a:prstDash val="solid"/>
                      <a:round/>
                      <a:headEnd type="none" w="med" len="med"/>
                      <a:tailEnd type="none" w="med" len="med"/>
                    </a:lnT>
                    <a:lnB w="6350" cap="flat" cmpd="sng" algn="ctr">
                      <a:solidFill>
                        <a:srgbClr val="DDE0F0"/>
                      </a:solidFill>
                      <a:prstDash val="solid"/>
                      <a:round/>
                      <a:headEnd type="none" w="med" len="med"/>
                      <a:tailEnd type="none" w="med" len="med"/>
                    </a:lnB>
                    <a:solidFill>
                      <a:srgbClr val="FFFFFF"/>
                    </a:solidFill>
                  </a:tcPr>
                </a:tc>
                <a:tc>
                  <a:txBody>
                    <a:bodyPr/>
                    <a:lstStyle/>
                    <a:p>
                      <a:pPr marL="0" indent="0" algn="l">
                        <a:buNone/>
                      </a:pPr>
                      <a:r>
                        <a:rPr lang="en-US" sz="1150" dirty="0">
                          <a:solidFill>
                            <a:srgbClr val="000000"/>
                          </a:solidFill>
                          <a:latin typeface="Calibri" pitchFamily="34" charset="0"/>
                          <a:ea typeface="Calibri" pitchFamily="34" charset="-122"/>
                          <a:cs typeface="Calibri" pitchFamily="34" charset="-120"/>
                        </a:rPr>
                        <a:t>MANOVA, MANCOVA, SEM, factor analysis, cluster</a:t>
                      </a:r>
                      <a:endParaRPr lang="en-US" sz="1150" dirty="0">
                        <a:latin typeface="Calibri" charset="0"/>
                        <a:ea typeface="Calibri" charset="0"/>
                        <a:cs typeface="Calibri" charset="0"/>
                      </a:endParaRPr>
                    </a:p>
                  </a:txBody>
                  <a:tcPr anchor="ctr">
                    <a:lnL w="6350" cap="flat" cmpd="sng" algn="ctr">
                      <a:solidFill>
                        <a:srgbClr val="DDE0F0"/>
                      </a:solidFill>
                      <a:prstDash val="solid"/>
                      <a:round/>
                      <a:headEnd type="none" w="med" len="med"/>
                      <a:tailEnd type="none" w="med" len="med"/>
                    </a:lnL>
                    <a:lnR w="6350" cap="flat" cmpd="sng" algn="ctr">
                      <a:solidFill>
                        <a:srgbClr val="DDE0F0"/>
                      </a:solidFill>
                      <a:prstDash val="solid"/>
                      <a:round/>
                      <a:headEnd type="none" w="med" len="med"/>
                      <a:tailEnd type="none" w="med" len="med"/>
                    </a:lnR>
                    <a:lnT w="6350" cap="flat" cmpd="sng" algn="ctr">
                      <a:solidFill>
                        <a:srgbClr val="DDE0F0"/>
                      </a:solidFill>
                      <a:prstDash val="solid"/>
                      <a:round/>
                      <a:headEnd type="none" w="med" len="med"/>
                      <a:tailEnd type="none" w="med" len="med"/>
                    </a:lnT>
                    <a:lnB w="6350" cap="flat" cmpd="sng" algn="ctr">
                      <a:solidFill>
                        <a:srgbClr val="DDE0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38912">
                <a:tc>
                  <a:txBody>
                    <a:bodyPr/>
                    <a:lstStyle/>
                    <a:p>
                      <a:pPr marL="0" indent="0" algn="l">
                        <a:buNone/>
                      </a:pPr>
                      <a:r>
                        <a:rPr lang="en-US" sz="1150" dirty="0">
                          <a:solidFill>
                            <a:srgbClr val="000000"/>
                          </a:solidFill>
                          <a:latin typeface="Calibri" pitchFamily="34" charset="0"/>
                          <a:ea typeface="Calibri" pitchFamily="34" charset="-122"/>
                          <a:cs typeface="Calibri" pitchFamily="34" charset="-120"/>
                        </a:rPr>
                        <a:t>Error control</a:t>
                      </a:r>
                      <a:endParaRPr lang="en-US" sz="1150" dirty="0">
                        <a:latin typeface="Calibri" charset="0"/>
                        <a:ea typeface="Calibri" charset="0"/>
                        <a:cs typeface="Calibri" charset="0"/>
                      </a:endParaRPr>
                    </a:p>
                  </a:txBody>
                  <a:tcPr anchor="ctr">
                    <a:lnL w="6350" cap="flat" cmpd="sng" algn="ctr">
                      <a:solidFill>
                        <a:srgbClr val="DDE0F0"/>
                      </a:solidFill>
                      <a:prstDash val="solid"/>
                      <a:round/>
                      <a:headEnd type="none" w="med" len="med"/>
                      <a:tailEnd type="none" w="med" len="med"/>
                    </a:lnL>
                    <a:lnR w="6350" cap="flat" cmpd="sng" algn="ctr">
                      <a:solidFill>
                        <a:srgbClr val="DDE0F0"/>
                      </a:solidFill>
                      <a:prstDash val="solid"/>
                      <a:round/>
                      <a:headEnd type="none" w="med" len="med"/>
                      <a:tailEnd type="none" w="med" len="med"/>
                    </a:lnR>
                    <a:lnT w="6350" cap="flat" cmpd="sng" algn="ctr">
                      <a:solidFill>
                        <a:srgbClr val="DDE0F0"/>
                      </a:solidFill>
                      <a:prstDash val="solid"/>
                      <a:round/>
                      <a:headEnd type="none" w="med" len="med"/>
                      <a:tailEnd type="none" w="med" len="med"/>
                    </a:lnT>
                    <a:lnB w="6350" cap="flat" cmpd="sng" algn="ctr">
                      <a:solidFill>
                        <a:srgbClr val="DDE0F0"/>
                      </a:solidFill>
                      <a:prstDash val="solid"/>
                      <a:round/>
                      <a:headEnd type="none" w="med" len="med"/>
                      <a:tailEnd type="none" w="med" len="med"/>
                    </a:lnB>
                    <a:solidFill>
                      <a:srgbClr val="FFFFFF"/>
                    </a:solidFill>
                  </a:tcPr>
                </a:tc>
                <a:tc>
                  <a:txBody>
                    <a:bodyPr/>
                    <a:lstStyle/>
                    <a:p>
                      <a:pPr marL="0" indent="0" algn="l">
                        <a:buNone/>
                      </a:pPr>
                      <a:r>
                        <a:rPr lang="en-US" sz="1150" dirty="0">
                          <a:solidFill>
                            <a:srgbClr val="000000"/>
                          </a:solidFill>
                          <a:latin typeface="Calibri" pitchFamily="34" charset="0"/>
                          <a:ea typeface="Calibri" pitchFamily="34" charset="-122"/>
                          <a:cs typeface="Calibri" pitchFamily="34" charset="-120"/>
                        </a:rPr>
                        <a:t>Single α; adjust for multiple comparisons if needed</a:t>
                      </a:r>
                      <a:endParaRPr lang="en-US" sz="1150" dirty="0">
                        <a:latin typeface="Calibri" charset="0"/>
                        <a:ea typeface="Calibri" charset="0"/>
                        <a:cs typeface="Calibri" charset="0"/>
                      </a:endParaRPr>
                    </a:p>
                  </a:txBody>
                  <a:tcPr anchor="ctr">
                    <a:lnL w="6350" cap="flat" cmpd="sng" algn="ctr">
                      <a:solidFill>
                        <a:srgbClr val="DDE0F0"/>
                      </a:solidFill>
                      <a:prstDash val="solid"/>
                      <a:round/>
                      <a:headEnd type="none" w="med" len="med"/>
                      <a:tailEnd type="none" w="med" len="med"/>
                    </a:lnL>
                    <a:lnR w="6350" cap="flat" cmpd="sng" algn="ctr">
                      <a:solidFill>
                        <a:srgbClr val="DDE0F0"/>
                      </a:solidFill>
                      <a:prstDash val="solid"/>
                      <a:round/>
                      <a:headEnd type="none" w="med" len="med"/>
                      <a:tailEnd type="none" w="med" len="med"/>
                    </a:lnR>
                    <a:lnT w="6350" cap="flat" cmpd="sng" algn="ctr">
                      <a:solidFill>
                        <a:srgbClr val="DDE0F0"/>
                      </a:solidFill>
                      <a:prstDash val="solid"/>
                      <a:round/>
                      <a:headEnd type="none" w="med" len="med"/>
                      <a:tailEnd type="none" w="med" len="med"/>
                    </a:lnT>
                    <a:lnB w="6350" cap="flat" cmpd="sng" algn="ctr">
                      <a:solidFill>
                        <a:srgbClr val="DDE0F0"/>
                      </a:solidFill>
                      <a:prstDash val="solid"/>
                      <a:round/>
                      <a:headEnd type="none" w="med" len="med"/>
                      <a:tailEnd type="none" w="med" len="med"/>
                    </a:lnB>
                    <a:solidFill>
                      <a:srgbClr val="FFFFFF"/>
                    </a:solidFill>
                  </a:tcPr>
                </a:tc>
                <a:tc>
                  <a:txBody>
                    <a:bodyPr/>
                    <a:lstStyle/>
                    <a:p>
                      <a:pPr marL="0" indent="0" algn="l">
                        <a:buNone/>
                      </a:pPr>
                      <a:r>
                        <a:rPr lang="en-US" sz="1150" dirty="0">
                          <a:solidFill>
                            <a:srgbClr val="000000"/>
                          </a:solidFill>
                          <a:latin typeface="Calibri" pitchFamily="34" charset="0"/>
                          <a:ea typeface="Calibri" pitchFamily="34" charset="-122"/>
                          <a:cs typeface="Calibri" pitchFamily="34" charset="-120"/>
                        </a:rPr>
                        <a:t>Controls experiment-wise α across multiple DVs</a:t>
                      </a:r>
                      <a:endParaRPr lang="en-US" sz="1150" dirty="0">
                        <a:latin typeface="Calibri" charset="0"/>
                        <a:ea typeface="Calibri" charset="0"/>
                        <a:cs typeface="Calibri" charset="0"/>
                      </a:endParaRPr>
                    </a:p>
                  </a:txBody>
                  <a:tcPr anchor="ctr">
                    <a:lnL w="6350" cap="flat" cmpd="sng" algn="ctr">
                      <a:solidFill>
                        <a:srgbClr val="DDE0F0"/>
                      </a:solidFill>
                      <a:prstDash val="solid"/>
                      <a:round/>
                      <a:headEnd type="none" w="med" len="med"/>
                      <a:tailEnd type="none" w="med" len="med"/>
                    </a:lnL>
                    <a:lnR w="6350" cap="flat" cmpd="sng" algn="ctr">
                      <a:solidFill>
                        <a:srgbClr val="DDE0F0"/>
                      </a:solidFill>
                      <a:prstDash val="solid"/>
                      <a:round/>
                      <a:headEnd type="none" w="med" len="med"/>
                      <a:tailEnd type="none" w="med" len="med"/>
                    </a:lnR>
                    <a:lnT w="6350" cap="flat" cmpd="sng" algn="ctr">
                      <a:solidFill>
                        <a:srgbClr val="DDE0F0"/>
                      </a:solidFill>
                      <a:prstDash val="solid"/>
                      <a:round/>
                      <a:headEnd type="none" w="med" len="med"/>
                      <a:tailEnd type="none" w="med" len="med"/>
                    </a:lnT>
                    <a:lnB w="6350" cap="flat" cmpd="sng" algn="ctr">
                      <a:solidFill>
                        <a:srgbClr val="DDE0F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38912">
                <a:tc>
                  <a:txBody>
                    <a:bodyPr/>
                    <a:lstStyle/>
                    <a:p>
                      <a:pPr marL="0" indent="0" algn="l">
                        <a:buNone/>
                      </a:pPr>
                      <a:r>
                        <a:rPr lang="en-US" sz="1150" dirty="0">
                          <a:solidFill>
                            <a:srgbClr val="000000"/>
                          </a:solidFill>
                          <a:latin typeface="Calibri" pitchFamily="34" charset="0"/>
                          <a:ea typeface="Calibri" pitchFamily="34" charset="-122"/>
                          <a:cs typeface="Calibri" pitchFamily="34" charset="-120"/>
                        </a:rPr>
                        <a:t>PH example</a:t>
                      </a:r>
                      <a:endParaRPr lang="en-US" sz="1150" dirty="0">
                        <a:latin typeface="Calibri" charset="0"/>
                        <a:ea typeface="Calibri" charset="0"/>
                        <a:cs typeface="Calibri" charset="0"/>
                      </a:endParaRPr>
                    </a:p>
                  </a:txBody>
                  <a:tcPr anchor="ctr">
                    <a:lnL w="6350" cap="flat" cmpd="sng" algn="ctr">
                      <a:solidFill>
                        <a:srgbClr val="DDE0F0"/>
                      </a:solidFill>
                      <a:prstDash val="solid"/>
                      <a:round/>
                      <a:headEnd type="none" w="med" len="med"/>
                      <a:tailEnd type="none" w="med" len="med"/>
                    </a:lnL>
                    <a:lnR w="6350" cap="flat" cmpd="sng" algn="ctr">
                      <a:solidFill>
                        <a:srgbClr val="DDE0F0"/>
                      </a:solidFill>
                      <a:prstDash val="solid"/>
                      <a:round/>
                      <a:headEnd type="none" w="med" len="med"/>
                      <a:tailEnd type="none" w="med" len="med"/>
                    </a:lnR>
                    <a:lnT w="6350" cap="flat" cmpd="sng" algn="ctr">
                      <a:solidFill>
                        <a:srgbClr val="DDE0F0"/>
                      </a:solidFill>
                      <a:prstDash val="solid"/>
                      <a:round/>
                      <a:headEnd type="none" w="med" len="med"/>
                      <a:tailEnd type="none" w="med" len="med"/>
                    </a:lnT>
                    <a:lnB w="6350" cap="flat" cmpd="sng" algn="ctr">
                      <a:solidFill>
                        <a:srgbClr val="DDE0F0"/>
                      </a:solidFill>
                      <a:prstDash val="solid"/>
                      <a:round/>
                      <a:headEnd type="none" w="med" len="med"/>
                      <a:tailEnd type="none" w="med" len="med"/>
                    </a:lnB>
                    <a:solidFill>
                      <a:srgbClr val="FFFFFF"/>
                    </a:solidFill>
                  </a:tcPr>
                </a:tc>
                <a:tc>
                  <a:txBody>
                    <a:bodyPr/>
                    <a:lstStyle/>
                    <a:p>
                      <a:pPr marL="0" indent="0" algn="l">
                        <a:buNone/>
                      </a:pPr>
                      <a:r>
                        <a:rPr lang="en-US" sz="1150" dirty="0">
                          <a:solidFill>
                            <a:srgbClr val="000000"/>
                          </a:solidFill>
                          <a:latin typeface="Calibri" pitchFamily="34" charset="0"/>
                          <a:ea typeface="Calibri" pitchFamily="34" charset="-122"/>
                          <a:cs typeface="Calibri" pitchFamily="34" charset="-120"/>
                        </a:rPr>
                        <a:t>Predict SBP from age, BMI, smoking, SES</a:t>
                      </a:r>
                      <a:endParaRPr lang="en-US" sz="1150" dirty="0">
                        <a:latin typeface="Calibri" charset="0"/>
                        <a:ea typeface="Calibri" charset="0"/>
                        <a:cs typeface="Calibri" charset="0"/>
                      </a:endParaRPr>
                    </a:p>
                  </a:txBody>
                  <a:tcPr anchor="ctr">
                    <a:lnL w="6350" cap="flat" cmpd="sng" algn="ctr">
                      <a:solidFill>
                        <a:srgbClr val="DDE0F0"/>
                      </a:solidFill>
                      <a:prstDash val="solid"/>
                      <a:round/>
                      <a:headEnd type="none" w="med" len="med"/>
                      <a:tailEnd type="none" w="med" len="med"/>
                    </a:lnL>
                    <a:lnR w="6350" cap="flat" cmpd="sng" algn="ctr">
                      <a:solidFill>
                        <a:srgbClr val="DDE0F0"/>
                      </a:solidFill>
                      <a:prstDash val="solid"/>
                      <a:round/>
                      <a:headEnd type="none" w="med" len="med"/>
                      <a:tailEnd type="none" w="med" len="med"/>
                    </a:lnR>
                    <a:lnT w="6350" cap="flat" cmpd="sng" algn="ctr">
                      <a:solidFill>
                        <a:srgbClr val="DDE0F0"/>
                      </a:solidFill>
                      <a:prstDash val="solid"/>
                      <a:round/>
                      <a:headEnd type="none" w="med" len="med"/>
                      <a:tailEnd type="none" w="med" len="med"/>
                    </a:lnT>
                    <a:lnB w="6350" cap="flat" cmpd="sng" algn="ctr">
                      <a:solidFill>
                        <a:srgbClr val="DDE0F0"/>
                      </a:solidFill>
                      <a:prstDash val="solid"/>
                      <a:round/>
                      <a:headEnd type="none" w="med" len="med"/>
                      <a:tailEnd type="none" w="med" len="med"/>
                    </a:lnB>
                    <a:solidFill>
                      <a:srgbClr val="FFFFFF"/>
                    </a:solidFill>
                  </a:tcPr>
                </a:tc>
                <a:tc>
                  <a:txBody>
                    <a:bodyPr/>
                    <a:lstStyle/>
                    <a:p>
                      <a:pPr marL="0" indent="0" algn="l">
                        <a:buNone/>
                      </a:pPr>
                      <a:r>
                        <a:rPr lang="en-US" sz="1150" dirty="0">
                          <a:solidFill>
                            <a:srgbClr val="000000"/>
                          </a:solidFill>
                          <a:latin typeface="Calibri" pitchFamily="34" charset="0"/>
                          <a:ea typeface="Calibri" pitchFamily="34" charset="-122"/>
                          <a:cs typeface="Calibri" pitchFamily="34" charset="-120"/>
                        </a:rPr>
                        <a:t>Compare interventions on SBP + BMI + cholesterol + glucose</a:t>
                      </a:r>
                      <a:endParaRPr lang="en-US" sz="1150" dirty="0">
                        <a:latin typeface="Calibri" charset="0"/>
                        <a:ea typeface="Calibri" charset="0"/>
                        <a:cs typeface="Calibri" charset="0"/>
                      </a:endParaRPr>
                    </a:p>
                  </a:txBody>
                  <a:tcPr anchor="ctr">
                    <a:lnL w="6350" cap="flat" cmpd="sng" algn="ctr">
                      <a:solidFill>
                        <a:srgbClr val="DDE0F0"/>
                      </a:solidFill>
                      <a:prstDash val="solid"/>
                      <a:round/>
                      <a:headEnd type="none" w="med" len="med"/>
                      <a:tailEnd type="none" w="med" len="med"/>
                    </a:lnL>
                    <a:lnR w="6350" cap="flat" cmpd="sng" algn="ctr">
                      <a:solidFill>
                        <a:srgbClr val="DDE0F0"/>
                      </a:solidFill>
                      <a:prstDash val="solid"/>
                      <a:round/>
                      <a:headEnd type="none" w="med" len="med"/>
                      <a:tailEnd type="none" w="med" len="med"/>
                    </a:lnR>
                    <a:lnT w="6350" cap="flat" cmpd="sng" algn="ctr">
                      <a:solidFill>
                        <a:srgbClr val="DDE0F0"/>
                      </a:solidFill>
                      <a:prstDash val="solid"/>
                      <a:round/>
                      <a:headEnd type="none" w="med" len="med"/>
                      <a:tailEnd type="none" w="med" len="med"/>
                    </a:lnT>
                    <a:lnB w="6350" cap="flat" cmpd="sng" algn="ctr">
                      <a:solidFill>
                        <a:srgbClr val="DDE0F0"/>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438912">
                <a:tc>
                  <a:txBody>
                    <a:bodyPr/>
                    <a:lstStyle/>
                    <a:p>
                      <a:pPr marL="0" indent="0" algn="l">
                        <a:buNone/>
                      </a:pPr>
                      <a:r>
                        <a:rPr lang="en-US" sz="1150" dirty="0">
                          <a:solidFill>
                            <a:srgbClr val="000000"/>
                          </a:solidFill>
                          <a:latin typeface="Calibri" pitchFamily="34" charset="0"/>
                          <a:ea typeface="Calibri" pitchFamily="34" charset="-122"/>
                          <a:cs typeface="Calibri" pitchFamily="34" charset="-120"/>
                        </a:rPr>
                        <a:t>Tabachnick ref.</a:t>
                      </a:r>
                      <a:endParaRPr lang="en-US" sz="1150" dirty="0">
                        <a:latin typeface="Calibri" charset="0"/>
                        <a:ea typeface="Calibri" charset="0"/>
                        <a:cs typeface="Calibri" charset="0"/>
                      </a:endParaRPr>
                    </a:p>
                  </a:txBody>
                  <a:tcPr anchor="ctr">
                    <a:lnL w="6350" cap="flat" cmpd="sng" algn="ctr">
                      <a:solidFill>
                        <a:srgbClr val="DDE0F0"/>
                      </a:solidFill>
                      <a:prstDash val="solid"/>
                      <a:round/>
                      <a:headEnd type="none" w="med" len="med"/>
                      <a:tailEnd type="none" w="med" len="med"/>
                    </a:lnL>
                    <a:lnR w="6350" cap="flat" cmpd="sng" algn="ctr">
                      <a:solidFill>
                        <a:srgbClr val="DDE0F0"/>
                      </a:solidFill>
                      <a:prstDash val="solid"/>
                      <a:round/>
                      <a:headEnd type="none" w="med" len="med"/>
                      <a:tailEnd type="none" w="med" len="med"/>
                    </a:lnR>
                    <a:lnT w="6350" cap="flat" cmpd="sng" algn="ctr">
                      <a:solidFill>
                        <a:srgbClr val="DDE0F0"/>
                      </a:solidFill>
                      <a:prstDash val="solid"/>
                      <a:round/>
                      <a:headEnd type="none" w="med" len="med"/>
                      <a:tailEnd type="none" w="med" len="med"/>
                    </a:lnT>
                    <a:lnB w="6350" cap="flat" cmpd="sng" algn="ctr">
                      <a:solidFill>
                        <a:srgbClr val="DDE0F0"/>
                      </a:solidFill>
                      <a:prstDash val="solid"/>
                      <a:round/>
                      <a:headEnd type="none" w="med" len="med"/>
                      <a:tailEnd type="none" w="med" len="med"/>
                    </a:lnB>
                    <a:solidFill>
                      <a:srgbClr val="FFFFFF"/>
                    </a:solidFill>
                  </a:tcPr>
                </a:tc>
                <a:tc>
                  <a:txBody>
                    <a:bodyPr/>
                    <a:lstStyle/>
                    <a:p>
                      <a:pPr marL="0" indent="0" algn="l">
                        <a:buNone/>
                      </a:pPr>
                      <a:r>
                        <a:rPr lang="en-US" sz="1150" dirty="0">
                          <a:solidFill>
                            <a:srgbClr val="000000"/>
                          </a:solidFill>
                          <a:latin typeface="Calibri" pitchFamily="34" charset="0"/>
                          <a:ea typeface="Calibri" pitchFamily="34" charset="-122"/>
                          <a:cs typeface="Calibri" pitchFamily="34" charset="-120"/>
                        </a:rPr>
                        <a:t>Chapters 5–10 (regression family)</a:t>
                      </a:r>
                      <a:endParaRPr lang="en-US" sz="1150" dirty="0">
                        <a:latin typeface="Calibri" charset="0"/>
                        <a:ea typeface="Calibri" charset="0"/>
                        <a:cs typeface="Calibri" charset="0"/>
                      </a:endParaRPr>
                    </a:p>
                  </a:txBody>
                  <a:tcPr anchor="ctr">
                    <a:lnL w="6350" cap="flat" cmpd="sng" algn="ctr">
                      <a:solidFill>
                        <a:srgbClr val="DDE0F0"/>
                      </a:solidFill>
                      <a:prstDash val="solid"/>
                      <a:round/>
                      <a:headEnd type="none" w="med" len="med"/>
                      <a:tailEnd type="none" w="med" len="med"/>
                    </a:lnL>
                    <a:lnR w="6350" cap="flat" cmpd="sng" algn="ctr">
                      <a:solidFill>
                        <a:srgbClr val="DDE0F0"/>
                      </a:solidFill>
                      <a:prstDash val="solid"/>
                      <a:round/>
                      <a:headEnd type="none" w="med" len="med"/>
                      <a:tailEnd type="none" w="med" len="med"/>
                    </a:lnR>
                    <a:lnT w="6350" cap="flat" cmpd="sng" algn="ctr">
                      <a:solidFill>
                        <a:srgbClr val="DDE0F0"/>
                      </a:solidFill>
                      <a:prstDash val="solid"/>
                      <a:round/>
                      <a:headEnd type="none" w="med" len="med"/>
                      <a:tailEnd type="none" w="med" len="med"/>
                    </a:lnT>
                    <a:lnB w="6350" cap="flat" cmpd="sng" algn="ctr">
                      <a:solidFill>
                        <a:srgbClr val="DDE0F0"/>
                      </a:solidFill>
                      <a:prstDash val="solid"/>
                      <a:round/>
                      <a:headEnd type="none" w="med" len="med"/>
                      <a:tailEnd type="none" w="med" len="med"/>
                    </a:lnB>
                    <a:solidFill>
                      <a:srgbClr val="FFFFFF"/>
                    </a:solidFill>
                  </a:tcPr>
                </a:tc>
                <a:tc>
                  <a:txBody>
                    <a:bodyPr/>
                    <a:lstStyle/>
                    <a:p>
                      <a:pPr marL="0" indent="0" algn="l">
                        <a:buNone/>
                      </a:pPr>
                      <a:r>
                        <a:rPr lang="en-US" sz="1150" dirty="0">
                          <a:solidFill>
                            <a:srgbClr val="000000"/>
                          </a:solidFill>
                          <a:latin typeface="Calibri" pitchFamily="34" charset="0"/>
                          <a:ea typeface="Calibri" pitchFamily="34" charset="-122"/>
                          <a:cs typeface="Calibri" pitchFamily="34" charset="-120"/>
                        </a:rPr>
                        <a:t>Chapters 7–14 (MANOVA, FA, DA, cluster, SEM)</a:t>
                      </a:r>
                      <a:endParaRPr lang="en-US" sz="1150" dirty="0">
                        <a:latin typeface="Calibri" charset="0"/>
                        <a:ea typeface="Calibri" charset="0"/>
                        <a:cs typeface="Calibri" charset="0"/>
                      </a:endParaRPr>
                    </a:p>
                  </a:txBody>
                  <a:tcPr anchor="ctr">
                    <a:lnL w="6350" cap="flat" cmpd="sng" algn="ctr">
                      <a:solidFill>
                        <a:srgbClr val="DDE0F0"/>
                      </a:solidFill>
                      <a:prstDash val="solid"/>
                      <a:round/>
                      <a:headEnd type="none" w="med" len="med"/>
                      <a:tailEnd type="none" w="med" len="med"/>
                    </a:lnL>
                    <a:lnR w="6350" cap="flat" cmpd="sng" algn="ctr">
                      <a:solidFill>
                        <a:srgbClr val="DDE0F0"/>
                      </a:solidFill>
                      <a:prstDash val="solid"/>
                      <a:round/>
                      <a:headEnd type="none" w="med" len="med"/>
                      <a:tailEnd type="none" w="med" len="med"/>
                    </a:lnR>
                    <a:lnT w="6350" cap="flat" cmpd="sng" algn="ctr">
                      <a:solidFill>
                        <a:srgbClr val="DDE0F0"/>
                      </a:solidFill>
                      <a:prstDash val="solid"/>
                      <a:round/>
                      <a:headEnd type="none" w="med" len="med"/>
                      <a:tailEnd type="none" w="med" len="med"/>
                    </a:lnT>
                    <a:lnB w="6350" cap="flat" cmpd="sng" algn="ctr">
                      <a:solidFill>
                        <a:srgbClr val="DDE0F0"/>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82296"/>
          </a:xfrm>
          <a:prstGeom prst="rect">
            <a:avLst/>
          </a:prstGeom>
          <a:solidFill>
            <a:srgbClr val="D4A843"/>
          </a:solidFill>
          <a:ln w="12700">
            <a:solidFill>
              <a:srgbClr val="D4A843"/>
            </a:solidFill>
            <a:prstDash val="solid"/>
          </a:ln>
        </p:spPr>
        <p:txBody>
          <a:bodyPr/>
          <a:lstStyle/>
          <a:p>
            <a:endParaRPr lang="en-US"/>
          </a:p>
        </p:txBody>
      </p:sp>
      <p:sp>
        <p:nvSpPr>
          <p:cNvPr id="3" name="Text 1"/>
          <p:cNvSpPr/>
          <p:nvPr/>
        </p:nvSpPr>
        <p:spPr>
          <a:xfrm>
            <a:off x="411480" y="137160"/>
            <a:ext cx="8321040" cy="658368"/>
          </a:xfrm>
          <a:prstGeom prst="rect">
            <a:avLst/>
          </a:prstGeom>
          <a:noFill/>
          <a:ln/>
        </p:spPr>
        <p:txBody>
          <a:bodyPr wrap="square" lIns="0" tIns="0" rIns="0" bIns="0" rtlCol="0" anchor="ctr"/>
          <a:lstStyle/>
          <a:p>
            <a:pPr marL="0" indent="0">
              <a:buNone/>
            </a:pPr>
            <a:r>
              <a:rPr lang="en-US" sz="2700" b="1" dirty="0">
                <a:solidFill>
                  <a:srgbClr val="1E2761"/>
                </a:solidFill>
                <a:latin typeface="Georgia" pitchFamily="34" charset="0"/>
                <a:ea typeface="Georgia" pitchFamily="34" charset="-122"/>
                <a:cs typeface="Georgia" pitchFamily="34" charset="-120"/>
              </a:rPr>
              <a:t>Decision Guide: Multivariable or Multivariate?</a:t>
            </a:r>
            <a:endParaRPr lang="en-US" sz="2700" dirty="0"/>
          </a:p>
        </p:txBody>
      </p:sp>
      <p:sp>
        <p:nvSpPr>
          <p:cNvPr id="4" name="Shape 2"/>
          <p:cNvSpPr/>
          <p:nvPr/>
        </p:nvSpPr>
        <p:spPr>
          <a:xfrm>
            <a:off x="2286000" y="960120"/>
            <a:ext cx="4572000" cy="658368"/>
          </a:xfrm>
          <a:prstGeom prst="rect">
            <a:avLst/>
          </a:prstGeom>
          <a:solidFill>
            <a:srgbClr val="1A1A2E"/>
          </a:solidFill>
          <a:ln w="12700">
            <a:solidFill>
              <a:srgbClr val="1A1A2E"/>
            </a:solidFill>
            <a:prstDash val="solid"/>
          </a:ln>
        </p:spPr>
        <p:txBody>
          <a:bodyPr/>
          <a:lstStyle/>
          <a:p>
            <a:endParaRPr lang="en-US"/>
          </a:p>
        </p:txBody>
      </p:sp>
      <p:sp>
        <p:nvSpPr>
          <p:cNvPr id="5" name="Text 3"/>
          <p:cNvSpPr/>
          <p:nvPr/>
        </p:nvSpPr>
        <p:spPr>
          <a:xfrm>
            <a:off x="2331720" y="978408"/>
            <a:ext cx="4480560" cy="621792"/>
          </a:xfrm>
          <a:prstGeom prst="rect">
            <a:avLst/>
          </a:prstGeom>
          <a:noFill/>
          <a:ln/>
        </p:spPr>
        <p:txBody>
          <a:bodyPr wrap="square" lIns="0" tIns="0" rIns="0" bIns="0" rtlCol="0" anchor="ctr"/>
          <a:lstStyle/>
          <a:p>
            <a:pPr marL="0" indent="0" algn="ctr">
              <a:buNone/>
            </a:pPr>
            <a:r>
              <a:rPr lang="en-US" sz="1300" b="1" dirty="0">
                <a:solidFill>
                  <a:srgbClr val="FFFFFF"/>
                </a:solidFill>
                <a:latin typeface="Georgia" pitchFamily="34" charset="0"/>
                <a:ea typeface="Georgia" pitchFamily="34" charset="-122"/>
                <a:cs typeface="Georgia" pitchFamily="34" charset="-120"/>
              </a:rPr>
              <a:t>How many outcome variables (DVs)</a:t>
            </a:r>
            <a:endParaRPr lang="en-US" sz="1300" dirty="0"/>
          </a:p>
          <a:p>
            <a:pPr marL="0" indent="0" algn="ctr">
              <a:buNone/>
            </a:pPr>
            <a:r>
              <a:rPr lang="en-US" sz="1300" b="1" dirty="0">
                <a:solidFill>
                  <a:srgbClr val="FFFFFF"/>
                </a:solidFill>
                <a:latin typeface="Georgia" pitchFamily="34" charset="0"/>
                <a:ea typeface="Georgia" pitchFamily="34" charset="-122"/>
                <a:cs typeface="Georgia" pitchFamily="34" charset="-120"/>
              </a:rPr>
              <a:t>does your research question have?</a:t>
            </a:r>
            <a:endParaRPr lang="en-US" sz="1300" dirty="0"/>
          </a:p>
        </p:txBody>
      </p:sp>
      <p:sp>
        <p:nvSpPr>
          <p:cNvPr id="6" name="Shape 4"/>
          <p:cNvSpPr/>
          <p:nvPr/>
        </p:nvSpPr>
        <p:spPr>
          <a:xfrm>
            <a:off x="2743200" y="1618488"/>
            <a:ext cx="0" cy="411480"/>
          </a:xfrm>
          <a:prstGeom prst="line">
            <a:avLst/>
          </a:prstGeom>
          <a:noFill/>
          <a:ln w="25400">
            <a:solidFill>
              <a:srgbClr val="1E2761"/>
            </a:solidFill>
            <a:prstDash val="solid"/>
          </a:ln>
        </p:spPr>
        <p:txBody>
          <a:bodyPr/>
          <a:lstStyle/>
          <a:p>
            <a:endParaRPr lang="en-US"/>
          </a:p>
        </p:txBody>
      </p:sp>
      <p:sp>
        <p:nvSpPr>
          <p:cNvPr id="7" name="Shape 5"/>
          <p:cNvSpPr/>
          <p:nvPr/>
        </p:nvSpPr>
        <p:spPr>
          <a:xfrm>
            <a:off x="365760" y="2029968"/>
            <a:ext cx="3200400" cy="548640"/>
          </a:xfrm>
          <a:prstGeom prst="rect">
            <a:avLst/>
          </a:prstGeom>
          <a:solidFill>
            <a:srgbClr val="1E2761"/>
          </a:solidFill>
          <a:ln w="12700">
            <a:solidFill>
              <a:srgbClr val="1E2761"/>
            </a:solidFill>
            <a:prstDash val="solid"/>
          </a:ln>
        </p:spPr>
        <p:txBody>
          <a:bodyPr/>
          <a:lstStyle/>
          <a:p>
            <a:endParaRPr lang="en-US"/>
          </a:p>
        </p:txBody>
      </p:sp>
      <p:sp>
        <p:nvSpPr>
          <p:cNvPr id="8" name="Text 6"/>
          <p:cNvSpPr/>
          <p:nvPr/>
        </p:nvSpPr>
        <p:spPr>
          <a:xfrm>
            <a:off x="384048" y="2048256"/>
            <a:ext cx="3163824" cy="512064"/>
          </a:xfrm>
          <a:prstGeom prst="rect">
            <a:avLst/>
          </a:prstGeom>
          <a:noFill/>
          <a:ln/>
        </p:spPr>
        <p:txBody>
          <a:bodyPr wrap="square" lIns="0" tIns="0" rIns="0" bIns="0" rtlCol="0" anchor="ctr"/>
          <a:lstStyle/>
          <a:p>
            <a:pPr marL="0" indent="0" algn="ctr">
              <a:buNone/>
            </a:pPr>
            <a:r>
              <a:rPr lang="en-US" sz="1300" b="1" dirty="0">
                <a:solidFill>
                  <a:srgbClr val="FFFFFF"/>
                </a:solidFill>
                <a:latin typeface="Georgia" pitchFamily="34" charset="0"/>
                <a:ea typeface="Georgia" pitchFamily="34" charset="-122"/>
                <a:cs typeface="Georgia" pitchFamily="34" charset="-120"/>
              </a:rPr>
              <a:t>ONE outcome (DV)</a:t>
            </a:r>
            <a:endParaRPr lang="en-US" sz="1300" dirty="0"/>
          </a:p>
        </p:txBody>
      </p:sp>
      <p:sp>
        <p:nvSpPr>
          <p:cNvPr id="9" name="Shape 7"/>
          <p:cNvSpPr/>
          <p:nvPr/>
        </p:nvSpPr>
        <p:spPr>
          <a:xfrm>
            <a:off x="1965960" y="2578608"/>
            <a:ext cx="0" cy="347472"/>
          </a:xfrm>
          <a:prstGeom prst="line">
            <a:avLst/>
          </a:prstGeom>
          <a:noFill/>
          <a:ln w="25400">
            <a:solidFill>
              <a:srgbClr val="1E2761"/>
            </a:solidFill>
            <a:prstDash val="solid"/>
          </a:ln>
        </p:spPr>
        <p:txBody>
          <a:bodyPr/>
          <a:lstStyle/>
          <a:p>
            <a:endParaRPr lang="en-US"/>
          </a:p>
        </p:txBody>
      </p:sp>
      <p:sp>
        <p:nvSpPr>
          <p:cNvPr id="10" name="Shape 8"/>
          <p:cNvSpPr/>
          <p:nvPr/>
        </p:nvSpPr>
        <p:spPr>
          <a:xfrm>
            <a:off x="365760" y="2926080"/>
            <a:ext cx="3200400" cy="502920"/>
          </a:xfrm>
          <a:prstGeom prst="rect">
            <a:avLst/>
          </a:prstGeom>
          <a:solidFill>
            <a:srgbClr val="ECEEF8"/>
          </a:solidFill>
          <a:ln w="12700">
            <a:solidFill>
              <a:srgbClr val="1E2761"/>
            </a:solidFill>
            <a:prstDash val="solid"/>
          </a:ln>
        </p:spPr>
        <p:txBody>
          <a:bodyPr/>
          <a:lstStyle/>
          <a:p>
            <a:endParaRPr lang="en-US"/>
          </a:p>
        </p:txBody>
      </p:sp>
      <p:sp>
        <p:nvSpPr>
          <p:cNvPr id="11" name="Text 9"/>
          <p:cNvSpPr/>
          <p:nvPr/>
        </p:nvSpPr>
        <p:spPr>
          <a:xfrm>
            <a:off x="411480" y="2944368"/>
            <a:ext cx="3108960" cy="466344"/>
          </a:xfrm>
          <a:prstGeom prst="rect">
            <a:avLst/>
          </a:prstGeom>
          <a:noFill/>
          <a:ln/>
        </p:spPr>
        <p:txBody>
          <a:bodyPr wrap="square" lIns="0" tIns="0" rIns="0" bIns="0" rtlCol="0" anchor="ctr"/>
          <a:lstStyle/>
          <a:p>
            <a:pPr marL="0" indent="0" algn="ctr">
              <a:buNone/>
            </a:pPr>
            <a:r>
              <a:rPr lang="en-US" sz="1200" b="1" dirty="0">
                <a:solidFill>
                  <a:srgbClr val="1E2761"/>
                </a:solidFill>
                <a:latin typeface="Georgia" pitchFamily="34" charset="0"/>
                <a:ea typeface="Georgia" pitchFamily="34" charset="-122"/>
                <a:cs typeface="Georgia" pitchFamily="34" charset="-120"/>
              </a:rPr>
              <a:t>→ MULTIVARIABLE ANALYSIS</a:t>
            </a:r>
            <a:endParaRPr lang="en-US" sz="1200" dirty="0"/>
          </a:p>
        </p:txBody>
      </p:sp>
      <p:sp>
        <p:nvSpPr>
          <p:cNvPr id="12" name="Text 10"/>
          <p:cNvSpPr/>
          <p:nvPr/>
        </p:nvSpPr>
        <p:spPr>
          <a:xfrm>
            <a:off x="365760" y="3493008"/>
            <a:ext cx="3200400" cy="1463040"/>
          </a:xfrm>
          <a:prstGeom prst="rect">
            <a:avLst/>
          </a:prstGeom>
          <a:noFill/>
          <a:ln/>
        </p:spPr>
        <p:txBody>
          <a:bodyPr wrap="square" rtlCol="0" anchor="t"/>
          <a:lstStyle/>
          <a:p>
            <a:pPr marL="342900" indent="-342900">
              <a:buSzPct val="100000"/>
              <a:buChar char="•"/>
            </a:pPr>
            <a:r>
              <a:rPr lang="en-US" sz="1150" dirty="0">
                <a:solidFill>
                  <a:srgbClr val="1A1A2E"/>
                </a:solidFill>
                <a:latin typeface="Calibri" pitchFamily="34" charset="0"/>
                <a:ea typeface="Calibri" pitchFamily="34" charset="-122"/>
                <a:cs typeface="Calibri" pitchFamily="34" charset="-120"/>
              </a:rPr>
              <a:t>Continuous DV → Multiple Regression</a:t>
            </a:r>
            <a:endParaRPr lang="en-US" sz="1150" dirty="0"/>
          </a:p>
          <a:p>
            <a:pPr marL="342900" indent="-342900">
              <a:buSzPct val="100000"/>
              <a:buChar char="•"/>
            </a:pPr>
            <a:r>
              <a:rPr lang="en-US" sz="1150" dirty="0">
                <a:solidFill>
                  <a:srgbClr val="1A1A2E"/>
                </a:solidFill>
                <a:latin typeface="Calibri" pitchFamily="34" charset="0"/>
                <a:ea typeface="Calibri" pitchFamily="34" charset="-122"/>
                <a:cs typeface="Calibri" pitchFamily="34" charset="-120"/>
              </a:rPr>
              <a:t>Binary DV → Logistic Regression</a:t>
            </a:r>
            <a:endParaRPr lang="en-US" sz="1150" dirty="0"/>
          </a:p>
          <a:p>
            <a:pPr marL="342900" indent="-342900">
              <a:buSzPct val="100000"/>
              <a:buChar char="•"/>
            </a:pPr>
            <a:r>
              <a:rPr lang="en-US" sz="1150" dirty="0">
                <a:solidFill>
                  <a:srgbClr val="1A1A2E"/>
                </a:solidFill>
                <a:latin typeface="Calibri" pitchFamily="34" charset="0"/>
                <a:ea typeface="Calibri" pitchFamily="34" charset="-122"/>
                <a:cs typeface="Calibri" pitchFamily="34" charset="-120"/>
              </a:rPr>
              <a:t>Time-to-event → Cox Regression</a:t>
            </a:r>
            <a:endParaRPr lang="en-US" sz="1150" dirty="0"/>
          </a:p>
          <a:p>
            <a:pPr marL="342900" indent="-342900">
              <a:buSzPct val="100000"/>
              <a:buChar char="•"/>
            </a:pPr>
            <a:r>
              <a:rPr lang="en-US" sz="1150" dirty="0">
                <a:solidFill>
                  <a:srgbClr val="1A1A2E"/>
                </a:solidFill>
                <a:latin typeface="Calibri" pitchFamily="34" charset="0"/>
                <a:ea typeface="Calibri" pitchFamily="34" charset="-122"/>
                <a:cs typeface="Calibri" pitchFamily="34" charset="-120"/>
              </a:rPr>
              <a:t>Count DV → Poisson / Neg. Binomial</a:t>
            </a:r>
            <a:endParaRPr lang="en-US" sz="1150" dirty="0"/>
          </a:p>
        </p:txBody>
      </p:sp>
      <p:sp>
        <p:nvSpPr>
          <p:cNvPr id="13" name="Shape 11"/>
          <p:cNvSpPr/>
          <p:nvPr/>
        </p:nvSpPr>
        <p:spPr>
          <a:xfrm>
            <a:off x="6400800" y="1618488"/>
            <a:ext cx="0" cy="411480"/>
          </a:xfrm>
          <a:prstGeom prst="line">
            <a:avLst/>
          </a:prstGeom>
          <a:noFill/>
          <a:ln w="25400">
            <a:solidFill>
              <a:srgbClr val="6D2E46"/>
            </a:solidFill>
            <a:prstDash val="solid"/>
          </a:ln>
        </p:spPr>
        <p:txBody>
          <a:bodyPr/>
          <a:lstStyle/>
          <a:p>
            <a:endParaRPr lang="en-US"/>
          </a:p>
        </p:txBody>
      </p:sp>
      <p:sp>
        <p:nvSpPr>
          <p:cNvPr id="14" name="Shape 12"/>
          <p:cNvSpPr/>
          <p:nvPr/>
        </p:nvSpPr>
        <p:spPr>
          <a:xfrm>
            <a:off x="5577840" y="2029968"/>
            <a:ext cx="3200400" cy="548640"/>
          </a:xfrm>
          <a:prstGeom prst="rect">
            <a:avLst/>
          </a:prstGeom>
          <a:solidFill>
            <a:srgbClr val="6D2E46"/>
          </a:solidFill>
          <a:ln w="12700">
            <a:solidFill>
              <a:srgbClr val="6D2E46"/>
            </a:solidFill>
            <a:prstDash val="solid"/>
          </a:ln>
        </p:spPr>
        <p:txBody>
          <a:bodyPr/>
          <a:lstStyle/>
          <a:p>
            <a:endParaRPr lang="en-US"/>
          </a:p>
        </p:txBody>
      </p:sp>
      <p:sp>
        <p:nvSpPr>
          <p:cNvPr id="15" name="Text 13"/>
          <p:cNvSpPr/>
          <p:nvPr/>
        </p:nvSpPr>
        <p:spPr>
          <a:xfrm>
            <a:off x="5596128" y="2048256"/>
            <a:ext cx="3163824" cy="512064"/>
          </a:xfrm>
          <a:prstGeom prst="rect">
            <a:avLst/>
          </a:prstGeom>
          <a:noFill/>
          <a:ln/>
        </p:spPr>
        <p:txBody>
          <a:bodyPr wrap="square" lIns="0" tIns="0" rIns="0" bIns="0" rtlCol="0" anchor="ctr"/>
          <a:lstStyle/>
          <a:p>
            <a:pPr marL="0" indent="0" algn="ctr">
              <a:buNone/>
            </a:pPr>
            <a:r>
              <a:rPr lang="en-US" sz="1300" b="1" dirty="0">
                <a:solidFill>
                  <a:srgbClr val="FFFFFF"/>
                </a:solidFill>
                <a:latin typeface="Georgia" pitchFamily="34" charset="0"/>
                <a:ea typeface="Georgia" pitchFamily="34" charset="-122"/>
                <a:cs typeface="Georgia" pitchFamily="34" charset="-120"/>
              </a:rPr>
              <a:t>TWO or MORE outcomes</a:t>
            </a:r>
            <a:endParaRPr lang="en-US" sz="1300" dirty="0"/>
          </a:p>
        </p:txBody>
      </p:sp>
      <p:sp>
        <p:nvSpPr>
          <p:cNvPr id="16" name="Shape 14"/>
          <p:cNvSpPr/>
          <p:nvPr/>
        </p:nvSpPr>
        <p:spPr>
          <a:xfrm>
            <a:off x="7178040" y="2578608"/>
            <a:ext cx="0" cy="347472"/>
          </a:xfrm>
          <a:prstGeom prst="line">
            <a:avLst/>
          </a:prstGeom>
          <a:noFill/>
          <a:ln w="25400">
            <a:solidFill>
              <a:srgbClr val="6D2E46"/>
            </a:solidFill>
            <a:prstDash val="solid"/>
          </a:ln>
        </p:spPr>
        <p:txBody>
          <a:bodyPr/>
          <a:lstStyle/>
          <a:p>
            <a:endParaRPr lang="en-US"/>
          </a:p>
        </p:txBody>
      </p:sp>
      <p:sp>
        <p:nvSpPr>
          <p:cNvPr id="17" name="Shape 15"/>
          <p:cNvSpPr/>
          <p:nvPr/>
        </p:nvSpPr>
        <p:spPr>
          <a:xfrm>
            <a:off x="5577840" y="2926080"/>
            <a:ext cx="3200400" cy="502920"/>
          </a:xfrm>
          <a:prstGeom prst="rect">
            <a:avLst/>
          </a:prstGeom>
          <a:solidFill>
            <a:srgbClr val="ECEEF8"/>
          </a:solidFill>
          <a:ln w="12700">
            <a:solidFill>
              <a:srgbClr val="6D2E46"/>
            </a:solidFill>
            <a:prstDash val="solid"/>
          </a:ln>
        </p:spPr>
        <p:txBody>
          <a:bodyPr/>
          <a:lstStyle/>
          <a:p>
            <a:endParaRPr lang="en-US"/>
          </a:p>
        </p:txBody>
      </p:sp>
      <p:sp>
        <p:nvSpPr>
          <p:cNvPr id="18" name="Text 16"/>
          <p:cNvSpPr/>
          <p:nvPr/>
        </p:nvSpPr>
        <p:spPr>
          <a:xfrm>
            <a:off x="5623560" y="2944368"/>
            <a:ext cx="3108960" cy="466344"/>
          </a:xfrm>
          <a:prstGeom prst="rect">
            <a:avLst/>
          </a:prstGeom>
          <a:noFill/>
          <a:ln/>
        </p:spPr>
        <p:txBody>
          <a:bodyPr wrap="square" lIns="0" tIns="0" rIns="0" bIns="0" rtlCol="0" anchor="ctr"/>
          <a:lstStyle/>
          <a:p>
            <a:pPr marL="0" indent="0" algn="ctr">
              <a:buNone/>
            </a:pPr>
            <a:r>
              <a:rPr lang="en-US" sz="1200" b="1" dirty="0">
                <a:solidFill>
                  <a:srgbClr val="6D2E46"/>
                </a:solidFill>
                <a:latin typeface="Georgia" pitchFamily="34" charset="0"/>
                <a:ea typeface="Georgia" pitchFamily="34" charset="-122"/>
                <a:cs typeface="Georgia" pitchFamily="34" charset="-120"/>
              </a:rPr>
              <a:t>→ MULTIVARIATE ANALYSIS</a:t>
            </a:r>
            <a:endParaRPr lang="en-US" sz="1200" dirty="0"/>
          </a:p>
        </p:txBody>
      </p:sp>
      <p:sp>
        <p:nvSpPr>
          <p:cNvPr id="19" name="Text 17"/>
          <p:cNvSpPr/>
          <p:nvPr/>
        </p:nvSpPr>
        <p:spPr>
          <a:xfrm>
            <a:off x="5577840" y="3493008"/>
            <a:ext cx="3200400" cy="1463040"/>
          </a:xfrm>
          <a:prstGeom prst="rect">
            <a:avLst/>
          </a:prstGeom>
          <a:noFill/>
          <a:ln/>
        </p:spPr>
        <p:txBody>
          <a:bodyPr wrap="square" rtlCol="0" anchor="t"/>
          <a:lstStyle/>
          <a:p>
            <a:pPr marL="342900" indent="-342900">
              <a:buSzPct val="100000"/>
              <a:buChar char="•"/>
            </a:pPr>
            <a:r>
              <a:rPr lang="en-US" sz="1150" dirty="0">
                <a:solidFill>
                  <a:srgbClr val="1A1A2E"/>
                </a:solidFill>
                <a:latin typeface="Calibri" pitchFamily="34" charset="0"/>
                <a:ea typeface="Calibri" pitchFamily="34" charset="-122"/>
                <a:cs typeface="Calibri" pitchFamily="34" charset="-120"/>
              </a:rPr>
              <a:t>Groups + continuous DVs → MANOVA/MANCOVA</a:t>
            </a:r>
            <a:endParaRPr lang="en-US" sz="1150" dirty="0"/>
          </a:p>
          <a:p>
            <a:pPr marL="342900" indent="-342900">
              <a:buSzPct val="100000"/>
              <a:buChar char="•"/>
            </a:pPr>
            <a:r>
              <a:rPr lang="en-US" sz="1150" dirty="0">
                <a:solidFill>
                  <a:srgbClr val="1A1A2E"/>
                </a:solidFill>
                <a:latin typeface="Calibri" pitchFamily="34" charset="0"/>
                <a:ea typeface="Calibri" pitchFamily="34" charset="-122"/>
                <a:cs typeface="Calibri" pitchFamily="34" charset="-120"/>
              </a:rPr>
              <a:t>Latent structure → Factor Analysis</a:t>
            </a:r>
            <a:endParaRPr lang="en-US" sz="1150" dirty="0"/>
          </a:p>
          <a:p>
            <a:pPr marL="342900" indent="-342900">
              <a:buSzPct val="100000"/>
              <a:buChar char="•"/>
            </a:pPr>
            <a:r>
              <a:rPr lang="en-US" sz="1150" dirty="0">
                <a:solidFill>
                  <a:srgbClr val="1A1A2E"/>
                </a:solidFill>
                <a:latin typeface="Calibri" pitchFamily="34" charset="0"/>
                <a:ea typeface="Calibri" pitchFamily="34" charset="-122"/>
                <a:cs typeface="Calibri" pitchFamily="34" charset="-120"/>
              </a:rPr>
              <a:t>Causal paths + latent → SEM</a:t>
            </a:r>
            <a:endParaRPr lang="en-US" sz="1150" dirty="0"/>
          </a:p>
          <a:p>
            <a:pPr marL="342900" indent="-342900">
              <a:buSzPct val="100000"/>
              <a:buChar char="•"/>
            </a:pPr>
            <a:r>
              <a:rPr lang="en-US" sz="1150" dirty="0">
                <a:solidFill>
                  <a:srgbClr val="1A1A2E"/>
                </a:solidFill>
                <a:latin typeface="Calibri" pitchFamily="34" charset="0"/>
                <a:ea typeface="Calibri" pitchFamily="34" charset="-122"/>
                <a:cs typeface="Calibri" pitchFamily="34" charset="-120"/>
              </a:rPr>
              <a:t>Group classification → Discriminant/Cluster</a:t>
            </a:r>
            <a:endParaRPr lang="en-US" sz="1150" dirty="0"/>
          </a:p>
        </p:txBody>
      </p:sp>
      <p:sp>
        <p:nvSpPr>
          <p:cNvPr id="20" name="Shape 18"/>
          <p:cNvSpPr/>
          <p:nvPr/>
        </p:nvSpPr>
        <p:spPr>
          <a:xfrm>
            <a:off x="4572000" y="960120"/>
            <a:ext cx="0" cy="4023360"/>
          </a:xfrm>
          <a:prstGeom prst="line">
            <a:avLst/>
          </a:prstGeom>
          <a:noFill/>
          <a:ln w="19050">
            <a:solidFill>
              <a:srgbClr val="DDE0F0"/>
            </a:solidFill>
            <a:prstDash val="dash"/>
          </a:ln>
        </p:spPr>
        <p:txBody>
          <a:bodyPr/>
          <a:lstStyle/>
          <a:p>
            <a:endParaRPr lang="en-US"/>
          </a:p>
        </p:txBody>
      </p:sp>
      <p:sp>
        <p:nvSpPr>
          <p:cNvPr id="21" name="Shape 19"/>
          <p:cNvSpPr/>
          <p:nvPr/>
        </p:nvSpPr>
        <p:spPr>
          <a:xfrm>
            <a:off x="2743200" y="1618488"/>
            <a:ext cx="3657600" cy="0"/>
          </a:xfrm>
          <a:prstGeom prst="line">
            <a:avLst/>
          </a:prstGeom>
          <a:noFill/>
          <a:ln w="25400">
            <a:solidFill>
              <a:srgbClr val="1A1A2E"/>
            </a:solidFill>
            <a:prstDash val="solid"/>
          </a:ln>
        </p:spPr>
        <p:txBody>
          <a:bodyPr/>
          <a:lstStyle/>
          <a:p>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82296"/>
          </a:xfrm>
          <a:prstGeom prst="rect">
            <a:avLst/>
          </a:prstGeom>
          <a:solidFill>
            <a:srgbClr val="1E2761"/>
          </a:solidFill>
          <a:ln w="12700">
            <a:solidFill>
              <a:srgbClr val="1E2761"/>
            </a:solidFill>
            <a:prstDash val="solid"/>
          </a:ln>
        </p:spPr>
        <p:txBody>
          <a:bodyPr/>
          <a:lstStyle/>
          <a:p>
            <a:endParaRPr lang="en-US"/>
          </a:p>
        </p:txBody>
      </p:sp>
      <p:sp>
        <p:nvSpPr>
          <p:cNvPr id="3" name="Text 1"/>
          <p:cNvSpPr/>
          <p:nvPr/>
        </p:nvSpPr>
        <p:spPr>
          <a:xfrm>
            <a:off x="411480" y="137160"/>
            <a:ext cx="8321040" cy="658368"/>
          </a:xfrm>
          <a:prstGeom prst="rect">
            <a:avLst/>
          </a:prstGeom>
          <a:noFill/>
          <a:ln/>
        </p:spPr>
        <p:txBody>
          <a:bodyPr wrap="square" lIns="0" tIns="0" rIns="0" bIns="0" rtlCol="0" anchor="ctr"/>
          <a:lstStyle/>
          <a:p>
            <a:pPr marL="0" indent="0">
              <a:buNone/>
            </a:pPr>
            <a:r>
              <a:rPr lang="en-US" sz="2700" b="1" dirty="0">
                <a:solidFill>
                  <a:srgbClr val="1E2761"/>
                </a:solidFill>
                <a:latin typeface="Georgia" pitchFamily="34" charset="0"/>
                <a:ea typeface="Georgia" pitchFamily="34" charset="-122"/>
                <a:cs typeface="Georgia" pitchFamily="34" charset="-120"/>
              </a:rPr>
              <a:t>Multivariable Analysis: Definition &amp; Purpose</a:t>
            </a:r>
            <a:endParaRPr lang="en-US" sz="2700" dirty="0"/>
          </a:p>
        </p:txBody>
      </p:sp>
      <p:sp>
        <p:nvSpPr>
          <p:cNvPr id="4" name="Text 2"/>
          <p:cNvSpPr/>
          <p:nvPr/>
        </p:nvSpPr>
        <p:spPr>
          <a:xfrm>
            <a:off x="411480" y="822960"/>
            <a:ext cx="8321040" cy="320040"/>
          </a:xfrm>
          <a:prstGeom prst="rect">
            <a:avLst/>
          </a:prstGeom>
          <a:noFill/>
          <a:ln/>
        </p:spPr>
        <p:txBody>
          <a:bodyPr wrap="square" lIns="0" tIns="0" rIns="0" bIns="0" rtlCol="0" anchor="ctr"/>
          <a:lstStyle/>
          <a:p>
            <a:pPr marL="0" indent="0">
              <a:buNone/>
            </a:pPr>
            <a:r>
              <a:rPr lang="en-US" sz="1300" i="1" dirty="0">
                <a:solidFill>
                  <a:srgbClr val="5C5F7A"/>
                </a:solidFill>
                <a:latin typeface="Calibri" pitchFamily="34" charset="0"/>
                <a:ea typeface="Calibri" pitchFamily="34" charset="-122"/>
                <a:cs typeface="Calibri" pitchFamily="34" charset="-120"/>
              </a:rPr>
              <a:t>The most common analytical approach in clinical and epidemiological public health research</a:t>
            </a:r>
            <a:endParaRPr lang="en-US" sz="1300" dirty="0"/>
          </a:p>
        </p:txBody>
      </p:sp>
      <p:sp>
        <p:nvSpPr>
          <p:cNvPr id="5" name="Shape 3"/>
          <p:cNvSpPr/>
          <p:nvPr/>
        </p:nvSpPr>
        <p:spPr>
          <a:xfrm>
            <a:off x="365760" y="1170432"/>
            <a:ext cx="8412480" cy="731520"/>
          </a:xfrm>
          <a:prstGeom prst="rect">
            <a:avLst/>
          </a:prstGeom>
          <a:solidFill>
            <a:srgbClr val="1E2761"/>
          </a:solidFill>
          <a:ln w="12700">
            <a:solidFill>
              <a:srgbClr val="1E2761"/>
            </a:solidFill>
            <a:prstDash val="solid"/>
          </a:ln>
        </p:spPr>
        <p:txBody>
          <a:bodyPr/>
          <a:lstStyle/>
          <a:p>
            <a:endParaRPr lang="en-US"/>
          </a:p>
        </p:txBody>
      </p:sp>
      <p:sp>
        <p:nvSpPr>
          <p:cNvPr id="6" name="Text 4"/>
          <p:cNvSpPr/>
          <p:nvPr/>
        </p:nvSpPr>
        <p:spPr>
          <a:xfrm>
            <a:off x="502920" y="1197864"/>
            <a:ext cx="8138160" cy="676656"/>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Multivariable analysis examines the relationship between ONE outcome variable and MULTIPLE predictor variables simultaneously. The goal is to estimate the independent effect of each predictor while statistically controlling for all others.</a:t>
            </a:r>
            <a:endParaRPr lang="en-US" sz="1300" dirty="0"/>
          </a:p>
        </p:txBody>
      </p:sp>
      <p:sp>
        <p:nvSpPr>
          <p:cNvPr id="7" name="Shape 5"/>
          <p:cNvSpPr/>
          <p:nvPr/>
        </p:nvSpPr>
        <p:spPr>
          <a:xfrm>
            <a:off x="365760" y="2011680"/>
            <a:ext cx="4069080" cy="1325880"/>
          </a:xfrm>
          <a:prstGeom prst="rect">
            <a:avLst/>
          </a:prstGeom>
          <a:solidFill>
            <a:srgbClr val="FFFFFF"/>
          </a:solidFill>
          <a:ln w="12700">
            <a:solidFill>
              <a:srgbClr val="DDE0F0"/>
            </a:solidFill>
            <a:prstDash val="solid"/>
          </a:ln>
          <a:effectLst>
            <a:outerShdw blurRad="76200" dist="25400" dir="8100000" algn="bl" rotWithShape="0">
              <a:srgbClr val="000000">
                <a:alpha val="10000"/>
              </a:srgbClr>
            </a:outerShdw>
          </a:effectLst>
        </p:spPr>
        <p:txBody>
          <a:bodyPr/>
          <a:lstStyle/>
          <a:p>
            <a:endParaRPr lang="en-US"/>
          </a:p>
        </p:txBody>
      </p:sp>
      <p:sp>
        <p:nvSpPr>
          <p:cNvPr id="8" name="Shape 6"/>
          <p:cNvSpPr/>
          <p:nvPr/>
        </p:nvSpPr>
        <p:spPr>
          <a:xfrm>
            <a:off x="365760" y="2011680"/>
            <a:ext cx="64008" cy="1325880"/>
          </a:xfrm>
          <a:prstGeom prst="rect">
            <a:avLst/>
          </a:prstGeom>
          <a:solidFill>
            <a:srgbClr val="1E2761"/>
          </a:solidFill>
          <a:ln w="12700">
            <a:solidFill>
              <a:srgbClr val="1E2761"/>
            </a:solidFill>
            <a:prstDash val="solid"/>
          </a:ln>
        </p:spPr>
        <p:txBody>
          <a:bodyPr/>
          <a:lstStyle/>
          <a:p>
            <a:endParaRPr lang="en-US"/>
          </a:p>
        </p:txBody>
      </p:sp>
      <p:sp>
        <p:nvSpPr>
          <p:cNvPr id="9" name="Text 7"/>
          <p:cNvSpPr/>
          <p:nvPr/>
        </p:nvSpPr>
        <p:spPr>
          <a:xfrm>
            <a:off x="512064" y="2084832"/>
            <a:ext cx="3867912" cy="347472"/>
          </a:xfrm>
          <a:prstGeom prst="rect">
            <a:avLst/>
          </a:prstGeom>
          <a:noFill/>
          <a:ln/>
        </p:spPr>
        <p:txBody>
          <a:bodyPr wrap="square" lIns="0" tIns="0" rIns="0" bIns="0" rtlCol="0" anchor="ctr"/>
          <a:lstStyle/>
          <a:p>
            <a:pPr marL="0" indent="0">
              <a:buNone/>
            </a:pPr>
            <a:r>
              <a:rPr lang="en-US" sz="1300" b="1" dirty="0">
                <a:solidFill>
                  <a:srgbClr val="1E2761"/>
                </a:solidFill>
                <a:latin typeface="Georgia" pitchFamily="34" charset="0"/>
                <a:ea typeface="Georgia" pitchFamily="34" charset="-122"/>
                <a:cs typeface="Georgia" pitchFamily="34" charset="-120"/>
              </a:rPr>
              <a:t>Confounding Control</a:t>
            </a:r>
            <a:endParaRPr lang="en-US" sz="1300" dirty="0"/>
          </a:p>
        </p:txBody>
      </p:sp>
      <p:sp>
        <p:nvSpPr>
          <p:cNvPr id="10" name="Text 8"/>
          <p:cNvSpPr/>
          <p:nvPr/>
        </p:nvSpPr>
        <p:spPr>
          <a:xfrm>
            <a:off x="512064" y="2450592"/>
            <a:ext cx="3867912" cy="795528"/>
          </a:xfrm>
          <a:prstGeom prst="rect">
            <a:avLst/>
          </a:prstGeom>
          <a:noFill/>
          <a:ln/>
        </p:spPr>
        <p:txBody>
          <a:bodyPr wrap="square" lIns="0" tIns="0" rIns="0" bIns="0" rtlCol="0" anchor="t"/>
          <a:lstStyle/>
          <a:p>
            <a:pPr marL="0" indent="0">
              <a:buNone/>
            </a:pPr>
            <a:r>
              <a:rPr lang="en-US" sz="1150" dirty="0">
                <a:solidFill>
                  <a:srgbClr val="1A1A2E"/>
                </a:solidFill>
                <a:latin typeface="Calibri" pitchFamily="34" charset="0"/>
                <a:ea typeface="Calibri" pitchFamily="34" charset="-122"/>
                <a:cs typeface="Calibri" pitchFamily="34" charset="-120"/>
              </a:rPr>
              <a:t>Adjusts for variables that correlate with both exposure and outcome — essential for observational PH studies where RCT is not feasible</a:t>
            </a:r>
            <a:endParaRPr lang="en-US" sz="1150" dirty="0"/>
          </a:p>
        </p:txBody>
      </p:sp>
      <p:sp>
        <p:nvSpPr>
          <p:cNvPr id="11" name="Shape 9"/>
          <p:cNvSpPr/>
          <p:nvPr/>
        </p:nvSpPr>
        <p:spPr>
          <a:xfrm>
            <a:off x="4617720" y="2011680"/>
            <a:ext cx="4069080" cy="1325880"/>
          </a:xfrm>
          <a:prstGeom prst="rect">
            <a:avLst/>
          </a:prstGeom>
          <a:solidFill>
            <a:srgbClr val="FFFFFF"/>
          </a:solidFill>
          <a:ln w="12700">
            <a:solidFill>
              <a:srgbClr val="DDE0F0"/>
            </a:solidFill>
            <a:prstDash val="solid"/>
          </a:ln>
          <a:effectLst>
            <a:outerShdw blurRad="76200" dist="25400" dir="8100000" algn="bl" rotWithShape="0">
              <a:srgbClr val="000000">
                <a:alpha val="10000"/>
              </a:srgbClr>
            </a:outerShdw>
          </a:effectLst>
        </p:spPr>
        <p:txBody>
          <a:bodyPr/>
          <a:lstStyle/>
          <a:p>
            <a:endParaRPr lang="en-US"/>
          </a:p>
        </p:txBody>
      </p:sp>
      <p:sp>
        <p:nvSpPr>
          <p:cNvPr id="12" name="Shape 10"/>
          <p:cNvSpPr/>
          <p:nvPr/>
        </p:nvSpPr>
        <p:spPr>
          <a:xfrm>
            <a:off x="4617720" y="2011680"/>
            <a:ext cx="64008" cy="1325880"/>
          </a:xfrm>
          <a:prstGeom prst="rect">
            <a:avLst/>
          </a:prstGeom>
          <a:solidFill>
            <a:srgbClr val="2E3F8F"/>
          </a:solidFill>
          <a:ln w="12700">
            <a:solidFill>
              <a:srgbClr val="2E3F8F"/>
            </a:solidFill>
            <a:prstDash val="solid"/>
          </a:ln>
        </p:spPr>
        <p:txBody>
          <a:bodyPr/>
          <a:lstStyle/>
          <a:p>
            <a:endParaRPr lang="en-US"/>
          </a:p>
        </p:txBody>
      </p:sp>
      <p:sp>
        <p:nvSpPr>
          <p:cNvPr id="13" name="Text 11"/>
          <p:cNvSpPr/>
          <p:nvPr/>
        </p:nvSpPr>
        <p:spPr>
          <a:xfrm>
            <a:off x="4764024" y="2084832"/>
            <a:ext cx="3867912" cy="347472"/>
          </a:xfrm>
          <a:prstGeom prst="rect">
            <a:avLst/>
          </a:prstGeom>
          <a:noFill/>
          <a:ln/>
        </p:spPr>
        <p:txBody>
          <a:bodyPr wrap="square" lIns="0" tIns="0" rIns="0" bIns="0" rtlCol="0" anchor="ctr"/>
          <a:lstStyle/>
          <a:p>
            <a:pPr marL="0" indent="0">
              <a:buNone/>
            </a:pPr>
            <a:r>
              <a:rPr lang="en-US" sz="1300" b="1" dirty="0">
                <a:solidFill>
                  <a:srgbClr val="2E3F8F"/>
                </a:solidFill>
                <a:latin typeface="Georgia" pitchFamily="34" charset="0"/>
                <a:ea typeface="Georgia" pitchFamily="34" charset="-122"/>
                <a:cs typeface="Georgia" pitchFamily="34" charset="-120"/>
              </a:rPr>
              <a:t>Effect Estimation</a:t>
            </a:r>
            <a:endParaRPr lang="en-US" sz="1300" dirty="0"/>
          </a:p>
        </p:txBody>
      </p:sp>
      <p:sp>
        <p:nvSpPr>
          <p:cNvPr id="14" name="Text 12"/>
          <p:cNvSpPr/>
          <p:nvPr/>
        </p:nvSpPr>
        <p:spPr>
          <a:xfrm>
            <a:off x="4764024" y="2450592"/>
            <a:ext cx="3867912" cy="795528"/>
          </a:xfrm>
          <a:prstGeom prst="rect">
            <a:avLst/>
          </a:prstGeom>
          <a:noFill/>
          <a:ln/>
        </p:spPr>
        <p:txBody>
          <a:bodyPr wrap="square" lIns="0" tIns="0" rIns="0" bIns="0" rtlCol="0" anchor="t"/>
          <a:lstStyle/>
          <a:p>
            <a:pPr marL="0" indent="0">
              <a:buNone/>
            </a:pPr>
            <a:r>
              <a:rPr lang="en-US" sz="1150" dirty="0">
                <a:solidFill>
                  <a:srgbClr val="1A1A2E"/>
                </a:solidFill>
                <a:latin typeface="Calibri" pitchFamily="34" charset="0"/>
                <a:ea typeface="Calibri" pitchFamily="34" charset="-122"/>
                <a:cs typeface="Calibri" pitchFamily="34" charset="-120"/>
              </a:rPr>
              <a:t>Quantifies the adjusted effect of each IV on the DV (B, β, OR, HR) after removing the influence of all other predictors in the model</a:t>
            </a:r>
            <a:endParaRPr lang="en-US" sz="1150" dirty="0"/>
          </a:p>
        </p:txBody>
      </p:sp>
      <p:sp>
        <p:nvSpPr>
          <p:cNvPr id="15" name="Shape 13"/>
          <p:cNvSpPr/>
          <p:nvPr/>
        </p:nvSpPr>
        <p:spPr>
          <a:xfrm>
            <a:off x="365760" y="3474720"/>
            <a:ext cx="4069080" cy="1325880"/>
          </a:xfrm>
          <a:prstGeom prst="rect">
            <a:avLst/>
          </a:prstGeom>
          <a:solidFill>
            <a:srgbClr val="FFFFFF"/>
          </a:solidFill>
          <a:ln w="12700">
            <a:solidFill>
              <a:srgbClr val="DDE0F0"/>
            </a:solidFill>
            <a:prstDash val="solid"/>
          </a:ln>
          <a:effectLst>
            <a:outerShdw blurRad="76200" dist="25400" dir="8100000" algn="bl" rotWithShape="0">
              <a:srgbClr val="000000">
                <a:alpha val="10000"/>
              </a:srgbClr>
            </a:outerShdw>
          </a:effectLst>
        </p:spPr>
        <p:txBody>
          <a:bodyPr/>
          <a:lstStyle/>
          <a:p>
            <a:endParaRPr lang="en-US"/>
          </a:p>
        </p:txBody>
      </p:sp>
      <p:sp>
        <p:nvSpPr>
          <p:cNvPr id="16" name="Shape 14"/>
          <p:cNvSpPr/>
          <p:nvPr/>
        </p:nvSpPr>
        <p:spPr>
          <a:xfrm>
            <a:off x="365760" y="3474720"/>
            <a:ext cx="64008" cy="1325880"/>
          </a:xfrm>
          <a:prstGeom prst="rect">
            <a:avLst/>
          </a:prstGeom>
          <a:solidFill>
            <a:srgbClr val="2E8B72"/>
          </a:solidFill>
          <a:ln w="12700">
            <a:solidFill>
              <a:srgbClr val="2E8B72"/>
            </a:solidFill>
            <a:prstDash val="solid"/>
          </a:ln>
        </p:spPr>
        <p:txBody>
          <a:bodyPr/>
          <a:lstStyle/>
          <a:p>
            <a:endParaRPr lang="en-US"/>
          </a:p>
        </p:txBody>
      </p:sp>
      <p:sp>
        <p:nvSpPr>
          <p:cNvPr id="17" name="Text 15"/>
          <p:cNvSpPr/>
          <p:nvPr/>
        </p:nvSpPr>
        <p:spPr>
          <a:xfrm>
            <a:off x="512064" y="3547872"/>
            <a:ext cx="3867912" cy="347472"/>
          </a:xfrm>
          <a:prstGeom prst="rect">
            <a:avLst/>
          </a:prstGeom>
          <a:noFill/>
          <a:ln/>
        </p:spPr>
        <p:txBody>
          <a:bodyPr wrap="square" lIns="0" tIns="0" rIns="0" bIns="0" rtlCol="0" anchor="ctr"/>
          <a:lstStyle/>
          <a:p>
            <a:pPr marL="0" indent="0">
              <a:buNone/>
            </a:pPr>
            <a:r>
              <a:rPr lang="en-US" sz="1300" b="1" dirty="0">
                <a:solidFill>
                  <a:srgbClr val="2E8B72"/>
                </a:solidFill>
                <a:latin typeface="Georgia" pitchFamily="34" charset="0"/>
                <a:ea typeface="Georgia" pitchFamily="34" charset="-122"/>
                <a:cs typeface="Georgia" pitchFamily="34" charset="-120"/>
              </a:rPr>
              <a:t>Prediction</a:t>
            </a:r>
            <a:endParaRPr lang="en-US" sz="1300" dirty="0"/>
          </a:p>
        </p:txBody>
      </p:sp>
      <p:sp>
        <p:nvSpPr>
          <p:cNvPr id="18" name="Text 16"/>
          <p:cNvSpPr/>
          <p:nvPr/>
        </p:nvSpPr>
        <p:spPr>
          <a:xfrm>
            <a:off x="512064" y="3913632"/>
            <a:ext cx="3867912" cy="795528"/>
          </a:xfrm>
          <a:prstGeom prst="rect">
            <a:avLst/>
          </a:prstGeom>
          <a:noFill/>
          <a:ln/>
        </p:spPr>
        <p:txBody>
          <a:bodyPr wrap="square" lIns="0" tIns="0" rIns="0" bIns="0" rtlCol="0" anchor="t"/>
          <a:lstStyle/>
          <a:p>
            <a:pPr marL="0" indent="0">
              <a:buNone/>
            </a:pPr>
            <a:r>
              <a:rPr lang="en-US" sz="1150" dirty="0">
                <a:solidFill>
                  <a:srgbClr val="1A1A2E"/>
                </a:solidFill>
                <a:latin typeface="Calibri" pitchFamily="34" charset="0"/>
                <a:ea typeface="Calibri" pitchFamily="34" charset="-122"/>
                <a:cs typeface="Calibri" pitchFamily="34" charset="-120"/>
              </a:rPr>
              <a:t>Builds a predictive model for clinical risk scores (e.g., Framingham Heart Score) combining multiple predictors optimally</a:t>
            </a:r>
            <a:endParaRPr lang="en-US" sz="1150" dirty="0"/>
          </a:p>
        </p:txBody>
      </p:sp>
      <p:sp>
        <p:nvSpPr>
          <p:cNvPr id="19" name="Shape 17"/>
          <p:cNvSpPr/>
          <p:nvPr/>
        </p:nvSpPr>
        <p:spPr>
          <a:xfrm>
            <a:off x="4617720" y="3474720"/>
            <a:ext cx="4069080" cy="1325880"/>
          </a:xfrm>
          <a:prstGeom prst="rect">
            <a:avLst/>
          </a:prstGeom>
          <a:solidFill>
            <a:srgbClr val="FFFFFF"/>
          </a:solidFill>
          <a:ln w="12700">
            <a:solidFill>
              <a:srgbClr val="DDE0F0"/>
            </a:solidFill>
            <a:prstDash val="solid"/>
          </a:ln>
          <a:effectLst>
            <a:outerShdw blurRad="76200" dist="25400" dir="8100000" algn="bl" rotWithShape="0">
              <a:srgbClr val="000000">
                <a:alpha val="10000"/>
              </a:srgbClr>
            </a:outerShdw>
          </a:effectLst>
        </p:spPr>
        <p:txBody>
          <a:bodyPr/>
          <a:lstStyle/>
          <a:p>
            <a:endParaRPr lang="en-US"/>
          </a:p>
        </p:txBody>
      </p:sp>
      <p:sp>
        <p:nvSpPr>
          <p:cNvPr id="20" name="Shape 18"/>
          <p:cNvSpPr/>
          <p:nvPr/>
        </p:nvSpPr>
        <p:spPr>
          <a:xfrm>
            <a:off x="4617720" y="3474720"/>
            <a:ext cx="64008" cy="1325880"/>
          </a:xfrm>
          <a:prstGeom prst="rect">
            <a:avLst/>
          </a:prstGeom>
          <a:solidFill>
            <a:srgbClr val="6D2E46"/>
          </a:solidFill>
          <a:ln w="12700">
            <a:solidFill>
              <a:srgbClr val="6D2E46"/>
            </a:solidFill>
            <a:prstDash val="solid"/>
          </a:ln>
        </p:spPr>
        <p:txBody>
          <a:bodyPr/>
          <a:lstStyle/>
          <a:p>
            <a:endParaRPr lang="en-US"/>
          </a:p>
        </p:txBody>
      </p:sp>
      <p:sp>
        <p:nvSpPr>
          <p:cNvPr id="21" name="Text 19"/>
          <p:cNvSpPr/>
          <p:nvPr/>
        </p:nvSpPr>
        <p:spPr>
          <a:xfrm>
            <a:off x="4764024" y="3547872"/>
            <a:ext cx="3867912" cy="347472"/>
          </a:xfrm>
          <a:prstGeom prst="rect">
            <a:avLst/>
          </a:prstGeom>
          <a:noFill/>
          <a:ln/>
        </p:spPr>
        <p:txBody>
          <a:bodyPr wrap="square" lIns="0" tIns="0" rIns="0" bIns="0" rtlCol="0" anchor="ctr"/>
          <a:lstStyle/>
          <a:p>
            <a:pPr marL="0" indent="0">
              <a:buNone/>
            </a:pPr>
            <a:r>
              <a:rPr lang="en-US" sz="1300" b="1" dirty="0">
                <a:solidFill>
                  <a:srgbClr val="6D2E46"/>
                </a:solidFill>
                <a:latin typeface="Georgia" pitchFamily="34" charset="0"/>
                <a:ea typeface="Georgia" pitchFamily="34" charset="-122"/>
                <a:cs typeface="Georgia" pitchFamily="34" charset="-120"/>
              </a:rPr>
              <a:t>Parsimony</a:t>
            </a:r>
            <a:endParaRPr lang="en-US" sz="1300" dirty="0"/>
          </a:p>
        </p:txBody>
      </p:sp>
      <p:sp>
        <p:nvSpPr>
          <p:cNvPr id="22" name="Text 20"/>
          <p:cNvSpPr/>
          <p:nvPr/>
        </p:nvSpPr>
        <p:spPr>
          <a:xfrm>
            <a:off x="4764024" y="3913632"/>
            <a:ext cx="3867912" cy="795528"/>
          </a:xfrm>
          <a:prstGeom prst="rect">
            <a:avLst/>
          </a:prstGeom>
          <a:noFill/>
          <a:ln/>
        </p:spPr>
        <p:txBody>
          <a:bodyPr wrap="square" lIns="0" tIns="0" rIns="0" bIns="0" rtlCol="0" anchor="t"/>
          <a:lstStyle/>
          <a:p>
            <a:pPr marL="0" indent="0">
              <a:buNone/>
            </a:pPr>
            <a:r>
              <a:rPr lang="en-US" sz="1150" dirty="0">
                <a:solidFill>
                  <a:srgbClr val="1A1A2E"/>
                </a:solidFill>
                <a:latin typeface="Calibri" pitchFamily="34" charset="0"/>
                <a:ea typeface="Calibri" pitchFamily="34" charset="-122"/>
                <a:cs typeface="Calibri" pitchFamily="34" charset="-120"/>
              </a:rPr>
              <a:t>Identifies which predictors add unique explanatory power — removes redundant variables to produce the simplest adequate model</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82296"/>
          </a:xfrm>
          <a:prstGeom prst="rect">
            <a:avLst/>
          </a:prstGeom>
          <a:solidFill>
            <a:srgbClr val="1E2761"/>
          </a:solidFill>
          <a:ln w="12700">
            <a:solidFill>
              <a:srgbClr val="1E2761"/>
            </a:solidFill>
            <a:prstDash val="solid"/>
          </a:ln>
        </p:spPr>
        <p:txBody>
          <a:bodyPr/>
          <a:lstStyle/>
          <a:p>
            <a:endParaRPr lang="en-US"/>
          </a:p>
        </p:txBody>
      </p:sp>
      <p:sp>
        <p:nvSpPr>
          <p:cNvPr id="3" name="Text 1"/>
          <p:cNvSpPr/>
          <p:nvPr/>
        </p:nvSpPr>
        <p:spPr>
          <a:xfrm>
            <a:off x="411480" y="137160"/>
            <a:ext cx="8321040" cy="658368"/>
          </a:xfrm>
          <a:prstGeom prst="rect">
            <a:avLst/>
          </a:prstGeom>
          <a:noFill/>
          <a:ln/>
        </p:spPr>
        <p:txBody>
          <a:bodyPr wrap="square" lIns="0" tIns="0" rIns="0" bIns="0" rtlCol="0" anchor="ctr"/>
          <a:lstStyle/>
          <a:p>
            <a:pPr marL="0" indent="0">
              <a:buNone/>
            </a:pPr>
            <a:r>
              <a:rPr lang="en-US" sz="2700" b="1" dirty="0">
                <a:solidFill>
                  <a:srgbClr val="1E2761"/>
                </a:solidFill>
                <a:latin typeface="Georgia" pitchFamily="34" charset="0"/>
                <a:ea typeface="Georgia" pitchFamily="34" charset="-122"/>
                <a:cs typeface="Georgia" pitchFamily="34" charset="-120"/>
              </a:rPr>
              <a:t>Multivariable Techniques: The Regression Family</a:t>
            </a:r>
            <a:endParaRPr lang="en-US" sz="2700" dirty="0"/>
          </a:p>
        </p:txBody>
      </p:sp>
      <p:sp>
        <p:nvSpPr>
          <p:cNvPr id="4" name="Text 2"/>
          <p:cNvSpPr/>
          <p:nvPr/>
        </p:nvSpPr>
        <p:spPr>
          <a:xfrm>
            <a:off x="411480" y="822960"/>
            <a:ext cx="8321040" cy="320040"/>
          </a:xfrm>
          <a:prstGeom prst="rect">
            <a:avLst/>
          </a:prstGeom>
          <a:noFill/>
          <a:ln/>
        </p:spPr>
        <p:txBody>
          <a:bodyPr wrap="square" lIns="0" tIns="0" rIns="0" bIns="0" rtlCol="0" anchor="ctr"/>
          <a:lstStyle/>
          <a:p>
            <a:pPr marL="0" indent="0">
              <a:buNone/>
            </a:pPr>
            <a:r>
              <a:rPr lang="en-US" sz="1300" i="1" dirty="0">
                <a:solidFill>
                  <a:srgbClr val="5C5F7A"/>
                </a:solidFill>
                <a:latin typeface="Calibri" pitchFamily="34" charset="0"/>
                <a:ea typeface="Calibri" pitchFamily="34" charset="-122"/>
                <a:cs typeface="Calibri" pitchFamily="34" charset="-120"/>
              </a:rPr>
              <a:t>Choice depends on the measurement level of the single outcome variable</a:t>
            </a:r>
            <a:endParaRPr lang="en-US" sz="1300" dirty="0"/>
          </a:p>
        </p:txBody>
      </p:sp>
      <p:graphicFrame>
        <p:nvGraphicFramePr>
          <p:cNvPr id="9" name="Table 0"/>
          <p:cNvGraphicFramePr>
            <a:graphicFrameLocks noGrp="1"/>
          </p:cNvGraphicFramePr>
          <p:nvPr/>
        </p:nvGraphicFramePr>
        <p:xfrm>
          <a:off x="274320" y="1143000"/>
          <a:ext cx="8595360" cy="3657600"/>
        </p:xfrm>
        <a:graphic>
          <a:graphicData uri="http://schemas.openxmlformats.org/drawingml/2006/table">
            <a:tbl>
              <a:tblPr/>
              <a:tblGrid>
                <a:gridCol w="237744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2926080">
                  <a:extLst>
                    <a:ext uri="{9D8B030D-6E8A-4147-A177-3AD203B41FA5}">
                      <a16:colId xmlns:a16="http://schemas.microsoft.com/office/drawing/2014/main" val="20003"/>
                    </a:ext>
                  </a:extLst>
                </a:gridCol>
              </a:tblGrid>
              <a:tr h="457200">
                <a:tc>
                  <a:txBody>
                    <a:bodyPr/>
                    <a:lstStyle/>
                    <a:p>
                      <a:pPr marL="0" indent="0" algn="l">
                        <a:buNone/>
                      </a:pPr>
                      <a:r>
                        <a:rPr lang="en-US" sz="1150" b="1" dirty="0">
                          <a:solidFill>
                            <a:srgbClr val="FFFFFF"/>
                          </a:solidFill>
                          <a:latin typeface="Calibri" pitchFamily="34" charset="0"/>
                          <a:ea typeface="Calibri" pitchFamily="34" charset="-122"/>
                          <a:cs typeface="Calibri" pitchFamily="34" charset="-120"/>
                        </a:rPr>
                        <a:t>Technique</a:t>
                      </a:r>
                      <a:endParaRPr lang="en-US" sz="1150" dirty="0">
                        <a:latin typeface="Calibri" charset="0"/>
                        <a:ea typeface="Calibri" charset="0"/>
                        <a:cs typeface="Calibri" charset="0"/>
                      </a:endParaRPr>
                    </a:p>
                  </a:txBody>
                  <a:tcPr anchor="ctr">
                    <a:lnL w="6350" cap="flat" cmpd="sng" algn="ctr">
                      <a:solidFill>
                        <a:srgbClr val="DDE0F0"/>
                      </a:solidFill>
                      <a:prstDash val="solid"/>
                      <a:round/>
                      <a:headEnd type="none" w="med" len="med"/>
                      <a:tailEnd type="none" w="med" len="med"/>
                    </a:lnL>
                    <a:lnR w="6350" cap="flat" cmpd="sng" algn="ctr">
                      <a:solidFill>
                        <a:srgbClr val="DDE0F0"/>
                      </a:solidFill>
                      <a:prstDash val="solid"/>
                      <a:round/>
                      <a:headEnd type="none" w="med" len="med"/>
                      <a:tailEnd type="none" w="med" len="med"/>
                    </a:lnR>
                    <a:lnT w="6350" cap="flat" cmpd="sng" algn="ctr">
                      <a:solidFill>
                        <a:srgbClr val="DDE0F0"/>
                      </a:solidFill>
                      <a:prstDash val="solid"/>
                      <a:round/>
                      <a:headEnd type="none" w="med" len="med"/>
                      <a:tailEnd type="none" w="med" len="med"/>
                    </a:lnT>
                    <a:lnB w="6350" cap="flat" cmpd="sng" algn="ctr">
                      <a:solidFill>
                        <a:srgbClr val="DDE0F0"/>
                      </a:solidFill>
                      <a:prstDash val="solid"/>
                      <a:round/>
                      <a:headEnd type="none" w="med" len="med"/>
                      <a:tailEnd type="none" w="med" len="med"/>
                    </a:lnB>
                    <a:solidFill>
                      <a:srgbClr val="1E2761"/>
                    </a:solidFill>
                  </a:tcPr>
                </a:tc>
                <a:tc>
                  <a:txBody>
                    <a:bodyPr/>
                    <a:lstStyle/>
                    <a:p>
                      <a:pPr marL="0" indent="0" algn="l">
                        <a:buNone/>
                      </a:pPr>
                      <a:r>
                        <a:rPr lang="en-US" sz="1150" b="1" dirty="0">
                          <a:solidFill>
                            <a:srgbClr val="FFFFFF"/>
                          </a:solidFill>
                          <a:latin typeface="Calibri" pitchFamily="34" charset="0"/>
                          <a:ea typeface="Calibri" pitchFamily="34" charset="-122"/>
                          <a:cs typeface="Calibri" pitchFamily="34" charset="-120"/>
                        </a:rPr>
                        <a:t>Outcome (DV)</a:t>
                      </a:r>
                      <a:endParaRPr lang="en-US" sz="1150" dirty="0">
                        <a:latin typeface="Calibri" charset="0"/>
                        <a:ea typeface="Calibri" charset="0"/>
                        <a:cs typeface="Calibri" charset="0"/>
                      </a:endParaRPr>
                    </a:p>
                  </a:txBody>
                  <a:tcPr anchor="ctr">
                    <a:lnL w="6350" cap="flat" cmpd="sng" algn="ctr">
                      <a:solidFill>
                        <a:srgbClr val="DDE0F0"/>
                      </a:solidFill>
                      <a:prstDash val="solid"/>
                      <a:round/>
                      <a:headEnd type="none" w="med" len="med"/>
                      <a:tailEnd type="none" w="med" len="med"/>
                    </a:lnL>
                    <a:lnR w="6350" cap="flat" cmpd="sng" algn="ctr">
                      <a:solidFill>
                        <a:srgbClr val="DDE0F0"/>
                      </a:solidFill>
                      <a:prstDash val="solid"/>
                      <a:round/>
                      <a:headEnd type="none" w="med" len="med"/>
                      <a:tailEnd type="none" w="med" len="med"/>
                    </a:lnR>
                    <a:lnT w="6350" cap="flat" cmpd="sng" algn="ctr">
                      <a:solidFill>
                        <a:srgbClr val="DDE0F0"/>
                      </a:solidFill>
                      <a:prstDash val="solid"/>
                      <a:round/>
                      <a:headEnd type="none" w="med" len="med"/>
                      <a:tailEnd type="none" w="med" len="med"/>
                    </a:lnT>
                    <a:lnB w="6350" cap="flat" cmpd="sng" algn="ctr">
                      <a:solidFill>
                        <a:srgbClr val="DDE0F0"/>
                      </a:solidFill>
                      <a:prstDash val="solid"/>
                      <a:round/>
                      <a:headEnd type="none" w="med" len="med"/>
                      <a:tailEnd type="none" w="med" len="med"/>
                    </a:lnB>
                    <a:solidFill>
                      <a:srgbClr val="1E2761"/>
                    </a:solidFill>
                  </a:tcPr>
                </a:tc>
                <a:tc>
                  <a:txBody>
                    <a:bodyPr/>
                    <a:lstStyle/>
                    <a:p>
                      <a:pPr marL="0" indent="0" algn="l">
                        <a:buNone/>
                      </a:pPr>
                      <a:r>
                        <a:rPr lang="en-US" sz="1150" b="1" dirty="0">
                          <a:solidFill>
                            <a:srgbClr val="FFFFFF"/>
                          </a:solidFill>
                          <a:latin typeface="Calibri" pitchFamily="34" charset="0"/>
                          <a:ea typeface="Calibri" pitchFamily="34" charset="-122"/>
                          <a:cs typeface="Calibri" pitchFamily="34" charset="-120"/>
                        </a:rPr>
                        <a:t>Key Output</a:t>
                      </a:r>
                      <a:endParaRPr lang="en-US" sz="1150" dirty="0">
                        <a:latin typeface="Calibri" charset="0"/>
                        <a:ea typeface="Calibri" charset="0"/>
                        <a:cs typeface="Calibri" charset="0"/>
                      </a:endParaRPr>
                    </a:p>
                  </a:txBody>
                  <a:tcPr anchor="ctr">
                    <a:lnL w="6350" cap="flat" cmpd="sng" algn="ctr">
                      <a:solidFill>
                        <a:srgbClr val="DDE0F0"/>
                      </a:solidFill>
                      <a:prstDash val="solid"/>
                      <a:round/>
                      <a:headEnd type="none" w="med" len="med"/>
                      <a:tailEnd type="none" w="med" len="med"/>
                    </a:lnL>
                    <a:lnR w="6350" cap="flat" cmpd="sng" algn="ctr">
                      <a:solidFill>
                        <a:srgbClr val="DDE0F0"/>
                      </a:solidFill>
                      <a:prstDash val="solid"/>
                      <a:round/>
                      <a:headEnd type="none" w="med" len="med"/>
                      <a:tailEnd type="none" w="med" len="med"/>
                    </a:lnR>
                    <a:lnT w="6350" cap="flat" cmpd="sng" algn="ctr">
                      <a:solidFill>
                        <a:srgbClr val="DDE0F0"/>
                      </a:solidFill>
                      <a:prstDash val="solid"/>
                      <a:round/>
                      <a:headEnd type="none" w="med" len="med"/>
                      <a:tailEnd type="none" w="med" len="med"/>
                    </a:lnT>
                    <a:lnB w="6350" cap="flat" cmpd="sng" algn="ctr">
                      <a:solidFill>
                        <a:srgbClr val="DDE0F0"/>
                      </a:solidFill>
                      <a:prstDash val="solid"/>
                      <a:round/>
                      <a:headEnd type="none" w="med" len="med"/>
                      <a:tailEnd type="none" w="med" len="med"/>
                    </a:lnB>
                    <a:solidFill>
                      <a:srgbClr val="1E2761"/>
                    </a:solidFill>
                  </a:tcPr>
                </a:tc>
                <a:tc>
                  <a:txBody>
                    <a:bodyPr/>
                    <a:lstStyle/>
                    <a:p>
                      <a:pPr marL="0" indent="0" algn="l">
                        <a:buNone/>
                      </a:pPr>
                      <a:r>
                        <a:rPr lang="en-US" sz="1150" b="1" dirty="0">
                          <a:solidFill>
                            <a:srgbClr val="FFFFFF"/>
                          </a:solidFill>
                          <a:latin typeface="Calibri" pitchFamily="34" charset="0"/>
                          <a:ea typeface="Calibri" pitchFamily="34" charset="-122"/>
                          <a:cs typeface="Calibri" pitchFamily="34" charset="-120"/>
                        </a:rPr>
                        <a:t>PH Application</a:t>
                      </a:r>
                      <a:endParaRPr lang="en-US" sz="1150" dirty="0">
                        <a:latin typeface="Calibri" charset="0"/>
                        <a:ea typeface="Calibri" charset="0"/>
                        <a:cs typeface="Calibri" charset="0"/>
                      </a:endParaRPr>
                    </a:p>
                  </a:txBody>
                  <a:tcPr anchor="ctr">
                    <a:lnL w="6350" cap="flat" cmpd="sng" algn="ctr">
                      <a:solidFill>
                        <a:srgbClr val="DDE0F0"/>
                      </a:solidFill>
                      <a:prstDash val="solid"/>
                      <a:round/>
                      <a:headEnd type="none" w="med" len="med"/>
                      <a:tailEnd type="none" w="med" len="med"/>
                    </a:lnL>
                    <a:lnR w="6350" cap="flat" cmpd="sng" algn="ctr">
                      <a:solidFill>
                        <a:srgbClr val="DDE0F0"/>
                      </a:solidFill>
                      <a:prstDash val="solid"/>
                      <a:round/>
                      <a:headEnd type="none" w="med" len="med"/>
                      <a:tailEnd type="none" w="med" len="med"/>
                    </a:lnR>
                    <a:lnT w="6350" cap="flat" cmpd="sng" algn="ctr">
                      <a:solidFill>
                        <a:srgbClr val="DDE0F0"/>
                      </a:solidFill>
                      <a:prstDash val="solid"/>
                      <a:round/>
                      <a:headEnd type="none" w="med" len="med"/>
                      <a:tailEnd type="none" w="med" len="med"/>
                    </a:lnT>
                    <a:lnB w="6350" cap="flat" cmpd="sng" algn="ctr">
                      <a:solidFill>
                        <a:srgbClr val="DDE0F0"/>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457200">
                <a:tc>
                  <a:txBody>
                    <a:bodyPr/>
                    <a:lstStyle/>
                    <a:p>
                      <a:pPr marL="0" indent="0" algn="l">
                        <a:buNone/>
                      </a:pPr>
                      <a:r>
                        <a:rPr lang="en-US" sz="1150" dirty="0">
                          <a:solidFill>
                            <a:srgbClr val="000000"/>
                          </a:solidFill>
                          <a:latin typeface="Calibri" pitchFamily="34" charset="0"/>
                          <a:ea typeface="Calibri" pitchFamily="34" charset="-122"/>
                          <a:cs typeface="Calibri" pitchFamily="34" charset="-120"/>
                        </a:rPr>
                        <a:t>Multiple Linear Regression</a:t>
                      </a:r>
                      <a:endParaRPr lang="en-US" sz="1150" dirty="0">
                        <a:latin typeface="Calibri" charset="0"/>
                        <a:ea typeface="Calibri" charset="0"/>
                        <a:cs typeface="Calibri" charset="0"/>
                      </a:endParaRPr>
                    </a:p>
                  </a:txBody>
                  <a:tcPr anchor="ctr">
                    <a:lnL w="6350" cap="flat" cmpd="sng" algn="ctr">
                      <a:solidFill>
                        <a:srgbClr val="DDE0F0"/>
                      </a:solidFill>
                      <a:prstDash val="solid"/>
                      <a:round/>
                      <a:headEnd type="none" w="med" len="med"/>
                      <a:tailEnd type="none" w="med" len="med"/>
                    </a:lnL>
                    <a:lnR w="6350" cap="flat" cmpd="sng" algn="ctr">
                      <a:solidFill>
                        <a:srgbClr val="DDE0F0"/>
                      </a:solidFill>
                      <a:prstDash val="solid"/>
                      <a:round/>
                      <a:headEnd type="none" w="med" len="med"/>
                      <a:tailEnd type="none" w="med" len="med"/>
                    </a:lnR>
                    <a:lnT w="6350" cap="flat" cmpd="sng" algn="ctr">
                      <a:solidFill>
                        <a:srgbClr val="DDE0F0"/>
                      </a:solidFill>
                      <a:prstDash val="solid"/>
                      <a:round/>
                      <a:headEnd type="none" w="med" len="med"/>
                      <a:tailEnd type="none" w="med" len="med"/>
                    </a:lnT>
                    <a:lnB w="6350" cap="flat" cmpd="sng" algn="ctr">
                      <a:solidFill>
                        <a:srgbClr val="DDE0F0"/>
                      </a:solidFill>
                      <a:prstDash val="solid"/>
                      <a:round/>
                      <a:headEnd type="none" w="med" len="med"/>
                      <a:tailEnd type="none" w="med" len="med"/>
                    </a:lnB>
                    <a:solidFill>
                      <a:srgbClr val="FFFFFF"/>
                    </a:solidFill>
                  </a:tcPr>
                </a:tc>
                <a:tc>
                  <a:txBody>
                    <a:bodyPr/>
                    <a:lstStyle/>
                    <a:p>
                      <a:pPr marL="0" indent="0" algn="l">
                        <a:buNone/>
                      </a:pPr>
                      <a:r>
                        <a:rPr lang="en-US" sz="1150" dirty="0">
                          <a:solidFill>
                            <a:srgbClr val="000000"/>
                          </a:solidFill>
                          <a:latin typeface="Calibri" pitchFamily="34" charset="0"/>
                          <a:ea typeface="Calibri" pitchFamily="34" charset="-122"/>
                          <a:cs typeface="Calibri" pitchFamily="34" charset="-120"/>
                        </a:rPr>
                        <a:t>Continuous</a:t>
                      </a:r>
                      <a:endParaRPr lang="en-US" sz="1150" dirty="0">
                        <a:latin typeface="Calibri" charset="0"/>
                        <a:ea typeface="Calibri" charset="0"/>
                        <a:cs typeface="Calibri" charset="0"/>
                      </a:endParaRPr>
                    </a:p>
                  </a:txBody>
                  <a:tcPr anchor="ctr">
                    <a:lnL w="6350" cap="flat" cmpd="sng" algn="ctr">
                      <a:solidFill>
                        <a:srgbClr val="DDE0F0"/>
                      </a:solidFill>
                      <a:prstDash val="solid"/>
                      <a:round/>
                      <a:headEnd type="none" w="med" len="med"/>
                      <a:tailEnd type="none" w="med" len="med"/>
                    </a:lnL>
                    <a:lnR w="6350" cap="flat" cmpd="sng" algn="ctr">
                      <a:solidFill>
                        <a:srgbClr val="DDE0F0"/>
                      </a:solidFill>
                      <a:prstDash val="solid"/>
                      <a:round/>
                      <a:headEnd type="none" w="med" len="med"/>
                      <a:tailEnd type="none" w="med" len="med"/>
                    </a:lnR>
                    <a:lnT w="6350" cap="flat" cmpd="sng" algn="ctr">
                      <a:solidFill>
                        <a:srgbClr val="DDE0F0"/>
                      </a:solidFill>
                      <a:prstDash val="solid"/>
                      <a:round/>
                      <a:headEnd type="none" w="med" len="med"/>
                      <a:tailEnd type="none" w="med" len="med"/>
                    </a:lnT>
                    <a:lnB w="6350" cap="flat" cmpd="sng" algn="ctr">
                      <a:solidFill>
                        <a:srgbClr val="DDE0F0"/>
                      </a:solidFill>
                      <a:prstDash val="solid"/>
                      <a:round/>
                      <a:headEnd type="none" w="med" len="med"/>
                      <a:tailEnd type="none" w="med" len="med"/>
                    </a:lnB>
                    <a:solidFill>
                      <a:srgbClr val="FFFFFF"/>
                    </a:solidFill>
                  </a:tcPr>
                </a:tc>
                <a:tc>
                  <a:txBody>
                    <a:bodyPr/>
                    <a:lstStyle/>
                    <a:p>
                      <a:pPr marL="0" indent="0" algn="l">
                        <a:buNone/>
                      </a:pPr>
                      <a:r>
                        <a:rPr lang="en-US" sz="1150" dirty="0">
                          <a:solidFill>
                            <a:srgbClr val="000000"/>
                          </a:solidFill>
                          <a:latin typeface="Calibri" pitchFamily="34" charset="0"/>
                          <a:ea typeface="Calibri" pitchFamily="34" charset="-122"/>
                          <a:cs typeface="Calibri" pitchFamily="34" charset="-120"/>
                        </a:rPr>
                        <a:t>B, β, R², F</a:t>
                      </a:r>
                      <a:endParaRPr lang="en-US" sz="1150" dirty="0">
                        <a:latin typeface="Calibri" charset="0"/>
                        <a:ea typeface="Calibri" charset="0"/>
                        <a:cs typeface="Calibri" charset="0"/>
                      </a:endParaRPr>
                    </a:p>
                  </a:txBody>
                  <a:tcPr anchor="ctr">
                    <a:lnL w="6350" cap="flat" cmpd="sng" algn="ctr">
                      <a:solidFill>
                        <a:srgbClr val="DDE0F0"/>
                      </a:solidFill>
                      <a:prstDash val="solid"/>
                      <a:round/>
                      <a:headEnd type="none" w="med" len="med"/>
                      <a:tailEnd type="none" w="med" len="med"/>
                    </a:lnL>
                    <a:lnR w="6350" cap="flat" cmpd="sng" algn="ctr">
                      <a:solidFill>
                        <a:srgbClr val="DDE0F0"/>
                      </a:solidFill>
                      <a:prstDash val="solid"/>
                      <a:round/>
                      <a:headEnd type="none" w="med" len="med"/>
                      <a:tailEnd type="none" w="med" len="med"/>
                    </a:lnR>
                    <a:lnT w="6350" cap="flat" cmpd="sng" algn="ctr">
                      <a:solidFill>
                        <a:srgbClr val="DDE0F0"/>
                      </a:solidFill>
                      <a:prstDash val="solid"/>
                      <a:round/>
                      <a:headEnd type="none" w="med" len="med"/>
                      <a:tailEnd type="none" w="med" len="med"/>
                    </a:lnT>
                    <a:lnB w="6350" cap="flat" cmpd="sng" algn="ctr">
                      <a:solidFill>
                        <a:srgbClr val="DDE0F0"/>
                      </a:solidFill>
                      <a:prstDash val="solid"/>
                      <a:round/>
                      <a:headEnd type="none" w="med" len="med"/>
                      <a:tailEnd type="none" w="med" len="med"/>
                    </a:lnB>
                    <a:solidFill>
                      <a:srgbClr val="FFFFFF"/>
                    </a:solidFill>
                  </a:tcPr>
                </a:tc>
                <a:tc>
                  <a:txBody>
                    <a:bodyPr/>
                    <a:lstStyle/>
                    <a:p>
                      <a:pPr marL="0" indent="0" algn="l">
                        <a:buNone/>
                      </a:pPr>
                      <a:r>
                        <a:rPr lang="en-US" sz="1150" dirty="0">
                          <a:solidFill>
                            <a:srgbClr val="000000"/>
                          </a:solidFill>
                          <a:latin typeface="Calibri" pitchFamily="34" charset="0"/>
                          <a:ea typeface="Calibri" pitchFamily="34" charset="-122"/>
                          <a:cs typeface="Calibri" pitchFamily="34" charset="-120"/>
                        </a:rPr>
                        <a:t>Predict systolic BP from lifestyle factors</a:t>
                      </a:r>
                      <a:endParaRPr lang="en-US" sz="1150" dirty="0">
                        <a:latin typeface="Calibri" charset="0"/>
                        <a:ea typeface="Calibri" charset="0"/>
                        <a:cs typeface="Calibri" charset="0"/>
                      </a:endParaRPr>
                    </a:p>
                  </a:txBody>
                  <a:tcPr anchor="ctr">
                    <a:lnL w="6350" cap="flat" cmpd="sng" algn="ctr">
                      <a:solidFill>
                        <a:srgbClr val="DDE0F0"/>
                      </a:solidFill>
                      <a:prstDash val="solid"/>
                      <a:round/>
                      <a:headEnd type="none" w="med" len="med"/>
                      <a:tailEnd type="none" w="med" len="med"/>
                    </a:lnL>
                    <a:lnR w="6350" cap="flat" cmpd="sng" algn="ctr">
                      <a:solidFill>
                        <a:srgbClr val="DDE0F0"/>
                      </a:solidFill>
                      <a:prstDash val="solid"/>
                      <a:round/>
                      <a:headEnd type="none" w="med" len="med"/>
                      <a:tailEnd type="none" w="med" len="med"/>
                    </a:lnR>
                    <a:lnT w="6350" cap="flat" cmpd="sng" algn="ctr">
                      <a:solidFill>
                        <a:srgbClr val="DDE0F0"/>
                      </a:solidFill>
                      <a:prstDash val="solid"/>
                      <a:round/>
                      <a:headEnd type="none" w="med" len="med"/>
                      <a:tailEnd type="none" w="med" len="med"/>
                    </a:lnT>
                    <a:lnB w="6350" cap="flat" cmpd="sng" algn="ctr">
                      <a:solidFill>
                        <a:srgbClr val="DDE0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lgn="l">
                        <a:buNone/>
                      </a:pPr>
                      <a:r>
                        <a:rPr lang="en-US" sz="1150" dirty="0">
                          <a:solidFill>
                            <a:srgbClr val="000000"/>
                          </a:solidFill>
                          <a:latin typeface="Calibri" pitchFamily="34" charset="0"/>
                          <a:ea typeface="Calibri" pitchFamily="34" charset="-122"/>
                          <a:cs typeface="Calibri" pitchFamily="34" charset="-120"/>
                        </a:rPr>
                        <a:t>Binary Logistic Regression</a:t>
                      </a:r>
                      <a:endParaRPr lang="en-US" sz="1150" dirty="0">
                        <a:latin typeface="Calibri" charset="0"/>
                        <a:ea typeface="Calibri" charset="0"/>
                        <a:cs typeface="Calibri" charset="0"/>
                      </a:endParaRPr>
                    </a:p>
                  </a:txBody>
                  <a:tcPr anchor="ctr">
                    <a:lnL w="6350" cap="flat" cmpd="sng" algn="ctr">
                      <a:solidFill>
                        <a:srgbClr val="DDE0F0"/>
                      </a:solidFill>
                      <a:prstDash val="solid"/>
                      <a:round/>
                      <a:headEnd type="none" w="med" len="med"/>
                      <a:tailEnd type="none" w="med" len="med"/>
                    </a:lnL>
                    <a:lnR w="6350" cap="flat" cmpd="sng" algn="ctr">
                      <a:solidFill>
                        <a:srgbClr val="DDE0F0"/>
                      </a:solidFill>
                      <a:prstDash val="solid"/>
                      <a:round/>
                      <a:headEnd type="none" w="med" len="med"/>
                      <a:tailEnd type="none" w="med" len="med"/>
                    </a:lnR>
                    <a:lnT w="6350" cap="flat" cmpd="sng" algn="ctr">
                      <a:solidFill>
                        <a:srgbClr val="DDE0F0"/>
                      </a:solidFill>
                      <a:prstDash val="solid"/>
                      <a:round/>
                      <a:headEnd type="none" w="med" len="med"/>
                      <a:tailEnd type="none" w="med" len="med"/>
                    </a:lnT>
                    <a:lnB w="6350" cap="flat" cmpd="sng" algn="ctr">
                      <a:solidFill>
                        <a:srgbClr val="DDE0F0"/>
                      </a:solidFill>
                      <a:prstDash val="solid"/>
                      <a:round/>
                      <a:headEnd type="none" w="med" len="med"/>
                      <a:tailEnd type="none" w="med" len="med"/>
                    </a:lnB>
                    <a:solidFill>
                      <a:srgbClr val="FFFFFF"/>
                    </a:solidFill>
                  </a:tcPr>
                </a:tc>
                <a:tc>
                  <a:txBody>
                    <a:bodyPr/>
                    <a:lstStyle/>
                    <a:p>
                      <a:pPr marL="0" indent="0" algn="l">
                        <a:buNone/>
                      </a:pPr>
                      <a:r>
                        <a:rPr lang="en-US" sz="1150" dirty="0">
                          <a:solidFill>
                            <a:srgbClr val="000000"/>
                          </a:solidFill>
                          <a:latin typeface="Calibri" pitchFamily="34" charset="0"/>
                          <a:ea typeface="Calibri" pitchFamily="34" charset="-122"/>
                          <a:cs typeface="Calibri" pitchFamily="34" charset="-120"/>
                        </a:rPr>
                        <a:t>Binary (yes/no)</a:t>
                      </a:r>
                      <a:endParaRPr lang="en-US" sz="1150" dirty="0">
                        <a:latin typeface="Calibri" charset="0"/>
                        <a:ea typeface="Calibri" charset="0"/>
                        <a:cs typeface="Calibri" charset="0"/>
                      </a:endParaRPr>
                    </a:p>
                  </a:txBody>
                  <a:tcPr anchor="ctr">
                    <a:lnL w="6350" cap="flat" cmpd="sng" algn="ctr">
                      <a:solidFill>
                        <a:srgbClr val="DDE0F0"/>
                      </a:solidFill>
                      <a:prstDash val="solid"/>
                      <a:round/>
                      <a:headEnd type="none" w="med" len="med"/>
                      <a:tailEnd type="none" w="med" len="med"/>
                    </a:lnL>
                    <a:lnR w="6350" cap="flat" cmpd="sng" algn="ctr">
                      <a:solidFill>
                        <a:srgbClr val="DDE0F0"/>
                      </a:solidFill>
                      <a:prstDash val="solid"/>
                      <a:round/>
                      <a:headEnd type="none" w="med" len="med"/>
                      <a:tailEnd type="none" w="med" len="med"/>
                    </a:lnR>
                    <a:lnT w="6350" cap="flat" cmpd="sng" algn="ctr">
                      <a:solidFill>
                        <a:srgbClr val="DDE0F0"/>
                      </a:solidFill>
                      <a:prstDash val="solid"/>
                      <a:round/>
                      <a:headEnd type="none" w="med" len="med"/>
                      <a:tailEnd type="none" w="med" len="med"/>
                    </a:lnT>
                    <a:lnB w="6350" cap="flat" cmpd="sng" algn="ctr">
                      <a:solidFill>
                        <a:srgbClr val="DDE0F0"/>
                      </a:solidFill>
                      <a:prstDash val="solid"/>
                      <a:round/>
                      <a:headEnd type="none" w="med" len="med"/>
                      <a:tailEnd type="none" w="med" len="med"/>
                    </a:lnB>
                    <a:solidFill>
                      <a:srgbClr val="FFFFFF"/>
                    </a:solidFill>
                  </a:tcPr>
                </a:tc>
                <a:tc>
                  <a:txBody>
                    <a:bodyPr/>
                    <a:lstStyle/>
                    <a:p>
                      <a:pPr marL="0" indent="0" algn="l">
                        <a:buNone/>
                      </a:pPr>
                      <a:r>
                        <a:rPr lang="en-US" sz="1150" dirty="0">
                          <a:solidFill>
                            <a:srgbClr val="000000"/>
                          </a:solidFill>
                          <a:latin typeface="Calibri" pitchFamily="34" charset="0"/>
                          <a:ea typeface="Calibri" pitchFamily="34" charset="-122"/>
                          <a:cs typeface="Calibri" pitchFamily="34" charset="-120"/>
                        </a:rPr>
                        <a:t>Odds Ratio, 95% CI</a:t>
                      </a:r>
                      <a:endParaRPr lang="en-US" sz="1150" dirty="0">
                        <a:latin typeface="Calibri" charset="0"/>
                        <a:ea typeface="Calibri" charset="0"/>
                        <a:cs typeface="Calibri" charset="0"/>
                      </a:endParaRPr>
                    </a:p>
                  </a:txBody>
                  <a:tcPr anchor="ctr">
                    <a:lnL w="6350" cap="flat" cmpd="sng" algn="ctr">
                      <a:solidFill>
                        <a:srgbClr val="DDE0F0"/>
                      </a:solidFill>
                      <a:prstDash val="solid"/>
                      <a:round/>
                      <a:headEnd type="none" w="med" len="med"/>
                      <a:tailEnd type="none" w="med" len="med"/>
                    </a:lnL>
                    <a:lnR w="6350" cap="flat" cmpd="sng" algn="ctr">
                      <a:solidFill>
                        <a:srgbClr val="DDE0F0"/>
                      </a:solidFill>
                      <a:prstDash val="solid"/>
                      <a:round/>
                      <a:headEnd type="none" w="med" len="med"/>
                      <a:tailEnd type="none" w="med" len="med"/>
                    </a:lnR>
                    <a:lnT w="6350" cap="flat" cmpd="sng" algn="ctr">
                      <a:solidFill>
                        <a:srgbClr val="DDE0F0"/>
                      </a:solidFill>
                      <a:prstDash val="solid"/>
                      <a:round/>
                      <a:headEnd type="none" w="med" len="med"/>
                      <a:tailEnd type="none" w="med" len="med"/>
                    </a:lnT>
                    <a:lnB w="6350" cap="flat" cmpd="sng" algn="ctr">
                      <a:solidFill>
                        <a:srgbClr val="DDE0F0"/>
                      </a:solidFill>
                      <a:prstDash val="solid"/>
                      <a:round/>
                      <a:headEnd type="none" w="med" len="med"/>
                      <a:tailEnd type="none" w="med" len="med"/>
                    </a:lnB>
                    <a:solidFill>
                      <a:srgbClr val="FFFFFF"/>
                    </a:solidFill>
                  </a:tcPr>
                </a:tc>
                <a:tc>
                  <a:txBody>
                    <a:bodyPr/>
                    <a:lstStyle/>
                    <a:p>
                      <a:pPr marL="0" indent="0" algn="l">
                        <a:buNone/>
                      </a:pPr>
                      <a:r>
                        <a:rPr lang="en-US" sz="1150" dirty="0">
                          <a:solidFill>
                            <a:srgbClr val="000000"/>
                          </a:solidFill>
                          <a:latin typeface="Calibri" pitchFamily="34" charset="0"/>
                          <a:ea typeface="Calibri" pitchFamily="34" charset="-122"/>
                          <a:cs typeface="Calibri" pitchFamily="34" charset="-120"/>
                        </a:rPr>
                        <a:t>Predict diabetes onset (yes/no)</a:t>
                      </a:r>
                      <a:endParaRPr lang="en-US" sz="1150" dirty="0">
                        <a:latin typeface="Calibri" charset="0"/>
                        <a:ea typeface="Calibri" charset="0"/>
                        <a:cs typeface="Calibri" charset="0"/>
                      </a:endParaRPr>
                    </a:p>
                  </a:txBody>
                  <a:tcPr anchor="ctr">
                    <a:lnL w="6350" cap="flat" cmpd="sng" algn="ctr">
                      <a:solidFill>
                        <a:srgbClr val="DDE0F0"/>
                      </a:solidFill>
                      <a:prstDash val="solid"/>
                      <a:round/>
                      <a:headEnd type="none" w="med" len="med"/>
                      <a:tailEnd type="none" w="med" len="med"/>
                    </a:lnL>
                    <a:lnR w="6350" cap="flat" cmpd="sng" algn="ctr">
                      <a:solidFill>
                        <a:srgbClr val="DDE0F0"/>
                      </a:solidFill>
                      <a:prstDash val="solid"/>
                      <a:round/>
                      <a:headEnd type="none" w="med" len="med"/>
                      <a:tailEnd type="none" w="med" len="med"/>
                    </a:lnR>
                    <a:lnT w="6350" cap="flat" cmpd="sng" algn="ctr">
                      <a:solidFill>
                        <a:srgbClr val="DDE0F0"/>
                      </a:solidFill>
                      <a:prstDash val="solid"/>
                      <a:round/>
                      <a:headEnd type="none" w="med" len="med"/>
                      <a:tailEnd type="none" w="med" len="med"/>
                    </a:lnT>
                    <a:lnB w="6350" cap="flat" cmpd="sng" algn="ctr">
                      <a:solidFill>
                        <a:srgbClr val="DDE0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57200">
                <a:tc>
                  <a:txBody>
                    <a:bodyPr/>
                    <a:lstStyle/>
                    <a:p>
                      <a:pPr marL="0" indent="0" algn="l">
                        <a:buNone/>
                      </a:pPr>
                      <a:r>
                        <a:rPr lang="en-US" sz="1150" dirty="0">
                          <a:solidFill>
                            <a:srgbClr val="000000"/>
                          </a:solidFill>
                          <a:latin typeface="Calibri" pitchFamily="34" charset="0"/>
                          <a:ea typeface="Calibri" pitchFamily="34" charset="-122"/>
                          <a:cs typeface="Calibri" pitchFamily="34" charset="-120"/>
                        </a:rPr>
                        <a:t>Multinomial Logistic</a:t>
                      </a:r>
                      <a:endParaRPr lang="en-US" sz="1150" dirty="0">
                        <a:latin typeface="Calibri" charset="0"/>
                        <a:ea typeface="Calibri" charset="0"/>
                        <a:cs typeface="Calibri" charset="0"/>
                      </a:endParaRPr>
                    </a:p>
                  </a:txBody>
                  <a:tcPr anchor="ctr">
                    <a:lnL w="6350" cap="flat" cmpd="sng" algn="ctr">
                      <a:solidFill>
                        <a:srgbClr val="DDE0F0"/>
                      </a:solidFill>
                      <a:prstDash val="solid"/>
                      <a:round/>
                      <a:headEnd type="none" w="med" len="med"/>
                      <a:tailEnd type="none" w="med" len="med"/>
                    </a:lnL>
                    <a:lnR w="6350" cap="flat" cmpd="sng" algn="ctr">
                      <a:solidFill>
                        <a:srgbClr val="DDE0F0"/>
                      </a:solidFill>
                      <a:prstDash val="solid"/>
                      <a:round/>
                      <a:headEnd type="none" w="med" len="med"/>
                      <a:tailEnd type="none" w="med" len="med"/>
                    </a:lnR>
                    <a:lnT w="6350" cap="flat" cmpd="sng" algn="ctr">
                      <a:solidFill>
                        <a:srgbClr val="DDE0F0"/>
                      </a:solidFill>
                      <a:prstDash val="solid"/>
                      <a:round/>
                      <a:headEnd type="none" w="med" len="med"/>
                      <a:tailEnd type="none" w="med" len="med"/>
                    </a:lnT>
                    <a:lnB w="6350" cap="flat" cmpd="sng" algn="ctr">
                      <a:solidFill>
                        <a:srgbClr val="DDE0F0"/>
                      </a:solidFill>
                      <a:prstDash val="solid"/>
                      <a:round/>
                      <a:headEnd type="none" w="med" len="med"/>
                      <a:tailEnd type="none" w="med" len="med"/>
                    </a:lnB>
                    <a:solidFill>
                      <a:srgbClr val="FFFFFF"/>
                    </a:solidFill>
                  </a:tcPr>
                </a:tc>
                <a:tc>
                  <a:txBody>
                    <a:bodyPr/>
                    <a:lstStyle/>
                    <a:p>
                      <a:pPr marL="0" indent="0" algn="l">
                        <a:buNone/>
                      </a:pPr>
                      <a:r>
                        <a:rPr lang="en-US" sz="1150" dirty="0">
                          <a:solidFill>
                            <a:srgbClr val="000000"/>
                          </a:solidFill>
                          <a:latin typeface="Calibri" pitchFamily="34" charset="0"/>
                          <a:ea typeface="Calibri" pitchFamily="34" charset="-122"/>
                          <a:cs typeface="Calibri" pitchFamily="34" charset="-120"/>
                        </a:rPr>
                        <a:t>Categorical ≥3 levels</a:t>
                      </a:r>
                      <a:endParaRPr lang="en-US" sz="1150" dirty="0">
                        <a:latin typeface="Calibri" charset="0"/>
                        <a:ea typeface="Calibri" charset="0"/>
                        <a:cs typeface="Calibri" charset="0"/>
                      </a:endParaRPr>
                    </a:p>
                  </a:txBody>
                  <a:tcPr anchor="ctr">
                    <a:lnL w="6350" cap="flat" cmpd="sng" algn="ctr">
                      <a:solidFill>
                        <a:srgbClr val="DDE0F0"/>
                      </a:solidFill>
                      <a:prstDash val="solid"/>
                      <a:round/>
                      <a:headEnd type="none" w="med" len="med"/>
                      <a:tailEnd type="none" w="med" len="med"/>
                    </a:lnL>
                    <a:lnR w="6350" cap="flat" cmpd="sng" algn="ctr">
                      <a:solidFill>
                        <a:srgbClr val="DDE0F0"/>
                      </a:solidFill>
                      <a:prstDash val="solid"/>
                      <a:round/>
                      <a:headEnd type="none" w="med" len="med"/>
                      <a:tailEnd type="none" w="med" len="med"/>
                    </a:lnR>
                    <a:lnT w="6350" cap="flat" cmpd="sng" algn="ctr">
                      <a:solidFill>
                        <a:srgbClr val="DDE0F0"/>
                      </a:solidFill>
                      <a:prstDash val="solid"/>
                      <a:round/>
                      <a:headEnd type="none" w="med" len="med"/>
                      <a:tailEnd type="none" w="med" len="med"/>
                    </a:lnT>
                    <a:lnB w="6350" cap="flat" cmpd="sng" algn="ctr">
                      <a:solidFill>
                        <a:srgbClr val="DDE0F0"/>
                      </a:solidFill>
                      <a:prstDash val="solid"/>
                      <a:round/>
                      <a:headEnd type="none" w="med" len="med"/>
                      <a:tailEnd type="none" w="med" len="med"/>
                    </a:lnB>
                    <a:solidFill>
                      <a:srgbClr val="FFFFFF"/>
                    </a:solidFill>
                  </a:tcPr>
                </a:tc>
                <a:tc>
                  <a:txBody>
                    <a:bodyPr/>
                    <a:lstStyle/>
                    <a:p>
                      <a:pPr marL="0" indent="0" algn="l">
                        <a:buNone/>
                      </a:pPr>
                      <a:r>
                        <a:rPr lang="en-US" sz="1150" dirty="0">
                          <a:solidFill>
                            <a:srgbClr val="000000"/>
                          </a:solidFill>
                          <a:latin typeface="Calibri" pitchFamily="34" charset="0"/>
                          <a:ea typeface="Calibri" pitchFamily="34" charset="-122"/>
                          <a:cs typeface="Calibri" pitchFamily="34" charset="-120"/>
                        </a:rPr>
                        <a:t>OR for each category vs reference</a:t>
                      </a:r>
                      <a:endParaRPr lang="en-US" sz="1150" dirty="0">
                        <a:latin typeface="Calibri" charset="0"/>
                        <a:ea typeface="Calibri" charset="0"/>
                        <a:cs typeface="Calibri" charset="0"/>
                      </a:endParaRPr>
                    </a:p>
                  </a:txBody>
                  <a:tcPr anchor="ctr">
                    <a:lnL w="6350" cap="flat" cmpd="sng" algn="ctr">
                      <a:solidFill>
                        <a:srgbClr val="DDE0F0"/>
                      </a:solidFill>
                      <a:prstDash val="solid"/>
                      <a:round/>
                      <a:headEnd type="none" w="med" len="med"/>
                      <a:tailEnd type="none" w="med" len="med"/>
                    </a:lnL>
                    <a:lnR w="6350" cap="flat" cmpd="sng" algn="ctr">
                      <a:solidFill>
                        <a:srgbClr val="DDE0F0"/>
                      </a:solidFill>
                      <a:prstDash val="solid"/>
                      <a:round/>
                      <a:headEnd type="none" w="med" len="med"/>
                      <a:tailEnd type="none" w="med" len="med"/>
                    </a:lnR>
                    <a:lnT w="6350" cap="flat" cmpd="sng" algn="ctr">
                      <a:solidFill>
                        <a:srgbClr val="DDE0F0"/>
                      </a:solidFill>
                      <a:prstDash val="solid"/>
                      <a:round/>
                      <a:headEnd type="none" w="med" len="med"/>
                      <a:tailEnd type="none" w="med" len="med"/>
                    </a:lnT>
                    <a:lnB w="6350" cap="flat" cmpd="sng" algn="ctr">
                      <a:solidFill>
                        <a:srgbClr val="DDE0F0"/>
                      </a:solidFill>
                      <a:prstDash val="solid"/>
                      <a:round/>
                      <a:headEnd type="none" w="med" len="med"/>
                      <a:tailEnd type="none" w="med" len="med"/>
                    </a:lnB>
                    <a:solidFill>
                      <a:srgbClr val="FFFFFF"/>
                    </a:solidFill>
                  </a:tcPr>
                </a:tc>
                <a:tc>
                  <a:txBody>
                    <a:bodyPr/>
                    <a:lstStyle/>
                    <a:p>
                      <a:pPr marL="0" indent="0" algn="l">
                        <a:buNone/>
                      </a:pPr>
                      <a:r>
                        <a:rPr lang="en-US" sz="1150" dirty="0">
                          <a:solidFill>
                            <a:srgbClr val="000000"/>
                          </a:solidFill>
                          <a:latin typeface="Calibri" pitchFamily="34" charset="0"/>
                          <a:ea typeface="Calibri" pitchFamily="34" charset="-122"/>
                          <a:cs typeface="Calibri" pitchFamily="34" charset="-120"/>
                        </a:rPr>
                        <a:t>Predict BMI category: normal/overweight/obese</a:t>
                      </a:r>
                      <a:endParaRPr lang="en-US" sz="1150" dirty="0">
                        <a:latin typeface="Calibri" charset="0"/>
                        <a:ea typeface="Calibri" charset="0"/>
                        <a:cs typeface="Calibri" charset="0"/>
                      </a:endParaRPr>
                    </a:p>
                  </a:txBody>
                  <a:tcPr anchor="ctr">
                    <a:lnL w="6350" cap="flat" cmpd="sng" algn="ctr">
                      <a:solidFill>
                        <a:srgbClr val="DDE0F0"/>
                      </a:solidFill>
                      <a:prstDash val="solid"/>
                      <a:round/>
                      <a:headEnd type="none" w="med" len="med"/>
                      <a:tailEnd type="none" w="med" len="med"/>
                    </a:lnL>
                    <a:lnR w="6350" cap="flat" cmpd="sng" algn="ctr">
                      <a:solidFill>
                        <a:srgbClr val="DDE0F0"/>
                      </a:solidFill>
                      <a:prstDash val="solid"/>
                      <a:round/>
                      <a:headEnd type="none" w="med" len="med"/>
                      <a:tailEnd type="none" w="med" len="med"/>
                    </a:lnR>
                    <a:lnT w="6350" cap="flat" cmpd="sng" algn="ctr">
                      <a:solidFill>
                        <a:srgbClr val="DDE0F0"/>
                      </a:solidFill>
                      <a:prstDash val="solid"/>
                      <a:round/>
                      <a:headEnd type="none" w="med" len="med"/>
                      <a:tailEnd type="none" w="med" len="med"/>
                    </a:lnT>
                    <a:lnB w="6350" cap="flat" cmpd="sng" algn="ctr">
                      <a:solidFill>
                        <a:srgbClr val="DDE0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lgn="l">
                        <a:buNone/>
                      </a:pPr>
                      <a:r>
                        <a:rPr lang="en-US" sz="1150" dirty="0">
                          <a:solidFill>
                            <a:srgbClr val="000000"/>
                          </a:solidFill>
                          <a:latin typeface="Calibri" pitchFamily="34" charset="0"/>
                          <a:ea typeface="Calibri" pitchFamily="34" charset="-122"/>
                          <a:cs typeface="Calibri" pitchFamily="34" charset="-120"/>
                        </a:rPr>
                        <a:t>Ordinal Regression</a:t>
                      </a:r>
                      <a:endParaRPr lang="en-US" sz="1150" dirty="0">
                        <a:latin typeface="Calibri" charset="0"/>
                        <a:ea typeface="Calibri" charset="0"/>
                        <a:cs typeface="Calibri" charset="0"/>
                      </a:endParaRPr>
                    </a:p>
                  </a:txBody>
                  <a:tcPr anchor="ctr">
                    <a:lnL w="6350" cap="flat" cmpd="sng" algn="ctr">
                      <a:solidFill>
                        <a:srgbClr val="DDE0F0"/>
                      </a:solidFill>
                      <a:prstDash val="solid"/>
                      <a:round/>
                      <a:headEnd type="none" w="med" len="med"/>
                      <a:tailEnd type="none" w="med" len="med"/>
                    </a:lnL>
                    <a:lnR w="6350" cap="flat" cmpd="sng" algn="ctr">
                      <a:solidFill>
                        <a:srgbClr val="DDE0F0"/>
                      </a:solidFill>
                      <a:prstDash val="solid"/>
                      <a:round/>
                      <a:headEnd type="none" w="med" len="med"/>
                      <a:tailEnd type="none" w="med" len="med"/>
                    </a:lnR>
                    <a:lnT w="6350" cap="flat" cmpd="sng" algn="ctr">
                      <a:solidFill>
                        <a:srgbClr val="DDE0F0"/>
                      </a:solidFill>
                      <a:prstDash val="solid"/>
                      <a:round/>
                      <a:headEnd type="none" w="med" len="med"/>
                      <a:tailEnd type="none" w="med" len="med"/>
                    </a:lnT>
                    <a:lnB w="6350" cap="flat" cmpd="sng" algn="ctr">
                      <a:solidFill>
                        <a:srgbClr val="DDE0F0"/>
                      </a:solidFill>
                      <a:prstDash val="solid"/>
                      <a:round/>
                      <a:headEnd type="none" w="med" len="med"/>
                      <a:tailEnd type="none" w="med" len="med"/>
                    </a:lnB>
                    <a:solidFill>
                      <a:srgbClr val="FFFFFF"/>
                    </a:solidFill>
                  </a:tcPr>
                </a:tc>
                <a:tc>
                  <a:txBody>
                    <a:bodyPr/>
                    <a:lstStyle/>
                    <a:p>
                      <a:pPr marL="0" indent="0" algn="l">
                        <a:buNone/>
                      </a:pPr>
                      <a:r>
                        <a:rPr lang="en-US" sz="1150" dirty="0">
                          <a:solidFill>
                            <a:srgbClr val="000000"/>
                          </a:solidFill>
                          <a:latin typeface="Calibri" pitchFamily="34" charset="0"/>
                          <a:ea typeface="Calibri" pitchFamily="34" charset="-122"/>
                          <a:cs typeface="Calibri" pitchFamily="34" charset="-120"/>
                        </a:rPr>
                        <a:t>Ordered categories</a:t>
                      </a:r>
                      <a:endParaRPr lang="en-US" sz="1150" dirty="0">
                        <a:latin typeface="Calibri" charset="0"/>
                        <a:ea typeface="Calibri" charset="0"/>
                        <a:cs typeface="Calibri" charset="0"/>
                      </a:endParaRPr>
                    </a:p>
                  </a:txBody>
                  <a:tcPr anchor="ctr">
                    <a:lnL w="6350" cap="flat" cmpd="sng" algn="ctr">
                      <a:solidFill>
                        <a:srgbClr val="DDE0F0"/>
                      </a:solidFill>
                      <a:prstDash val="solid"/>
                      <a:round/>
                      <a:headEnd type="none" w="med" len="med"/>
                      <a:tailEnd type="none" w="med" len="med"/>
                    </a:lnL>
                    <a:lnR w="6350" cap="flat" cmpd="sng" algn="ctr">
                      <a:solidFill>
                        <a:srgbClr val="DDE0F0"/>
                      </a:solidFill>
                      <a:prstDash val="solid"/>
                      <a:round/>
                      <a:headEnd type="none" w="med" len="med"/>
                      <a:tailEnd type="none" w="med" len="med"/>
                    </a:lnR>
                    <a:lnT w="6350" cap="flat" cmpd="sng" algn="ctr">
                      <a:solidFill>
                        <a:srgbClr val="DDE0F0"/>
                      </a:solidFill>
                      <a:prstDash val="solid"/>
                      <a:round/>
                      <a:headEnd type="none" w="med" len="med"/>
                      <a:tailEnd type="none" w="med" len="med"/>
                    </a:lnT>
                    <a:lnB w="6350" cap="flat" cmpd="sng" algn="ctr">
                      <a:solidFill>
                        <a:srgbClr val="DDE0F0"/>
                      </a:solidFill>
                      <a:prstDash val="solid"/>
                      <a:round/>
                      <a:headEnd type="none" w="med" len="med"/>
                      <a:tailEnd type="none" w="med" len="med"/>
                    </a:lnB>
                    <a:solidFill>
                      <a:srgbClr val="FFFFFF"/>
                    </a:solidFill>
                  </a:tcPr>
                </a:tc>
                <a:tc>
                  <a:txBody>
                    <a:bodyPr/>
                    <a:lstStyle/>
                    <a:p>
                      <a:pPr marL="0" indent="0" algn="l">
                        <a:buNone/>
                      </a:pPr>
                      <a:r>
                        <a:rPr lang="en-US" sz="1150" dirty="0">
                          <a:solidFill>
                            <a:srgbClr val="000000"/>
                          </a:solidFill>
                          <a:latin typeface="Calibri" pitchFamily="34" charset="0"/>
                          <a:ea typeface="Calibri" pitchFamily="34" charset="-122"/>
                          <a:cs typeface="Calibri" pitchFamily="34" charset="-120"/>
                        </a:rPr>
                        <a:t>OR (proportional odds)</a:t>
                      </a:r>
                      <a:endParaRPr lang="en-US" sz="1150" dirty="0">
                        <a:latin typeface="Calibri" charset="0"/>
                        <a:ea typeface="Calibri" charset="0"/>
                        <a:cs typeface="Calibri" charset="0"/>
                      </a:endParaRPr>
                    </a:p>
                  </a:txBody>
                  <a:tcPr anchor="ctr">
                    <a:lnL w="6350" cap="flat" cmpd="sng" algn="ctr">
                      <a:solidFill>
                        <a:srgbClr val="DDE0F0"/>
                      </a:solidFill>
                      <a:prstDash val="solid"/>
                      <a:round/>
                      <a:headEnd type="none" w="med" len="med"/>
                      <a:tailEnd type="none" w="med" len="med"/>
                    </a:lnL>
                    <a:lnR w="6350" cap="flat" cmpd="sng" algn="ctr">
                      <a:solidFill>
                        <a:srgbClr val="DDE0F0"/>
                      </a:solidFill>
                      <a:prstDash val="solid"/>
                      <a:round/>
                      <a:headEnd type="none" w="med" len="med"/>
                      <a:tailEnd type="none" w="med" len="med"/>
                    </a:lnR>
                    <a:lnT w="6350" cap="flat" cmpd="sng" algn="ctr">
                      <a:solidFill>
                        <a:srgbClr val="DDE0F0"/>
                      </a:solidFill>
                      <a:prstDash val="solid"/>
                      <a:round/>
                      <a:headEnd type="none" w="med" len="med"/>
                      <a:tailEnd type="none" w="med" len="med"/>
                    </a:lnT>
                    <a:lnB w="6350" cap="flat" cmpd="sng" algn="ctr">
                      <a:solidFill>
                        <a:srgbClr val="DDE0F0"/>
                      </a:solidFill>
                      <a:prstDash val="solid"/>
                      <a:round/>
                      <a:headEnd type="none" w="med" len="med"/>
                      <a:tailEnd type="none" w="med" len="med"/>
                    </a:lnB>
                    <a:solidFill>
                      <a:srgbClr val="FFFFFF"/>
                    </a:solidFill>
                  </a:tcPr>
                </a:tc>
                <a:tc>
                  <a:txBody>
                    <a:bodyPr/>
                    <a:lstStyle/>
                    <a:p>
                      <a:pPr marL="0" indent="0" algn="l">
                        <a:buNone/>
                      </a:pPr>
                      <a:r>
                        <a:rPr lang="en-US" sz="1150" dirty="0">
                          <a:solidFill>
                            <a:srgbClr val="000000"/>
                          </a:solidFill>
                          <a:latin typeface="Calibri" pitchFamily="34" charset="0"/>
                          <a:ea typeface="Calibri" pitchFamily="34" charset="-122"/>
                          <a:cs typeface="Calibri" pitchFamily="34" charset="-120"/>
                        </a:rPr>
                        <a:t>Predict health rating: poor/fair/good/excellent</a:t>
                      </a:r>
                      <a:endParaRPr lang="en-US" sz="1150" dirty="0">
                        <a:latin typeface="Calibri" charset="0"/>
                        <a:ea typeface="Calibri" charset="0"/>
                        <a:cs typeface="Calibri" charset="0"/>
                      </a:endParaRPr>
                    </a:p>
                  </a:txBody>
                  <a:tcPr anchor="ctr">
                    <a:lnL w="6350" cap="flat" cmpd="sng" algn="ctr">
                      <a:solidFill>
                        <a:srgbClr val="DDE0F0"/>
                      </a:solidFill>
                      <a:prstDash val="solid"/>
                      <a:round/>
                      <a:headEnd type="none" w="med" len="med"/>
                      <a:tailEnd type="none" w="med" len="med"/>
                    </a:lnL>
                    <a:lnR w="6350" cap="flat" cmpd="sng" algn="ctr">
                      <a:solidFill>
                        <a:srgbClr val="DDE0F0"/>
                      </a:solidFill>
                      <a:prstDash val="solid"/>
                      <a:round/>
                      <a:headEnd type="none" w="med" len="med"/>
                      <a:tailEnd type="none" w="med" len="med"/>
                    </a:lnR>
                    <a:lnT w="6350" cap="flat" cmpd="sng" algn="ctr">
                      <a:solidFill>
                        <a:srgbClr val="DDE0F0"/>
                      </a:solidFill>
                      <a:prstDash val="solid"/>
                      <a:round/>
                      <a:headEnd type="none" w="med" len="med"/>
                      <a:tailEnd type="none" w="med" len="med"/>
                    </a:lnT>
                    <a:lnB w="6350" cap="flat" cmpd="sng" algn="ctr">
                      <a:solidFill>
                        <a:srgbClr val="DDE0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57200">
                <a:tc>
                  <a:txBody>
                    <a:bodyPr/>
                    <a:lstStyle/>
                    <a:p>
                      <a:pPr marL="0" indent="0" algn="l">
                        <a:buNone/>
                      </a:pPr>
                      <a:r>
                        <a:rPr lang="en-US" sz="1150" dirty="0">
                          <a:solidFill>
                            <a:srgbClr val="000000"/>
                          </a:solidFill>
                          <a:latin typeface="Calibri" pitchFamily="34" charset="0"/>
                          <a:ea typeface="Calibri" pitchFamily="34" charset="-122"/>
                          <a:cs typeface="Calibri" pitchFamily="34" charset="-120"/>
                        </a:rPr>
                        <a:t>Poisson Regression</a:t>
                      </a:r>
                      <a:endParaRPr lang="en-US" sz="1150" dirty="0">
                        <a:latin typeface="Calibri" charset="0"/>
                        <a:ea typeface="Calibri" charset="0"/>
                        <a:cs typeface="Calibri" charset="0"/>
                      </a:endParaRPr>
                    </a:p>
                  </a:txBody>
                  <a:tcPr anchor="ctr">
                    <a:lnL w="6350" cap="flat" cmpd="sng" algn="ctr">
                      <a:solidFill>
                        <a:srgbClr val="DDE0F0"/>
                      </a:solidFill>
                      <a:prstDash val="solid"/>
                      <a:round/>
                      <a:headEnd type="none" w="med" len="med"/>
                      <a:tailEnd type="none" w="med" len="med"/>
                    </a:lnL>
                    <a:lnR w="6350" cap="flat" cmpd="sng" algn="ctr">
                      <a:solidFill>
                        <a:srgbClr val="DDE0F0"/>
                      </a:solidFill>
                      <a:prstDash val="solid"/>
                      <a:round/>
                      <a:headEnd type="none" w="med" len="med"/>
                      <a:tailEnd type="none" w="med" len="med"/>
                    </a:lnR>
                    <a:lnT w="6350" cap="flat" cmpd="sng" algn="ctr">
                      <a:solidFill>
                        <a:srgbClr val="DDE0F0"/>
                      </a:solidFill>
                      <a:prstDash val="solid"/>
                      <a:round/>
                      <a:headEnd type="none" w="med" len="med"/>
                      <a:tailEnd type="none" w="med" len="med"/>
                    </a:lnT>
                    <a:lnB w="6350" cap="flat" cmpd="sng" algn="ctr">
                      <a:solidFill>
                        <a:srgbClr val="DDE0F0"/>
                      </a:solidFill>
                      <a:prstDash val="solid"/>
                      <a:round/>
                      <a:headEnd type="none" w="med" len="med"/>
                      <a:tailEnd type="none" w="med" len="med"/>
                    </a:lnB>
                    <a:solidFill>
                      <a:srgbClr val="FFFFFF"/>
                    </a:solidFill>
                  </a:tcPr>
                </a:tc>
                <a:tc>
                  <a:txBody>
                    <a:bodyPr/>
                    <a:lstStyle/>
                    <a:p>
                      <a:pPr marL="0" indent="0" algn="l">
                        <a:buNone/>
                      </a:pPr>
                      <a:r>
                        <a:rPr lang="en-US" sz="1150" dirty="0">
                          <a:solidFill>
                            <a:srgbClr val="000000"/>
                          </a:solidFill>
                          <a:latin typeface="Calibri" pitchFamily="34" charset="0"/>
                          <a:ea typeface="Calibri" pitchFamily="34" charset="-122"/>
                          <a:cs typeface="Calibri" pitchFamily="34" charset="-120"/>
                        </a:rPr>
                        <a:t>Count data</a:t>
                      </a:r>
                      <a:endParaRPr lang="en-US" sz="1150" dirty="0">
                        <a:latin typeface="Calibri" charset="0"/>
                        <a:ea typeface="Calibri" charset="0"/>
                        <a:cs typeface="Calibri" charset="0"/>
                      </a:endParaRPr>
                    </a:p>
                  </a:txBody>
                  <a:tcPr anchor="ctr">
                    <a:lnL w="6350" cap="flat" cmpd="sng" algn="ctr">
                      <a:solidFill>
                        <a:srgbClr val="DDE0F0"/>
                      </a:solidFill>
                      <a:prstDash val="solid"/>
                      <a:round/>
                      <a:headEnd type="none" w="med" len="med"/>
                      <a:tailEnd type="none" w="med" len="med"/>
                    </a:lnL>
                    <a:lnR w="6350" cap="flat" cmpd="sng" algn="ctr">
                      <a:solidFill>
                        <a:srgbClr val="DDE0F0"/>
                      </a:solidFill>
                      <a:prstDash val="solid"/>
                      <a:round/>
                      <a:headEnd type="none" w="med" len="med"/>
                      <a:tailEnd type="none" w="med" len="med"/>
                    </a:lnR>
                    <a:lnT w="6350" cap="flat" cmpd="sng" algn="ctr">
                      <a:solidFill>
                        <a:srgbClr val="DDE0F0"/>
                      </a:solidFill>
                      <a:prstDash val="solid"/>
                      <a:round/>
                      <a:headEnd type="none" w="med" len="med"/>
                      <a:tailEnd type="none" w="med" len="med"/>
                    </a:lnT>
                    <a:lnB w="6350" cap="flat" cmpd="sng" algn="ctr">
                      <a:solidFill>
                        <a:srgbClr val="DDE0F0"/>
                      </a:solidFill>
                      <a:prstDash val="solid"/>
                      <a:round/>
                      <a:headEnd type="none" w="med" len="med"/>
                      <a:tailEnd type="none" w="med" len="med"/>
                    </a:lnB>
                    <a:solidFill>
                      <a:srgbClr val="FFFFFF"/>
                    </a:solidFill>
                  </a:tcPr>
                </a:tc>
                <a:tc>
                  <a:txBody>
                    <a:bodyPr/>
                    <a:lstStyle/>
                    <a:p>
                      <a:pPr marL="0" indent="0" algn="l">
                        <a:buNone/>
                      </a:pPr>
                      <a:r>
                        <a:rPr lang="en-US" sz="1150" dirty="0">
                          <a:solidFill>
                            <a:srgbClr val="000000"/>
                          </a:solidFill>
                          <a:latin typeface="Calibri" pitchFamily="34" charset="0"/>
                          <a:ea typeface="Calibri" pitchFamily="34" charset="-122"/>
                          <a:cs typeface="Calibri" pitchFamily="34" charset="-120"/>
                        </a:rPr>
                        <a:t>Incidence Rate Ratio</a:t>
                      </a:r>
                      <a:endParaRPr lang="en-US" sz="1150" dirty="0">
                        <a:latin typeface="Calibri" charset="0"/>
                        <a:ea typeface="Calibri" charset="0"/>
                        <a:cs typeface="Calibri" charset="0"/>
                      </a:endParaRPr>
                    </a:p>
                  </a:txBody>
                  <a:tcPr anchor="ctr">
                    <a:lnL w="6350" cap="flat" cmpd="sng" algn="ctr">
                      <a:solidFill>
                        <a:srgbClr val="DDE0F0"/>
                      </a:solidFill>
                      <a:prstDash val="solid"/>
                      <a:round/>
                      <a:headEnd type="none" w="med" len="med"/>
                      <a:tailEnd type="none" w="med" len="med"/>
                    </a:lnL>
                    <a:lnR w="6350" cap="flat" cmpd="sng" algn="ctr">
                      <a:solidFill>
                        <a:srgbClr val="DDE0F0"/>
                      </a:solidFill>
                      <a:prstDash val="solid"/>
                      <a:round/>
                      <a:headEnd type="none" w="med" len="med"/>
                      <a:tailEnd type="none" w="med" len="med"/>
                    </a:lnR>
                    <a:lnT w="6350" cap="flat" cmpd="sng" algn="ctr">
                      <a:solidFill>
                        <a:srgbClr val="DDE0F0"/>
                      </a:solidFill>
                      <a:prstDash val="solid"/>
                      <a:round/>
                      <a:headEnd type="none" w="med" len="med"/>
                      <a:tailEnd type="none" w="med" len="med"/>
                    </a:lnT>
                    <a:lnB w="6350" cap="flat" cmpd="sng" algn="ctr">
                      <a:solidFill>
                        <a:srgbClr val="DDE0F0"/>
                      </a:solidFill>
                      <a:prstDash val="solid"/>
                      <a:round/>
                      <a:headEnd type="none" w="med" len="med"/>
                      <a:tailEnd type="none" w="med" len="med"/>
                    </a:lnB>
                    <a:solidFill>
                      <a:srgbClr val="FFFFFF"/>
                    </a:solidFill>
                  </a:tcPr>
                </a:tc>
                <a:tc>
                  <a:txBody>
                    <a:bodyPr/>
                    <a:lstStyle/>
                    <a:p>
                      <a:pPr marL="0" indent="0" algn="l">
                        <a:buNone/>
                      </a:pPr>
                      <a:r>
                        <a:rPr lang="en-US" sz="1150" dirty="0">
                          <a:solidFill>
                            <a:srgbClr val="000000"/>
                          </a:solidFill>
                          <a:latin typeface="Calibri" pitchFamily="34" charset="0"/>
                          <a:ea typeface="Calibri" pitchFamily="34" charset="-122"/>
                          <a:cs typeface="Calibri" pitchFamily="34" charset="-120"/>
                        </a:rPr>
                        <a:t>Predict ER visits per year</a:t>
                      </a:r>
                      <a:endParaRPr lang="en-US" sz="1150" dirty="0">
                        <a:latin typeface="Calibri" charset="0"/>
                        <a:ea typeface="Calibri" charset="0"/>
                        <a:cs typeface="Calibri" charset="0"/>
                      </a:endParaRPr>
                    </a:p>
                  </a:txBody>
                  <a:tcPr anchor="ctr">
                    <a:lnL w="6350" cap="flat" cmpd="sng" algn="ctr">
                      <a:solidFill>
                        <a:srgbClr val="DDE0F0"/>
                      </a:solidFill>
                      <a:prstDash val="solid"/>
                      <a:round/>
                      <a:headEnd type="none" w="med" len="med"/>
                      <a:tailEnd type="none" w="med" len="med"/>
                    </a:lnL>
                    <a:lnR w="6350" cap="flat" cmpd="sng" algn="ctr">
                      <a:solidFill>
                        <a:srgbClr val="DDE0F0"/>
                      </a:solidFill>
                      <a:prstDash val="solid"/>
                      <a:round/>
                      <a:headEnd type="none" w="med" len="med"/>
                      <a:tailEnd type="none" w="med" len="med"/>
                    </a:lnR>
                    <a:lnT w="6350" cap="flat" cmpd="sng" algn="ctr">
                      <a:solidFill>
                        <a:srgbClr val="DDE0F0"/>
                      </a:solidFill>
                      <a:prstDash val="solid"/>
                      <a:round/>
                      <a:headEnd type="none" w="med" len="med"/>
                      <a:tailEnd type="none" w="med" len="med"/>
                    </a:lnT>
                    <a:lnB w="6350" cap="flat" cmpd="sng" algn="ctr">
                      <a:solidFill>
                        <a:srgbClr val="DDE0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57200">
                <a:tc>
                  <a:txBody>
                    <a:bodyPr/>
                    <a:lstStyle/>
                    <a:p>
                      <a:pPr marL="0" indent="0" algn="l">
                        <a:buNone/>
                      </a:pPr>
                      <a:r>
                        <a:rPr lang="en-US" sz="1150" dirty="0">
                          <a:solidFill>
                            <a:srgbClr val="000000"/>
                          </a:solidFill>
                          <a:latin typeface="Calibri" pitchFamily="34" charset="0"/>
                          <a:ea typeface="Calibri" pitchFamily="34" charset="-122"/>
                          <a:cs typeface="Calibri" pitchFamily="34" charset="-120"/>
                        </a:rPr>
                        <a:t>Cox Proportional Hazards</a:t>
                      </a:r>
                      <a:endParaRPr lang="en-US" sz="1150" dirty="0">
                        <a:latin typeface="Calibri" charset="0"/>
                        <a:ea typeface="Calibri" charset="0"/>
                        <a:cs typeface="Calibri" charset="0"/>
                      </a:endParaRPr>
                    </a:p>
                  </a:txBody>
                  <a:tcPr anchor="ctr">
                    <a:lnL w="6350" cap="flat" cmpd="sng" algn="ctr">
                      <a:solidFill>
                        <a:srgbClr val="DDE0F0"/>
                      </a:solidFill>
                      <a:prstDash val="solid"/>
                      <a:round/>
                      <a:headEnd type="none" w="med" len="med"/>
                      <a:tailEnd type="none" w="med" len="med"/>
                    </a:lnL>
                    <a:lnR w="6350" cap="flat" cmpd="sng" algn="ctr">
                      <a:solidFill>
                        <a:srgbClr val="DDE0F0"/>
                      </a:solidFill>
                      <a:prstDash val="solid"/>
                      <a:round/>
                      <a:headEnd type="none" w="med" len="med"/>
                      <a:tailEnd type="none" w="med" len="med"/>
                    </a:lnR>
                    <a:lnT w="6350" cap="flat" cmpd="sng" algn="ctr">
                      <a:solidFill>
                        <a:srgbClr val="DDE0F0"/>
                      </a:solidFill>
                      <a:prstDash val="solid"/>
                      <a:round/>
                      <a:headEnd type="none" w="med" len="med"/>
                      <a:tailEnd type="none" w="med" len="med"/>
                    </a:lnT>
                    <a:lnB w="6350" cap="flat" cmpd="sng" algn="ctr">
                      <a:solidFill>
                        <a:srgbClr val="DDE0F0"/>
                      </a:solidFill>
                      <a:prstDash val="solid"/>
                      <a:round/>
                      <a:headEnd type="none" w="med" len="med"/>
                      <a:tailEnd type="none" w="med" len="med"/>
                    </a:lnB>
                    <a:solidFill>
                      <a:srgbClr val="FFFFFF"/>
                    </a:solidFill>
                  </a:tcPr>
                </a:tc>
                <a:tc>
                  <a:txBody>
                    <a:bodyPr/>
                    <a:lstStyle/>
                    <a:p>
                      <a:pPr marL="0" indent="0" algn="l">
                        <a:buNone/>
                      </a:pPr>
                      <a:r>
                        <a:rPr lang="en-US" sz="1150" dirty="0">
                          <a:solidFill>
                            <a:srgbClr val="000000"/>
                          </a:solidFill>
                          <a:latin typeface="Calibri" pitchFamily="34" charset="0"/>
                          <a:ea typeface="Calibri" pitchFamily="34" charset="-122"/>
                          <a:cs typeface="Calibri" pitchFamily="34" charset="-120"/>
                        </a:rPr>
                        <a:t>Time-to-event</a:t>
                      </a:r>
                      <a:endParaRPr lang="en-US" sz="1150" dirty="0">
                        <a:latin typeface="Calibri" charset="0"/>
                        <a:ea typeface="Calibri" charset="0"/>
                        <a:cs typeface="Calibri" charset="0"/>
                      </a:endParaRPr>
                    </a:p>
                  </a:txBody>
                  <a:tcPr anchor="ctr">
                    <a:lnL w="6350" cap="flat" cmpd="sng" algn="ctr">
                      <a:solidFill>
                        <a:srgbClr val="DDE0F0"/>
                      </a:solidFill>
                      <a:prstDash val="solid"/>
                      <a:round/>
                      <a:headEnd type="none" w="med" len="med"/>
                      <a:tailEnd type="none" w="med" len="med"/>
                    </a:lnL>
                    <a:lnR w="6350" cap="flat" cmpd="sng" algn="ctr">
                      <a:solidFill>
                        <a:srgbClr val="DDE0F0"/>
                      </a:solidFill>
                      <a:prstDash val="solid"/>
                      <a:round/>
                      <a:headEnd type="none" w="med" len="med"/>
                      <a:tailEnd type="none" w="med" len="med"/>
                    </a:lnR>
                    <a:lnT w="6350" cap="flat" cmpd="sng" algn="ctr">
                      <a:solidFill>
                        <a:srgbClr val="DDE0F0"/>
                      </a:solidFill>
                      <a:prstDash val="solid"/>
                      <a:round/>
                      <a:headEnd type="none" w="med" len="med"/>
                      <a:tailEnd type="none" w="med" len="med"/>
                    </a:lnT>
                    <a:lnB w="6350" cap="flat" cmpd="sng" algn="ctr">
                      <a:solidFill>
                        <a:srgbClr val="DDE0F0"/>
                      </a:solidFill>
                      <a:prstDash val="solid"/>
                      <a:round/>
                      <a:headEnd type="none" w="med" len="med"/>
                      <a:tailEnd type="none" w="med" len="med"/>
                    </a:lnB>
                    <a:solidFill>
                      <a:srgbClr val="FFFFFF"/>
                    </a:solidFill>
                  </a:tcPr>
                </a:tc>
                <a:tc>
                  <a:txBody>
                    <a:bodyPr/>
                    <a:lstStyle/>
                    <a:p>
                      <a:pPr marL="0" indent="0" algn="l">
                        <a:buNone/>
                      </a:pPr>
                      <a:r>
                        <a:rPr lang="en-US" sz="1150" dirty="0">
                          <a:solidFill>
                            <a:srgbClr val="000000"/>
                          </a:solidFill>
                          <a:latin typeface="Calibri" pitchFamily="34" charset="0"/>
                          <a:ea typeface="Calibri" pitchFamily="34" charset="-122"/>
                          <a:cs typeface="Calibri" pitchFamily="34" charset="-120"/>
                        </a:rPr>
                        <a:t>Hazard Ratio, 95% CI</a:t>
                      </a:r>
                      <a:endParaRPr lang="en-US" sz="1150" dirty="0">
                        <a:latin typeface="Calibri" charset="0"/>
                        <a:ea typeface="Calibri" charset="0"/>
                        <a:cs typeface="Calibri" charset="0"/>
                      </a:endParaRPr>
                    </a:p>
                  </a:txBody>
                  <a:tcPr anchor="ctr">
                    <a:lnL w="6350" cap="flat" cmpd="sng" algn="ctr">
                      <a:solidFill>
                        <a:srgbClr val="DDE0F0"/>
                      </a:solidFill>
                      <a:prstDash val="solid"/>
                      <a:round/>
                      <a:headEnd type="none" w="med" len="med"/>
                      <a:tailEnd type="none" w="med" len="med"/>
                    </a:lnL>
                    <a:lnR w="6350" cap="flat" cmpd="sng" algn="ctr">
                      <a:solidFill>
                        <a:srgbClr val="DDE0F0"/>
                      </a:solidFill>
                      <a:prstDash val="solid"/>
                      <a:round/>
                      <a:headEnd type="none" w="med" len="med"/>
                      <a:tailEnd type="none" w="med" len="med"/>
                    </a:lnR>
                    <a:lnT w="6350" cap="flat" cmpd="sng" algn="ctr">
                      <a:solidFill>
                        <a:srgbClr val="DDE0F0"/>
                      </a:solidFill>
                      <a:prstDash val="solid"/>
                      <a:round/>
                      <a:headEnd type="none" w="med" len="med"/>
                      <a:tailEnd type="none" w="med" len="med"/>
                    </a:lnT>
                    <a:lnB w="6350" cap="flat" cmpd="sng" algn="ctr">
                      <a:solidFill>
                        <a:srgbClr val="DDE0F0"/>
                      </a:solidFill>
                      <a:prstDash val="solid"/>
                      <a:round/>
                      <a:headEnd type="none" w="med" len="med"/>
                      <a:tailEnd type="none" w="med" len="med"/>
                    </a:lnB>
                    <a:solidFill>
                      <a:srgbClr val="FFFFFF"/>
                    </a:solidFill>
                  </a:tcPr>
                </a:tc>
                <a:tc>
                  <a:txBody>
                    <a:bodyPr/>
                    <a:lstStyle/>
                    <a:p>
                      <a:pPr marL="0" indent="0" algn="l">
                        <a:buNone/>
                      </a:pPr>
                      <a:r>
                        <a:rPr lang="en-US" sz="1150" dirty="0">
                          <a:solidFill>
                            <a:srgbClr val="000000"/>
                          </a:solidFill>
                          <a:latin typeface="Calibri" pitchFamily="34" charset="0"/>
                          <a:ea typeface="Calibri" pitchFamily="34" charset="-122"/>
                          <a:cs typeface="Calibri" pitchFamily="34" charset="-120"/>
                        </a:rPr>
                        <a:t>Predict time to CVD event controlling confounders</a:t>
                      </a:r>
                      <a:endParaRPr lang="en-US" sz="1150" dirty="0">
                        <a:latin typeface="Calibri" charset="0"/>
                        <a:ea typeface="Calibri" charset="0"/>
                        <a:cs typeface="Calibri" charset="0"/>
                      </a:endParaRPr>
                    </a:p>
                  </a:txBody>
                  <a:tcPr anchor="ctr">
                    <a:lnL w="6350" cap="flat" cmpd="sng" algn="ctr">
                      <a:solidFill>
                        <a:srgbClr val="DDE0F0"/>
                      </a:solidFill>
                      <a:prstDash val="solid"/>
                      <a:round/>
                      <a:headEnd type="none" w="med" len="med"/>
                      <a:tailEnd type="none" w="med" len="med"/>
                    </a:lnL>
                    <a:lnR w="6350" cap="flat" cmpd="sng" algn="ctr">
                      <a:solidFill>
                        <a:srgbClr val="DDE0F0"/>
                      </a:solidFill>
                      <a:prstDash val="solid"/>
                      <a:round/>
                      <a:headEnd type="none" w="med" len="med"/>
                      <a:tailEnd type="none" w="med" len="med"/>
                    </a:lnR>
                    <a:lnT w="6350" cap="flat" cmpd="sng" algn="ctr">
                      <a:solidFill>
                        <a:srgbClr val="DDE0F0"/>
                      </a:solidFill>
                      <a:prstDash val="solid"/>
                      <a:round/>
                      <a:headEnd type="none" w="med" len="med"/>
                      <a:tailEnd type="none" w="med" len="med"/>
                    </a:lnT>
                    <a:lnB w="6350" cap="flat" cmpd="sng" algn="ctr">
                      <a:solidFill>
                        <a:srgbClr val="DDE0F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57200">
                <a:tc>
                  <a:txBody>
                    <a:bodyPr/>
                    <a:lstStyle/>
                    <a:p>
                      <a:pPr marL="0" indent="0" algn="l">
                        <a:buNone/>
                      </a:pPr>
                      <a:r>
                        <a:rPr lang="en-US" sz="1150" dirty="0">
                          <a:solidFill>
                            <a:srgbClr val="000000"/>
                          </a:solidFill>
                          <a:latin typeface="Calibri" pitchFamily="34" charset="0"/>
                          <a:ea typeface="Calibri" pitchFamily="34" charset="-122"/>
                          <a:cs typeface="Calibri" pitchFamily="34" charset="-120"/>
                        </a:rPr>
                        <a:t>Negative Binomial</a:t>
                      </a:r>
                      <a:endParaRPr lang="en-US" sz="1150" dirty="0">
                        <a:latin typeface="Calibri" charset="0"/>
                        <a:ea typeface="Calibri" charset="0"/>
                        <a:cs typeface="Calibri" charset="0"/>
                      </a:endParaRPr>
                    </a:p>
                  </a:txBody>
                  <a:tcPr anchor="ctr">
                    <a:lnL w="6350" cap="flat" cmpd="sng" algn="ctr">
                      <a:solidFill>
                        <a:srgbClr val="DDE0F0"/>
                      </a:solidFill>
                      <a:prstDash val="solid"/>
                      <a:round/>
                      <a:headEnd type="none" w="med" len="med"/>
                      <a:tailEnd type="none" w="med" len="med"/>
                    </a:lnL>
                    <a:lnR w="6350" cap="flat" cmpd="sng" algn="ctr">
                      <a:solidFill>
                        <a:srgbClr val="DDE0F0"/>
                      </a:solidFill>
                      <a:prstDash val="solid"/>
                      <a:round/>
                      <a:headEnd type="none" w="med" len="med"/>
                      <a:tailEnd type="none" w="med" len="med"/>
                    </a:lnR>
                    <a:lnT w="6350" cap="flat" cmpd="sng" algn="ctr">
                      <a:solidFill>
                        <a:srgbClr val="DDE0F0"/>
                      </a:solidFill>
                      <a:prstDash val="solid"/>
                      <a:round/>
                      <a:headEnd type="none" w="med" len="med"/>
                      <a:tailEnd type="none" w="med" len="med"/>
                    </a:lnT>
                    <a:lnB w="6350" cap="flat" cmpd="sng" algn="ctr">
                      <a:solidFill>
                        <a:srgbClr val="DDE0F0"/>
                      </a:solidFill>
                      <a:prstDash val="solid"/>
                      <a:round/>
                      <a:headEnd type="none" w="med" len="med"/>
                      <a:tailEnd type="none" w="med" len="med"/>
                    </a:lnB>
                    <a:solidFill>
                      <a:srgbClr val="FFFFFF"/>
                    </a:solidFill>
                  </a:tcPr>
                </a:tc>
                <a:tc>
                  <a:txBody>
                    <a:bodyPr/>
                    <a:lstStyle/>
                    <a:p>
                      <a:pPr marL="0" indent="0" algn="l">
                        <a:buNone/>
                      </a:pPr>
                      <a:r>
                        <a:rPr lang="en-US" sz="1150" dirty="0">
                          <a:solidFill>
                            <a:srgbClr val="000000"/>
                          </a:solidFill>
                          <a:latin typeface="Calibri" pitchFamily="34" charset="0"/>
                          <a:ea typeface="Calibri" pitchFamily="34" charset="-122"/>
                          <a:cs typeface="Calibri" pitchFamily="34" charset="-120"/>
                        </a:rPr>
                        <a:t>Overdispersed counts</a:t>
                      </a:r>
                      <a:endParaRPr lang="en-US" sz="1150" dirty="0">
                        <a:latin typeface="Calibri" charset="0"/>
                        <a:ea typeface="Calibri" charset="0"/>
                        <a:cs typeface="Calibri" charset="0"/>
                      </a:endParaRPr>
                    </a:p>
                  </a:txBody>
                  <a:tcPr anchor="ctr">
                    <a:lnL w="6350" cap="flat" cmpd="sng" algn="ctr">
                      <a:solidFill>
                        <a:srgbClr val="DDE0F0"/>
                      </a:solidFill>
                      <a:prstDash val="solid"/>
                      <a:round/>
                      <a:headEnd type="none" w="med" len="med"/>
                      <a:tailEnd type="none" w="med" len="med"/>
                    </a:lnL>
                    <a:lnR w="6350" cap="flat" cmpd="sng" algn="ctr">
                      <a:solidFill>
                        <a:srgbClr val="DDE0F0"/>
                      </a:solidFill>
                      <a:prstDash val="solid"/>
                      <a:round/>
                      <a:headEnd type="none" w="med" len="med"/>
                      <a:tailEnd type="none" w="med" len="med"/>
                    </a:lnR>
                    <a:lnT w="6350" cap="flat" cmpd="sng" algn="ctr">
                      <a:solidFill>
                        <a:srgbClr val="DDE0F0"/>
                      </a:solidFill>
                      <a:prstDash val="solid"/>
                      <a:round/>
                      <a:headEnd type="none" w="med" len="med"/>
                      <a:tailEnd type="none" w="med" len="med"/>
                    </a:lnT>
                    <a:lnB w="6350" cap="flat" cmpd="sng" algn="ctr">
                      <a:solidFill>
                        <a:srgbClr val="DDE0F0"/>
                      </a:solidFill>
                      <a:prstDash val="solid"/>
                      <a:round/>
                      <a:headEnd type="none" w="med" len="med"/>
                      <a:tailEnd type="none" w="med" len="med"/>
                    </a:lnB>
                    <a:solidFill>
                      <a:srgbClr val="FFFFFF"/>
                    </a:solidFill>
                  </a:tcPr>
                </a:tc>
                <a:tc>
                  <a:txBody>
                    <a:bodyPr/>
                    <a:lstStyle/>
                    <a:p>
                      <a:pPr marL="0" indent="0" algn="l">
                        <a:buNone/>
                      </a:pPr>
                      <a:r>
                        <a:rPr lang="en-US" sz="1150" dirty="0">
                          <a:solidFill>
                            <a:srgbClr val="000000"/>
                          </a:solidFill>
                          <a:latin typeface="Calibri" pitchFamily="34" charset="0"/>
                          <a:ea typeface="Calibri" pitchFamily="34" charset="-122"/>
                          <a:cs typeface="Calibri" pitchFamily="34" charset="-120"/>
                        </a:rPr>
                        <a:t>IRR (adjusted for overdispersion)</a:t>
                      </a:r>
                      <a:endParaRPr lang="en-US" sz="1150" dirty="0">
                        <a:latin typeface="Calibri" charset="0"/>
                        <a:ea typeface="Calibri" charset="0"/>
                        <a:cs typeface="Calibri" charset="0"/>
                      </a:endParaRPr>
                    </a:p>
                  </a:txBody>
                  <a:tcPr anchor="ctr">
                    <a:lnL w="6350" cap="flat" cmpd="sng" algn="ctr">
                      <a:solidFill>
                        <a:srgbClr val="DDE0F0"/>
                      </a:solidFill>
                      <a:prstDash val="solid"/>
                      <a:round/>
                      <a:headEnd type="none" w="med" len="med"/>
                      <a:tailEnd type="none" w="med" len="med"/>
                    </a:lnL>
                    <a:lnR w="6350" cap="flat" cmpd="sng" algn="ctr">
                      <a:solidFill>
                        <a:srgbClr val="DDE0F0"/>
                      </a:solidFill>
                      <a:prstDash val="solid"/>
                      <a:round/>
                      <a:headEnd type="none" w="med" len="med"/>
                      <a:tailEnd type="none" w="med" len="med"/>
                    </a:lnR>
                    <a:lnT w="6350" cap="flat" cmpd="sng" algn="ctr">
                      <a:solidFill>
                        <a:srgbClr val="DDE0F0"/>
                      </a:solidFill>
                      <a:prstDash val="solid"/>
                      <a:round/>
                      <a:headEnd type="none" w="med" len="med"/>
                      <a:tailEnd type="none" w="med" len="med"/>
                    </a:lnT>
                    <a:lnB w="6350" cap="flat" cmpd="sng" algn="ctr">
                      <a:solidFill>
                        <a:srgbClr val="DDE0F0"/>
                      </a:solidFill>
                      <a:prstDash val="solid"/>
                      <a:round/>
                      <a:headEnd type="none" w="med" len="med"/>
                      <a:tailEnd type="none" w="med" len="med"/>
                    </a:lnB>
                    <a:solidFill>
                      <a:srgbClr val="FFFFFF"/>
                    </a:solidFill>
                  </a:tcPr>
                </a:tc>
                <a:tc>
                  <a:txBody>
                    <a:bodyPr/>
                    <a:lstStyle/>
                    <a:p>
                      <a:pPr marL="0" indent="0" algn="l">
                        <a:buNone/>
                      </a:pPr>
                      <a:r>
                        <a:rPr lang="en-US" sz="1150" dirty="0">
                          <a:solidFill>
                            <a:srgbClr val="000000"/>
                          </a:solidFill>
                          <a:latin typeface="Calibri" pitchFamily="34" charset="0"/>
                          <a:ea typeface="Calibri" pitchFamily="34" charset="-122"/>
                          <a:cs typeface="Calibri" pitchFamily="34" charset="-120"/>
                        </a:rPr>
                        <a:t>Predict hospitalisation days</a:t>
                      </a:r>
                      <a:endParaRPr lang="en-US" sz="1150" dirty="0">
                        <a:latin typeface="Calibri" charset="0"/>
                        <a:ea typeface="Calibri" charset="0"/>
                        <a:cs typeface="Calibri" charset="0"/>
                      </a:endParaRPr>
                    </a:p>
                  </a:txBody>
                  <a:tcPr anchor="ctr">
                    <a:lnL w="6350" cap="flat" cmpd="sng" algn="ctr">
                      <a:solidFill>
                        <a:srgbClr val="DDE0F0"/>
                      </a:solidFill>
                      <a:prstDash val="solid"/>
                      <a:round/>
                      <a:headEnd type="none" w="med" len="med"/>
                      <a:tailEnd type="none" w="med" len="med"/>
                    </a:lnL>
                    <a:lnR w="6350" cap="flat" cmpd="sng" algn="ctr">
                      <a:solidFill>
                        <a:srgbClr val="DDE0F0"/>
                      </a:solidFill>
                      <a:prstDash val="solid"/>
                      <a:round/>
                      <a:headEnd type="none" w="med" len="med"/>
                      <a:tailEnd type="none" w="med" len="med"/>
                    </a:lnR>
                    <a:lnT w="6350" cap="flat" cmpd="sng" algn="ctr">
                      <a:solidFill>
                        <a:srgbClr val="DDE0F0"/>
                      </a:solidFill>
                      <a:prstDash val="solid"/>
                      <a:round/>
                      <a:headEnd type="none" w="med" len="med"/>
                      <a:tailEnd type="none" w="med" len="med"/>
                    </a:lnT>
                    <a:lnB w="6350" cap="flat" cmpd="sng" algn="ctr">
                      <a:solidFill>
                        <a:srgbClr val="DDE0F0"/>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136FBE-2DB1-472C-9269-FFE903124574}"/>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8AB7B5F0-5DCC-C06F-2174-50C3D453C15C}"/>
              </a:ext>
            </a:extLst>
          </p:cNvPr>
          <p:cNvSpPr/>
          <p:nvPr/>
        </p:nvSpPr>
        <p:spPr>
          <a:xfrm>
            <a:off x="0" y="0"/>
            <a:ext cx="9144000" cy="73152"/>
          </a:xfrm>
          <a:prstGeom prst="rect">
            <a:avLst/>
          </a:prstGeom>
          <a:solidFill>
            <a:srgbClr val="E8A838"/>
          </a:solidFill>
          <a:ln w="12700">
            <a:solidFill>
              <a:srgbClr val="E8A838"/>
            </a:solidFill>
            <a:prstDash val="solid"/>
          </a:ln>
        </p:spPr>
        <p:txBody>
          <a:bodyPr/>
          <a:lstStyle/>
          <a:p>
            <a:endParaRPr lang="en-US"/>
          </a:p>
        </p:txBody>
      </p:sp>
      <p:sp>
        <p:nvSpPr>
          <p:cNvPr id="3" name="Text 1">
            <a:extLst>
              <a:ext uri="{FF2B5EF4-FFF2-40B4-BE49-F238E27FC236}">
                <a16:creationId xmlns:a16="http://schemas.microsoft.com/office/drawing/2014/main" id="{3394A8DA-EF91-C541-CCB7-CCCF74C2623E}"/>
              </a:ext>
            </a:extLst>
          </p:cNvPr>
          <p:cNvSpPr/>
          <p:nvPr/>
        </p:nvSpPr>
        <p:spPr>
          <a:xfrm>
            <a:off x="411480" y="164592"/>
            <a:ext cx="8321040" cy="640080"/>
          </a:xfrm>
          <a:prstGeom prst="rect">
            <a:avLst/>
          </a:prstGeom>
          <a:noFill/>
          <a:ln/>
        </p:spPr>
        <p:txBody>
          <a:bodyPr wrap="square" lIns="0" tIns="0" rIns="0" bIns="0" rtlCol="0" anchor="ctr"/>
          <a:lstStyle/>
          <a:p>
            <a:pPr marL="0" indent="0">
              <a:buNone/>
            </a:pPr>
            <a:r>
              <a:rPr lang="en-US" sz="2800" b="1" dirty="0">
                <a:solidFill>
                  <a:srgbClr val="065A82"/>
                </a:solidFill>
                <a:latin typeface="Cambria" pitchFamily="34" charset="0"/>
                <a:ea typeface="Cambria" pitchFamily="34" charset="-122"/>
                <a:cs typeface="Cambria" pitchFamily="34" charset="-120"/>
              </a:rPr>
              <a:t>What Is Multivariate Statistics?</a:t>
            </a:r>
            <a:endParaRPr lang="en-US" sz="2800" dirty="0"/>
          </a:p>
        </p:txBody>
      </p:sp>
      <p:sp>
        <p:nvSpPr>
          <p:cNvPr id="4" name="Shape 2">
            <a:extLst>
              <a:ext uri="{FF2B5EF4-FFF2-40B4-BE49-F238E27FC236}">
                <a16:creationId xmlns:a16="http://schemas.microsoft.com/office/drawing/2014/main" id="{FF43A6D9-14E2-AF88-B7E8-85453EB7589D}"/>
              </a:ext>
            </a:extLst>
          </p:cNvPr>
          <p:cNvSpPr/>
          <p:nvPr/>
        </p:nvSpPr>
        <p:spPr>
          <a:xfrm>
            <a:off x="411480" y="960120"/>
            <a:ext cx="3977640" cy="3977640"/>
          </a:xfrm>
          <a:prstGeom prst="rect">
            <a:avLst/>
          </a:prstGeom>
          <a:solidFill>
            <a:srgbClr val="FFFFFF"/>
          </a:solidFill>
          <a:ln w="12700">
            <a:solidFill>
              <a:srgbClr val="D6E4EC"/>
            </a:solidFill>
            <a:prstDash val="solid"/>
          </a:ln>
          <a:effectLst>
            <a:outerShdw blurRad="63500" dist="25400" dir="8100000" algn="bl" rotWithShape="0">
              <a:srgbClr val="000000">
                <a:alpha val="8000"/>
              </a:srgbClr>
            </a:outerShdw>
          </a:effectLst>
        </p:spPr>
        <p:txBody>
          <a:bodyPr/>
          <a:lstStyle/>
          <a:p>
            <a:endParaRPr lang="en-US"/>
          </a:p>
        </p:txBody>
      </p:sp>
      <p:sp>
        <p:nvSpPr>
          <p:cNvPr id="5" name="Shape 3">
            <a:extLst>
              <a:ext uri="{FF2B5EF4-FFF2-40B4-BE49-F238E27FC236}">
                <a16:creationId xmlns:a16="http://schemas.microsoft.com/office/drawing/2014/main" id="{0535D9D6-31A4-1B79-3896-6FF062FE5E85}"/>
              </a:ext>
            </a:extLst>
          </p:cNvPr>
          <p:cNvSpPr/>
          <p:nvPr/>
        </p:nvSpPr>
        <p:spPr>
          <a:xfrm>
            <a:off x="411480" y="960120"/>
            <a:ext cx="3977640" cy="64008"/>
          </a:xfrm>
          <a:prstGeom prst="rect">
            <a:avLst/>
          </a:prstGeom>
          <a:solidFill>
            <a:srgbClr val="065A82"/>
          </a:solidFill>
          <a:ln w="12700">
            <a:solidFill>
              <a:srgbClr val="065A82"/>
            </a:solidFill>
            <a:prstDash val="solid"/>
          </a:ln>
        </p:spPr>
        <p:txBody>
          <a:bodyPr/>
          <a:lstStyle/>
          <a:p>
            <a:endParaRPr lang="en-US"/>
          </a:p>
        </p:txBody>
      </p:sp>
      <p:sp>
        <p:nvSpPr>
          <p:cNvPr id="6" name="Text 4">
            <a:extLst>
              <a:ext uri="{FF2B5EF4-FFF2-40B4-BE49-F238E27FC236}">
                <a16:creationId xmlns:a16="http://schemas.microsoft.com/office/drawing/2014/main" id="{D86EEFB7-E846-23CE-6826-BC1A522715EA}"/>
              </a:ext>
            </a:extLst>
          </p:cNvPr>
          <p:cNvSpPr/>
          <p:nvPr/>
        </p:nvSpPr>
        <p:spPr>
          <a:xfrm>
            <a:off x="502920" y="1005840"/>
            <a:ext cx="3794760" cy="457200"/>
          </a:xfrm>
          <a:prstGeom prst="rect">
            <a:avLst/>
          </a:prstGeom>
          <a:noFill/>
          <a:ln/>
        </p:spPr>
        <p:txBody>
          <a:bodyPr wrap="square" lIns="0" tIns="0" rIns="0" bIns="0" rtlCol="0" anchor="ctr"/>
          <a:lstStyle/>
          <a:p>
            <a:pPr marL="0" indent="0">
              <a:buNone/>
            </a:pPr>
            <a:r>
              <a:rPr lang="en-US" sz="1350" b="1" dirty="0">
                <a:solidFill>
                  <a:srgbClr val="065A82"/>
                </a:solidFill>
                <a:latin typeface="Cambria" pitchFamily="34" charset="0"/>
                <a:ea typeface="Cambria" pitchFamily="34" charset="-122"/>
                <a:cs typeface="Cambria" pitchFamily="34" charset="-120"/>
              </a:rPr>
              <a:t>Definition (Tabachnick &amp; Fidell)</a:t>
            </a:r>
            <a:endParaRPr lang="en-US" sz="1350" dirty="0"/>
          </a:p>
        </p:txBody>
      </p:sp>
      <p:sp>
        <p:nvSpPr>
          <p:cNvPr id="7" name="Text 5">
            <a:extLst>
              <a:ext uri="{FF2B5EF4-FFF2-40B4-BE49-F238E27FC236}">
                <a16:creationId xmlns:a16="http://schemas.microsoft.com/office/drawing/2014/main" id="{5D77F710-3FAE-C694-43E3-0E2AEFF8A28B}"/>
              </a:ext>
            </a:extLst>
          </p:cNvPr>
          <p:cNvSpPr/>
          <p:nvPr/>
        </p:nvSpPr>
        <p:spPr>
          <a:xfrm>
            <a:off x="502920" y="1508760"/>
            <a:ext cx="3794760" cy="3291840"/>
          </a:xfrm>
          <a:prstGeom prst="rect">
            <a:avLst/>
          </a:prstGeom>
          <a:noFill/>
          <a:ln/>
        </p:spPr>
        <p:txBody>
          <a:bodyPr wrap="square" lIns="0" tIns="0" rIns="0" bIns="0" rtlCol="0" anchor="t"/>
          <a:lstStyle/>
          <a:p>
            <a:pPr marL="0" indent="0">
              <a:buNone/>
            </a:pPr>
            <a:r>
              <a:rPr lang="en-US" sz="1350" dirty="0">
                <a:solidFill>
                  <a:srgbClr val="1A2D3D"/>
                </a:solidFill>
                <a:latin typeface="Calibri" pitchFamily="34" charset="0"/>
                <a:ea typeface="Calibri" pitchFamily="34" charset="-122"/>
                <a:cs typeface="Calibri" pitchFamily="34" charset="-120"/>
              </a:rPr>
              <a:t>Multivariate statistics refers to all statistical techniques that simultaneously analyse more than two variables.</a:t>
            </a:r>
            <a:endParaRPr lang="en-US" sz="1350" dirty="0"/>
          </a:p>
          <a:p>
            <a:pPr marL="0" indent="0">
              <a:buNone/>
            </a:pPr>
            <a:r>
              <a:rPr lang="en-US" sz="1350" dirty="0">
                <a:solidFill>
                  <a:srgbClr val="000000"/>
                </a:solidFill>
                <a:latin typeface="Calibri" pitchFamily="34" charset="0"/>
                <a:ea typeface="Calibri" pitchFamily="34" charset="-122"/>
                <a:cs typeface="Calibri" pitchFamily="34" charset="-120"/>
              </a:rPr>
              <a:t> </a:t>
            </a:r>
            <a:endParaRPr lang="en-US" sz="1350" dirty="0"/>
          </a:p>
          <a:p>
            <a:pPr marL="0" indent="0">
              <a:buNone/>
            </a:pPr>
            <a:r>
              <a:rPr lang="en-US" sz="1350" dirty="0">
                <a:solidFill>
                  <a:srgbClr val="1A2D3D"/>
                </a:solidFill>
                <a:latin typeface="Calibri" pitchFamily="34" charset="0"/>
                <a:ea typeface="Calibri" pitchFamily="34" charset="-122"/>
                <a:cs typeface="Calibri" pitchFamily="34" charset="-120"/>
              </a:rPr>
              <a:t>These techniques extend univariate and bivariate methods to handle the complexity of real-world data involving many interrelated variables.</a:t>
            </a:r>
            <a:endParaRPr lang="en-US" sz="1350" dirty="0"/>
          </a:p>
        </p:txBody>
      </p:sp>
      <p:sp>
        <p:nvSpPr>
          <p:cNvPr id="8" name="Shape 6">
            <a:extLst>
              <a:ext uri="{FF2B5EF4-FFF2-40B4-BE49-F238E27FC236}">
                <a16:creationId xmlns:a16="http://schemas.microsoft.com/office/drawing/2014/main" id="{BE73FA96-3B63-DF7E-496E-79905E301C04}"/>
              </a:ext>
            </a:extLst>
          </p:cNvPr>
          <p:cNvSpPr/>
          <p:nvPr/>
        </p:nvSpPr>
        <p:spPr>
          <a:xfrm>
            <a:off x="4754880" y="960120"/>
            <a:ext cx="3977640" cy="3977640"/>
          </a:xfrm>
          <a:prstGeom prst="rect">
            <a:avLst/>
          </a:prstGeom>
          <a:solidFill>
            <a:srgbClr val="FFFFFF"/>
          </a:solidFill>
          <a:ln w="12700">
            <a:solidFill>
              <a:srgbClr val="D6E4EC"/>
            </a:solidFill>
            <a:prstDash val="solid"/>
          </a:ln>
          <a:effectLst>
            <a:outerShdw blurRad="63500" dist="25400" dir="8100000" algn="bl" rotWithShape="0">
              <a:srgbClr val="000000">
                <a:alpha val="8000"/>
              </a:srgbClr>
            </a:outerShdw>
          </a:effectLst>
        </p:spPr>
        <p:txBody>
          <a:bodyPr/>
          <a:lstStyle/>
          <a:p>
            <a:endParaRPr lang="en-US"/>
          </a:p>
        </p:txBody>
      </p:sp>
      <p:sp>
        <p:nvSpPr>
          <p:cNvPr id="9" name="Shape 7">
            <a:extLst>
              <a:ext uri="{FF2B5EF4-FFF2-40B4-BE49-F238E27FC236}">
                <a16:creationId xmlns:a16="http://schemas.microsoft.com/office/drawing/2014/main" id="{338663B8-43B3-F98B-C92B-627F2235B93A}"/>
              </a:ext>
            </a:extLst>
          </p:cNvPr>
          <p:cNvSpPr/>
          <p:nvPr/>
        </p:nvSpPr>
        <p:spPr>
          <a:xfrm>
            <a:off x="4754880" y="960120"/>
            <a:ext cx="3977640" cy="64008"/>
          </a:xfrm>
          <a:prstGeom prst="rect">
            <a:avLst/>
          </a:prstGeom>
          <a:solidFill>
            <a:srgbClr val="E8A838"/>
          </a:solidFill>
          <a:ln w="12700">
            <a:solidFill>
              <a:srgbClr val="E8A838"/>
            </a:solidFill>
            <a:prstDash val="solid"/>
          </a:ln>
        </p:spPr>
        <p:txBody>
          <a:bodyPr/>
          <a:lstStyle/>
          <a:p>
            <a:endParaRPr lang="en-US"/>
          </a:p>
        </p:txBody>
      </p:sp>
      <p:sp>
        <p:nvSpPr>
          <p:cNvPr id="10" name="Text 8">
            <a:extLst>
              <a:ext uri="{FF2B5EF4-FFF2-40B4-BE49-F238E27FC236}">
                <a16:creationId xmlns:a16="http://schemas.microsoft.com/office/drawing/2014/main" id="{A7190DF1-EA5C-D922-8324-852F1346A7A8}"/>
              </a:ext>
            </a:extLst>
          </p:cNvPr>
          <p:cNvSpPr/>
          <p:nvPr/>
        </p:nvSpPr>
        <p:spPr>
          <a:xfrm>
            <a:off x="4846320" y="1005840"/>
            <a:ext cx="3794760" cy="457200"/>
          </a:xfrm>
          <a:prstGeom prst="rect">
            <a:avLst/>
          </a:prstGeom>
          <a:noFill/>
          <a:ln/>
        </p:spPr>
        <p:txBody>
          <a:bodyPr wrap="square" lIns="0" tIns="0" rIns="0" bIns="0" rtlCol="0" anchor="ctr"/>
          <a:lstStyle/>
          <a:p>
            <a:pPr marL="0" indent="0">
              <a:buNone/>
            </a:pPr>
            <a:r>
              <a:rPr lang="en-US" sz="1350" b="1" dirty="0">
                <a:solidFill>
                  <a:srgbClr val="E8A838"/>
                </a:solidFill>
                <a:latin typeface="Cambria" pitchFamily="34" charset="0"/>
                <a:ea typeface="Cambria" pitchFamily="34" charset="-122"/>
                <a:cs typeface="Cambria" pitchFamily="34" charset="-120"/>
              </a:rPr>
              <a:t>Why It Matters in Public Health</a:t>
            </a:r>
            <a:endParaRPr lang="en-US" sz="1350" dirty="0"/>
          </a:p>
        </p:txBody>
      </p:sp>
      <p:sp>
        <p:nvSpPr>
          <p:cNvPr id="11" name="Text 9">
            <a:extLst>
              <a:ext uri="{FF2B5EF4-FFF2-40B4-BE49-F238E27FC236}">
                <a16:creationId xmlns:a16="http://schemas.microsoft.com/office/drawing/2014/main" id="{AA4687D6-5478-8361-BA0B-DC58F60C2EB4}"/>
              </a:ext>
            </a:extLst>
          </p:cNvPr>
          <p:cNvSpPr/>
          <p:nvPr/>
        </p:nvSpPr>
        <p:spPr>
          <a:xfrm>
            <a:off x="4846320" y="1554480"/>
            <a:ext cx="3794760" cy="3291840"/>
          </a:xfrm>
          <a:prstGeom prst="rect">
            <a:avLst/>
          </a:prstGeom>
          <a:noFill/>
          <a:ln/>
        </p:spPr>
        <p:txBody>
          <a:bodyPr wrap="square" rtlCol="0" anchor="t"/>
          <a:lstStyle/>
          <a:p>
            <a:pPr marL="342900" indent="-342900">
              <a:buSzPct val="100000"/>
              <a:buChar char="•"/>
            </a:pPr>
            <a:r>
              <a:rPr lang="en-US" sz="1300" dirty="0">
                <a:solidFill>
                  <a:srgbClr val="1A2D3D"/>
                </a:solidFill>
                <a:latin typeface="Calibri" pitchFamily="34" charset="0"/>
                <a:ea typeface="Calibri" pitchFamily="34" charset="-122"/>
                <a:cs typeface="Calibri" pitchFamily="34" charset="-120"/>
              </a:rPr>
              <a:t>Health outcomes are multifactorial — smoking, diet, SES, genetics interact simultaneously</a:t>
            </a:r>
            <a:endParaRPr lang="en-US" sz="1300" dirty="0"/>
          </a:p>
          <a:p>
            <a:pPr marL="342900" indent="-342900">
              <a:buSzPct val="100000"/>
              <a:buChar char="•"/>
            </a:pPr>
            <a:r>
              <a:rPr lang="en-US" sz="1300" dirty="0">
                <a:solidFill>
                  <a:srgbClr val="1A2D3D"/>
                </a:solidFill>
                <a:latin typeface="Calibri" pitchFamily="34" charset="0"/>
                <a:ea typeface="Calibri" pitchFamily="34" charset="-122"/>
                <a:cs typeface="Calibri" pitchFamily="34" charset="-120"/>
              </a:rPr>
              <a:t>Control for confounders while testing multiple predictors</a:t>
            </a:r>
            <a:endParaRPr lang="en-US" sz="1300" dirty="0"/>
          </a:p>
          <a:p>
            <a:pPr marL="342900" indent="-342900">
              <a:buSzPct val="100000"/>
              <a:buChar char="•"/>
            </a:pPr>
            <a:r>
              <a:rPr lang="en-US" sz="1300" dirty="0">
                <a:solidFill>
                  <a:srgbClr val="1A2D3D"/>
                </a:solidFill>
                <a:latin typeface="Calibri" pitchFamily="34" charset="0"/>
                <a:ea typeface="Calibri" pitchFamily="34" charset="-122"/>
                <a:cs typeface="Calibri" pitchFamily="34" charset="-120"/>
              </a:rPr>
              <a:t>Detect patterns across disease surveillance datasets</a:t>
            </a:r>
            <a:endParaRPr lang="en-US" sz="1300" dirty="0"/>
          </a:p>
          <a:p>
            <a:pPr marL="342900" indent="-342900">
              <a:buSzPct val="100000"/>
              <a:buChar char="•"/>
            </a:pPr>
            <a:r>
              <a:rPr lang="en-US" sz="1300" dirty="0">
                <a:solidFill>
                  <a:srgbClr val="1A2D3D"/>
                </a:solidFill>
                <a:latin typeface="Calibri" pitchFamily="34" charset="0"/>
                <a:ea typeface="Calibri" pitchFamily="34" charset="-122"/>
                <a:cs typeface="Calibri" pitchFamily="34" charset="-120"/>
              </a:rPr>
              <a:t>Reduce dimensionality of complex survey instruments</a:t>
            </a:r>
            <a:endParaRPr lang="en-US" sz="1300" dirty="0"/>
          </a:p>
          <a:p>
            <a:pPr marL="342900" indent="-342900">
              <a:buSzPct val="100000"/>
              <a:buChar char="•"/>
            </a:pPr>
            <a:r>
              <a:rPr lang="en-US" sz="1300" dirty="0">
                <a:solidFill>
                  <a:srgbClr val="1A2D3D"/>
                </a:solidFill>
                <a:latin typeface="Calibri" pitchFamily="34" charset="0"/>
                <a:ea typeface="Calibri" pitchFamily="34" charset="-122"/>
                <a:cs typeface="Calibri" pitchFamily="34" charset="-120"/>
              </a:rPr>
              <a:t>Classify patients into risk groups efficiently</a:t>
            </a:r>
            <a:endParaRPr lang="en-US" sz="1300" dirty="0"/>
          </a:p>
        </p:txBody>
      </p:sp>
    </p:spTree>
    <p:extLst>
      <p:ext uri="{BB962C8B-B14F-4D97-AF65-F5344CB8AC3E}">
        <p14:creationId xmlns:p14="http://schemas.microsoft.com/office/powerpoint/2010/main" val="4519679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8532B7-128E-C279-AA28-4D48A4938B9E}"/>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14574DEA-C578-E1F9-F8E5-D7155B10A35C}"/>
              </a:ext>
            </a:extLst>
          </p:cNvPr>
          <p:cNvSpPr/>
          <p:nvPr/>
        </p:nvSpPr>
        <p:spPr>
          <a:xfrm>
            <a:off x="0" y="0"/>
            <a:ext cx="9144000" cy="73152"/>
          </a:xfrm>
          <a:prstGeom prst="rect">
            <a:avLst/>
          </a:prstGeom>
          <a:solidFill>
            <a:srgbClr val="E8A838"/>
          </a:solidFill>
          <a:ln w="12700">
            <a:solidFill>
              <a:srgbClr val="E8A838"/>
            </a:solidFill>
            <a:prstDash val="solid"/>
          </a:ln>
        </p:spPr>
        <p:txBody>
          <a:bodyPr/>
          <a:lstStyle/>
          <a:p>
            <a:endParaRPr lang="en-US"/>
          </a:p>
        </p:txBody>
      </p:sp>
      <p:sp>
        <p:nvSpPr>
          <p:cNvPr id="3" name="Text 1">
            <a:extLst>
              <a:ext uri="{FF2B5EF4-FFF2-40B4-BE49-F238E27FC236}">
                <a16:creationId xmlns:a16="http://schemas.microsoft.com/office/drawing/2014/main" id="{E2C4FC2C-FF80-3C60-A133-7CB13DB8D8FD}"/>
              </a:ext>
            </a:extLst>
          </p:cNvPr>
          <p:cNvSpPr/>
          <p:nvPr/>
        </p:nvSpPr>
        <p:spPr>
          <a:xfrm>
            <a:off x="411480" y="164592"/>
            <a:ext cx="8321040" cy="640080"/>
          </a:xfrm>
          <a:prstGeom prst="rect">
            <a:avLst/>
          </a:prstGeom>
          <a:noFill/>
          <a:ln/>
        </p:spPr>
        <p:txBody>
          <a:bodyPr wrap="square" lIns="0" tIns="0" rIns="0" bIns="0" rtlCol="0" anchor="ctr"/>
          <a:lstStyle/>
          <a:p>
            <a:pPr marL="0" indent="0">
              <a:buNone/>
            </a:pPr>
            <a:r>
              <a:rPr lang="en-US" sz="2800" b="1" dirty="0">
                <a:solidFill>
                  <a:srgbClr val="065A82"/>
                </a:solidFill>
                <a:latin typeface="Cambria" pitchFamily="34" charset="0"/>
                <a:ea typeface="Cambria" pitchFamily="34" charset="-122"/>
                <a:cs typeface="Cambria" pitchFamily="34" charset="-120"/>
              </a:rPr>
              <a:t>Univariate → Bivariate → Multivariate</a:t>
            </a:r>
            <a:endParaRPr lang="en-US" sz="2800" dirty="0"/>
          </a:p>
        </p:txBody>
      </p:sp>
      <p:sp>
        <p:nvSpPr>
          <p:cNvPr id="4" name="Shape 2">
            <a:extLst>
              <a:ext uri="{FF2B5EF4-FFF2-40B4-BE49-F238E27FC236}">
                <a16:creationId xmlns:a16="http://schemas.microsoft.com/office/drawing/2014/main" id="{4789C9B8-13B5-8041-3A17-DBB870EE4EF7}"/>
              </a:ext>
            </a:extLst>
          </p:cNvPr>
          <p:cNvSpPr/>
          <p:nvPr/>
        </p:nvSpPr>
        <p:spPr>
          <a:xfrm>
            <a:off x="320040" y="914400"/>
            <a:ext cx="2697480" cy="4041648"/>
          </a:xfrm>
          <a:prstGeom prst="rect">
            <a:avLst/>
          </a:prstGeom>
          <a:solidFill>
            <a:srgbClr val="FFFFFF"/>
          </a:solidFill>
          <a:ln w="12700">
            <a:solidFill>
              <a:srgbClr val="D6E4EC"/>
            </a:solidFill>
            <a:prstDash val="solid"/>
          </a:ln>
          <a:effectLst>
            <a:outerShdw blurRad="63500" dist="25400" dir="8100000" algn="bl" rotWithShape="0">
              <a:srgbClr val="000000">
                <a:alpha val="9000"/>
              </a:srgbClr>
            </a:outerShdw>
          </a:effectLst>
        </p:spPr>
        <p:txBody>
          <a:bodyPr/>
          <a:lstStyle/>
          <a:p>
            <a:endParaRPr lang="en-US"/>
          </a:p>
        </p:txBody>
      </p:sp>
      <p:sp>
        <p:nvSpPr>
          <p:cNvPr id="5" name="Shape 3">
            <a:extLst>
              <a:ext uri="{FF2B5EF4-FFF2-40B4-BE49-F238E27FC236}">
                <a16:creationId xmlns:a16="http://schemas.microsoft.com/office/drawing/2014/main" id="{4C725F88-7B81-CB3B-1BF6-A4DFECB1C759}"/>
              </a:ext>
            </a:extLst>
          </p:cNvPr>
          <p:cNvSpPr/>
          <p:nvPr/>
        </p:nvSpPr>
        <p:spPr>
          <a:xfrm>
            <a:off x="320040" y="914400"/>
            <a:ext cx="2697480" cy="502920"/>
          </a:xfrm>
          <a:prstGeom prst="rect">
            <a:avLst/>
          </a:prstGeom>
          <a:solidFill>
            <a:srgbClr val="9EC8D8"/>
          </a:solidFill>
          <a:ln w="12700">
            <a:solidFill>
              <a:srgbClr val="9EC8D8"/>
            </a:solidFill>
            <a:prstDash val="solid"/>
          </a:ln>
        </p:spPr>
        <p:txBody>
          <a:bodyPr/>
          <a:lstStyle/>
          <a:p>
            <a:endParaRPr lang="en-US"/>
          </a:p>
        </p:txBody>
      </p:sp>
      <p:sp>
        <p:nvSpPr>
          <p:cNvPr id="6" name="Text 4">
            <a:extLst>
              <a:ext uri="{FF2B5EF4-FFF2-40B4-BE49-F238E27FC236}">
                <a16:creationId xmlns:a16="http://schemas.microsoft.com/office/drawing/2014/main" id="{63A8369D-3D07-E808-19DF-8EDD48D74490}"/>
              </a:ext>
            </a:extLst>
          </p:cNvPr>
          <p:cNvSpPr/>
          <p:nvPr/>
        </p:nvSpPr>
        <p:spPr>
          <a:xfrm>
            <a:off x="411480" y="932688"/>
            <a:ext cx="2514600" cy="457200"/>
          </a:xfrm>
          <a:prstGeom prst="rect">
            <a:avLst/>
          </a:prstGeom>
          <a:noFill/>
          <a:ln/>
        </p:spPr>
        <p:txBody>
          <a:bodyPr wrap="square" lIns="0" tIns="0" rIns="0" bIns="0" rtlCol="0" anchor="ctr"/>
          <a:lstStyle/>
          <a:p>
            <a:pPr marL="0" indent="0" algn="ctr">
              <a:buNone/>
            </a:pPr>
            <a:r>
              <a:rPr lang="en-US" sz="1700" b="1" dirty="0">
                <a:solidFill>
                  <a:srgbClr val="FFFFFF"/>
                </a:solidFill>
                <a:latin typeface="Cambria" pitchFamily="34" charset="0"/>
                <a:ea typeface="Cambria" pitchFamily="34" charset="-122"/>
                <a:cs typeface="Cambria" pitchFamily="34" charset="-120"/>
              </a:rPr>
              <a:t>Univariate</a:t>
            </a:r>
            <a:endParaRPr lang="en-US" sz="1700" dirty="0"/>
          </a:p>
        </p:txBody>
      </p:sp>
      <p:sp>
        <p:nvSpPr>
          <p:cNvPr id="7" name="Text 5">
            <a:extLst>
              <a:ext uri="{FF2B5EF4-FFF2-40B4-BE49-F238E27FC236}">
                <a16:creationId xmlns:a16="http://schemas.microsoft.com/office/drawing/2014/main" id="{329EBFE3-D096-C32A-68CB-8F2CCD573C03}"/>
              </a:ext>
            </a:extLst>
          </p:cNvPr>
          <p:cNvSpPr/>
          <p:nvPr/>
        </p:nvSpPr>
        <p:spPr>
          <a:xfrm>
            <a:off x="429768" y="1481328"/>
            <a:ext cx="2487168" cy="914400"/>
          </a:xfrm>
          <a:prstGeom prst="rect">
            <a:avLst/>
          </a:prstGeom>
          <a:noFill/>
          <a:ln/>
        </p:spPr>
        <p:txBody>
          <a:bodyPr wrap="square" lIns="0" tIns="0" rIns="0" bIns="0" rtlCol="0" anchor="t"/>
          <a:lstStyle/>
          <a:p>
            <a:pPr marL="0" indent="0">
              <a:buNone/>
            </a:pPr>
            <a:r>
              <a:rPr lang="en-US" sz="1150" i="1" dirty="0">
                <a:solidFill>
                  <a:srgbClr val="5A7080"/>
                </a:solidFill>
                <a:latin typeface="Calibri" pitchFamily="34" charset="0"/>
                <a:ea typeface="Calibri" pitchFamily="34" charset="-122"/>
                <a:cs typeface="Calibri" pitchFamily="34" charset="-120"/>
              </a:rPr>
              <a:t>Analysis of a single variable — describe or test its distribution</a:t>
            </a:r>
            <a:endParaRPr lang="en-US" sz="1150" dirty="0"/>
          </a:p>
        </p:txBody>
      </p:sp>
      <p:sp>
        <p:nvSpPr>
          <p:cNvPr id="8" name="Shape 6">
            <a:extLst>
              <a:ext uri="{FF2B5EF4-FFF2-40B4-BE49-F238E27FC236}">
                <a16:creationId xmlns:a16="http://schemas.microsoft.com/office/drawing/2014/main" id="{67AC2E4F-B169-5F01-D4A0-3FF8A78E9570}"/>
              </a:ext>
            </a:extLst>
          </p:cNvPr>
          <p:cNvSpPr/>
          <p:nvPr/>
        </p:nvSpPr>
        <p:spPr>
          <a:xfrm>
            <a:off x="429768" y="2423160"/>
            <a:ext cx="2487168" cy="36576"/>
          </a:xfrm>
          <a:prstGeom prst="rect">
            <a:avLst/>
          </a:prstGeom>
          <a:solidFill>
            <a:srgbClr val="D6E4EC"/>
          </a:solidFill>
          <a:ln w="12700">
            <a:solidFill>
              <a:srgbClr val="D6E4EC"/>
            </a:solidFill>
            <a:prstDash val="solid"/>
          </a:ln>
        </p:spPr>
        <p:txBody>
          <a:bodyPr/>
          <a:lstStyle/>
          <a:p>
            <a:endParaRPr lang="en-US"/>
          </a:p>
        </p:txBody>
      </p:sp>
      <p:sp>
        <p:nvSpPr>
          <p:cNvPr id="9" name="Text 7">
            <a:extLst>
              <a:ext uri="{FF2B5EF4-FFF2-40B4-BE49-F238E27FC236}">
                <a16:creationId xmlns:a16="http://schemas.microsoft.com/office/drawing/2014/main" id="{15F02B72-A55E-81C0-C6D5-741310CF822D}"/>
              </a:ext>
            </a:extLst>
          </p:cNvPr>
          <p:cNvSpPr/>
          <p:nvPr/>
        </p:nvSpPr>
        <p:spPr>
          <a:xfrm>
            <a:off x="429768" y="2487168"/>
            <a:ext cx="2487168" cy="320040"/>
          </a:xfrm>
          <a:prstGeom prst="rect">
            <a:avLst/>
          </a:prstGeom>
          <a:noFill/>
          <a:ln/>
        </p:spPr>
        <p:txBody>
          <a:bodyPr wrap="square" lIns="0" tIns="0" rIns="0" bIns="0" rtlCol="0" anchor="ctr"/>
          <a:lstStyle/>
          <a:p>
            <a:pPr marL="0" indent="0">
              <a:buNone/>
            </a:pPr>
            <a:r>
              <a:rPr lang="en-US" sz="1150" b="1" dirty="0">
                <a:solidFill>
                  <a:srgbClr val="9EC8D8"/>
                </a:solidFill>
                <a:latin typeface="Calibri" pitchFamily="34" charset="0"/>
                <a:ea typeface="Calibri" pitchFamily="34" charset="-122"/>
                <a:cs typeface="Calibri" pitchFamily="34" charset="-120"/>
              </a:rPr>
              <a:t>Examples:</a:t>
            </a:r>
            <a:endParaRPr lang="en-US" sz="1150" dirty="0"/>
          </a:p>
        </p:txBody>
      </p:sp>
      <p:sp>
        <p:nvSpPr>
          <p:cNvPr id="10" name="Text 8">
            <a:extLst>
              <a:ext uri="{FF2B5EF4-FFF2-40B4-BE49-F238E27FC236}">
                <a16:creationId xmlns:a16="http://schemas.microsoft.com/office/drawing/2014/main" id="{DAFA8988-D21A-73EC-5BE0-87F72C3CB31E}"/>
              </a:ext>
            </a:extLst>
          </p:cNvPr>
          <p:cNvSpPr/>
          <p:nvPr/>
        </p:nvSpPr>
        <p:spPr>
          <a:xfrm>
            <a:off x="429768" y="2807208"/>
            <a:ext cx="2487168" cy="2011680"/>
          </a:xfrm>
          <a:prstGeom prst="rect">
            <a:avLst/>
          </a:prstGeom>
          <a:noFill/>
          <a:ln/>
        </p:spPr>
        <p:txBody>
          <a:bodyPr wrap="square" lIns="0" tIns="0" rIns="0" bIns="0" rtlCol="0" anchor="t"/>
          <a:lstStyle/>
          <a:p>
            <a:pPr marL="342900" indent="-342900">
              <a:buSzPct val="100000"/>
              <a:buChar char="•"/>
            </a:pPr>
            <a:r>
              <a:rPr lang="en-US" sz="1150" dirty="0">
                <a:solidFill>
                  <a:srgbClr val="1A2D3D"/>
                </a:solidFill>
                <a:latin typeface="Calibri" pitchFamily="34" charset="0"/>
                <a:ea typeface="Calibri" pitchFamily="34" charset="-122"/>
                <a:cs typeface="Calibri" pitchFamily="34" charset="-120"/>
              </a:rPr>
              <a:t>Mean BMI in a sample</a:t>
            </a:r>
            <a:endParaRPr lang="en-US" sz="1150" dirty="0"/>
          </a:p>
          <a:p>
            <a:pPr marL="342900" indent="-342900">
              <a:buSzPct val="100000"/>
              <a:buChar char="•"/>
            </a:pPr>
            <a:r>
              <a:rPr lang="en-US" sz="1150" dirty="0">
                <a:solidFill>
                  <a:srgbClr val="1A2D3D"/>
                </a:solidFill>
                <a:latin typeface="Calibri" pitchFamily="34" charset="0"/>
                <a:ea typeface="Calibri" pitchFamily="34" charset="-122"/>
                <a:cs typeface="Calibri" pitchFamily="34" charset="-120"/>
              </a:rPr>
              <a:t>Prevalence of diabetes</a:t>
            </a:r>
            <a:endParaRPr lang="en-US" sz="1150" dirty="0"/>
          </a:p>
          <a:p>
            <a:pPr marL="342900" indent="-342900">
              <a:buSzPct val="100000"/>
              <a:buChar char="•"/>
            </a:pPr>
            <a:r>
              <a:rPr lang="en-US" sz="1150" dirty="0">
                <a:solidFill>
                  <a:srgbClr val="1A2D3D"/>
                </a:solidFill>
                <a:latin typeface="Calibri" pitchFamily="34" charset="0"/>
                <a:ea typeface="Calibri" pitchFamily="34" charset="-122"/>
                <a:cs typeface="Calibri" pitchFamily="34" charset="-120"/>
              </a:rPr>
              <a:t>t-test: BMI in smokers vs non-smokers (one DV)</a:t>
            </a:r>
            <a:endParaRPr lang="en-US" sz="1150" dirty="0"/>
          </a:p>
        </p:txBody>
      </p:sp>
      <p:sp>
        <p:nvSpPr>
          <p:cNvPr id="11" name="Shape 9">
            <a:extLst>
              <a:ext uri="{FF2B5EF4-FFF2-40B4-BE49-F238E27FC236}">
                <a16:creationId xmlns:a16="http://schemas.microsoft.com/office/drawing/2014/main" id="{466183C4-1918-3A68-0D11-E7964AD93F3E}"/>
              </a:ext>
            </a:extLst>
          </p:cNvPr>
          <p:cNvSpPr/>
          <p:nvPr/>
        </p:nvSpPr>
        <p:spPr>
          <a:xfrm>
            <a:off x="3154680" y="914400"/>
            <a:ext cx="2697480" cy="4041648"/>
          </a:xfrm>
          <a:prstGeom prst="rect">
            <a:avLst/>
          </a:prstGeom>
          <a:solidFill>
            <a:srgbClr val="FFFFFF"/>
          </a:solidFill>
          <a:ln w="12700">
            <a:solidFill>
              <a:srgbClr val="D6E4EC"/>
            </a:solidFill>
            <a:prstDash val="solid"/>
          </a:ln>
          <a:effectLst>
            <a:outerShdw blurRad="63500" dist="25400" dir="8100000" algn="bl" rotWithShape="0">
              <a:srgbClr val="000000">
                <a:alpha val="9000"/>
              </a:srgbClr>
            </a:outerShdw>
          </a:effectLst>
        </p:spPr>
        <p:txBody>
          <a:bodyPr/>
          <a:lstStyle/>
          <a:p>
            <a:endParaRPr lang="en-US"/>
          </a:p>
        </p:txBody>
      </p:sp>
      <p:sp>
        <p:nvSpPr>
          <p:cNvPr id="12" name="Shape 10">
            <a:extLst>
              <a:ext uri="{FF2B5EF4-FFF2-40B4-BE49-F238E27FC236}">
                <a16:creationId xmlns:a16="http://schemas.microsoft.com/office/drawing/2014/main" id="{72DF05C1-B901-3DC4-1BD4-D92ACB2AF3EC}"/>
              </a:ext>
            </a:extLst>
          </p:cNvPr>
          <p:cNvSpPr/>
          <p:nvPr/>
        </p:nvSpPr>
        <p:spPr>
          <a:xfrm>
            <a:off x="3154680" y="914400"/>
            <a:ext cx="2697480" cy="502920"/>
          </a:xfrm>
          <a:prstGeom prst="rect">
            <a:avLst/>
          </a:prstGeom>
          <a:solidFill>
            <a:srgbClr val="E8A838"/>
          </a:solidFill>
          <a:ln w="12700">
            <a:solidFill>
              <a:srgbClr val="E8A838"/>
            </a:solidFill>
            <a:prstDash val="solid"/>
          </a:ln>
        </p:spPr>
        <p:txBody>
          <a:bodyPr/>
          <a:lstStyle/>
          <a:p>
            <a:endParaRPr lang="en-US"/>
          </a:p>
        </p:txBody>
      </p:sp>
      <p:sp>
        <p:nvSpPr>
          <p:cNvPr id="13" name="Text 11">
            <a:extLst>
              <a:ext uri="{FF2B5EF4-FFF2-40B4-BE49-F238E27FC236}">
                <a16:creationId xmlns:a16="http://schemas.microsoft.com/office/drawing/2014/main" id="{22BFD786-8EB7-616A-B542-9B55A13309DD}"/>
              </a:ext>
            </a:extLst>
          </p:cNvPr>
          <p:cNvSpPr/>
          <p:nvPr/>
        </p:nvSpPr>
        <p:spPr>
          <a:xfrm>
            <a:off x="3246120" y="932688"/>
            <a:ext cx="2514600" cy="457200"/>
          </a:xfrm>
          <a:prstGeom prst="rect">
            <a:avLst/>
          </a:prstGeom>
          <a:noFill/>
          <a:ln/>
        </p:spPr>
        <p:txBody>
          <a:bodyPr wrap="square" lIns="0" tIns="0" rIns="0" bIns="0" rtlCol="0" anchor="ctr"/>
          <a:lstStyle/>
          <a:p>
            <a:pPr marL="0" indent="0" algn="ctr">
              <a:buNone/>
            </a:pPr>
            <a:r>
              <a:rPr lang="en-US" sz="1700" b="1" dirty="0">
                <a:solidFill>
                  <a:srgbClr val="FFFFFF"/>
                </a:solidFill>
                <a:latin typeface="Cambria" pitchFamily="34" charset="0"/>
                <a:ea typeface="Cambria" pitchFamily="34" charset="-122"/>
                <a:cs typeface="Cambria" pitchFamily="34" charset="-120"/>
              </a:rPr>
              <a:t>Bivariate</a:t>
            </a:r>
            <a:endParaRPr lang="en-US" sz="1700" dirty="0"/>
          </a:p>
        </p:txBody>
      </p:sp>
      <p:sp>
        <p:nvSpPr>
          <p:cNvPr id="14" name="Text 12">
            <a:extLst>
              <a:ext uri="{FF2B5EF4-FFF2-40B4-BE49-F238E27FC236}">
                <a16:creationId xmlns:a16="http://schemas.microsoft.com/office/drawing/2014/main" id="{029C3C9B-9808-DBAA-E949-78D27E73EF87}"/>
              </a:ext>
            </a:extLst>
          </p:cNvPr>
          <p:cNvSpPr/>
          <p:nvPr/>
        </p:nvSpPr>
        <p:spPr>
          <a:xfrm>
            <a:off x="3264408" y="1481328"/>
            <a:ext cx="2487168" cy="914400"/>
          </a:xfrm>
          <a:prstGeom prst="rect">
            <a:avLst/>
          </a:prstGeom>
          <a:noFill/>
          <a:ln/>
        </p:spPr>
        <p:txBody>
          <a:bodyPr wrap="square" lIns="0" tIns="0" rIns="0" bIns="0" rtlCol="0" anchor="t"/>
          <a:lstStyle/>
          <a:p>
            <a:pPr marL="0" indent="0">
              <a:buNone/>
            </a:pPr>
            <a:r>
              <a:rPr lang="en-US" sz="1150" i="1" dirty="0">
                <a:solidFill>
                  <a:srgbClr val="5A7080"/>
                </a:solidFill>
                <a:latin typeface="Calibri" pitchFamily="34" charset="0"/>
                <a:ea typeface="Calibri" pitchFamily="34" charset="-122"/>
                <a:cs typeface="Calibri" pitchFamily="34" charset="-120"/>
              </a:rPr>
              <a:t>Relationship between exactly two variables</a:t>
            </a:r>
            <a:endParaRPr lang="en-US" sz="1150" dirty="0"/>
          </a:p>
        </p:txBody>
      </p:sp>
      <p:sp>
        <p:nvSpPr>
          <p:cNvPr id="15" name="Shape 13">
            <a:extLst>
              <a:ext uri="{FF2B5EF4-FFF2-40B4-BE49-F238E27FC236}">
                <a16:creationId xmlns:a16="http://schemas.microsoft.com/office/drawing/2014/main" id="{E18F64F1-59E3-8331-9673-1F4849C4FD8A}"/>
              </a:ext>
            </a:extLst>
          </p:cNvPr>
          <p:cNvSpPr/>
          <p:nvPr/>
        </p:nvSpPr>
        <p:spPr>
          <a:xfrm>
            <a:off x="3264408" y="2423160"/>
            <a:ext cx="2487168" cy="36576"/>
          </a:xfrm>
          <a:prstGeom prst="rect">
            <a:avLst/>
          </a:prstGeom>
          <a:solidFill>
            <a:srgbClr val="D6E4EC"/>
          </a:solidFill>
          <a:ln w="12700">
            <a:solidFill>
              <a:srgbClr val="D6E4EC"/>
            </a:solidFill>
            <a:prstDash val="solid"/>
          </a:ln>
        </p:spPr>
        <p:txBody>
          <a:bodyPr/>
          <a:lstStyle/>
          <a:p>
            <a:endParaRPr lang="en-US"/>
          </a:p>
        </p:txBody>
      </p:sp>
      <p:sp>
        <p:nvSpPr>
          <p:cNvPr id="16" name="Text 14">
            <a:extLst>
              <a:ext uri="{FF2B5EF4-FFF2-40B4-BE49-F238E27FC236}">
                <a16:creationId xmlns:a16="http://schemas.microsoft.com/office/drawing/2014/main" id="{C2B893E0-9C0D-048A-E049-5BA103C40C57}"/>
              </a:ext>
            </a:extLst>
          </p:cNvPr>
          <p:cNvSpPr/>
          <p:nvPr/>
        </p:nvSpPr>
        <p:spPr>
          <a:xfrm>
            <a:off x="3264408" y="2487168"/>
            <a:ext cx="2487168" cy="320040"/>
          </a:xfrm>
          <a:prstGeom prst="rect">
            <a:avLst/>
          </a:prstGeom>
          <a:noFill/>
          <a:ln/>
        </p:spPr>
        <p:txBody>
          <a:bodyPr wrap="square" lIns="0" tIns="0" rIns="0" bIns="0" rtlCol="0" anchor="ctr"/>
          <a:lstStyle/>
          <a:p>
            <a:pPr marL="0" indent="0">
              <a:buNone/>
            </a:pPr>
            <a:r>
              <a:rPr lang="en-US" sz="1150" b="1" dirty="0">
                <a:solidFill>
                  <a:srgbClr val="E8A838"/>
                </a:solidFill>
                <a:latin typeface="Calibri" pitchFamily="34" charset="0"/>
                <a:ea typeface="Calibri" pitchFamily="34" charset="-122"/>
                <a:cs typeface="Calibri" pitchFamily="34" charset="-120"/>
              </a:rPr>
              <a:t>Examples:</a:t>
            </a:r>
            <a:endParaRPr lang="en-US" sz="1150" dirty="0"/>
          </a:p>
        </p:txBody>
      </p:sp>
      <p:sp>
        <p:nvSpPr>
          <p:cNvPr id="17" name="Text 15">
            <a:extLst>
              <a:ext uri="{FF2B5EF4-FFF2-40B4-BE49-F238E27FC236}">
                <a16:creationId xmlns:a16="http://schemas.microsoft.com/office/drawing/2014/main" id="{46BB40AE-DC3A-D255-9981-32614C638542}"/>
              </a:ext>
            </a:extLst>
          </p:cNvPr>
          <p:cNvSpPr/>
          <p:nvPr/>
        </p:nvSpPr>
        <p:spPr>
          <a:xfrm>
            <a:off x="3264408" y="2807208"/>
            <a:ext cx="2487168" cy="2011680"/>
          </a:xfrm>
          <a:prstGeom prst="rect">
            <a:avLst/>
          </a:prstGeom>
          <a:noFill/>
          <a:ln/>
        </p:spPr>
        <p:txBody>
          <a:bodyPr wrap="square" lIns="0" tIns="0" rIns="0" bIns="0" rtlCol="0" anchor="t"/>
          <a:lstStyle/>
          <a:p>
            <a:pPr marL="342900" indent="-342900">
              <a:buSzPct val="100000"/>
              <a:buChar char="•"/>
            </a:pPr>
            <a:r>
              <a:rPr lang="en-US" sz="1150" dirty="0">
                <a:solidFill>
                  <a:srgbClr val="1A2D3D"/>
                </a:solidFill>
                <a:latin typeface="Calibri" pitchFamily="34" charset="0"/>
                <a:ea typeface="Calibri" pitchFamily="34" charset="-122"/>
                <a:cs typeface="Calibri" pitchFamily="34" charset="-120"/>
              </a:rPr>
              <a:t>Correlation: BMI &amp; blood pressure</a:t>
            </a:r>
            <a:endParaRPr lang="en-US" sz="1150" dirty="0"/>
          </a:p>
          <a:p>
            <a:pPr marL="342900" indent="-342900">
              <a:buSzPct val="100000"/>
              <a:buChar char="•"/>
            </a:pPr>
            <a:r>
              <a:rPr lang="en-US" sz="1150" dirty="0">
                <a:solidFill>
                  <a:srgbClr val="1A2D3D"/>
                </a:solidFill>
                <a:latin typeface="Calibri" pitchFamily="34" charset="0"/>
                <a:ea typeface="Calibri" pitchFamily="34" charset="-122"/>
                <a:cs typeface="Calibri" pitchFamily="34" charset="-120"/>
              </a:rPr>
              <a:t>Chi-square: smoking × disease</a:t>
            </a:r>
            <a:endParaRPr lang="en-US" sz="1150" dirty="0"/>
          </a:p>
          <a:p>
            <a:pPr marL="342900" indent="-342900">
              <a:buSzPct val="100000"/>
              <a:buChar char="•"/>
            </a:pPr>
            <a:r>
              <a:rPr lang="en-US" sz="1150" dirty="0">
                <a:solidFill>
                  <a:srgbClr val="1A2D3D"/>
                </a:solidFill>
                <a:latin typeface="Calibri" pitchFamily="34" charset="0"/>
                <a:ea typeface="Calibri" pitchFamily="34" charset="-122"/>
                <a:cs typeface="Calibri" pitchFamily="34" charset="-120"/>
              </a:rPr>
              <a:t>Simple linear regression</a:t>
            </a:r>
            <a:endParaRPr lang="en-US" sz="1150" dirty="0"/>
          </a:p>
        </p:txBody>
      </p:sp>
      <p:sp>
        <p:nvSpPr>
          <p:cNvPr id="18" name="Shape 16">
            <a:extLst>
              <a:ext uri="{FF2B5EF4-FFF2-40B4-BE49-F238E27FC236}">
                <a16:creationId xmlns:a16="http://schemas.microsoft.com/office/drawing/2014/main" id="{E21AB5AE-A49D-77B0-4E2D-6CAD216F4841}"/>
              </a:ext>
            </a:extLst>
          </p:cNvPr>
          <p:cNvSpPr/>
          <p:nvPr/>
        </p:nvSpPr>
        <p:spPr>
          <a:xfrm>
            <a:off x="5989320" y="914400"/>
            <a:ext cx="2697480" cy="4041648"/>
          </a:xfrm>
          <a:prstGeom prst="rect">
            <a:avLst/>
          </a:prstGeom>
          <a:solidFill>
            <a:srgbClr val="FFFFFF"/>
          </a:solidFill>
          <a:ln w="12700">
            <a:solidFill>
              <a:srgbClr val="D6E4EC"/>
            </a:solidFill>
            <a:prstDash val="solid"/>
          </a:ln>
          <a:effectLst>
            <a:outerShdw blurRad="63500" dist="25400" dir="8100000" algn="bl" rotWithShape="0">
              <a:srgbClr val="000000">
                <a:alpha val="9000"/>
              </a:srgbClr>
            </a:outerShdw>
          </a:effectLst>
        </p:spPr>
        <p:txBody>
          <a:bodyPr/>
          <a:lstStyle/>
          <a:p>
            <a:endParaRPr lang="en-US"/>
          </a:p>
        </p:txBody>
      </p:sp>
      <p:sp>
        <p:nvSpPr>
          <p:cNvPr id="19" name="Shape 17">
            <a:extLst>
              <a:ext uri="{FF2B5EF4-FFF2-40B4-BE49-F238E27FC236}">
                <a16:creationId xmlns:a16="http://schemas.microsoft.com/office/drawing/2014/main" id="{8DC63713-AC69-D7D6-4411-C109CD129D8C}"/>
              </a:ext>
            </a:extLst>
          </p:cNvPr>
          <p:cNvSpPr/>
          <p:nvPr/>
        </p:nvSpPr>
        <p:spPr>
          <a:xfrm>
            <a:off x="5989320" y="914400"/>
            <a:ext cx="2697480" cy="502920"/>
          </a:xfrm>
          <a:prstGeom prst="rect">
            <a:avLst/>
          </a:prstGeom>
          <a:solidFill>
            <a:srgbClr val="065A82"/>
          </a:solidFill>
          <a:ln w="12700">
            <a:solidFill>
              <a:srgbClr val="065A82"/>
            </a:solidFill>
            <a:prstDash val="solid"/>
          </a:ln>
        </p:spPr>
        <p:txBody>
          <a:bodyPr/>
          <a:lstStyle/>
          <a:p>
            <a:endParaRPr lang="en-US"/>
          </a:p>
        </p:txBody>
      </p:sp>
      <p:sp>
        <p:nvSpPr>
          <p:cNvPr id="20" name="Text 18">
            <a:extLst>
              <a:ext uri="{FF2B5EF4-FFF2-40B4-BE49-F238E27FC236}">
                <a16:creationId xmlns:a16="http://schemas.microsoft.com/office/drawing/2014/main" id="{1CA05FA3-2E1C-A655-E56B-A62DA5FBA8CA}"/>
              </a:ext>
            </a:extLst>
          </p:cNvPr>
          <p:cNvSpPr/>
          <p:nvPr/>
        </p:nvSpPr>
        <p:spPr>
          <a:xfrm>
            <a:off x="6080760" y="932688"/>
            <a:ext cx="2514600" cy="457200"/>
          </a:xfrm>
          <a:prstGeom prst="rect">
            <a:avLst/>
          </a:prstGeom>
          <a:noFill/>
          <a:ln/>
        </p:spPr>
        <p:txBody>
          <a:bodyPr wrap="square" lIns="0" tIns="0" rIns="0" bIns="0" rtlCol="0" anchor="ctr"/>
          <a:lstStyle/>
          <a:p>
            <a:pPr marL="0" indent="0" algn="ctr">
              <a:buNone/>
            </a:pPr>
            <a:r>
              <a:rPr lang="en-US" sz="1700" b="1" dirty="0">
                <a:solidFill>
                  <a:srgbClr val="FFFFFF"/>
                </a:solidFill>
                <a:latin typeface="Cambria" pitchFamily="34" charset="0"/>
                <a:ea typeface="Cambria" pitchFamily="34" charset="-122"/>
                <a:cs typeface="Cambria" pitchFamily="34" charset="-120"/>
              </a:rPr>
              <a:t>Multivariate</a:t>
            </a:r>
            <a:endParaRPr lang="en-US" sz="1700" dirty="0"/>
          </a:p>
        </p:txBody>
      </p:sp>
      <p:sp>
        <p:nvSpPr>
          <p:cNvPr id="21" name="Text 19">
            <a:extLst>
              <a:ext uri="{FF2B5EF4-FFF2-40B4-BE49-F238E27FC236}">
                <a16:creationId xmlns:a16="http://schemas.microsoft.com/office/drawing/2014/main" id="{09754284-3A88-EEE4-3A78-02C0F3351D38}"/>
              </a:ext>
            </a:extLst>
          </p:cNvPr>
          <p:cNvSpPr/>
          <p:nvPr/>
        </p:nvSpPr>
        <p:spPr>
          <a:xfrm>
            <a:off x="6099048" y="1481328"/>
            <a:ext cx="2487168" cy="914400"/>
          </a:xfrm>
          <a:prstGeom prst="rect">
            <a:avLst/>
          </a:prstGeom>
          <a:noFill/>
          <a:ln/>
        </p:spPr>
        <p:txBody>
          <a:bodyPr wrap="square" lIns="0" tIns="0" rIns="0" bIns="0" rtlCol="0" anchor="t"/>
          <a:lstStyle/>
          <a:p>
            <a:pPr marL="0" indent="0">
              <a:buNone/>
            </a:pPr>
            <a:r>
              <a:rPr lang="en-US" sz="1150" i="1" dirty="0">
                <a:solidFill>
                  <a:srgbClr val="5A7080"/>
                </a:solidFill>
                <a:latin typeface="Calibri" pitchFamily="34" charset="0"/>
                <a:ea typeface="Calibri" pitchFamily="34" charset="-122"/>
                <a:cs typeface="Calibri" pitchFamily="34" charset="-120"/>
              </a:rPr>
              <a:t>Simultaneous analysis of three or more variables</a:t>
            </a:r>
            <a:endParaRPr lang="en-US" sz="1150" dirty="0"/>
          </a:p>
        </p:txBody>
      </p:sp>
      <p:sp>
        <p:nvSpPr>
          <p:cNvPr id="22" name="Shape 20">
            <a:extLst>
              <a:ext uri="{FF2B5EF4-FFF2-40B4-BE49-F238E27FC236}">
                <a16:creationId xmlns:a16="http://schemas.microsoft.com/office/drawing/2014/main" id="{CAECDB9F-5267-A3CD-F78D-776A8C9D8F5B}"/>
              </a:ext>
            </a:extLst>
          </p:cNvPr>
          <p:cNvSpPr/>
          <p:nvPr/>
        </p:nvSpPr>
        <p:spPr>
          <a:xfrm>
            <a:off x="6099048" y="2423160"/>
            <a:ext cx="2487168" cy="36576"/>
          </a:xfrm>
          <a:prstGeom prst="rect">
            <a:avLst/>
          </a:prstGeom>
          <a:solidFill>
            <a:srgbClr val="D6E4EC"/>
          </a:solidFill>
          <a:ln w="12700">
            <a:solidFill>
              <a:srgbClr val="D6E4EC"/>
            </a:solidFill>
            <a:prstDash val="solid"/>
          </a:ln>
        </p:spPr>
        <p:txBody>
          <a:bodyPr/>
          <a:lstStyle/>
          <a:p>
            <a:endParaRPr lang="en-US"/>
          </a:p>
        </p:txBody>
      </p:sp>
      <p:sp>
        <p:nvSpPr>
          <p:cNvPr id="23" name="Text 21">
            <a:extLst>
              <a:ext uri="{FF2B5EF4-FFF2-40B4-BE49-F238E27FC236}">
                <a16:creationId xmlns:a16="http://schemas.microsoft.com/office/drawing/2014/main" id="{62ED3C8C-CD32-17F4-ED29-50C508813334}"/>
              </a:ext>
            </a:extLst>
          </p:cNvPr>
          <p:cNvSpPr/>
          <p:nvPr/>
        </p:nvSpPr>
        <p:spPr>
          <a:xfrm>
            <a:off x="6099048" y="2487168"/>
            <a:ext cx="2487168" cy="320040"/>
          </a:xfrm>
          <a:prstGeom prst="rect">
            <a:avLst/>
          </a:prstGeom>
          <a:noFill/>
          <a:ln/>
        </p:spPr>
        <p:txBody>
          <a:bodyPr wrap="square" lIns="0" tIns="0" rIns="0" bIns="0" rtlCol="0" anchor="ctr"/>
          <a:lstStyle/>
          <a:p>
            <a:pPr marL="0" indent="0">
              <a:buNone/>
            </a:pPr>
            <a:r>
              <a:rPr lang="en-US" sz="1150" b="1" dirty="0">
                <a:solidFill>
                  <a:srgbClr val="065A82"/>
                </a:solidFill>
                <a:latin typeface="Calibri" pitchFamily="34" charset="0"/>
                <a:ea typeface="Calibri" pitchFamily="34" charset="-122"/>
                <a:cs typeface="Calibri" pitchFamily="34" charset="-120"/>
              </a:rPr>
              <a:t>Examples:</a:t>
            </a:r>
            <a:endParaRPr lang="en-US" sz="1150" dirty="0"/>
          </a:p>
        </p:txBody>
      </p:sp>
      <p:sp>
        <p:nvSpPr>
          <p:cNvPr id="24" name="Text 22">
            <a:extLst>
              <a:ext uri="{FF2B5EF4-FFF2-40B4-BE49-F238E27FC236}">
                <a16:creationId xmlns:a16="http://schemas.microsoft.com/office/drawing/2014/main" id="{63B996C5-8077-3A54-6E66-55554C59C2EF}"/>
              </a:ext>
            </a:extLst>
          </p:cNvPr>
          <p:cNvSpPr/>
          <p:nvPr/>
        </p:nvSpPr>
        <p:spPr>
          <a:xfrm>
            <a:off x="6099048" y="2807208"/>
            <a:ext cx="2487168" cy="2011680"/>
          </a:xfrm>
          <a:prstGeom prst="rect">
            <a:avLst/>
          </a:prstGeom>
          <a:noFill/>
          <a:ln/>
        </p:spPr>
        <p:txBody>
          <a:bodyPr wrap="square" lIns="0" tIns="0" rIns="0" bIns="0" rtlCol="0" anchor="t"/>
          <a:lstStyle/>
          <a:p>
            <a:pPr marL="342900" indent="-342900">
              <a:buSzPct val="100000"/>
              <a:buChar char="•"/>
            </a:pPr>
            <a:r>
              <a:rPr lang="en-US" sz="1150" dirty="0">
                <a:solidFill>
                  <a:srgbClr val="1A2D3D"/>
                </a:solidFill>
                <a:latin typeface="Calibri" pitchFamily="34" charset="0"/>
                <a:ea typeface="Calibri" pitchFamily="34" charset="-122"/>
                <a:cs typeface="Calibri" pitchFamily="34" charset="-120"/>
              </a:rPr>
              <a:t>Multiple regression: BP ~ BMI + age + smoking + SES</a:t>
            </a:r>
            <a:endParaRPr lang="en-US" sz="1150" dirty="0"/>
          </a:p>
          <a:p>
            <a:pPr marL="342900" indent="-342900">
              <a:buSzPct val="100000"/>
              <a:buChar char="•"/>
            </a:pPr>
            <a:r>
              <a:rPr lang="en-US" sz="1150" dirty="0">
                <a:solidFill>
                  <a:srgbClr val="1A2D3D"/>
                </a:solidFill>
                <a:latin typeface="Calibri" pitchFamily="34" charset="0"/>
                <a:ea typeface="Calibri" pitchFamily="34" charset="-122"/>
                <a:cs typeface="Calibri" pitchFamily="34" charset="-120"/>
              </a:rPr>
              <a:t>MANOVA: several outcomes at once</a:t>
            </a:r>
            <a:endParaRPr lang="en-US" sz="1150" dirty="0"/>
          </a:p>
          <a:p>
            <a:pPr marL="342900" indent="-342900">
              <a:buSzPct val="100000"/>
              <a:buChar char="•"/>
            </a:pPr>
            <a:r>
              <a:rPr lang="en-US" sz="1150" dirty="0">
                <a:solidFill>
                  <a:srgbClr val="1A2D3D"/>
                </a:solidFill>
                <a:latin typeface="Calibri" pitchFamily="34" charset="0"/>
                <a:ea typeface="Calibri" pitchFamily="34" charset="-122"/>
                <a:cs typeface="Calibri" pitchFamily="34" charset="-120"/>
              </a:rPr>
              <a:t>Factor analysis of 30 survey items</a:t>
            </a:r>
            <a:endParaRPr lang="en-US" sz="1150" dirty="0"/>
          </a:p>
        </p:txBody>
      </p:sp>
    </p:spTree>
    <p:extLst>
      <p:ext uri="{BB962C8B-B14F-4D97-AF65-F5344CB8AC3E}">
        <p14:creationId xmlns:p14="http://schemas.microsoft.com/office/powerpoint/2010/main" val="17205448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82296"/>
          </a:xfrm>
          <a:prstGeom prst="rect">
            <a:avLst/>
          </a:prstGeom>
          <a:solidFill>
            <a:srgbClr val="6D2E46"/>
          </a:solidFill>
          <a:ln w="12700">
            <a:solidFill>
              <a:srgbClr val="6D2E46"/>
            </a:solidFill>
            <a:prstDash val="solid"/>
          </a:ln>
        </p:spPr>
        <p:txBody>
          <a:bodyPr/>
          <a:lstStyle/>
          <a:p>
            <a:endParaRPr lang="en-US"/>
          </a:p>
        </p:txBody>
      </p:sp>
      <p:sp>
        <p:nvSpPr>
          <p:cNvPr id="3" name="Text 1"/>
          <p:cNvSpPr/>
          <p:nvPr/>
        </p:nvSpPr>
        <p:spPr>
          <a:xfrm>
            <a:off x="411480" y="137160"/>
            <a:ext cx="8321040" cy="658368"/>
          </a:xfrm>
          <a:prstGeom prst="rect">
            <a:avLst/>
          </a:prstGeom>
          <a:noFill/>
          <a:ln/>
        </p:spPr>
        <p:txBody>
          <a:bodyPr wrap="square" lIns="0" tIns="0" rIns="0" bIns="0" rtlCol="0" anchor="ctr"/>
          <a:lstStyle/>
          <a:p>
            <a:pPr marL="0" indent="0">
              <a:buNone/>
            </a:pPr>
            <a:r>
              <a:rPr lang="en-US" sz="2700" b="1" dirty="0">
                <a:solidFill>
                  <a:srgbClr val="6D2E46"/>
                </a:solidFill>
                <a:latin typeface="Georgia" pitchFamily="34" charset="0"/>
                <a:ea typeface="Georgia" pitchFamily="34" charset="-122"/>
                <a:cs typeface="Georgia" pitchFamily="34" charset="-120"/>
              </a:rPr>
              <a:t>Multivariate Analysis: Definition &amp; Rationale</a:t>
            </a:r>
            <a:endParaRPr lang="en-US" sz="2700" dirty="0"/>
          </a:p>
        </p:txBody>
      </p:sp>
      <p:sp>
        <p:nvSpPr>
          <p:cNvPr id="4" name="Text 2"/>
          <p:cNvSpPr/>
          <p:nvPr/>
        </p:nvSpPr>
        <p:spPr>
          <a:xfrm>
            <a:off x="411480" y="822960"/>
            <a:ext cx="8321040" cy="320040"/>
          </a:xfrm>
          <a:prstGeom prst="rect">
            <a:avLst/>
          </a:prstGeom>
          <a:noFill/>
          <a:ln/>
        </p:spPr>
        <p:txBody>
          <a:bodyPr wrap="square" lIns="0" tIns="0" rIns="0" bIns="0" rtlCol="0" anchor="ctr"/>
          <a:lstStyle/>
          <a:p>
            <a:pPr marL="0" indent="0">
              <a:buNone/>
            </a:pPr>
            <a:r>
              <a:rPr lang="en-US" sz="1300" i="1" dirty="0">
                <a:solidFill>
                  <a:srgbClr val="5C5F7A"/>
                </a:solidFill>
                <a:latin typeface="Calibri" pitchFamily="34" charset="0"/>
                <a:ea typeface="Calibri" pitchFamily="34" charset="-122"/>
                <a:cs typeface="Calibri" pitchFamily="34" charset="-120"/>
              </a:rPr>
              <a:t>When outcomes are interrelated, analysing them jointly is more powerful and more valid</a:t>
            </a:r>
            <a:endParaRPr lang="en-US" sz="1300" dirty="0"/>
          </a:p>
        </p:txBody>
      </p:sp>
      <p:sp>
        <p:nvSpPr>
          <p:cNvPr id="5" name="Shape 3"/>
          <p:cNvSpPr/>
          <p:nvPr/>
        </p:nvSpPr>
        <p:spPr>
          <a:xfrm>
            <a:off x="365760" y="1170432"/>
            <a:ext cx="8412480" cy="731520"/>
          </a:xfrm>
          <a:prstGeom prst="rect">
            <a:avLst/>
          </a:prstGeom>
          <a:solidFill>
            <a:srgbClr val="6D2E46"/>
          </a:solidFill>
          <a:ln w="12700">
            <a:solidFill>
              <a:srgbClr val="6D2E46"/>
            </a:solidFill>
            <a:prstDash val="solid"/>
          </a:ln>
        </p:spPr>
        <p:txBody>
          <a:bodyPr/>
          <a:lstStyle/>
          <a:p>
            <a:endParaRPr lang="en-US"/>
          </a:p>
        </p:txBody>
      </p:sp>
      <p:sp>
        <p:nvSpPr>
          <p:cNvPr id="6" name="Text 4"/>
          <p:cNvSpPr/>
          <p:nvPr/>
        </p:nvSpPr>
        <p:spPr>
          <a:xfrm>
            <a:off x="502920" y="1197864"/>
            <a:ext cx="8138160" cy="676656"/>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Multivariate analysis simultaneously analyses TWO OR MORE dependent variables. The joint analysis respects the correlational structure among outcomes and controls the experimentwise error rate (T&amp;F, Ch. 7).</a:t>
            </a:r>
            <a:endParaRPr lang="en-US" sz="1300" dirty="0"/>
          </a:p>
        </p:txBody>
      </p:sp>
      <p:sp>
        <p:nvSpPr>
          <p:cNvPr id="7" name="Shape 5"/>
          <p:cNvSpPr/>
          <p:nvPr/>
        </p:nvSpPr>
        <p:spPr>
          <a:xfrm>
            <a:off x="365760" y="2011680"/>
            <a:ext cx="4069080" cy="1344168"/>
          </a:xfrm>
          <a:prstGeom prst="rect">
            <a:avLst/>
          </a:prstGeom>
          <a:solidFill>
            <a:srgbClr val="FFFFFF"/>
          </a:solidFill>
          <a:ln w="12700">
            <a:solidFill>
              <a:srgbClr val="DDE0F0"/>
            </a:solidFill>
            <a:prstDash val="solid"/>
          </a:ln>
          <a:effectLst>
            <a:outerShdw blurRad="76200" dist="25400" dir="8100000" algn="bl" rotWithShape="0">
              <a:srgbClr val="000000">
                <a:alpha val="10000"/>
              </a:srgbClr>
            </a:outerShdw>
          </a:effectLst>
        </p:spPr>
        <p:txBody>
          <a:bodyPr/>
          <a:lstStyle/>
          <a:p>
            <a:endParaRPr lang="en-US"/>
          </a:p>
        </p:txBody>
      </p:sp>
      <p:sp>
        <p:nvSpPr>
          <p:cNvPr id="8" name="Shape 6"/>
          <p:cNvSpPr/>
          <p:nvPr/>
        </p:nvSpPr>
        <p:spPr>
          <a:xfrm>
            <a:off x="365760" y="2011680"/>
            <a:ext cx="64008" cy="1344168"/>
          </a:xfrm>
          <a:prstGeom prst="rect">
            <a:avLst/>
          </a:prstGeom>
          <a:solidFill>
            <a:srgbClr val="6D2E46"/>
          </a:solidFill>
          <a:ln w="12700">
            <a:solidFill>
              <a:srgbClr val="6D2E46"/>
            </a:solidFill>
            <a:prstDash val="solid"/>
          </a:ln>
        </p:spPr>
        <p:txBody>
          <a:bodyPr/>
          <a:lstStyle/>
          <a:p>
            <a:endParaRPr lang="en-US"/>
          </a:p>
        </p:txBody>
      </p:sp>
      <p:sp>
        <p:nvSpPr>
          <p:cNvPr id="9" name="Text 7"/>
          <p:cNvSpPr/>
          <p:nvPr/>
        </p:nvSpPr>
        <p:spPr>
          <a:xfrm>
            <a:off x="512064" y="2084832"/>
            <a:ext cx="3867912" cy="347472"/>
          </a:xfrm>
          <a:prstGeom prst="rect">
            <a:avLst/>
          </a:prstGeom>
          <a:noFill/>
          <a:ln/>
        </p:spPr>
        <p:txBody>
          <a:bodyPr wrap="square" lIns="0" tIns="0" rIns="0" bIns="0" rtlCol="0" anchor="ctr"/>
          <a:lstStyle/>
          <a:p>
            <a:pPr marL="0" indent="0">
              <a:buNone/>
            </a:pPr>
            <a:r>
              <a:rPr lang="en-US" sz="1300" b="1" dirty="0">
                <a:solidFill>
                  <a:srgbClr val="6D2E46"/>
                </a:solidFill>
                <a:latin typeface="Georgia" pitchFamily="34" charset="0"/>
                <a:ea typeface="Georgia" pitchFamily="34" charset="-122"/>
                <a:cs typeface="Georgia" pitchFamily="34" charset="-120"/>
              </a:rPr>
              <a:t>Why not just run multiple ANOVAs?</a:t>
            </a:r>
            <a:endParaRPr lang="en-US" sz="1300" dirty="0"/>
          </a:p>
        </p:txBody>
      </p:sp>
      <p:sp>
        <p:nvSpPr>
          <p:cNvPr id="10" name="Text 8"/>
          <p:cNvSpPr/>
          <p:nvPr/>
        </p:nvSpPr>
        <p:spPr>
          <a:xfrm>
            <a:off x="512064" y="2450592"/>
            <a:ext cx="3867912" cy="813816"/>
          </a:xfrm>
          <a:prstGeom prst="rect">
            <a:avLst/>
          </a:prstGeom>
          <a:noFill/>
          <a:ln/>
        </p:spPr>
        <p:txBody>
          <a:bodyPr wrap="square" lIns="0" tIns="0" rIns="0" bIns="0" rtlCol="0" anchor="t"/>
          <a:lstStyle/>
          <a:p>
            <a:pPr marL="0" indent="0">
              <a:buNone/>
            </a:pPr>
            <a:r>
              <a:rPr lang="en-US" sz="1150" dirty="0">
                <a:solidFill>
                  <a:srgbClr val="1A1A2E"/>
                </a:solidFill>
                <a:latin typeface="Calibri" pitchFamily="34" charset="0"/>
                <a:ea typeface="Calibri" pitchFamily="34" charset="-122"/>
                <a:cs typeface="Calibri" pitchFamily="34" charset="-120"/>
              </a:rPr>
              <a:t>Running k separate tests inflates Type I error. With 4 outcomes at α=.05: P(at least one false positive) = 1−0.95⁴ = 18.5%. MANOVA keeps experiment-wise α at .05.</a:t>
            </a:r>
            <a:endParaRPr lang="en-US" sz="1150" dirty="0"/>
          </a:p>
        </p:txBody>
      </p:sp>
      <p:sp>
        <p:nvSpPr>
          <p:cNvPr id="11" name="Shape 9"/>
          <p:cNvSpPr/>
          <p:nvPr/>
        </p:nvSpPr>
        <p:spPr>
          <a:xfrm>
            <a:off x="4617720" y="2011680"/>
            <a:ext cx="4069080" cy="1344168"/>
          </a:xfrm>
          <a:prstGeom prst="rect">
            <a:avLst/>
          </a:prstGeom>
          <a:solidFill>
            <a:srgbClr val="FFFFFF"/>
          </a:solidFill>
          <a:ln w="12700">
            <a:solidFill>
              <a:srgbClr val="DDE0F0"/>
            </a:solidFill>
            <a:prstDash val="solid"/>
          </a:ln>
          <a:effectLst>
            <a:outerShdw blurRad="76200" dist="25400" dir="8100000" algn="bl" rotWithShape="0">
              <a:srgbClr val="000000">
                <a:alpha val="10000"/>
              </a:srgbClr>
            </a:outerShdw>
          </a:effectLst>
        </p:spPr>
        <p:txBody>
          <a:bodyPr/>
          <a:lstStyle/>
          <a:p>
            <a:endParaRPr lang="en-US"/>
          </a:p>
        </p:txBody>
      </p:sp>
      <p:sp>
        <p:nvSpPr>
          <p:cNvPr id="12" name="Shape 10"/>
          <p:cNvSpPr/>
          <p:nvPr/>
        </p:nvSpPr>
        <p:spPr>
          <a:xfrm>
            <a:off x="4617720" y="2011680"/>
            <a:ext cx="64008" cy="1344168"/>
          </a:xfrm>
          <a:prstGeom prst="rect">
            <a:avLst/>
          </a:prstGeom>
          <a:solidFill>
            <a:srgbClr val="A26769"/>
          </a:solidFill>
          <a:ln w="12700">
            <a:solidFill>
              <a:srgbClr val="A26769"/>
            </a:solidFill>
            <a:prstDash val="solid"/>
          </a:ln>
        </p:spPr>
        <p:txBody>
          <a:bodyPr/>
          <a:lstStyle/>
          <a:p>
            <a:endParaRPr lang="en-US"/>
          </a:p>
        </p:txBody>
      </p:sp>
      <p:sp>
        <p:nvSpPr>
          <p:cNvPr id="13" name="Text 11"/>
          <p:cNvSpPr/>
          <p:nvPr/>
        </p:nvSpPr>
        <p:spPr>
          <a:xfrm>
            <a:off x="4764024" y="2084832"/>
            <a:ext cx="3867912" cy="347472"/>
          </a:xfrm>
          <a:prstGeom prst="rect">
            <a:avLst/>
          </a:prstGeom>
          <a:noFill/>
          <a:ln/>
        </p:spPr>
        <p:txBody>
          <a:bodyPr wrap="square" lIns="0" tIns="0" rIns="0" bIns="0" rtlCol="0" anchor="ctr"/>
          <a:lstStyle/>
          <a:p>
            <a:pPr marL="0" indent="0">
              <a:buNone/>
            </a:pPr>
            <a:r>
              <a:rPr lang="en-US" sz="1300" b="1" dirty="0">
                <a:solidFill>
                  <a:srgbClr val="A26769"/>
                </a:solidFill>
                <a:latin typeface="Georgia" pitchFamily="34" charset="0"/>
                <a:ea typeface="Georgia" pitchFamily="34" charset="-122"/>
                <a:cs typeface="Georgia" pitchFamily="34" charset="-120"/>
              </a:rPr>
              <a:t>Respects outcome correlations</a:t>
            </a:r>
            <a:endParaRPr lang="en-US" sz="1300" dirty="0"/>
          </a:p>
        </p:txBody>
      </p:sp>
      <p:sp>
        <p:nvSpPr>
          <p:cNvPr id="14" name="Text 12"/>
          <p:cNvSpPr/>
          <p:nvPr/>
        </p:nvSpPr>
        <p:spPr>
          <a:xfrm>
            <a:off x="4764024" y="2450592"/>
            <a:ext cx="3867912" cy="813816"/>
          </a:xfrm>
          <a:prstGeom prst="rect">
            <a:avLst/>
          </a:prstGeom>
          <a:noFill/>
          <a:ln/>
        </p:spPr>
        <p:txBody>
          <a:bodyPr wrap="square" lIns="0" tIns="0" rIns="0" bIns="0" rtlCol="0" anchor="t"/>
          <a:lstStyle/>
          <a:p>
            <a:pPr marL="0" indent="0">
              <a:buNone/>
            </a:pPr>
            <a:r>
              <a:rPr lang="en-US" sz="1150" dirty="0">
                <a:solidFill>
                  <a:srgbClr val="1A1A2E"/>
                </a:solidFill>
                <a:latin typeface="Calibri" pitchFamily="34" charset="0"/>
                <a:ea typeface="Calibri" pitchFamily="34" charset="-122"/>
                <a:cs typeface="Calibri" pitchFamily="34" charset="-120"/>
              </a:rPr>
              <a:t>Outcomes are rarely independent (BP, BMI, cholesterol, glucose are all correlated). Multivariate methods model the covariance structure — this is more realistic.</a:t>
            </a:r>
            <a:endParaRPr lang="en-US" sz="1150" dirty="0"/>
          </a:p>
        </p:txBody>
      </p:sp>
      <p:sp>
        <p:nvSpPr>
          <p:cNvPr id="15" name="Shape 13"/>
          <p:cNvSpPr/>
          <p:nvPr/>
        </p:nvSpPr>
        <p:spPr>
          <a:xfrm>
            <a:off x="365760" y="3493008"/>
            <a:ext cx="4069080" cy="1344168"/>
          </a:xfrm>
          <a:prstGeom prst="rect">
            <a:avLst/>
          </a:prstGeom>
          <a:solidFill>
            <a:srgbClr val="FFFFFF"/>
          </a:solidFill>
          <a:ln w="12700">
            <a:solidFill>
              <a:srgbClr val="DDE0F0"/>
            </a:solidFill>
            <a:prstDash val="solid"/>
          </a:ln>
          <a:effectLst>
            <a:outerShdw blurRad="76200" dist="25400" dir="8100000" algn="bl" rotWithShape="0">
              <a:srgbClr val="000000">
                <a:alpha val="10000"/>
              </a:srgbClr>
            </a:outerShdw>
          </a:effectLst>
        </p:spPr>
        <p:txBody>
          <a:bodyPr/>
          <a:lstStyle/>
          <a:p>
            <a:endParaRPr lang="en-US"/>
          </a:p>
        </p:txBody>
      </p:sp>
      <p:sp>
        <p:nvSpPr>
          <p:cNvPr id="16" name="Shape 14"/>
          <p:cNvSpPr/>
          <p:nvPr/>
        </p:nvSpPr>
        <p:spPr>
          <a:xfrm>
            <a:off x="365760" y="3493008"/>
            <a:ext cx="64008" cy="1344168"/>
          </a:xfrm>
          <a:prstGeom prst="rect">
            <a:avLst/>
          </a:prstGeom>
          <a:solidFill>
            <a:srgbClr val="2E8B72"/>
          </a:solidFill>
          <a:ln w="12700">
            <a:solidFill>
              <a:srgbClr val="2E8B72"/>
            </a:solidFill>
            <a:prstDash val="solid"/>
          </a:ln>
        </p:spPr>
        <p:txBody>
          <a:bodyPr/>
          <a:lstStyle/>
          <a:p>
            <a:endParaRPr lang="en-US"/>
          </a:p>
        </p:txBody>
      </p:sp>
      <p:sp>
        <p:nvSpPr>
          <p:cNvPr id="17" name="Text 15"/>
          <p:cNvSpPr/>
          <p:nvPr/>
        </p:nvSpPr>
        <p:spPr>
          <a:xfrm>
            <a:off x="512064" y="3566160"/>
            <a:ext cx="3867912" cy="347472"/>
          </a:xfrm>
          <a:prstGeom prst="rect">
            <a:avLst/>
          </a:prstGeom>
          <a:noFill/>
          <a:ln/>
        </p:spPr>
        <p:txBody>
          <a:bodyPr wrap="square" lIns="0" tIns="0" rIns="0" bIns="0" rtlCol="0" anchor="ctr"/>
          <a:lstStyle/>
          <a:p>
            <a:pPr marL="0" indent="0">
              <a:buNone/>
            </a:pPr>
            <a:r>
              <a:rPr lang="en-US" sz="1300" b="1" dirty="0">
                <a:solidFill>
                  <a:srgbClr val="2E8B72"/>
                </a:solidFill>
                <a:latin typeface="Georgia" pitchFamily="34" charset="0"/>
                <a:ea typeface="Georgia" pitchFamily="34" charset="-122"/>
                <a:cs typeface="Georgia" pitchFamily="34" charset="-120"/>
              </a:rPr>
              <a:t>Greater statistical power</a:t>
            </a:r>
            <a:endParaRPr lang="en-US" sz="1300" dirty="0"/>
          </a:p>
        </p:txBody>
      </p:sp>
      <p:sp>
        <p:nvSpPr>
          <p:cNvPr id="18" name="Text 16"/>
          <p:cNvSpPr/>
          <p:nvPr/>
        </p:nvSpPr>
        <p:spPr>
          <a:xfrm>
            <a:off x="512064" y="3931920"/>
            <a:ext cx="3867912" cy="813816"/>
          </a:xfrm>
          <a:prstGeom prst="rect">
            <a:avLst/>
          </a:prstGeom>
          <a:noFill/>
          <a:ln/>
        </p:spPr>
        <p:txBody>
          <a:bodyPr wrap="square" lIns="0" tIns="0" rIns="0" bIns="0" rtlCol="0" anchor="t"/>
          <a:lstStyle/>
          <a:p>
            <a:pPr marL="0" indent="0">
              <a:buNone/>
            </a:pPr>
            <a:r>
              <a:rPr lang="en-US" sz="1150" dirty="0">
                <a:solidFill>
                  <a:srgbClr val="1A1A2E"/>
                </a:solidFill>
                <a:latin typeface="Calibri" pitchFamily="34" charset="0"/>
                <a:ea typeface="Calibri" pitchFamily="34" charset="-122"/>
                <a:cs typeface="Calibri" pitchFamily="34" charset="-120"/>
              </a:rPr>
              <a:t>When outcomes are correlated and effects are consistent across them, MANOVA has more power than multiple ANOVAs — the linear combination capitalises on shared variance.</a:t>
            </a:r>
            <a:endParaRPr lang="en-US" sz="1150" dirty="0"/>
          </a:p>
        </p:txBody>
      </p:sp>
      <p:sp>
        <p:nvSpPr>
          <p:cNvPr id="19" name="Shape 17"/>
          <p:cNvSpPr/>
          <p:nvPr/>
        </p:nvSpPr>
        <p:spPr>
          <a:xfrm>
            <a:off x="4617720" y="3493008"/>
            <a:ext cx="4069080" cy="1344168"/>
          </a:xfrm>
          <a:prstGeom prst="rect">
            <a:avLst/>
          </a:prstGeom>
          <a:solidFill>
            <a:srgbClr val="FFFFFF"/>
          </a:solidFill>
          <a:ln w="12700">
            <a:solidFill>
              <a:srgbClr val="DDE0F0"/>
            </a:solidFill>
            <a:prstDash val="solid"/>
          </a:ln>
          <a:effectLst>
            <a:outerShdw blurRad="76200" dist="25400" dir="8100000" algn="bl" rotWithShape="0">
              <a:srgbClr val="000000">
                <a:alpha val="10000"/>
              </a:srgbClr>
            </a:outerShdw>
          </a:effectLst>
        </p:spPr>
        <p:txBody>
          <a:bodyPr/>
          <a:lstStyle/>
          <a:p>
            <a:endParaRPr lang="en-US"/>
          </a:p>
        </p:txBody>
      </p:sp>
      <p:sp>
        <p:nvSpPr>
          <p:cNvPr id="20" name="Shape 18"/>
          <p:cNvSpPr/>
          <p:nvPr/>
        </p:nvSpPr>
        <p:spPr>
          <a:xfrm>
            <a:off x="4617720" y="3493008"/>
            <a:ext cx="64008" cy="1344168"/>
          </a:xfrm>
          <a:prstGeom prst="rect">
            <a:avLst/>
          </a:prstGeom>
          <a:solidFill>
            <a:srgbClr val="1E2761"/>
          </a:solidFill>
          <a:ln w="12700">
            <a:solidFill>
              <a:srgbClr val="1E2761"/>
            </a:solidFill>
            <a:prstDash val="solid"/>
          </a:ln>
        </p:spPr>
        <p:txBody>
          <a:bodyPr/>
          <a:lstStyle/>
          <a:p>
            <a:endParaRPr lang="en-US"/>
          </a:p>
        </p:txBody>
      </p:sp>
      <p:sp>
        <p:nvSpPr>
          <p:cNvPr id="21" name="Text 19"/>
          <p:cNvSpPr/>
          <p:nvPr/>
        </p:nvSpPr>
        <p:spPr>
          <a:xfrm>
            <a:off x="4764024" y="3566160"/>
            <a:ext cx="3867912" cy="347472"/>
          </a:xfrm>
          <a:prstGeom prst="rect">
            <a:avLst/>
          </a:prstGeom>
          <a:noFill/>
          <a:ln/>
        </p:spPr>
        <p:txBody>
          <a:bodyPr wrap="square" lIns="0" tIns="0" rIns="0" bIns="0" rtlCol="0" anchor="ctr"/>
          <a:lstStyle/>
          <a:p>
            <a:pPr marL="0" indent="0">
              <a:buNone/>
            </a:pPr>
            <a:r>
              <a:rPr lang="en-US" sz="1300" b="1" dirty="0">
                <a:solidFill>
                  <a:srgbClr val="1E2761"/>
                </a:solidFill>
                <a:latin typeface="Georgia" pitchFamily="34" charset="0"/>
                <a:ea typeface="Georgia" pitchFamily="34" charset="-122"/>
                <a:cs typeface="Georgia" pitchFamily="34" charset="-120"/>
              </a:rPr>
              <a:t>Comprehensive group characterisation</a:t>
            </a:r>
            <a:endParaRPr lang="en-US" sz="1300" dirty="0"/>
          </a:p>
        </p:txBody>
      </p:sp>
      <p:sp>
        <p:nvSpPr>
          <p:cNvPr id="22" name="Text 20"/>
          <p:cNvSpPr/>
          <p:nvPr/>
        </p:nvSpPr>
        <p:spPr>
          <a:xfrm>
            <a:off x="4764024" y="3931920"/>
            <a:ext cx="3867912" cy="813816"/>
          </a:xfrm>
          <a:prstGeom prst="rect">
            <a:avLst/>
          </a:prstGeom>
          <a:noFill/>
          <a:ln/>
        </p:spPr>
        <p:txBody>
          <a:bodyPr wrap="square" lIns="0" tIns="0" rIns="0" bIns="0" rtlCol="0" anchor="t"/>
          <a:lstStyle/>
          <a:p>
            <a:pPr marL="0" indent="0">
              <a:buNone/>
            </a:pPr>
            <a:r>
              <a:rPr lang="en-US" sz="1150" dirty="0">
                <a:solidFill>
                  <a:srgbClr val="1A1A2E"/>
                </a:solidFill>
                <a:latin typeface="Calibri" pitchFamily="34" charset="0"/>
                <a:ea typeface="Calibri" pitchFamily="34" charset="-122"/>
                <a:cs typeface="Calibri" pitchFamily="34" charset="-120"/>
              </a:rPr>
              <a:t>A single multivariate test describes how groups differ across the whole outcome profile simultaneously, not piecemeal. Identifies the 'multivariate outlier group'.</a:t>
            </a:r>
            <a:endParaRPr lang="en-US" sz="11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E941CA-FC03-926F-77CD-55595F26017B}"/>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07B100BA-9014-D895-05EF-00F3C515F4D4}"/>
              </a:ext>
            </a:extLst>
          </p:cNvPr>
          <p:cNvSpPr/>
          <p:nvPr/>
        </p:nvSpPr>
        <p:spPr>
          <a:xfrm>
            <a:off x="0" y="0"/>
            <a:ext cx="9144000" cy="73152"/>
          </a:xfrm>
          <a:prstGeom prst="rect">
            <a:avLst/>
          </a:prstGeom>
          <a:solidFill>
            <a:srgbClr val="E8A838"/>
          </a:solidFill>
          <a:ln w="12700">
            <a:solidFill>
              <a:srgbClr val="E8A838"/>
            </a:solidFill>
            <a:prstDash val="solid"/>
          </a:ln>
        </p:spPr>
        <p:txBody>
          <a:bodyPr/>
          <a:lstStyle/>
          <a:p>
            <a:endParaRPr lang="en-US"/>
          </a:p>
        </p:txBody>
      </p:sp>
      <p:sp>
        <p:nvSpPr>
          <p:cNvPr id="3" name="Text 1">
            <a:extLst>
              <a:ext uri="{FF2B5EF4-FFF2-40B4-BE49-F238E27FC236}">
                <a16:creationId xmlns:a16="http://schemas.microsoft.com/office/drawing/2014/main" id="{03DCF10D-3614-4E27-7C7B-B15395E5B3C3}"/>
              </a:ext>
            </a:extLst>
          </p:cNvPr>
          <p:cNvSpPr/>
          <p:nvPr/>
        </p:nvSpPr>
        <p:spPr>
          <a:xfrm>
            <a:off x="411480" y="164592"/>
            <a:ext cx="8321040" cy="640080"/>
          </a:xfrm>
          <a:prstGeom prst="rect">
            <a:avLst/>
          </a:prstGeom>
          <a:noFill/>
          <a:ln/>
        </p:spPr>
        <p:txBody>
          <a:bodyPr wrap="square" lIns="0" tIns="0" rIns="0" bIns="0" rtlCol="0" anchor="ctr"/>
          <a:lstStyle/>
          <a:p>
            <a:pPr marL="0" indent="0">
              <a:buNone/>
            </a:pPr>
            <a:r>
              <a:rPr lang="en-US" sz="2800" b="1" dirty="0">
                <a:solidFill>
                  <a:srgbClr val="065A82"/>
                </a:solidFill>
                <a:latin typeface="Cambria" pitchFamily="34" charset="0"/>
                <a:ea typeface="Cambria" pitchFamily="34" charset="-122"/>
                <a:cs typeface="Cambria" pitchFamily="34" charset="-120"/>
              </a:rPr>
              <a:t>Variables in Multivariate Analysis</a:t>
            </a:r>
            <a:endParaRPr lang="en-US" sz="2800" dirty="0"/>
          </a:p>
        </p:txBody>
      </p:sp>
      <p:graphicFrame>
        <p:nvGraphicFramePr>
          <p:cNvPr id="6" name="Table 0">
            <a:extLst>
              <a:ext uri="{FF2B5EF4-FFF2-40B4-BE49-F238E27FC236}">
                <a16:creationId xmlns:a16="http://schemas.microsoft.com/office/drawing/2014/main" id="{D8E5DEC6-D9A1-D786-1299-8A7AB5ADB07E}"/>
              </a:ext>
            </a:extLst>
          </p:cNvPr>
          <p:cNvGraphicFramePr>
            <a:graphicFrameLocks noGrp="1"/>
          </p:cNvGraphicFramePr>
          <p:nvPr/>
        </p:nvGraphicFramePr>
        <p:xfrm>
          <a:off x="320040" y="914400"/>
          <a:ext cx="8503920" cy="4032504"/>
        </p:xfrm>
        <a:graphic>
          <a:graphicData uri="http://schemas.openxmlformats.org/drawingml/2006/table">
            <a:tbl>
              <a:tblPr/>
              <a:tblGrid>
                <a:gridCol w="173736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468880">
                  <a:extLst>
                    <a:ext uri="{9D8B030D-6E8A-4147-A177-3AD203B41FA5}">
                      <a16:colId xmlns:a16="http://schemas.microsoft.com/office/drawing/2014/main" val="20002"/>
                    </a:ext>
                  </a:extLst>
                </a:gridCol>
                <a:gridCol w="2011680">
                  <a:extLst>
                    <a:ext uri="{9D8B030D-6E8A-4147-A177-3AD203B41FA5}">
                      <a16:colId xmlns:a16="http://schemas.microsoft.com/office/drawing/2014/main" val="20003"/>
                    </a:ext>
                  </a:extLst>
                </a:gridCol>
              </a:tblGrid>
              <a:tr h="576072">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Variable Type</a:t>
                      </a:r>
                      <a:endParaRPr lang="en-US" sz="1200" dirty="0">
                        <a:latin typeface="Calibri" charset="0"/>
                        <a:ea typeface="Calibri" charset="0"/>
                        <a:cs typeface="Calibri" charset="0"/>
                      </a:endParaRPr>
                    </a:p>
                  </a:txBody>
                  <a:tcPr anchor="ctr">
                    <a:lnL w="6350" cap="flat" cmpd="sng" algn="ctr">
                      <a:solidFill>
                        <a:srgbClr val="D6E4EC"/>
                      </a:solidFill>
                      <a:prstDash val="solid"/>
                      <a:round/>
                      <a:headEnd type="none" w="med" len="med"/>
                      <a:tailEnd type="none" w="med" len="med"/>
                    </a:lnL>
                    <a:lnR w="6350" cap="flat" cmpd="sng" algn="ctr">
                      <a:solidFill>
                        <a:srgbClr val="D6E4EC"/>
                      </a:solidFill>
                      <a:prstDash val="solid"/>
                      <a:round/>
                      <a:headEnd type="none" w="med" len="med"/>
                      <a:tailEnd type="none" w="med" len="med"/>
                    </a:lnR>
                    <a:lnT w="6350" cap="flat" cmpd="sng" algn="ctr">
                      <a:solidFill>
                        <a:srgbClr val="D6E4EC"/>
                      </a:solidFill>
                      <a:prstDash val="solid"/>
                      <a:round/>
                      <a:headEnd type="none" w="med" len="med"/>
                      <a:tailEnd type="none" w="med" len="med"/>
                    </a:lnT>
                    <a:lnB w="6350" cap="flat" cmpd="sng" algn="ctr">
                      <a:solidFill>
                        <a:srgbClr val="D6E4EC"/>
                      </a:solidFill>
                      <a:prstDash val="solid"/>
                      <a:round/>
                      <a:headEnd type="none" w="med" len="med"/>
                      <a:tailEnd type="none" w="med" len="med"/>
                    </a:lnB>
                    <a:solidFill>
                      <a:srgbClr val="065A82"/>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Description</a:t>
                      </a:r>
                      <a:endParaRPr lang="en-US" sz="1200" dirty="0">
                        <a:latin typeface="Calibri" charset="0"/>
                        <a:ea typeface="Calibri" charset="0"/>
                        <a:cs typeface="Calibri" charset="0"/>
                      </a:endParaRPr>
                    </a:p>
                  </a:txBody>
                  <a:tcPr anchor="ctr">
                    <a:lnL w="6350" cap="flat" cmpd="sng" algn="ctr">
                      <a:solidFill>
                        <a:srgbClr val="D6E4EC"/>
                      </a:solidFill>
                      <a:prstDash val="solid"/>
                      <a:round/>
                      <a:headEnd type="none" w="med" len="med"/>
                      <a:tailEnd type="none" w="med" len="med"/>
                    </a:lnL>
                    <a:lnR w="6350" cap="flat" cmpd="sng" algn="ctr">
                      <a:solidFill>
                        <a:srgbClr val="D6E4EC"/>
                      </a:solidFill>
                      <a:prstDash val="solid"/>
                      <a:round/>
                      <a:headEnd type="none" w="med" len="med"/>
                      <a:tailEnd type="none" w="med" len="med"/>
                    </a:lnR>
                    <a:lnT w="6350" cap="flat" cmpd="sng" algn="ctr">
                      <a:solidFill>
                        <a:srgbClr val="D6E4EC"/>
                      </a:solidFill>
                      <a:prstDash val="solid"/>
                      <a:round/>
                      <a:headEnd type="none" w="med" len="med"/>
                      <a:tailEnd type="none" w="med" len="med"/>
                    </a:lnT>
                    <a:lnB w="6350" cap="flat" cmpd="sng" algn="ctr">
                      <a:solidFill>
                        <a:srgbClr val="D6E4EC"/>
                      </a:solidFill>
                      <a:prstDash val="solid"/>
                      <a:round/>
                      <a:headEnd type="none" w="med" len="med"/>
                      <a:tailEnd type="none" w="med" len="med"/>
                    </a:lnB>
                    <a:solidFill>
                      <a:srgbClr val="065A82"/>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Public Health Example</a:t>
                      </a:r>
                      <a:endParaRPr lang="en-US" sz="1200" dirty="0">
                        <a:latin typeface="Calibri" charset="0"/>
                        <a:ea typeface="Calibri" charset="0"/>
                        <a:cs typeface="Calibri" charset="0"/>
                      </a:endParaRPr>
                    </a:p>
                  </a:txBody>
                  <a:tcPr anchor="ctr">
                    <a:lnL w="6350" cap="flat" cmpd="sng" algn="ctr">
                      <a:solidFill>
                        <a:srgbClr val="D6E4EC"/>
                      </a:solidFill>
                      <a:prstDash val="solid"/>
                      <a:round/>
                      <a:headEnd type="none" w="med" len="med"/>
                      <a:tailEnd type="none" w="med" len="med"/>
                    </a:lnL>
                    <a:lnR w="6350" cap="flat" cmpd="sng" algn="ctr">
                      <a:solidFill>
                        <a:srgbClr val="D6E4EC"/>
                      </a:solidFill>
                      <a:prstDash val="solid"/>
                      <a:round/>
                      <a:headEnd type="none" w="med" len="med"/>
                      <a:tailEnd type="none" w="med" len="med"/>
                    </a:lnR>
                    <a:lnT w="6350" cap="flat" cmpd="sng" algn="ctr">
                      <a:solidFill>
                        <a:srgbClr val="D6E4EC"/>
                      </a:solidFill>
                      <a:prstDash val="solid"/>
                      <a:round/>
                      <a:headEnd type="none" w="med" len="med"/>
                      <a:tailEnd type="none" w="med" len="med"/>
                    </a:lnT>
                    <a:lnB w="6350" cap="flat" cmpd="sng" algn="ctr">
                      <a:solidFill>
                        <a:srgbClr val="D6E4EC"/>
                      </a:solidFill>
                      <a:prstDash val="solid"/>
                      <a:round/>
                      <a:headEnd type="none" w="med" len="med"/>
                      <a:tailEnd type="none" w="med" len="med"/>
                    </a:lnB>
                    <a:solidFill>
                      <a:srgbClr val="065A82"/>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Scale</a:t>
                      </a:r>
                      <a:endParaRPr lang="en-US" sz="1200" dirty="0">
                        <a:latin typeface="Calibri" charset="0"/>
                        <a:ea typeface="Calibri" charset="0"/>
                        <a:cs typeface="Calibri" charset="0"/>
                      </a:endParaRPr>
                    </a:p>
                  </a:txBody>
                  <a:tcPr anchor="ctr">
                    <a:lnL w="6350" cap="flat" cmpd="sng" algn="ctr">
                      <a:solidFill>
                        <a:srgbClr val="D6E4EC"/>
                      </a:solidFill>
                      <a:prstDash val="solid"/>
                      <a:round/>
                      <a:headEnd type="none" w="med" len="med"/>
                      <a:tailEnd type="none" w="med" len="med"/>
                    </a:lnL>
                    <a:lnR w="6350" cap="flat" cmpd="sng" algn="ctr">
                      <a:solidFill>
                        <a:srgbClr val="D6E4EC"/>
                      </a:solidFill>
                      <a:prstDash val="solid"/>
                      <a:round/>
                      <a:headEnd type="none" w="med" len="med"/>
                      <a:tailEnd type="none" w="med" len="med"/>
                    </a:lnR>
                    <a:lnT w="6350" cap="flat" cmpd="sng" algn="ctr">
                      <a:solidFill>
                        <a:srgbClr val="D6E4EC"/>
                      </a:solidFill>
                      <a:prstDash val="solid"/>
                      <a:round/>
                      <a:headEnd type="none" w="med" len="med"/>
                      <a:tailEnd type="none" w="med" len="med"/>
                    </a:lnT>
                    <a:lnB w="6350" cap="flat" cmpd="sng" algn="ctr">
                      <a:solidFill>
                        <a:srgbClr val="D6E4EC"/>
                      </a:solidFill>
                      <a:prstDash val="solid"/>
                      <a:round/>
                      <a:headEnd type="none" w="med" len="med"/>
                      <a:tailEnd type="none" w="med" len="med"/>
                    </a:lnB>
                    <a:solidFill>
                      <a:srgbClr val="065A82"/>
                    </a:solidFill>
                  </a:tcPr>
                </a:tc>
                <a:extLst>
                  <a:ext uri="{0D108BD9-81ED-4DB2-BD59-A6C34878D82A}">
                    <a16:rowId xmlns:a16="http://schemas.microsoft.com/office/drawing/2014/main" val="10000"/>
                  </a:ext>
                </a:extLst>
              </a:tr>
              <a:tr h="576072">
                <a:tc>
                  <a:txBody>
                    <a:bodyPr/>
                    <a:lstStyle/>
                    <a:p>
                      <a:pPr marL="0" indent="0" algn="l">
                        <a:buNone/>
                      </a:pPr>
                      <a:r>
                        <a:rPr lang="en-US" sz="1200" dirty="0">
                          <a:solidFill>
                            <a:srgbClr val="000000"/>
                          </a:solidFill>
                          <a:latin typeface="Calibri" pitchFamily="34" charset="0"/>
                          <a:ea typeface="Calibri" pitchFamily="34" charset="-122"/>
                          <a:cs typeface="Calibri" pitchFamily="34" charset="-120"/>
                        </a:rPr>
                        <a:t>Dependent (DV / Outcome)</a:t>
                      </a:r>
                      <a:endParaRPr lang="en-US" sz="1200" dirty="0">
                        <a:latin typeface="Calibri" charset="0"/>
                        <a:ea typeface="Calibri" charset="0"/>
                        <a:cs typeface="Calibri" charset="0"/>
                      </a:endParaRPr>
                    </a:p>
                  </a:txBody>
                  <a:tcPr anchor="ctr">
                    <a:lnL w="6350" cap="flat" cmpd="sng" algn="ctr">
                      <a:solidFill>
                        <a:srgbClr val="D6E4EC"/>
                      </a:solidFill>
                      <a:prstDash val="solid"/>
                      <a:round/>
                      <a:headEnd type="none" w="med" len="med"/>
                      <a:tailEnd type="none" w="med" len="med"/>
                    </a:lnL>
                    <a:lnR w="6350" cap="flat" cmpd="sng" algn="ctr">
                      <a:solidFill>
                        <a:srgbClr val="D6E4EC"/>
                      </a:solidFill>
                      <a:prstDash val="solid"/>
                      <a:round/>
                      <a:headEnd type="none" w="med" len="med"/>
                      <a:tailEnd type="none" w="med" len="med"/>
                    </a:lnR>
                    <a:lnT w="6350" cap="flat" cmpd="sng" algn="ctr">
                      <a:solidFill>
                        <a:srgbClr val="D6E4EC"/>
                      </a:solidFill>
                      <a:prstDash val="solid"/>
                      <a:round/>
                      <a:headEnd type="none" w="med" len="med"/>
                      <a:tailEnd type="none" w="med" len="med"/>
                    </a:lnT>
                    <a:lnB w="6350" cap="flat" cmpd="sng" algn="ctr">
                      <a:solidFill>
                        <a:srgbClr val="D6E4EC"/>
                      </a:solidFill>
                      <a:prstDash val="solid"/>
                      <a:round/>
                      <a:headEnd type="none" w="med" len="med"/>
                      <a:tailEnd type="none" w="med" len="med"/>
                    </a:lnB>
                    <a:solidFill>
                      <a:srgbClr val="FFFFFF"/>
                    </a:solidFill>
                  </a:tcPr>
                </a:tc>
                <a:tc>
                  <a:txBody>
                    <a:bodyPr/>
                    <a:lstStyle/>
                    <a:p>
                      <a:pPr marL="0" indent="0" algn="l">
                        <a:buNone/>
                      </a:pPr>
                      <a:r>
                        <a:rPr lang="en-US" sz="1200" dirty="0">
                          <a:solidFill>
                            <a:srgbClr val="000000"/>
                          </a:solidFill>
                          <a:latin typeface="Calibri" pitchFamily="34" charset="0"/>
                          <a:ea typeface="Calibri" pitchFamily="34" charset="-122"/>
                          <a:cs typeface="Calibri" pitchFamily="34" charset="-120"/>
                        </a:rPr>
                        <a:t>Variable being explained or predicted</a:t>
                      </a:r>
                      <a:endParaRPr lang="en-US" sz="1200" dirty="0">
                        <a:latin typeface="Calibri" charset="0"/>
                        <a:ea typeface="Calibri" charset="0"/>
                        <a:cs typeface="Calibri" charset="0"/>
                      </a:endParaRPr>
                    </a:p>
                  </a:txBody>
                  <a:tcPr anchor="ctr">
                    <a:lnL w="6350" cap="flat" cmpd="sng" algn="ctr">
                      <a:solidFill>
                        <a:srgbClr val="D6E4EC"/>
                      </a:solidFill>
                      <a:prstDash val="solid"/>
                      <a:round/>
                      <a:headEnd type="none" w="med" len="med"/>
                      <a:tailEnd type="none" w="med" len="med"/>
                    </a:lnL>
                    <a:lnR w="6350" cap="flat" cmpd="sng" algn="ctr">
                      <a:solidFill>
                        <a:srgbClr val="D6E4EC"/>
                      </a:solidFill>
                      <a:prstDash val="solid"/>
                      <a:round/>
                      <a:headEnd type="none" w="med" len="med"/>
                      <a:tailEnd type="none" w="med" len="med"/>
                    </a:lnR>
                    <a:lnT w="6350" cap="flat" cmpd="sng" algn="ctr">
                      <a:solidFill>
                        <a:srgbClr val="D6E4EC"/>
                      </a:solidFill>
                      <a:prstDash val="solid"/>
                      <a:round/>
                      <a:headEnd type="none" w="med" len="med"/>
                      <a:tailEnd type="none" w="med" len="med"/>
                    </a:lnT>
                    <a:lnB w="6350" cap="flat" cmpd="sng" algn="ctr">
                      <a:solidFill>
                        <a:srgbClr val="D6E4EC"/>
                      </a:solidFill>
                      <a:prstDash val="solid"/>
                      <a:round/>
                      <a:headEnd type="none" w="med" len="med"/>
                      <a:tailEnd type="none" w="med" len="med"/>
                    </a:lnB>
                    <a:solidFill>
                      <a:srgbClr val="FFFFFF"/>
                    </a:solidFill>
                  </a:tcPr>
                </a:tc>
                <a:tc>
                  <a:txBody>
                    <a:bodyPr/>
                    <a:lstStyle/>
                    <a:p>
                      <a:pPr marL="0" indent="0" algn="l">
                        <a:buNone/>
                      </a:pPr>
                      <a:r>
                        <a:rPr lang="en-US" sz="1200" dirty="0">
                          <a:solidFill>
                            <a:srgbClr val="000000"/>
                          </a:solidFill>
                          <a:latin typeface="Calibri" pitchFamily="34" charset="0"/>
                          <a:ea typeface="Calibri" pitchFamily="34" charset="-122"/>
                          <a:cs typeface="Calibri" pitchFamily="34" charset="-120"/>
                        </a:rPr>
                        <a:t>Systolic blood pressure, Disease status</a:t>
                      </a:r>
                      <a:endParaRPr lang="en-US" sz="1200" dirty="0">
                        <a:latin typeface="Calibri" charset="0"/>
                        <a:ea typeface="Calibri" charset="0"/>
                        <a:cs typeface="Calibri" charset="0"/>
                      </a:endParaRPr>
                    </a:p>
                  </a:txBody>
                  <a:tcPr anchor="ctr">
                    <a:lnL w="6350" cap="flat" cmpd="sng" algn="ctr">
                      <a:solidFill>
                        <a:srgbClr val="D6E4EC"/>
                      </a:solidFill>
                      <a:prstDash val="solid"/>
                      <a:round/>
                      <a:headEnd type="none" w="med" len="med"/>
                      <a:tailEnd type="none" w="med" len="med"/>
                    </a:lnL>
                    <a:lnR w="6350" cap="flat" cmpd="sng" algn="ctr">
                      <a:solidFill>
                        <a:srgbClr val="D6E4EC"/>
                      </a:solidFill>
                      <a:prstDash val="solid"/>
                      <a:round/>
                      <a:headEnd type="none" w="med" len="med"/>
                      <a:tailEnd type="none" w="med" len="med"/>
                    </a:lnR>
                    <a:lnT w="6350" cap="flat" cmpd="sng" algn="ctr">
                      <a:solidFill>
                        <a:srgbClr val="D6E4EC"/>
                      </a:solidFill>
                      <a:prstDash val="solid"/>
                      <a:round/>
                      <a:headEnd type="none" w="med" len="med"/>
                      <a:tailEnd type="none" w="med" len="med"/>
                    </a:lnT>
                    <a:lnB w="6350" cap="flat" cmpd="sng" algn="ctr">
                      <a:solidFill>
                        <a:srgbClr val="D6E4EC"/>
                      </a:solidFill>
                      <a:prstDash val="solid"/>
                      <a:round/>
                      <a:headEnd type="none" w="med" len="med"/>
                      <a:tailEnd type="none" w="med" len="med"/>
                    </a:lnB>
                    <a:solidFill>
                      <a:srgbClr val="FFFFFF"/>
                    </a:solidFill>
                  </a:tcPr>
                </a:tc>
                <a:tc>
                  <a:txBody>
                    <a:bodyPr/>
                    <a:lstStyle/>
                    <a:p>
                      <a:pPr marL="0" indent="0" algn="l">
                        <a:buNone/>
                      </a:pPr>
                      <a:r>
                        <a:rPr lang="en-US" sz="1200" dirty="0">
                          <a:solidFill>
                            <a:srgbClr val="000000"/>
                          </a:solidFill>
                          <a:latin typeface="Calibri" pitchFamily="34" charset="0"/>
                          <a:ea typeface="Calibri" pitchFamily="34" charset="-122"/>
                          <a:cs typeface="Calibri" pitchFamily="34" charset="-120"/>
                        </a:rPr>
                        <a:t>Continuous or categorical</a:t>
                      </a:r>
                      <a:endParaRPr lang="en-US" sz="1200" dirty="0">
                        <a:latin typeface="Calibri" charset="0"/>
                        <a:ea typeface="Calibri" charset="0"/>
                        <a:cs typeface="Calibri" charset="0"/>
                      </a:endParaRPr>
                    </a:p>
                  </a:txBody>
                  <a:tcPr anchor="ctr">
                    <a:lnL w="6350" cap="flat" cmpd="sng" algn="ctr">
                      <a:solidFill>
                        <a:srgbClr val="D6E4EC"/>
                      </a:solidFill>
                      <a:prstDash val="solid"/>
                      <a:round/>
                      <a:headEnd type="none" w="med" len="med"/>
                      <a:tailEnd type="none" w="med" len="med"/>
                    </a:lnL>
                    <a:lnR w="6350" cap="flat" cmpd="sng" algn="ctr">
                      <a:solidFill>
                        <a:srgbClr val="D6E4EC"/>
                      </a:solidFill>
                      <a:prstDash val="solid"/>
                      <a:round/>
                      <a:headEnd type="none" w="med" len="med"/>
                      <a:tailEnd type="none" w="med" len="med"/>
                    </a:lnR>
                    <a:lnT w="6350" cap="flat" cmpd="sng" algn="ctr">
                      <a:solidFill>
                        <a:srgbClr val="D6E4EC"/>
                      </a:solidFill>
                      <a:prstDash val="solid"/>
                      <a:round/>
                      <a:headEnd type="none" w="med" len="med"/>
                      <a:tailEnd type="none" w="med" len="med"/>
                    </a:lnT>
                    <a:lnB w="6350" cap="flat" cmpd="sng" algn="ctr">
                      <a:solidFill>
                        <a:srgbClr val="D6E4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76072">
                <a:tc>
                  <a:txBody>
                    <a:bodyPr/>
                    <a:lstStyle/>
                    <a:p>
                      <a:pPr marL="0" indent="0" algn="l">
                        <a:buNone/>
                      </a:pPr>
                      <a:r>
                        <a:rPr lang="en-US" sz="1200" dirty="0">
                          <a:solidFill>
                            <a:srgbClr val="000000"/>
                          </a:solidFill>
                          <a:latin typeface="Calibri" pitchFamily="34" charset="0"/>
                          <a:ea typeface="Calibri" pitchFamily="34" charset="-122"/>
                          <a:cs typeface="Calibri" pitchFamily="34" charset="-120"/>
                        </a:rPr>
                        <a:t>Independent (IV / Predictor)</a:t>
                      </a:r>
                      <a:endParaRPr lang="en-US" sz="1200" dirty="0">
                        <a:latin typeface="Calibri" charset="0"/>
                        <a:ea typeface="Calibri" charset="0"/>
                        <a:cs typeface="Calibri" charset="0"/>
                      </a:endParaRPr>
                    </a:p>
                  </a:txBody>
                  <a:tcPr anchor="ctr">
                    <a:lnL w="6350" cap="flat" cmpd="sng" algn="ctr">
                      <a:solidFill>
                        <a:srgbClr val="D6E4EC"/>
                      </a:solidFill>
                      <a:prstDash val="solid"/>
                      <a:round/>
                      <a:headEnd type="none" w="med" len="med"/>
                      <a:tailEnd type="none" w="med" len="med"/>
                    </a:lnL>
                    <a:lnR w="6350" cap="flat" cmpd="sng" algn="ctr">
                      <a:solidFill>
                        <a:srgbClr val="D6E4EC"/>
                      </a:solidFill>
                      <a:prstDash val="solid"/>
                      <a:round/>
                      <a:headEnd type="none" w="med" len="med"/>
                      <a:tailEnd type="none" w="med" len="med"/>
                    </a:lnR>
                    <a:lnT w="6350" cap="flat" cmpd="sng" algn="ctr">
                      <a:solidFill>
                        <a:srgbClr val="D6E4EC"/>
                      </a:solidFill>
                      <a:prstDash val="solid"/>
                      <a:round/>
                      <a:headEnd type="none" w="med" len="med"/>
                      <a:tailEnd type="none" w="med" len="med"/>
                    </a:lnT>
                    <a:lnB w="6350" cap="flat" cmpd="sng" algn="ctr">
                      <a:solidFill>
                        <a:srgbClr val="D6E4EC"/>
                      </a:solidFill>
                      <a:prstDash val="solid"/>
                      <a:round/>
                      <a:headEnd type="none" w="med" len="med"/>
                      <a:tailEnd type="none" w="med" len="med"/>
                    </a:lnB>
                    <a:solidFill>
                      <a:srgbClr val="FFFFFF"/>
                    </a:solidFill>
                  </a:tcPr>
                </a:tc>
                <a:tc>
                  <a:txBody>
                    <a:bodyPr/>
                    <a:lstStyle/>
                    <a:p>
                      <a:pPr marL="0" indent="0" algn="l">
                        <a:buNone/>
                      </a:pPr>
                      <a:r>
                        <a:rPr lang="en-US" sz="1200" dirty="0">
                          <a:solidFill>
                            <a:srgbClr val="000000"/>
                          </a:solidFill>
                          <a:latin typeface="Calibri" pitchFamily="34" charset="0"/>
                          <a:ea typeface="Calibri" pitchFamily="34" charset="-122"/>
                          <a:cs typeface="Calibri" pitchFamily="34" charset="-120"/>
                        </a:rPr>
                        <a:t>Variable that explains the DV</a:t>
                      </a:r>
                      <a:endParaRPr lang="en-US" sz="1200" dirty="0">
                        <a:latin typeface="Calibri" charset="0"/>
                        <a:ea typeface="Calibri" charset="0"/>
                        <a:cs typeface="Calibri" charset="0"/>
                      </a:endParaRPr>
                    </a:p>
                  </a:txBody>
                  <a:tcPr anchor="ctr">
                    <a:lnL w="6350" cap="flat" cmpd="sng" algn="ctr">
                      <a:solidFill>
                        <a:srgbClr val="D6E4EC"/>
                      </a:solidFill>
                      <a:prstDash val="solid"/>
                      <a:round/>
                      <a:headEnd type="none" w="med" len="med"/>
                      <a:tailEnd type="none" w="med" len="med"/>
                    </a:lnL>
                    <a:lnR w="6350" cap="flat" cmpd="sng" algn="ctr">
                      <a:solidFill>
                        <a:srgbClr val="D6E4EC"/>
                      </a:solidFill>
                      <a:prstDash val="solid"/>
                      <a:round/>
                      <a:headEnd type="none" w="med" len="med"/>
                      <a:tailEnd type="none" w="med" len="med"/>
                    </a:lnR>
                    <a:lnT w="6350" cap="flat" cmpd="sng" algn="ctr">
                      <a:solidFill>
                        <a:srgbClr val="D6E4EC"/>
                      </a:solidFill>
                      <a:prstDash val="solid"/>
                      <a:round/>
                      <a:headEnd type="none" w="med" len="med"/>
                      <a:tailEnd type="none" w="med" len="med"/>
                    </a:lnT>
                    <a:lnB w="6350" cap="flat" cmpd="sng" algn="ctr">
                      <a:solidFill>
                        <a:srgbClr val="D6E4EC"/>
                      </a:solidFill>
                      <a:prstDash val="solid"/>
                      <a:round/>
                      <a:headEnd type="none" w="med" len="med"/>
                      <a:tailEnd type="none" w="med" len="med"/>
                    </a:lnB>
                    <a:solidFill>
                      <a:srgbClr val="FFFFFF"/>
                    </a:solidFill>
                  </a:tcPr>
                </a:tc>
                <a:tc>
                  <a:txBody>
                    <a:bodyPr/>
                    <a:lstStyle/>
                    <a:p>
                      <a:pPr marL="0" indent="0" algn="l">
                        <a:buNone/>
                      </a:pPr>
                      <a:r>
                        <a:rPr lang="en-US" sz="1200" dirty="0">
                          <a:solidFill>
                            <a:srgbClr val="000000"/>
                          </a:solidFill>
                          <a:latin typeface="Calibri" pitchFamily="34" charset="0"/>
                          <a:ea typeface="Calibri" pitchFamily="34" charset="-122"/>
                          <a:cs typeface="Calibri" pitchFamily="34" charset="-120"/>
                        </a:rPr>
                        <a:t>Age, smoking status, physical activity</a:t>
                      </a:r>
                      <a:endParaRPr lang="en-US" sz="1200" dirty="0">
                        <a:latin typeface="Calibri" charset="0"/>
                        <a:ea typeface="Calibri" charset="0"/>
                        <a:cs typeface="Calibri" charset="0"/>
                      </a:endParaRPr>
                    </a:p>
                  </a:txBody>
                  <a:tcPr anchor="ctr">
                    <a:lnL w="6350" cap="flat" cmpd="sng" algn="ctr">
                      <a:solidFill>
                        <a:srgbClr val="D6E4EC"/>
                      </a:solidFill>
                      <a:prstDash val="solid"/>
                      <a:round/>
                      <a:headEnd type="none" w="med" len="med"/>
                      <a:tailEnd type="none" w="med" len="med"/>
                    </a:lnL>
                    <a:lnR w="6350" cap="flat" cmpd="sng" algn="ctr">
                      <a:solidFill>
                        <a:srgbClr val="D6E4EC"/>
                      </a:solidFill>
                      <a:prstDash val="solid"/>
                      <a:round/>
                      <a:headEnd type="none" w="med" len="med"/>
                      <a:tailEnd type="none" w="med" len="med"/>
                    </a:lnR>
                    <a:lnT w="6350" cap="flat" cmpd="sng" algn="ctr">
                      <a:solidFill>
                        <a:srgbClr val="D6E4EC"/>
                      </a:solidFill>
                      <a:prstDash val="solid"/>
                      <a:round/>
                      <a:headEnd type="none" w="med" len="med"/>
                      <a:tailEnd type="none" w="med" len="med"/>
                    </a:lnT>
                    <a:lnB w="6350" cap="flat" cmpd="sng" algn="ctr">
                      <a:solidFill>
                        <a:srgbClr val="D6E4EC"/>
                      </a:solidFill>
                      <a:prstDash val="solid"/>
                      <a:round/>
                      <a:headEnd type="none" w="med" len="med"/>
                      <a:tailEnd type="none" w="med" len="med"/>
                    </a:lnB>
                    <a:solidFill>
                      <a:srgbClr val="FFFFFF"/>
                    </a:solidFill>
                  </a:tcPr>
                </a:tc>
                <a:tc>
                  <a:txBody>
                    <a:bodyPr/>
                    <a:lstStyle/>
                    <a:p>
                      <a:pPr marL="0" indent="0" algn="l">
                        <a:buNone/>
                      </a:pPr>
                      <a:r>
                        <a:rPr lang="en-US" sz="1200" dirty="0">
                          <a:solidFill>
                            <a:srgbClr val="000000"/>
                          </a:solidFill>
                          <a:latin typeface="Calibri" pitchFamily="34" charset="0"/>
                          <a:ea typeface="Calibri" pitchFamily="34" charset="-122"/>
                          <a:cs typeface="Calibri" pitchFamily="34" charset="-120"/>
                        </a:rPr>
                        <a:t>Any scale</a:t>
                      </a:r>
                      <a:endParaRPr lang="en-US" sz="1200" dirty="0">
                        <a:latin typeface="Calibri" charset="0"/>
                        <a:ea typeface="Calibri" charset="0"/>
                        <a:cs typeface="Calibri" charset="0"/>
                      </a:endParaRPr>
                    </a:p>
                  </a:txBody>
                  <a:tcPr anchor="ctr">
                    <a:lnL w="6350" cap="flat" cmpd="sng" algn="ctr">
                      <a:solidFill>
                        <a:srgbClr val="D6E4EC"/>
                      </a:solidFill>
                      <a:prstDash val="solid"/>
                      <a:round/>
                      <a:headEnd type="none" w="med" len="med"/>
                      <a:tailEnd type="none" w="med" len="med"/>
                    </a:lnL>
                    <a:lnR w="6350" cap="flat" cmpd="sng" algn="ctr">
                      <a:solidFill>
                        <a:srgbClr val="D6E4EC"/>
                      </a:solidFill>
                      <a:prstDash val="solid"/>
                      <a:round/>
                      <a:headEnd type="none" w="med" len="med"/>
                      <a:tailEnd type="none" w="med" len="med"/>
                    </a:lnR>
                    <a:lnT w="6350" cap="flat" cmpd="sng" algn="ctr">
                      <a:solidFill>
                        <a:srgbClr val="D6E4EC"/>
                      </a:solidFill>
                      <a:prstDash val="solid"/>
                      <a:round/>
                      <a:headEnd type="none" w="med" len="med"/>
                      <a:tailEnd type="none" w="med" len="med"/>
                    </a:lnT>
                    <a:lnB w="6350" cap="flat" cmpd="sng" algn="ctr">
                      <a:solidFill>
                        <a:srgbClr val="D6E4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76072">
                <a:tc>
                  <a:txBody>
                    <a:bodyPr/>
                    <a:lstStyle/>
                    <a:p>
                      <a:pPr marL="0" indent="0" algn="l">
                        <a:buNone/>
                      </a:pPr>
                      <a:r>
                        <a:rPr lang="en-US" sz="1200" dirty="0">
                          <a:solidFill>
                            <a:srgbClr val="000000"/>
                          </a:solidFill>
                          <a:latin typeface="Calibri" pitchFamily="34" charset="0"/>
                          <a:ea typeface="Calibri" pitchFamily="34" charset="-122"/>
                          <a:cs typeface="Calibri" pitchFamily="34" charset="-120"/>
                        </a:rPr>
                        <a:t>Covariate</a:t>
                      </a:r>
                      <a:endParaRPr lang="en-US" sz="1200" dirty="0">
                        <a:latin typeface="Calibri" charset="0"/>
                        <a:ea typeface="Calibri" charset="0"/>
                        <a:cs typeface="Calibri" charset="0"/>
                      </a:endParaRPr>
                    </a:p>
                  </a:txBody>
                  <a:tcPr anchor="ctr">
                    <a:lnL w="6350" cap="flat" cmpd="sng" algn="ctr">
                      <a:solidFill>
                        <a:srgbClr val="D6E4EC"/>
                      </a:solidFill>
                      <a:prstDash val="solid"/>
                      <a:round/>
                      <a:headEnd type="none" w="med" len="med"/>
                      <a:tailEnd type="none" w="med" len="med"/>
                    </a:lnL>
                    <a:lnR w="6350" cap="flat" cmpd="sng" algn="ctr">
                      <a:solidFill>
                        <a:srgbClr val="D6E4EC"/>
                      </a:solidFill>
                      <a:prstDash val="solid"/>
                      <a:round/>
                      <a:headEnd type="none" w="med" len="med"/>
                      <a:tailEnd type="none" w="med" len="med"/>
                    </a:lnR>
                    <a:lnT w="6350" cap="flat" cmpd="sng" algn="ctr">
                      <a:solidFill>
                        <a:srgbClr val="D6E4EC"/>
                      </a:solidFill>
                      <a:prstDash val="solid"/>
                      <a:round/>
                      <a:headEnd type="none" w="med" len="med"/>
                      <a:tailEnd type="none" w="med" len="med"/>
                    </a:lnT>
                    <a:lnB w="6350" cap="flat" cmpd="sng" algn="ctr">
                      <a:solidFill>
                        <a:srgbClr val="D6E4EC"/>
                      </a:solidFill>
                      <a:prstDash val="solid"/>
                      <a:round/>
                      <a:headEnd type="none" w="med" len="med"/>
                      <a:tailEnd type="none" w="med" len="med"/>
                    </a:lnB>
                    <a:solidFill>
                      <a:srgbClr val="FFFFFF"/>
                    </a:solidFill>
                  </a:tcPr>
                </a:tc>
                <a:tc>
                  <a:txBody>
                    <a:bodyPr/>
                    <a:lstStyle/>
                    <a:p>
                      <a:pPr marL="0" indent="0" algn="l">
                        <a:buNone/>
                      </a:pPr>
                      <a:r>
                        <a:rPr lang="en-US" sz="1200" dirty="0">
                          <a:solidFill>
                            <a:srgbClr val="000000"/>
                          </a:solidFill>
                          <a:latin typeface="Calibri" pitchFamily="34" charset="0"/>
                          <a:ea typeface="Calibri" pitchFamily="34" charset="-122"/>
                          <a:cs typeface="Calibri" pitchFamily="34" charset="-120"/>
                        </a:rPr>
                        <a:t>Continuous IV, often a confounder</a:t>
                      </a:r>
                      <a:endParaRPr lang="en-US" sz="1200" dirty="0">
                        <a:latin typeface="Calibri" charset="0"/>
                        <a:ea typeface="Calibri" charset="0"/>
                        <a:cs typeface="Calibri" charset="0"/>
                      </a:endParaRPr>
                    </a:p>
                  </a:txBody>
                  <a:tcPr anchor="ctr">
                    <a:lnL w="6350" cap="flat" cmpd="sng" algn="ctr">
                      <a:solidFill>
                        <a:srgbClr val="D6E4EC"/>
                      </a:solidFill>
                      <a:prstDash val="solid"/>
                      <a:round/>
                      <a:headEnd type="none" w="med" len="med"/>
                      <a:tailEnd type="none" w="med" len="med"/>
                    </a:lnL>
                    <a:lnR w="6350" cap="flat" cmpd="sng" algn="ctr">
                      <a:solidFill>
                        <a:srgbClr val="D6E4EC"/>
                      </a:solidFill>
                      <a:prstDash val="solid"/>
                      <a:round/>
                      <a:headEnd type="none" w="med" len="med"/>
                      <a:tailEnd type="none" w="med" len="med"/>
                    </a:lnR>
                    <a:lnT w="6350" cap="flat" cmpd="sng" algn="ctr">
                      <a:solidFill>
                        <a:srgbClr val="D6E4EC"/>
                      </a:solidFill>
                      <a:prstDash val="solid"/>
                      <a:round/>
                      <a:headEnd type="none" w="med" len="med"/>
                      <a:tailEnd type="none" w="med" len="med"/>
                    </a:lnT>
                    <a:lnB w="6350" cap="flat" cmpd="sng" algn="ctr">
                      <a:solidFill>
                        <a:srgbClr val="D6E4EC"/>
                      </a:solidFill>
                      <a:prstDash val="solid"/>
                      <a:round/>
                      <a:headEnd type="none" w="med" len="med"/>
                      <a:tailEnd type="none" w="med" len="med"/>
                    </a:lnB>
                    <a:solidFill>
                      <a:srgbClr val="FFFFFF"/>
                    </a:solidFill>
                  </a:tcPr>
                </a:tc>
                <a:tc>
                  <a:txBody>
                    <a:bodyPr/>
                    <a:lstStyle/>
                    <a:p>
                      <a:pPr marL="0" indent="0" algn="l">
                        <a:buNone/>
                      </a:pPr>
                      <a:r>
                        <a:rPr lang="en-US" sz="1200" dirty="0">
                          <a:solidFill>
                            <a:srgbClr val="000000"/>
                          </a:solidFill>
                          <a:latin typeface="Calibri" pitchFamily="34" charset="0"/>
                          <a:ea typeface="Calibri" pitchFamily="34" charset="-122"/>
                          <a:cs typeface="Calibri" pitchFamily="34" charset="-120"/>
                        </a:rPr>
                        <a:t>Baseline BMI in an RCT</a:t>
                      </a:r>
                      <a:endParaRPr lang="en-US" sz="1200" dirty="0">
                        <a:latin typeface="Calibri" charset="0"/>
                        <a:ea typeface="Calibri" charset="0"/>
                        <a:cs typeface="Calibri" charset="0"/>
                      </a:endParaRPr>
                    </a:p>
                  </a:txBody>
                  <a:tcPr anchor="ctr">
                    <a:lnL w="6350" cap="flat" cmpd="sng" algn="ctr">
                      <a:solidFill>
                        <a:srgbClr val="D6E4EC"/>
                      </a:solidFill>
                      <a:prstDash val="solid"/>
                      <a:round/>
                      <a:headEnd type="none" w="med" len="med"/>
                      <a:tailEnd type="none" w="med" len="med"/>
                    </a:lnL>
                    <a:lnR w="6350" cap="flat" cmpd="sng" algn="ctr">
                      <a:solidFill>
                        <a:srgbClr val="D6E4EC"/>
                      </a:solidFill>
                      <a:prstDash val="solid"/>
                      <a:round/>
                      <a:headEnd type="none" w="med" len="med"/>
                      <a:tailEnd type="none" w="med" len="med"/>
                    </a:lnR>
                    <a:lnT w="6350" cap="flat" cmpd="sng" algn="ctr">
                      <a:solidFill>
                        <a:srgbClr val="D6E4EC"/>
                      </a:solidFill>
                      <a:prstDash val="solid"/>
                      <a:round/>
                      <a:headEnd type="none" w="med" len="med"/>
                      <a:tailEnd type="none" w="med" len="med"/>
                    </a:lnT>
                    <a:lnB w="6350" cap="flat" cmpd="sng" algn="ctr">
                      <a:solidFill>
                        <a:srgbClr val="D6E4EC"/>
                      </a:solidFill>
                      <a:prstDash val="solid"/>
                      <a:round/>
                      <a:headEnd type="none" w="med" len="med"/>
                      <a:tailEnd type="none" w="med" len="med"/>
                    </a:lnB>
                    <a:solidFill>
                      <a:srgbClr val="FFFFFF"/>
                    </a:solidFill>
                  </a:tcPr>
                </a:tc>
                <a:tc>
                  <a:txBody>
                    <a:bodyPr/>
                    <a:lstStyle/>
                    <a:p>
                      <a:pPr marL="0" indent="0" algn="l">
                        <a:buNone/>
                      </a:pPr>
                      <a:r>
                        <a:rPr lang="en-US" sz="1200" dirty="0">
                          <a:solidFill>
                            <a:srgbClr val="000000"/>
                          </a:solidFill>
                          <a:latin typeface="Calibri" pitchFamily="34" charset="0"/>
                          <a:ea typeface="Calibri" pitchFamily="34" charset="-122"/>
                          <a:cs typeface="Calibri" pitchFamily="34" charset="-120"/>
                        </a:rPr>
                        <a:t>Continuous</a:t>
                      </a:r>
                      <a:endParaRPr lang="en-US" sz="1200" dirty="0">
                        <a:latin typeface="Calibri" charset="0"/>
                        <a:ea typeface="Calibri" charset="0"/>
                        <a:cs typeface="Calibri" charset="0"/>
                      </a:endParaRPr>
                    </a:p>
                  </a:txBody>
                  <a:tcPr anchor="ctr">
                    <a:lnL w="6350" cap="flat" cmpd="sng" algn="ctr">
                      <a:solidFill>
                        <a:srgbClr val="D6E4EC"/>
                      </a:solidFill>
                      <a:prstDash val="solid"/>
                      <a:round/>
                      <a:headEnd type="none" w="med" len="med"/>
                      <a:tailEnd type="none" w="med" len="med"/>
                    </a:lnL>
                    <a:lnR w="6350" cap="flat" cmpd="sng" algn="ctr">
                      <a:solidFill>
                        <a:srgbClr val="D6E4EC"/>
                      </a:solidFill>
                      <a:prstDash val="solid"/>
                      <a:round/>
                      <a:headEnd type="none" w="med" len="med"/>
                      <a:tailEnd type="none" w="med" len="med"/>
                    </a:lnR>
                    <a:lnT w="6350" cap="flat" cmpd="sng" algn="ctr">
                      <a:solidFill>
                        <a:srgbClr val="D6E4EC"/>
                      </a:solidFill>
                      <a:prstDash val="solid"/>
                      <a:round/>
                      <a:headEnd type="none" w="med" len="med"/>
                      <a:tailEnd type="none" w="med" len="med"/>
                    </a:lnT>
                    <a:lnB w="6350" cap="flat" cmpd="sng" algn="ctr">
                      <a:solidFill>
                        <a:srgbClr val="D6E4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76072">
                <a:tc>
                  <a:txBody>
                    <a:bodyPr/>
                    <a:lstStyle/>
                    <a:p>
                      <a:pPr marL="0" indent="0" algn="l">
                        <a:buNone/>
                      </a:pPr>
                      <a:r>
                        <a:rPr lang="en-US" sz="1200" dirty="0">
                          <a:solidFill>
                            <a:srgbClr val="000000"/>
                          </a:solidFill>
                          <a:latin typeface="Calibri" pitchFamily="34" charset="0"/>
                          <a:ea typeface="Calibri" pitchFamily="34" charset="-122"/>
                          <a:cs typeface="Calibri" pitchFamily="34" charset="-120"/>
                        </a:rPr>
                        <a:t>Mediator</a:t>
                      </a:r>
                      <a:endParaRPr lang="en-US" sz="1200" dirty="0">
                        <a:latin typeface="Calibri" charset="0"/>
                        <a:ea typeface="Calibri" charset="0"/>
                        <a:cs typeface="Calibri" charset="0"/>
                      </a:endParaRPr>
                    </a:p>
                  </a:txBody>
                  <a:tcPr anchor="ctr">
                    <a:lnL w="6350" cap="flat" cmpd="sng" algn="ctr">
                      <a:solidFill>
                        <a:srgbClr val="D6E4EC"/>
                      </a:solidFill>
                      <a:prstDash val="solid"/>
                      <a:round/>
                      <a:headEnd type="none" w="med" len="med"/>
                      <a:tailEnd type="none" w="med" len="med"/>
                    </a:lnL>
                    <a:lnR w="6350" cap="flat" cmpd="sng" algn="ctr">
                      <a:solidFill>
                        <a:srgbClr val="D6E4EC"/>
                      </a:solidFill>
                      <a:prstDash val="solid"/>
                      <a:round/>
                      <a:headEnd type="none" w="med" len="med"/>
                      <a:tailEnd type="none" w="med" len="med"/>
                    </a:lnR>
                    <a:lnT w="6350" cap="flat" cmpd="sng" algn="ctr">
                      <a:solidFill>
                        <a:srgbClr val="D6E4EC"/>
                      </a:solidFill>
                      <a:prstDash val="solid"/>
                      <a:round/>
                      <a:headEnd type="none" w="med" len="med"/>
                      <a:tailEnd type="none" w="med" len="med"/>
                    </a:lnT>
                    <a:lnB w="6350" cap="flat" cmpd="sng" algn="ctr">
                      <a:solidFill>
                        <a:srgbClr val="D6E4EC"/>
                      </a:solidFill>
                      <a:prstDash val="solid"/>
                      <a:round/>
                      <a:headEnd type="none" w="med" len="med"/>
                      <a:tailEnd type="none" w="med" len="med"/>
                    </a:lnB>
                    <a:solidFill>
                      <a:srgbClr val="FFFFFF"/>
                    </a:solidFill>
                  </a:tcPr>
                </a:tc>
                <a:tc>
                  <a:txBody>
                    <a:bodyPr/>
                    <a:lstStyle/>
                    <a:p>
                      <a:pPr marL="0" indent="0" algn="l">
                        <a:buNone/>
                      </a:pPr>
                      <a:r>
                        <a:rPr lang="en-US" sz="1200" dirty="0">
                          <a:solidFill>
                            <a:srgbClr val="000000"/>
                          </a:solidFill>
                          <a:latin typeface="Calibri" pitchFamily="34" charset="0"/>
                          <a:ea typeface="Calibri" pitchFamily="34" charset="-122"/>
                          <a:cs typeface="Calibri" pitchFamily="34" charset="-120"/>
                        </a:rPr>
                        <a:t>Explains the IV → DV pathway</a:t>
                      </a:r>
                      <a:endParaRPr lang="en-US" sz="1200" dirty="0">
                        <a:latin typeface="Calibri" charset="0"/>
                        <a:ea typeface="Calibri" charset="0"/>
                        <a:cs typeface="Calibri" charset="0"/>
                      </a:endParaRPr>
                    </a:p>
                  </a:txBody>
                  <a:tcPr anchor="ctr">
                    <a:lnL w="6350" cap="flat" cmpd="sng" algn="ctr">
                      <a:solidFill>
                        <a:srgbClr val="D6E4EC"/>
                      </a:solidFill>
                      <a:prstDash val="solid"/>
                      <a:round/>
                      <a:headEnd type="none" w="med" len="med"/>
                      <a:tailEnd type="none" w="med" len="med"/>
                    </a:lnL>
                    <a:lnR w="6350" cap="flat" cmpd="sng" algn="ctr">
                      <a:solidFill>
                        <a:srgbClr val="D6E4EC"/>
                      </a:solidFill>
                      <a:prstDash val="solid"/>
                      <a:round/>
                      <a:headEnd type="none" w="med" len="med"/>
                      <a:tailEnd type="none" w="med" len="med"/>
                    </a:lnR>
                    <a:lnT w="6350" cap="flat" cmpd="sng" algn="ctr">
                      <a:solidFill>
                        <a:srgbClr val="D6E4EC"/>
                      </a:solidFill>
                      <a:prstDash val="solid"/>
                      <a:round/>
                      <a:headEnd type="none" w="med" len="med"/>
                      <a:tailEnd type="none" w="med" len="med"/>
                    </a:lnT>
                    <a:lnB w="6350" cap="flat" cmpd="sng" algn="ctr">
                      <a:solidFill>
                        <a:srgbClr val="D6E4EC"/>
                      </a:solidFill>
                      <a:prstDash val="solid"/>
                      <a:round/>
                      <a:headEnd type="none" w="med" len="med"/>
                      <a:tailEnd type="none" w="med" len="med"/>
                    </a:lnB>
                    <a:solidFill>
                      <a:srgbClr val="FFFFFF"/>
                    </a:solidFill>
                  </a:tcPr>
                </a:tc>
                <a:tc>
                  <a:txBody>
                    <a:bodyPr/>
                    <a:lstStyle/>
                    <a:p>
                      <a:pPr marL="0" indent="0" algn="l">
                        <a:buNone/>
                      </a:pPr>
                      <a:r>
                        <a:rPr lang="en-US" sz="1200" dirty="0">
                          <a:solidFill>
                            <a:srgbClr val="000000"/>
                          </a:solidFill>
                          <a:latin typeface="Calibri" pitchFamily="34" charset="0"/>
                          <a:ea typeface="Calibri" pitchFamily="34" charset="-122"/>
                          <a:cs typeface="Calibri" pitchFamily="34" charset="-120"/>
                        </a:rPr>
                        <a:t>Inflammation mediates stress → CVD</a:t>
                      </a:r>
                      <a:endParaRPr lang="en-US" sz="1200" dirty="0">
                        <a:latin typeface="Calibri" charset="0"/>
                        <a:ea typeface="Calibri" charset="0"/>
                        <a:cs typeface="Calibri" charset="0"/>
                      </a:endParaRPr>
                    </a:p>
                  </a:txBody>
                  <a:tcPr anchor="ctr">
                    <a:lnL w="6350" cap="flat" cmpd="sng" algn="ctr">
                      <a:solidFill>
                        <a:srgbClr val="D6E4EC"/>
                      </a:solidFill>
                      <a:prstDash val="solid"/>
                      <a:round/>
                      <a:headEnd type="none" w="med" len="med"/>
                      <a:tailEnd type="none" w="med" len="med"/>
                    </a:lnL>
                    <a:lnR w="6350" cap="flat" cmpd="sng" algn="ctr">
                      <a:solidFill>
                        <a:srgbClr val="D6E4EC"/>
                      </a:solidFill>
                      <a:prstDash val="solid"/>
                      <a:round/>
                      <a:headEnd type="none" w="med" len="med"/>
                      <a:tailEnd type="none" w="med" len="med"/>
                    </a:lnR>
                    <a:lnT w="6350" cap="flat" cmpd="sng" algn="ctr">
                      <a:solidFill>
                        <a:srgbClr val="D6E4EC"/>
                      </a:solidFill>
                      <a:prstDash val="solid"/>
                      <a:round/>
                      <a:headEnd type="none" w="med" len="med"/>
                      <a:tailEnd type="none" w="med" len="med"/>
                    </a:lnT>
                    <a:lnB w="6350" cap="flat" cmpd="sng" algn="ctr">
                      <a:solidFill>
                        <a:srgbClr val="D6E4EC"/>
                      </a:solidFill>
                      <a:prstDash val="solid"/>
                      <a:round/>
                      <a:headEnd type="none" w="med" len="med"/>
                      <a:tailEnd type="none" w="med" len="med"/>
                    </a:lnB>
                    <a:solidFill>
                      <a:srgbClr val="FFFFFF"/>
                    </a:solidFill>
                  </a:tcPr>
                </a:tc>
                <a:tc>
                  <a:txBody>
                    <a:bodyPr/>
                    <a:lstStyle/>
                    <a:p>
                      <a:pPr marL="0" indent="0" algn="l">
                        <a:buNone/>
                      </a:pPr>
                      <a:r>
                        <a:rPr lang="en-US" sz="1200" dirty="0">
                          <a:solidFill>
                            <a:srgbClr val="000000"/>
                          </a:solidFill>
                          <a:latin typeface="Calibri" pitchFamily="34" charset="0"/>
                          <a:ea typeface="Calibri" pitchFamily="34" charset="-122"/>
                          <a:cs typeface="Calibri" pitchFamily="34" charset="-120"/>
                        </a:rPr>
                        <a:t>Any scale</a:t>
                      </a:r>
                      <a:endParaRPr lang="en-US" sz="1200" dirty="0">
                        <a:latin typeface="Calibri" charset="0"/>
                        <a:ea typeface="Calibri" charset="0"/>
                        <a:cs typeface="Calibri" charset="0"/>
                      </a:endParaRPr>
                    </a:p>
                  </a:txBody>
                  <a:tcPr anchor="ctr">
                    <a:lnL w="6350" cap="flat" cmpd="sng" algn="ctr">
                      <a:solidFill>
                        <a:srgbClr val="D6E4EC"/>
                      </a:solidFill>
                      <a:prstDash val="solid"/>
                      <a:round/>
                      <a:headEnd type="none" w="med" len="med"/>
                      <a:tailEnd type="none" w="med" len="med"/>
                    </a:lnL>
                    <a:lnR w="6350" cap="flat" cmpd="sng" algn="ctr">
                      <a:solidFill>
                        <a:srgbClr val="D6E4EC"/>
                      </a:solidFill>
                      <a:prstDash val="solid"/>
                      <a:round/>
                      <a:headEnd type="none" w="med" len="med"/>
                      <a:tailEnd type="none" w="med" len="med"/>
                    </a:lnR>
                    <a:lnT w="6350" cap="flat" cmpd="sng" algn="ctr">
                      <a:solidFill>
                        <a:srgbClr val="D6E4EC"/>
                      </a:solidFill>
                      <a:prstDash val="solid"/>
                      <a:round/>
                      <a:headEnd type="none" w="med" len="med"/>
                      <a:tailEnd type="none" w="med" len="med"/>
                    </a:lnT>
                    <a:lnB w="6350" cap="flat" cmpd="sng" algn="ctr">
                      <a:solidFill>
                        <a:srgbClr val="D6E4E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76072">
                <a:tc>
                  <a:txBody>
                    <a:bodyPr/>
                    <a:lstStyle/>
                    <a:p>
                      <a:pPr marL="0" indent="0" algn="l">
                        <a:buNone/>
                      </a:pPr>
                      <a:r>
                        <a:rPr lang="en-US" sz="1200" dirty="0">
                          <a:solidFill>
                            <a:srgbClr val="000000"/>
                          </a:solidFill>
                          <a:latin typeface="Calibri" pitchFamily="34" charset="0"/>
                          <a:ea typeface="Calibri" pitchFamily="34" charset="-122"/>
                          <a:cs typeface="Calibri" pitchFamily="34" charset="-120"/>
                        </a:rPr>
                        <a:t>Moderator</a:t>
                      </a:r>
                      <a:endParaRPr lang="en-US" sz="1200" dirty="0">
                        <a:latin typeface="Calibri" charset="0"/>
                        <a:ea typeface="Calibri" charset="0"/>
                        <a:cs typeface="Calibri" charset="0"/>
                      </a:endParaRPr>
                    </a:p>
                  </a:txBody>
                  <a:tcPr anchor="ctr">
                    <a:lnL w="6350" cap="flat" cmpd="sng" algn="ctr">
                      <a:solidFill>
                        <a:srgbClr val="D6E4EC"/>
                      </a:solidFill>
                      <a:prstDash val="solid"/>
                      <a:round/>
                      <a:headEnd type="none" w="med" len="med"/>
                      <a:tailEnd type="none" w="med" len="med"/>
                    </a:lnL>
                    <a:lnR w="6350" cap="flat" cmpd="sng" algn="ctr">
                      <a:solidFill>
                        <a:srgbClr val="D6E4EC"/>
                      </a:solidFill>
                      <a:prstDash val="solid"/>
                      <a:round/>
                      <a:headEnd type="none" w="med" len="med"/>
                      <a:tailEnd type="none" w="med" len="med"/>
                    </a:lnR>
                    <a:lnT w="6350" cap="flat" cmpd="sng" algn="ctr">
                      <a:solidFill>
                        <a:srgbClr val="D6E4EC"/>
                      </a:solidFill>
                      <a:prstDash val="solid"/>
                      <a:round/>
                      <a:headEnd type="none" w="med" len="med"/>
                      <a:tailEnd type="none" w="med" len="med"/>
                    </a:lnT>
                    <a:lnB w="6350" cap="flat" cmpd="sng" algn="ctr">
                      <a:solidFill>
                        <a:srgbClr val="D6E4EC"/>
                      </a:solidFill>
                      <a:prstDash val="solid"/>
                      <a:round/>
                      <a:headEnd type="none" w="med" len="med"/>
                      <a:tailEnd type="none" w="med" len="med"/>
                    </a:lnB>
                    <a:solidFill>
                      <a:srgbClr val="FFFFFF"/>
                    </a:solidFill>
                  </a:tcPr>
                </a:tc>
                <a:tc>
                  <a:txBody>
                    <a:bodyPr/>
                    <a:lstStyle/>
                    <a:p>
                      <a:pPr marL="0" indent="0" algn="l">
                        <a:buNone/>
                      </a:pPr>
                      <a:r>
                        <a:rPr lang="en-US" sz="1200" dirty="0">
                          <a:solidFill>
                            <a:srgbClr val="000000"/>
                          </a:solidFill>
                          <a:latin typeface="Calibri" pitchFamily="34" charset="0"/>
                          <a:ea typeface="Calibri" pitchFamily="34" charset="-122"/>
                          <a:cs typeface="Calibri" pitchFamily="34" charset="-120"/>
                        </a:rPr>
                        <a:t>Modifies IV → DV relationship</a:t>
                      </a:r>
                      <a:endParaRPr lang="en-US" sz="1200" dirty="0">
                        <a:latin typeface="Calibri" charset="0"/>
                        <a:ea typeface="Calibri" charset="0"/>
                        <a:cs typeface="Calibri" charset="0"/>
                      </a:endParaRPr>
                    </a:p>
                  </a:txBody>
                  <a:tcPr anchor="ctr">
                    <a:lnL w="6350" cap="flat" cmpd="sng" algn="ctr">
                      <a:solidFill>
                        <a:srgbClr val="D6E4EC"/>
                      </a:solidFill>
                      <a:prstDash val="solid"/>
                      <a:round/>
                      <a:headEnd type="none" w="med" len="med"/>
                      <a:tailEnd type="none" w="med" len="med"/>
                    </a:lnL>
                    <a:lnR w="6350" cap="flat" cmpd="sng" algn="ctr">
                      <a:solidFill>
                        <a:srgbClr val="D6E4EC"/>
                      </a:solidFill>
                      <a:prstDash val="solid"/>
                      <a:round/>
                      <a:headEnd type="none" w="med" len="med"/>
                      <a:tailEnd type="none" w="med" len="med"/>
                    </a:lnR>
                    <a:lnT w="6350" cap="flat" cmpd="sng" algn="ctr">
                      <a:solidFill>
                        <a:srgbClr val="D6E4EC"/>
                      </a:solidFill>
                      <a:prstDash val="solid"/>
                      <a:round/>
                      <a:headEnd type="none" w="med" len="med"/>
                      <a:tailEnd type="none" w="med" len="med"/>
                    </a:lnT>
                    <a:lnB w="6350" cap="flat" cmpd="sng" algn="ctr">
                      <a:solidFill>
                        <a:srgbClr val="D6E4EC"/>
                      </a:solidFill>
                      <a:prstDash val="solid"/>
                      <a:round/>
                      <a:headEnd type="none" w="med" len="med"/>
                      <a:tailEnd type="none" w="med" len="med"/>
                    </a:lnB>
                    <a:solidFill>
                      <a:srgbClr val="FFFFFF"/>
                    </a:solidFill>
                  </a:tcPr>
                </a:tc>
                <a:tc>
                  <a:txBody>
                    <a:bodyPr/>
                    <a:lstStyle/>
                    <a:p>
                      <a:pPr marL="0" indent="0" algn="l">
                        <a:buNone/>
                      </a:pPr>
                      <a:r>
                        <a:rPr lang="en-US" sz="1200" dirty="0">
                          <a:solidFill>
                            <a:srgbClr val="000000"/>
                          </a:solidFill>
                          <a:latin typeface="Calibri" pitchFamily="34" charset="0"/>
                          <a:ea typeface="Calibri" pitchFamily="34" charset="-122"/>
                          <a:cs typeface="Calibri" pitchFamily="34" charset="-120"/>
                        </a:rPr>
                        <a:t>Sex modifies drug × outcome</a:t>
                      </a:r>
                      <a:endParaRPr lang="en-US" sz="1200" dirty="0">
                        <a:latin typeface="Calibri" charset="0"/>
                        <a:ea typeface="Calibri" charset="0"/>
                        <a:cs typeface="Calibri" charset="0"/>
                      </a:endParaRPr>
                    </a:p>
                  </a:txBody>
                  <a:tcPr anchor="ctr">
                    <a:lnL w="6350" cap="flat" cmpd="sng" algn="ctr">
                      <a:solidFill>
                        <a:srgbClr val="D6E4EC"/>
                      </a:solidFill>
                      <a:prstDash val="solid"/>
                      <a:round/>
                      <a:headEnd type="none" w="med" len="med"/>
                      <a:tailEnd type="none" w="med" len="med"/>
                    </a:lnL>
                    <a:lnR w="6350" cap="flat" cmpd="sng" algn="ctr">
                      <a:solidFill>
                        <a:srgbClr val="D6E4EC"/>
                      </a:solidFill>
                      <a:prstDash val="solid"/>
                      <a:round/>
                      <a:headEnd type="none" w="med" len="med"/>
                      <a:tailEnd type="none" w="med" len="med"/>
                    </a:lnR>
                    <a:lnT w="6350" cap="flat" cmpd="sng" algn="ctr">
                      <a:solidFill>
                        <a:srgbClr val="D6E4EC"/>
                      </a:solidFill>
                      <a:prstDash val="solid"/>
                      <a:round/>
                      <a:headEnd type="none" w="med" len="med"/>
                      <a:tailEnd type="none" w="med" len="med"/>
                    </a:lnT>
                    <a:lnB w="6350" cap="flat" cmpd="sng" algn="ctr">
                      <a:solidFill>
                        <a:srgbClr val="D6E4EC"/>
                      </a:solidFill>
                      <a:prstDash val="solid"/>
                      <a:round/>
                      <a:headEnd type="none" w="med" len="med"/>
                      <a:tailEnd type="none" w="med" len="med"/>
                    </a:lnB>
                    <a:solidFill>
                      <a:srgbClr val="FFFFFF"/>
                    </a:solidFill>
                  </a:tcPr>
                </a:tc>
                <a:tc>
                  <a:txBody>
                    <a:bodyPr/>
                    <a:lstStyle/>
                    <a:p>
                      <a:pPr marL="0" indent="0" algn="l">
                        <a:buNone/>
                      </a:pPr>
                      <a:r>
                        <a:rPr lang="en-US" sz="1200" dirty="0">
                          <a:solidFill>
                            <a:srgbClr val="000000"/>
                          </a:solidFill>
                          <a:latin typeface="Calibri" pitchFamily="34" charset="0"/>
                          <a:ea typeface="Calibri" pitchFamily="34" charset="-122"/>
                          <a:cs typeface="Calibri" pitchFamily="34" charset="-120"/>
                        </a:rPr>
                        <a:t>Any scale</a:t>
                      </a:r>
                      <a:endParaRPr lang="en-US" sz="1200" dirty="0">
                        <a:latin typeface="Calibri" charset="0"/>
                        <a:ea typeface="Calibri" charset="0"/>
                        <a:cs typeface="Calibri" charset="0"/>
                      </a:endParaRPr>
                    </a:p>
                  </a:txBody>
                  <a:tcPr anchor="ctr">
                    <a:lnL w="6350" cap="flat" cmpd="sng" algn="ctr">
                      <a:solidFill>
                        <a:srgbClr val="D6E4EC"/>
                      </a:solidFill>
                      <a:prstDash val="solid"/>
                      <a:round/>
                      <a:headEnd type="none" w="med" len="med"/>
                      <a:tailEnd type="none" w="med" len="med"/>
                    </a:lnL>
                    <a:lnR w="6350" cap="flat" cmpd="sng" algn="ctr">
                      <a:solidFill>
                        <a:srgbClr val="D6E4EC"/>
                      </a:solidFill>
                      <a:prstDash val="solid"/>
                      <a:round/>
                      <a:headEnd type="none" w="med" len="med"/>
                      <a:tailEnd type="none" w="med" len="med"/>
                    </a:lnR>
                    <a:lnT w="6350" cap="flat" cmpd="sng" algn="ctr">
                      <a:solidFill>
                        <a:srgbClr val="D6E4EC"/>
                      </a:solidFill>
                      <a:prstDash val="solid"/>
                      <a:round/>
                      <a:headEnd type="none" w="med" len="med"/>
                      <a:tailEnd type="none" w="med" len="med"/>
                    </a:lnT>
                    <a:lnB w="6350" cap="flat" cmpd="sng" algn="ctr">
                      <a:solidFill>
                        <a:srgbClr val="D6E4E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76072">
                <a:tc>
                  <a:txBody>
                    <a:bodyPr/>
                    <a:lstStyle/>
                    <a:p>
                      <a:pPr marL="0" indent="0" algn="l">
                        <a:buNone/>
                      </a:pPr>
                      <a:r>
                        <a:rPr lang="en-US" sz="1200" dirty="0">
                          <a:solidFill>
                            <a:srgbClr val="000000"/>
                          </a:solidFill>
                          <a:latin typeface="Calibri" pitchFamily="34" charset="0"/>
                          <a:ea typeface="Calibri" pitchFamily="34" charset="-122"/>
                          <a:cs typeface="Calibri" pitchFamily="34" charset="-120"/>
                        </a:rPr>
                        <a:t>Latent Variable</a:t>
                      </a:r>
                      <a:endParaRPr lang="en-US" sz="1200" dirty="0">
                        <a:latin typeface="Calibri" charset="0"/>
                        <a:ea typeface="Calibri" charset="0"/>
                        <a:cs typeface="Calibri" charset="0"/>
                      </a:endParaRPr>
                    </a:p>
                  </a:txBody>
                  <a:tcPr anchor="ctr">
                    <a:lnL w="6350" cap="flat" cmpd="sng" algn="ctr">
                      <a:solidFill>
                        <a:srgbClr val="D6E4EC"/>
                      </a:solidFill>
                      <a:prstDash val="solid"/>
                      <a:round/>
                      <a:headEnd type="none" w="med" len="med"/>
                      <a:tailEnd type="none" w="med" len="med"/>
                    </a:lnL>
                    <a:lnR w="6350" cap="flat" cmpd="sng" algn="ctr">
                      <a:solidFill>
                        <a:srgbClr val="D6E4EC"/>
                      </a:solidFill>
                      <a:prstDash val="solid"/>
                      <a:round/>
                      <a:headEnd type="none" w="med" len="med"/>
                      <a:tailEnd type="none" w="med" len="med"/>
                    </a:lnR>
                    <a:lnT w="6350" cap="flat" cmpd="sng" algn="ctr">
                      <a:solidFill>
                        <a:srgbClr val="D6E4EC"/>
                      </a:solidFill>
                      <a:prstDash val="solid"/>
                      <a:round/>
                      <a:headEnd type="none" w="med" len="med"/>
                      <a:tailEnd type="none" w="med" len="med"/>
                    </a:lnT>
                    <a:lnB w="6350" cap="flat" cmpd="sng" algn="ctr">
                      <a:solidFill>
                        <a:srgbClr val="D6E4EC"/>
                      </a:solidFill>
                      <a:prstDash val="solid"/>
                      <a:round/>
                      <a:headEnd type="none" w="med" len="med"/>
                      <a:tailEnd type="none" w="med" len="med"/>
                    </a:lnB>
                    <a:solidFill>
                      <a:srgbClr val="FFFFFF"/>
                    </a:solidFill>
                  </a:tcPr>
                </a:tc>
                <a:tc>
                  <a:txBody>
                    <a:bodyPr/>
                    <a:lstStyle/>
                    <a:p>
                      <a:pPr marL="0" indent="0" algn="l">
                        <a:buNone/>
                      </a:pPr>
                      <a:r>
                        <a:rPr lang="en-US" sz="1200" dirty="0">
                          <a:solidFill>
                            <a:srgbClr val="000000"/>
                          </a:solidFill>
                          <a:latin typeface="Calibri" pitchFamily="34" charset="0"/>
                          <a:ea typeface="Calibri" pitchFamily="34" charset="-122"/>
                          <a:cs typeface="Calibri" pitchFamily="34" charset="-120"/>
                        </a:rPr>
                        <a:t>Not directly observed; measured via indicators</a:t>
                      </a:r>
                      <a:endParaRPr lang="en-US" sz="1200" dirty="0">
                        <a:latin typeface="Calibri" charset="0"/>
                        <a:ea typeface="Calibri" charset="0"/>
                        <a:cs typeface="Calibri" charset="0"/>
                      </a:endParaRPr>
                    </a:p>
                  </a:txBody>
                  <a:tcPr anchor="ctr">
                    <a:lnL w="6350" cap="flat" cmpd="sng" algn="ctr">
                      <a:solidFill>
                        <a:srgbClr val="D6E4EC"/>
                      </a:solidFill>
                      <a:prstDash val="solid"/>
                      <a:round/>
                      <a:headEnd type="none" w="med" len="med"/>
                      <a:tailEnd type="none" w="med" len="med"/>
                    </a:lnL>
                    <a:lnR w="6350" cap="flat" cmpd="sng" algn="ctr">
                      <a:solidFill>
                        <a:srgbClr val="D6E4EC"/>
                      </a:solidFill>
                      <a:prstDash val="solid"/>
                      <a:round/>
                      <a:headEnd type="none" w="med" len="med"/>
                      <a:tailEnd type="none" w="med" len="med"/>
                    </a:lnR>
                    <a:lnT w="6350" cap="flat" cmpd="sng" algn="ctr">
                      <a:solidFill>
                        <a:srgbClr val="D6E4EC"/>
                      </a:solidFill>
                      <a:prstDash val="solid"/>
                      <a:round/>
                      <a:headEnd type="none" w="med" len="med"/>
                      <a:tailEnd type="none" w="med" len="med"/>
                    </a:lnT>
                    <a:lnB w="6350" cap="flat" cmpd="sng" algn="ctr">
                      <a:solidFill>
                        <a:srgbClr val="D6E4EC"/>
                      </a:solidFill>
                      <a:prstDash val="solid"/>
                      <a:round/>
                      <a:headEnd type="none" w="med" len="med"/>
                      <a:tailEnd type="none" w="med" len="med"/>
                    </a:lnB>
                    <a:solidFill>
                      <a:srgbClr val="FFFFFF"/>
                    </a:solidFill>
                  </a:tcPr>
                </a:tc>
                <a:tc>
                  <a:txBody>
                    <a:bodyPr/>
                    <a:lstStyle/>
                    <a:p>
                      <a:pPr marL="0" indent="0" algn="l">
                        <a:buNone/>
                      </a:pPr>
                      <a:r>
                        <a:rPr lang="en-US" sz="1200" dirty="0">
                          <a:solidFill>
                            <a:srgbClr val="000000"/>
                          </a:solidFill>
                          <a:latin typeface="Calibri" pitchFamily="34" charset="0"/>
                          <a:ea typeface="Calibri" pitchFamily="34" charset="-122"/>
                          <a:cs typeface="Calibri" pitchFamily="34" charset="-120"/>
                        </a:rPr>
                        <a:t>Socioeconomic status, stress</a:t>
                      </a:r>
                      <a:endParaRPr lang="en-US" sz="1200" dirty="0">
                        <a:latin typeface="Calibri" charset="0"/>
                        <a:ea typeface="Calibri" charset="0"/>
                        <a:cs typeface="Calibri" charset="0"/>
                      </a:endParaRPr>
                    </a:p>
                  </a:txBody>
                  <a:tcPr anchor="ctr">
                    <a:lnL w="6350" cap="flat" cmpd="sng" algn="ctr">
                      <a:solidFill>
                        <a:srgbClr val="D6E4EC"/>
                      </a:solidFill>
                      <a:prstDash val="solid"/>
                      <a:round/>
                      <a:headEnd type="none" w="med" len="med"/>
                      <a:tailEnd type="none" w="med" len="med"/>
                    </a:lnL>
                    <a:lnR w="6350" cap="flat" cmpd="sng" algn="ctr">
                      <a:solidFill>
                        <a:srgbClr val="D6E4EC"/>
                      </a:solidFill>
                      <a:prstDash val="solid"/>
                      <a:round/>
                      <a:headEnd type="none" w="med" len="med"/>
                      <a:tailEnd type="none" w="med" len="med"/>
                    </a:lnR>
                    <a:lnT w="6350" cap="flat" cmpd="sng" algn="ctr">
                      <a:solidFill>
                        <a:srgbClr val="D6E4EC"/>
                      </a:solidFill>
                      <a:prstDash val="solid"/>
                      <a:round/>
                      <a:headEnd type="none" w="med" len="med"/>
                      <a:tailEnd type="none" w="med" len="med"/>
                    </a:lnT>
                    <a:lnB w="6350" cap="flat" cmpd="sng" algn="ctr">
                      <a:solidFill>
                        <a:srgbClr val="D6E4EC"/>
                      </a:solidFill>
                      <a:prstDash val="solid"/>
                      <a:round/>
                      <a:headEnd type="none" w="med" len="med"/>
                      <a:tailEnd type="none" w="med" len="med"/>
                    </a:lnB>
                    <a:solidFill>
                      <a:srgbClr val="FFFFFF"/>
                    </a:solidFill>
                  </a:tcPr>
                </a:tc>
                <a:tc>
                  <a:txBody>
                    <a:bodyPr/>
                    <a:lstStyle/>
                    <a:p>
                      <a:pPr marL="0" indent="0" algn="l">
                        <a:buNone/>
                      </a:pPr>
                      <a:r>
                        <a:rPr lang="en-US" sz="1200" dirty="0">
                          <a:solidFill>
                            <a:srgbClr val="000000"/>
                          </a:solidFill>
                          <a:latin typeface="Calibri" pitchFamily="34" charset="0"/>
                          <a:ea typeface="Calibri" pitchFamily="34" charset="-122"/>
                          <a:cs typeface="Calibri" pitchFamily="34" charset="-120"/>
                        </a:rPr>
                        <a:t>Unobserved construct</a:t>
                      </a:r>
                      <a:endParaRPr lang="en-US" sz="1200" dirty="0">
                        <a:latin typeface="Calibri" charset="0"/>
                        <a:ea typeface="Calibri" charset="0"/>
                        <a:cs typeface="Calibri" charset="0"/>
                      </a:endParaRPr>
                    </a:p>
                  </a:txBody>
                  <a:tcPr anchor="ctr">
                    <a:lnL w="6350" cap="flat" cmpd="sng" algn="ctr">
                      <a:solidFill>
                        <a:srgbClr val="D6E4EC"/>
                      </a:solidFill>
                      <a:prstDash val="solid"/>
                      <a:round/>
                      <a:headEnd type="none" w="med" len="med"/>
                      <a:tailEnd type="none" w="med" len="med"/>
                    </a:lnL>
                    <a:lnR w="6350" cap="flat" cmpd="sng" algn="ctr">
                      <a:solidFill>
                        <a:srgbClr val="D6E4EC"/>
                      </a:solidFill>
                      <a:prstDash val="solid"/>
                      <a:round/>
                      <a:headEnd type="none" w="med" len="med"/>
                      <a:tailEnd type="none" w="med" len="med"/>
                    </a:lnR>
                    <a:lnT w="6350" cap="flat" cmpd="sng" algn="ctr">
                      <a:solidFill>
                        <a:srgbClr val="D6E4EC"/>
                      </a:solidFill>
                      <a:prstDash val="solid"/>
                      <a:round/>
                      <a:headEnd type="none" w="med" len="med"/>
                      <a:tailEnd type="none" w="med" len="med"/>
                    </a:lnT>
                    <a:lnB w="6350" cap="flat" cmpd="sng" algn="ctr">
                      <a:solidFill>
                        <a:srgbClr val="D6E4E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3142304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3E3DBA-072B-0770-CB98-AF6CE2F1BE28}"/>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56077414-D42C-0D16-520F-A691FAFC1259}"/>
              </a:ext>
            </a:extLst>
          </p:cNvPr>
          <p:cNvSpPr/>
          <p:nvPr/>
        </p:nvSpPr>
        <p:spPr>
          <a:xfrm>
            <a:off x="0" y="2011680"/>
            <a:ext cx="9144000" cy="1143000"/>
          </a:xfrm>
          <a:prstGeom prst="rect">
            <a:avLst/>
          </a:prstGeom>
          <a:solidFill>
            <a:srgbClr val="1C7293"/>
          </a:solidFill>
          <a:ln w="12700">
            <a:solidFill>
              <a:srgbClr val="1C7293"/>
            </a:solidFill>
            <a:prstDash val="solid"/>
          </a:ln>
        </p:spPr>
        <p:txBody>
          <a:bodyPr/>
          <a:lstStyle/>
          <a:p>
            <a:endParaRPr lang="en-US"/>
          </a:p>
        </p:txBody>
      </p:sp>
      <p:sp>
        <p:nvSpPr>
          <p:cNvPr id="3" name="Shape 1">
            <a:extLst>
              <a:ext uri="{FF2B5EF4-FFF2-40B4-BE49-F238E27FC236}">
                <a16:creationId xmlns:a16="http://schemas.microsoft.com/office/drawing/2014/main" id="{8D04C0CC-8BEA-ABBD-A160-9553B259EF76}"/>
              </a:ext>
            </a:extLst>
          </p:cNvPr>
          <p:cNvSpPr/>
          <p:nvPr/>
        </p:nvSpPr>
        <p:spPr>
          <a:xfrm>
            <a:off x="0" y="0"/>
            <a:ext cx="9144000" cy="91440"/>
          </a:xfrm>
          <a:prstGeom prst="rect">
            <a:avLst/>
          </a:prstGeom>
          <a:solidFill>
            <a:srgbClr val="E8A838"/>
          </a:solidFill>
          <a:ln w="12700">
            <a:solidFill>
              <a:srgbClr val="E8A838"/>
            </a:solidFill>
            <a:prstDash val="solid"/>
          </a:ln>
        </p:spPr>
        <p:txBody>
          <a:bodyPr/>
          <a:lstStyle/>
          <a:p>
            <a:endParaRPr lang="en-US"/>
          </a:p>
        </p:txBody>
      </p:sp>
      <p:sp>
        <p:nvSpPr>
          <p:cNvPr id="4" name="Text 2">
            <a:extLst>
              <a:ext uri="{FF2B5EF4-FFF2-40B4-BE49-F238E27FC236}">
                <a16:creationId xmlns:a16="http://schemas.microsoft.com/office/drawing/2014/main" id="{52F82402-F484-C443-9A4E-0C5D113B59FF}"/>
              </a:ext>
            </a:extLst>
          </p:cNvPr>
          <p:cNvSpPr/>
          <p:nvPr/>
        </p:nvSpPr>
        <p:spPr>
          <a:xfrm>
            <a:off x="457200" y="457200"/>
            <a:ext cx="8229600" cy="457200"/>
          </a:xfrm>
          <a:prstGeom prst="rect">
            <a:avLst/>
          </a:prstGeom>
          <a:noFill/>
          <a:ln/>
        </p:spPr>
        <p:txBody>
          <a:bodyPr wrap="square" lIns="0" tIns="0" rIns="0" bIns="0" rtlCol="0" anchor="ctr"/>
          <a:lstStyle/>
          <a:p>
            <a:pPr marL="0" indent="0" algn="ctr">
              <a:buNone/>
            </a:pPr>
            <a:endParaRPr lang="en-US" sz="1400" dirty="0"/>
          </a:p>
        </p:txBody>
      </p:sp>
      <p:sp>
        <p:nvSpPr>
          <p:cNvPr id="5" name="Text 3">
            <a:extLst>
              <a:ext uri="{FF2B5EF4-FFF2-40B4-BE49-F238E27FC236}">
                <a16:creationId xmlns:a16="http://schemas.microsoft.com/office/drawing/2014/main" id="{A790DF12-0CE6-71A5-491E-13B7E0044C2D}"/>
              </a:ext>
            </a:extLst>
          </p:cNvPr>
          <p:cNvSpPr/>
          <p:nvPr/>
        </p:nvSpPr>
        <p:spPr>
          <a:xfrm>
            <a:off x="457200" y="2057400"/>
            <a:ext cx="8229600" cy="1051560"/>
          </a:xfrm>
          <a:prstGeom prst="rect">
            <a:avLst/>
          </a:prstGeom>
          <a:noFill/>
          <a:ln/>
        </p:spPr>
        <p:txBody>
          <a:bodyPr wrap="square" lIns="0" tIns="0" rIns="0" bIns="0" rtlCol="0" anchor="ctr"/>
          <a:lstStyle/>
          <a:p>
            <a:pPr marL="0" indent="0" algn="ctr">
              <a:buNone/>
            </a:pPr>
            <a:r>
              <a:rPr lang="en-US" sz="3400" b="1" dirty="0">
                <a:solidFill>
                  <a:srgbClr val="FFFFFF"/>
                </a:solidFill>
                <a:latin typeface="Cambria" pitchFamily="34" charset="0"/>
                <a:ea typeface="Cambria" pitchFamily="34" charset="-122"/>
                <a:cs typeface="Cambria" pitchFamily="34" charset="-120"/>
              </a:rPr>
              <a:t>Multivariable</a:t>
            </a:r>
            <a:endParaRPr lang="en-US" sz="3400" dirty="0"/>
          </a:p>
        </p:txBody>
      </p:sp>
      <p:sp>
        <p:nvSpPr>
          <p:cNvPr id="6" name="Text 4">
            <a:extLst>
              <a:ext uri="{FF2B5EF4-FFF2-40B4-BE49-F238E27FC236}">
                <a16:creationId xmlns:a16="http://schemas.microsoft.com/office/drawing/2014/main" id="{E77E5BEA-403F-8974-DBD7-EE87983833F8}"/>
              </a:ext>
            </a:extLst>
          </p:cNvPr>
          <p:cNvSpPr/>
          <p:nvPr/>
        </p:nvSpPr>
        <p:spPr>
          <a:xfrm>
            <a:off x="914400" y="3337560"/>
            <a:ext cx="7315200" cy="640080"/>
          </a:xfrm>
          <a:prstGeom prst="rect">
            <a:avLst/>
          </a:prstGeom>
          <a:noFill/>
          <a:ln/>
        </p:spPr>
        <p:txBody>
          <a:bodyPr wrap="square" lIns="0" tIns="0" rIns="0" bIns="0" rtlCol="0" anchor="ctr"/>
          <a:lstStyle/>
          <a:p>
            <a:pPr marL="0" indent="0" algn="ctr">
              <a:buNone/>
            </a:pPr>
            <a:endParaRPr lang="en-US" sz="1500" dirty="0"/>
          </a:p>
        </p:txBody>
      </p:sp>
    </p:spTree>
    <p:extLst>
      <p:ext uri="{BB962C8B-B14F-4D97-AF65-F5344CB8AC3E}">
        <p14:creationId xmlns:p14="http://schemas.microsoft.com/office/powerpoint/2010/main" val="11444806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8">
    <p:bg>
      <p:bgPr>
        <a:solidFill>
          <a:srgbClr val="023E5C"/>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2C39A"/>
          </a:solidFill>
          <a:ln/>
        </p:spPr>
        <p:txBody>
          <a:bodyPr/>
          <a:lstStyle/>
          <a:p>
            <a:endParaRPr lang="en-US"/>
          </a:p>
        </p:txBody>
      </p:sp>
      <p:sp>
        <p:nvSpPr>
          <p:cNvPr id="3" name="Shape 1"/>
          <p:cNvSpPr/>
          <p:nvPr/>
        </p:nvSpPr>
        <p:spPr>
          <a:xfrm>
            <a:off x="5486400" y="-457200"/>
            <a:ext cx="4572000" cy="4572000"/>
          </a:xfrm>
          <a:prstGeom prst="ellipse">
            <a:avLst/>
          </a:prstGeom>
          <a:solidFill>
            <a:srgbClr val="028090">
              <a:alpha val="25000"/>
            </a:srgbClr>
          </a:solidFill>
          <a:ln w="12700">
            <a:solidFill>
              <a:srgbClr val="028090">
                <a:alpha val="25000"/>
              </a:srgbClr>
            </a:solidFill>
            <a:prstDash val="solid"/>
          </a:ln>
        </p:spPr>
        <p:txBody>
          <a:bodyPr/>
          <a:lstStyle/>
          <a:p>
            <a:endParaRPr lang="en-US"/>
          </a:p>
        </p:txBody>
      </p:sp>
      <p:sp>
        <p:nvSpPr>
          <p:cNvPr id="4" name="Text 2"/>
          <p:cNvSpPr/>
          <p:nvPr/>
        </p:nvSpPr>
        <p:spPr>
          <a:xfrm>
            <a:off x="914400" y="1371600"/>
            <a:ext cx="7315200" cy="457200"/>
          </a:xfrm>
          <a:prstGeom prst="rect">
            <a:avLst/>
          </a:prstGeom>
          <a:noFill/>
          <a:ln/>
        </p:spPr>
        <p:txBody>
          <a:bodyPr wrap="square" rtlCol="0" anchor="ctr"/>
          <a:lstStyle/>
          <a:p>
            <a:pPr marL="0" indent="0" algn="ctr">
              <a:buNone/>
            </a:pPr>
            <a:r>
              <a:rPr lang="en-US" sz="1400" b="1" kern="0" spc="600" dirty="0">
                <a:solidFill>
                  <a:srgbClr val="02C39A"/>
                </a:solidFill>
                <a:latin typeface="Calibri" pitchFamily="34" charset="0"/>
                <a:ea typeface="Calibri" pitchFamily="34" charset="-122"/>
                <a:cs typeface="Calibri" pitchFamily="34" charset="-120"/>
              </a:rPr>
              <a:t>PART 2</a:t>
            </a:r>
            <a:endParaRPr lang="en-US" sz="1400" dirty="0"/>
          </a:p>
        </p:txBody>
      </p:sp>
      <p:sp>
        <p:nvSpPr>
          <p:cNvPr id="5" name="Text 3"/>
          <p:cNvSpPr/>
          <p:nvPr/>
        </p:nvSpPr>
        <p:spPr>
          <a:xfrm>
            <a:off x="914400" y="1828800"/>
            <a:ext cx="7315200" cy="1645920"/>
          </a:xfrm>
          <a:prstGeom prst="rect">
            <a:avLst/>
          </a:prstGeom>
          <a:noFill/>
          <a:ln/>
        </p:spPr>
        <p:txBody>
          <a:bodyPr wrap="square" rtlCol="0" anchor="ctr"/>
          <a:lstStyle/>
          <a:p>
            <a:pPr marL="0" indent="0" algn="ctr">
              <a:buNone/>
            </a:pPr>
            <a:r>
              <a:rPr lang="en-US" sz="3800" b="1" dirty="0">
                <a:solidFill>
                  <a:srgbClr val="FFFFFF"/>
                </a:solidFill>
                <a:latin typeface="Georgia" pitchFamily="34" charset="0"/>
                <a:ea typeface="Georgia" pitchFamily="34" charset="-122"/>
                <a:cs typeface="Georgia" pitchFamily="34" charset="-120"/>
              </a:rPr>
              <a:t>Key Concepts &amp;</a:t>
            </a:r>
            <a:endParaRPr lang="en-US" sz="3800" dirty="0"/>
          </a:p>
          <a:p>
            <a:pPr marL="0" indent="0" algn="ctr">
              <a:buNone/>
            </a:pPr>
            <a:r>
              <a:rPr lang="en-US" sz="3800" b="1" dirty="0">
                <a:solidFill>
                  <a:srgbClr val="FFFFFF"/>
                </a:solidFill>
                <a:latin typeface="Georgia" pitchFamily="34" charset="0"/>
                <a:ea typeface="Georgia" pitchFamily="34" charset="-122"/>
                <a:cs typeface="Georgia" pitchFamily="34" charset="-120"/>
              </a:rPr>
              <a:t>Conceptual Framework</a:t>
            </a:r>
            <a:endParaRPr lang="en-US" sz="3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9">
    <p:bg>
      <p:bgPr>
        <a:solidFill>
          <a:srgbClr val="F0F7F8"/>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28090"/>
          </a:solidFill>
          <a:ln/>
        </p:spPr>
        <p:txBody>
          <a:bodyPr/>
          <a:lstStyle/>
          <a:p>
            <a:endParaRPr lang="en-US"/>
          </a:p>
        </p:txBody>
      </p:sp>
      <p:sp>
        <p:nvSpPr>
          <p:cNvPr id="3" name="Text 1"/>
          <p:cNvSpPr/>
          <p:nvPr/>
        </p:nvSpPr>
        <p:spPr>
          <a:xfrm>
            <a:off x="365760" y="0"/>
            <a:ext cx="8229600" cy="1005840"/>
          </a:xfrm>
          <a:prstGeom prst="rect">
            <a:avLst/>
          </a:prstGeom>
          <a:noFill/>
          <a:ln/>
        </p:spPr>
        <p:txBody>
          <a:bodyPr wrap="square" rtlCol="0" anchor="ctr"/>
          <a:lstStyle/>
          <a:p>
            <a:pPr marL="0" indent="0">
              <a:buNone/>
            </a:pPr>
            <a:r>
              <a:rPr lang="en-US" sz="2200" b="1" dirty="0">
                <a:solidFill>
                  <a:srgbClr val="FFFFFF"/>
                </a:solidFill>
                <a:latin typeface="Georgia" pitchFamily="34" charset="0"/>
                <a:ea typeface="Georgia" pitchFamily="34" charset="-122"/>
                <a:cs typeface="Georgia" pitchFamily="34" charset="-120"/>
              </a:rPr>
              <a:t>Variable Types in Regression</a:t>
            </a:r>
            <a:endParaRPr lang="en-US" sz="2200" dirty="0"/>
          </a:p>
        </p:txBody>
      </p:sp>
      <p:sp>
        <p:nvSpPr>
          <p:cNvPr id="4" name="Shape 2"/>
          <p:cNvSpPr/>
          <p:nvPr/>
        </p:nvSpPr>
        <p:spPr>
          <a:xfrm>
            <a:off x="274320" y="1143000"/>
            <a:ext cx="4114800" cy="1554480"/>
          </a:xfrm>
          <a:prstGeom prst="rect">
            <a:avLst/>
          </a:prstGeom>
          <a:solidFill>
            <a:srgbClr val="FFFFFF"/>
          </a:solidFill>
          <a:ln w="12700">
            <a:solidFill>
              <a:srgbClr val="DDDDDD"/>
            </a:solidFill>
            <a:prstDash val="solid"/>
          </a:ln>
          <a:effectLst>
            <a:outerShdw blurRad="101600" dist="38100" dir="8100000" algn="bl" rotWithShape="0">
              <a:srgbClr val="000000">
                <a:alpha val="12000"/>
              </a:srgbClr>
            </a:outerShdw>
          </a:effectLst>
        </p:spPr>
        <p:txBody>
          <a:bodyPr/>
          <a:lstStyle/>
          <a:p>
            <a:endParaRPr lang="en-US"/>
          </a:p>
        </p:txBody>
      </p:sp>
      <p:sp>
        <p:nvSpPr>
          <p:cNvPr id="5" name="Shape 3"/>
          <p:cNvSpPr/>
          <p:nvPr/>
        </p:nvSpPr>
        <p:spPr>
          <a:xfrm>
            <a:off x="274320" y="1143000"/>
            <a:ext cx="91440" cy="1554480"/>
          </a:xfrm>
          <a:prstGeom prst="rect">
            <a:avLst/>
          </a:prstGeom>
          <a:solidFill>
            <a:srgbClr val="023E5C"/>
          </a:solidFill>
          <a:ln w="12700">
            <a:solidFill>
              <a:srgbClr val="023E5C"/>
            </a:solidFill>
            <a:prstDash val="solid"/>
          </a:ln>
        </p:spPr>
        <p:txBody>
          <a:bodyPr/>
          <a:lstStyle/>
          <a:p>
            <a:endParaRPr lang="en-US"/>
          </a:p>
        </p:txBody>
      </p:sp>
      <p:sp>
        <p:nvSpPr>
          <p:cNvPr id="6" name="Text 4"/>
          <p:cNvSpPr/>
          <p:nvPr/>
        </p:nvSpPr>
        <p:spPr>
          <a:xfrm>
            <a:off x="457200" y="1234440"/>
            <a:ext cx="3840480" cy="548640"/>
          </a:xfrm>
          <a:prstGeom prst="rect">
            <a:avLst/>
          </a:prstGeom>
          <a:noFill/>
          <a:ln/>
        </p:spPr>
        <p:txBody>
          <a:bodyPr wrap="square" rtlCol="0" anchor="t"/>
          <a:lstStyle/>
          <a:p>
            <a:pPr marL="0" indent="0">
              <a:buNone/>
            </a:pPr>
            <a:r>
              <a:rPr lang="en-US" sz="1300" b="1" dirty="0">
                <a:solidFill>
                  <a:srgbClr val="1A2E35"/>
                </a:solidFill>
                <a:latin typeface="Calibri" pitchFamily="34" charset="0"/>
                <a:ea typeface="Calibri" pitchFamily="34" charset="-122"/>
                <a:cs typeface="Calibri" pitchFamily="34" charset="-120"/>
              </a:rPr>
              <a:t>Dependent Variable</a:t>
            </a:r>
            <a:endParaRPr lang="en-US" sz="1300" dirty="0"/>
          </a:p>
          <a:p>
            <a:pPr marL="0" indent="0">
              <a:buNone/>
            </a:pPr>
            <a:r>
              <a:rPr lang="en-US" sz="1300" b="1" dirty="0">
                <a:solidFill>
                  <a:srgbClr val="1A2E35"/>
                </a:solidFill>
                <a:latin typeface="Calibri" pitchFamily="34" charset="0"/>
                <a:ea typeface="Calibri" pitchFamily="34" charset="-122"/>
                <a:cs typeface="Calibri" pitchFamily="34" charset="-120"/>
              </a:rPr>
              <a:t>(Outcome)</a:t>
            </a:r>
            <a:endParaRPr lang="en-US" sz="1300" dirty="0"/>
          </a:p>
        </p:txBody>
      </p:sp>
      <p:sp>
        <p:nvSpPr>
          <p:cNvPr id="7" name="Text 5"/>
          <p:cNvSpPr/>
          <p:nvPr/>
        </p:nvSpPr>
        <p:spPr>
          <a:xfrm>
            <a:off x="457200" y="1828800"/>
            <a:ext cx="3840480" cy="777240"/>
          </a:xfrm>
          <a:prstGeom prst="rect">
            <a:avLst/>
          </a:prstGeom>
          <a:noFill/>
          <a:ln/>
        </p:spPr>
        <p:txBody>
          <a:bodyPr wrap="square" rtlCol="0" anchor="t"/>
          <a:lstStyle/>
          <a:p>
            <a:pPr marL="0" indent="0">
              <a:buNone/>
            </a:pPr>
            <a:r>
              <a:rPr lang="en-US" sz="1100" i="1" dirty="0">
                <a:solidFill>
                  <a:srgbClr val="3D6470"/>
                </a:solidFill>
                <a:latin typeface="Calibri" pitchFamily="34" charset="0"/>
                <a:ea typeface="Calibri" pitchFamily="34" charset="-122"/>
                <a:cs typeface="Calibri" pitchFamily="34" charset="-120"/>
              </a:rPr>
              <a:t>e.g., Disease status, blood pressure, mortality, length of stay</a:t>
            </a:r>
            <a:endParaRPr lang="en-US" sz="1100" dirty="0"/>
          </a:p>
        </p:txBody>
      </p:sp>
      <p:sp>
        <p:nvSpPr>
          <p:cNvPr id="8" name="Shape 6"/>
          <p:cNvSpPr/>
          <p:nvPr/>
        </p:nvSpPr>
        <p:spPr>
          <a:xfrm>
            <a:off x="4754880" y="1143000"/>
            <a:ext cx="4114800" cy="1554480"/>
          </a:xfrm>
          <a:prstGeom prst="rect">
            <a:avLst/>
          </a:prstGeom>
          <a:solidFill>
            <a:srgbClr val="FFFFFF"/>
          </a:solidFill>
          <a:ln w="12700">
            <a:solidFill>
              <a:srgbClr val="DDDDDD"/>
            </a:solidFill>
            <a:prstDash val="solid"/>
          </a:ln>
          <a:effectLst>
            <a:outerShdw blurRad="101600" dist="38100" dir="8100000" algn="bl" rotWithShape="0">
              <a:srgbClr val="000000">
                <a:alpha val="12000"/>
              </a:srgbClr>
            </a:outerShdw>
          </a:effectLst>
        </p:spPr>
        <p:txBody>
          <a:bodyPr/>
          <a:lstStyle/>
          <a:p>
            <a:endParaRPr lang="en-US"/>
          </a:p>
        </p:txBody>
      </p:sp>
      <p:sp>
        <p:nvSpPr>
          <p:cNvPr id="9" name="Shape 7"/>
          <p:cNvSpPr/>
          <p:nvPr/>
        </p:nvSpPr>
        <p:spPr>
          <a:xfrm>
            <a:off x="4754880" y="1143000"/>
            <a:ext cx="91440" cy="1554480"/>
          </a:xfrm>
          <a:prstGeom prst="rect">
            <a:avLst/>
          </a:prstGeom>
          <a:solidFill>
            <a:srgbClr val="028090"/>
          </a:solidFill>
          <a:ln w="12700">
            <a:solidFill>
              <a:srgbClr val="028090"/>
            </a:solidFill>
            <a:prstDash val="solid"/>
          </a:ln>
        </p:spPr>
        <p:txBody>
          <a:bodyPr/>
          <a:lstStyle/>
          <a:p>
            <a:endParaRPr lang="en-US"/>
          </a:p>
        </p:txBody>
      </p:sp>
      <p:sp>
        <p:nvSpPr>
          <p:cNvPr id="10" name="Text 8"/>
          <p:cNvSpPr/>
          <p:nvPr/>
        </p:nvSpPr>
        <p:spPr>
          <a:xfrm>
            <a:off x="4937760" y="1234440"/>
            <a:ext cx="3840480" cy="548640"/>
          </a:xfrm>
          <a:prstGeom prst="rect">
            <a:avLst/>
          </a:prstGeom>
          <a:noFill/>
          <a:ln/>
        </p:spPr>
        <p:txBody>
          <a:bodyPr wrap="square" rtlCol="0" anchor="t"/>
          <a:lstStyle/>
          <a:p>
            <a:pPr marL="0" indent="0">
              <a:buNone/>
            </a:pPr>
            <a:r>
              <a:rPr lang="en-US" sz="1300" b="1" dirty="0">
                <a:solidFill>
                  <a:srgbClr val="1A2E35"/>
                </a:solidFill>
                <a:latin typeface="Calibri" pitchFamily="34" charset="0"/>
                <a:ea typeface="Calibri" pitchFamily="34" charset="-122"/>
                <a:cs typeface="Calibri" pitchFamily="34" charset="-120"/>
              </a:rPr>
              <a:t>Independent Variables</a:t>
            </a:r>
            <a:endParaRPr lang="en-US" sz="1300" dirty="0"/>
          </a:p>
          <a:p>
            <a:pPr marL="0" indent="0">
              <a:buNone/>
            </a:pPr>
            <a:r>
              <a:rPr lang="en-US" sz="1300" b="1" dirty="0">
                <a:solidFill>
                  <a:srgbClr val="1A2E35"/>
                </a:solidFill>
                <a:latin typeface="Calibri" pitchFamily="34" charset="0"/>
                <a:ea typeface="Calibri" pitchFamily="34" charset="-122"/>
                <a:cs typeface="Calibri" pitchFamily="34" charset="-120"/>
              </a:rPr>
              <a:t>(Predictors / Covariates)</a:t>
            </a:r>
            <a:endParaRPr lang="en-US" sz="1300" dirty="0"/>
          </a:p>
        </p:txBody>
      </p:sp>
      <p:sp>
        <p:nvSpPr>
          <p:cNvPr id="11" name="Text 9"/>
          <p:cNvSpPr/>
          <p:nvPr/>
        </p:nvSpPr>
        <p:spPr>
          <a:xfrm>
            <a:off x="4937760" y="1828800"/>
            <a:ext cx="3840480" cy="777240"/>
          </a:xfrm>
          <a:prstGeom prst="rect">
            <a:avLst/>
          </a:prstGeom>
          <a:noFill/>
          <a:ln/>
        </p:spPr>
        <p:txBody>
          <a:bodyPr wrap="square" rtlCol="0" anchor="t"/>
          <a:lstStyle/>
          <a:p>
            <a:pPr marL="0" indent="0">
              <a:buNone/>
            </a:pPr>
            <a:r>
              <a:rPr lang="en-US" sz="1100" i="1" dirty="0">
                <a:solidFill>
                  <a:srgbClr val="3D6470"/>
                </a:solidFill>
                <a:latin typeface="Calibri" pitchFamily="34" charset="0"/>
                <a:ea typeface="Calibri" pitchFamily="34" charset="-122"/>
                <a:cs typeface="Calibri" pitchFamily="34" charset="-120"/>
              </a:rPr>
              <a:t>e.g., Exposure of interest + all confounders you're adjusting for</a:t>
            </a:r>
            <a:endParaRPr lang="en-US" sz="1100" dirty="0"/>
          </a:p>
        </p:txBody>
      </p:sp>
      <p:sp>
        <p:nvSpPr>
          <p:cNvPr id="12" name="Shape 10"/>
          <p:cNvSpPr/>
          <p:nvPr/>
        </p:nvSpPr>
        <p:spPr>
          <a:xfrm>
            <a:off x="274320" y="2926080"/>
            <a:ext cx="4114800" cy="1554480"/>
          </a:xfrm>
          <a:prstGeom prst="rect">
            <a:avLst/>
          </a:prstGeom>
          <a:solidFill>
            <a:srgbClr val="FFFFFF"/>
          </a:solidFill>
          <a:ln w="12700">
            <a:solidFill>
              <a:srgbClr val="DDDDDD"/>
            </a:solidFill>
            <a:prstDash val="solid"/>
          </a:ln>
          <a:effectLst>
            <a:outerShdw blurRad="101600" dist="38100" dir="8100000" algn="bl" rotWithShape="0">
              <a:srgbClr val="000000">
                <a:alpha val="12000"/>
              </a:srgbClr>
            </a:outerShdw>
          </a:effectLst>
        </p:spPr>
        <p:txBody>
          <a:bodyPr/>
          <a:lstStyle/>
          <a:p>
            <a:endParaRPr lang="en-US"/>
          </a:p>
        </p:txBody>
      </p:sp>
      <p:sp>
        <p:nvSpPr>
          <p:cNvPr id="13" name="Shape 11"/>
          <p:cNvSpPr/>
          <p:nvPr/>
        </p:nvSpPr>
        <p:spPr>
          <a:xfrm>
            <a:off x="274320" y="2926080"/>
            <a:ext cx="91440" cy="1554480"/>
          </a:xfrm>
          <a:prstGeom prst="rect">
            <a:avLst/>
          </a:prstGeom>
          <a:solidFill>
            <a:srgbClr val="00A896"/>
          </a:solidFill>
          <a:ln w="12700">
            <a:solidFill>
              <a:srgbClr val="00A896"/>
            </a:solidFill>
            <a:prstDash val="solid"/>
          </a:ln>
        </p:spPr>
        <p:txBody>
          <a:bodyPr/>
          <a:lstStyle/>
          <a:p>
            <a:endParaRPr lang="en-US"/>
          </a:p>
        </p:txBody>
      </p:sp>
      <p:sp>
        <p:nvSpPr>
          <p:cNvPr id="14" name="Text 12"/>
          <p:cNvSpPr/>
          <p:nvPr/>
        </p:nvSpPr>
        <p:spPr>
          <a:xfrm>
            <a:off x="457200" y="3017520"/>
            <a:ext cx="3840480" cy="548640"/>
          </a:xfrm>
          <a:prstGeom prst="rect">
            <a:avLst/>
          </a:prstGeom>
          <a:noFill/>
          <a:ln/>
        </p:spPr>
        <p:txBody>
          <a:bodyPr wrap="square" rtlCol="0" anchor="t"/>
          <a:lstStyle/>
          <a:p>
            <a:pPr marL="0" indent="0">
              <a:buNone/>
            </a:pPr>
            <a:r>
              <a:rPr lang="en-US" sz="1300" b="1" dirty="0">
                <a:solidFill>
                  <a:srgbClr val="1A2E35"/>
                </a:solidFill>
                <a:latin typeface="Calibri" pitchFamily="34" charset="0"/>
                <a:ea typeface="Calibri" pitchFamily="34" charset="-122"/>
                <a:cs typeface="Calibri" pitchFamily="34" charset="-120"/>
              </a:rPr>
              <a:t>Confounder</a:t>
            </a:r>
            <a:endParaRPr lang="en-US" sz="1300" dirty="0"/>
          </a:p>
        </p:txBody>
      </p:sp>
      <p:sp>
        <p:nvSpPr>
          <p:cNvPr id="15" name="Text 13"/>
          <p:cNvSpPr/>
          <p:nvPr/>
        </p:nvSpPr>
        <p:spPr>
          <a:xfrm>
            <a:off x="457200" y="3611880"/>
            <a:ext cx="3840480" cy="777240"/>
          </a:xfrm>
          <a:prstGeom prst="rect">
            <a:avLst/>
          </a:prstGeom>
          <a:noFill/>
          <a:ln/>
        </p:spPr>
        <p:txBody>
          <a:bodyPr wrap="square" rtlCol="0" anchor="t"/>
          <a:lstStyle/>
          <a:p>
            <a:pPr marL="0" indent="0">
              <a:buNone/>
            </a:pPr>
            <a:r>
              <a:rPr lang="en-US" sz="1100" i="1" dirty="0">
                <a:solidFill>
                  <a:srgbClr val="3D6470"/>
                </a:solidFill>
                <a:latin typeface="Calibri" pitchFamily="34" charset="0"/>
                <a:ea typeface="Calibri" pitchFamily="34" charset="-122"/>
                <a:cs typeface="Calibri" pitchFamily="34" charset="-120"/>
              </a:rPr>
              <a:t>e.g., Associated with both exposure &amp; outcome; not on causal pathway</a:t>
            </a:r>
            <a:endParaRPr lang="en-US" sz="1100" dirty="0"/>
          </a:p>
        </p:txBody>
      </p:sp>
      <p:sp>
        <p:nvSpPr>
          <p:cNvPr id="16" name="Shape 14"/>
          <p:cNvSpPr/>
          <p:nvPr/>
        </p:nvSpPr>
        <p:spPr>
          <a:xfrm>
            <a:off x="4754880" y="2926080"/>
            <a:ext cx="4114800" cy="1554480"/>
          </a:xfrm>
          <a:prstGeom prst="rect">
            <a:avLst/>
          </a:prstGeom>
          <a:solidFill>
            <a:srgbClr val="FFFFFF"/>
          </a:solidFill>
          <a:ln w="12700">
            <a:solidFill>
              <a:srgbClr val="DDDDDD"/>
            </a:solidFill>
            <a:prstDash val="solid"/>
          </a:ln>
          <a:effectLst>
            <a:outerShdw blurRad="101600" dist="38100" dir="8100000" algn="bl" rotWithShape="0">
              <a:srgbClr val="000000">
                <a:alpha val="12000"/>
              </a:srgbClr>
            </a:outerShdw>
          </a:effectLst>
        </p:spPr>
        <p:txBody>
          <a:bodyPr/>
          <a:lstStyle/>
          <a:p>
            <a:endParaRPr lang="en-US"/>
          </a:p>
        </p:txBody>
      </p:sp>
      <p:sp>
        <p:nvSpPr>
          <p:cNvPr id="17" name="Shape 15"/>
          <p:cNvSpPr/>
          <p:nvPr/>
        </p:nvSpPr>
        <p:spPr>
          <a:xfrm>
            <a:off x="4754880" y="2926080"/>
            <a:ext cx="91440" cy="1554480"/>
          </a:xfrm>
          <a:prstGeom prst="rect">
            <a:avLst/>
          </a:prstGeom>
          <a:solidFill>
            <a:srgbClr val="02C39A"/>
          </a:solidFill>
          <a:ln w="12700">
            <a:solidFill>
              <a:srgbClr val="02C39A"/>
            </a:solidFill>
            <a:prstDash val="solid"/>
          </a:ln>
        </p:spPr>
        <p:txBody>
          <a:bodyPr/>
          <a:lstStyle/>
          <a:p>
            <a:endParaRPr lang="en-US"/>
          </a:p>
        </p:txBody>
      </p:sp>
      <p:sp>
        <p:nvSpPr>
          <p:cNvPr id="18" name="Text 16"/>
          <p:cNvSpPr/>
          <p:nvPr/>
        </p:nvSpPr>
        <p:spPr>
          <a:xfrm>
            <a:off x="4937760" y="3017520"/>
            <a:ext cx="3840480" cy="548640"/>
          </a:xfrm>
          <a:prstGeom prst="rect">
            <a:avLst/>
          </a:prstGeom>
          <a:noFill/>
          <a:ln/>
        </p:spPr>
        <p:txBody>
          <a:bodyPr wrap="square" rtlCol="0" anchor="t"/>
          <a:lstStyle/>
          <a:p>
            <a:pPr marL="0" indent="0">
              <a:buNone/>
            </a:pPr>
            <a:r>
              <a:rPr lang="en-US" sz="1300" b="1" dirty="0">
                <a:solidFill>
                  <a:srgbClr val="1A2E35"/>
                </a:solidFill>
                <a:latin typeface="Calibri" pitchFamily="34" charset="0"/>
                <a:ea typeface="Calibri" pitchFamily="34" charset="-122"/>
                <a:cs typeface="Calibri" pitchFamily="34" charset="-120"/>
              </a:rPr>
              <a:t>Effect Modifier</a:t>
            </a:r>
            <a:endParaRPr lang="en-US" sz="1300" dirty="0"/>
          </a:p>
          <a:p>
            <a:pPr marL="0" indent="0">
              <a:buNone/>
            </a:pPr>
            <a:r>
              <a:rPr lang="en-US" sz="1300" b="1" dirty="0">
                <a:solidFill>
                  <a:srgbClr val="1A2E35"/>
                </a:solidFill>
                <a:latin typeface="Calibri" pitchFamily="34" charset="0"/>
                <a:ea typeface="Calibri" pitchFamily="34" charset="-122"/>
                <a:cs typeface="Calibri" pitchFamily="34" charset="-120"/>
              </a:rPr>
              <a:t>(Interaction)</a:t>
            </a:r>
            <a:endParaRPr lang="en-US" sz="1300" dirty="0"/>
          </a:p>
        </p:txBody>
      </p:sp>
      <p:sp>
        <p:nvSpPr>
          <p:cNvPr id="19" name="Text 17"/>
          <p:cNvSpPr/>
          <p:nvPr/>
        </p:nvSpPr>
        <p:spPr>
          <a:xfrm>
            <a:off x="4937760" y="3611880"/>
            <a:ext cx="3840480" cy="777240"/>
          </a:xfrm>
          <a:prstGeom prst="rect">
            <a:avLst/>
          </a:prstGeom>
          <a:noFill/>
          <a:ln/>
        </p:spPr>
        <p:txBody>
          <a:bodyPr wrap="square" rtlCol="0" anchor="t"/>
          <a:lstStyle/>
          <a:p>
            <a:pPr marL="0" indent="0">
              <a:buNone/>
            </a:pPr>
            <a:r>
              <a:rPr lang="en-US" sz="1100" i="1" dirty="0">
                <a:solidFill>
                  <a:srgbClr val="3D6470"/>
                </a:solidFill>
                <a:latin typeface="Calibri" pitchFamily="34" charset="0"/>
                <a:ea typeface="Calibri" pitchFamily="34" charset="-122"/>
                <a:cs typeface="Calibri" pitchFamily="34" charset="-120"/>
              </a:rPr>
              <a:t>e.g., Changes the magnitude of the exposure-outcome relationship</a:t>
            </a:r>
            <a:endParaRPr lang="en-US" sz="1100" dirty="0"/>
          </a:p>
        </p:txBody>
      </p:sp>
      <p:sp>
        <p:nvSpPr>
          <p:cNvPr id="20" name="Text 18"/>
          <p:cNvSpPr/>
          <p:nvPr/>
        </p:nvSpPr>
        <p:spPr>
          <a:xfrm>
            <a:off x="274320" y="4663440"/>
            <a:ext cx="8595360" cy="365760"/>
          </a:xfrm>
          <a:prstGeom prst="rect">
            <a:avLst/>
          </a:prstGeom>
          <a:noFill/>
          <a:ln/>
        </p:spPr>
        <p:txBody>
          <a:bodyPr wrap="square" rtlCol="0" anchor="ctr"/>
          <a:lstStyle/>
          <a:p>
            <a:pPr marL="0" indent="0" algn="ctr">
              <a:buNone/>
            </a:pPr>
            <a:r>
              <a:rPr lang="en-US" sz="1300" b="1" dirty="0">
                <a:solidFill>
                  <a:srgbClr val="023E5C"/>
                </a:solidFill>
                <a:latin typeface="Calibri" pitchFamily="34" charset="0"/>
                <a:ea typeface="Calibri" pitchFamily="34" charset="-122"/>
                <a:cs typeface="Calibri" pitchFamily="34" charset="-120"/>
              </a:rPr>
              <a:t>In public health regression: Y = β₀ + β₁X₁ + β₂X₂ + ... + βₖXₖ + ε</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7BEBB"/>
          </a:solidFill>
          <a:ln/>
        </p:spPr>
        <p:txBody>
          <a:bodyPr/>
          <a:lstStyle/>
          <a:p>
            <a:endParaRPr lang="en-US"/>
          </a:p>
        </p:txBody>
      </p:sp>
      <p:sp>
        <p:nvSpPr>
          <p:cNvPr id="3" name="Shape 1"/>
          <p:cNvSpPr/>
          <p:nvPr/>
        </p:nvSpPr>
        <p:spPr>
          <a:xfrm>
            <a:off x="0" y="5070348"/>
            <a:ext cx="9144000" cy="73152"/>
          </a:xfrm>
          <a:prstGeom prst="rect">
            <a:avLst/>
          </a:prstGeom>
          <a:solidFill>
            <a:srgbClr val="17BEBB"/>
          </a:solidFill>
          <a:ln/>
        </p:spPr>
        <p:txBody>
          <a:bodyPr/>
          <a:lstStyle/>
          <a:p>
            <a:endParaRPr lang="en-US"/>
          </a:p>
        </p:txBody>
      </p:sp>
      <p:sp>
        <p:nvSpPr>
          <p:cNvPr id="4" name="Text 2"/>
          <p:cNvSpPr/>
          <p:nvPr/>
        </p:nvSpPr>
        <p:spPr>
          <a:xfrm>
            <a:off x="457200" y="1097280"/>
            <a:ext cx="8229600" cy="457200"/>
          </a:xfrm>
          <a:prstGeom prst="rect">
            <a:avLst/>
          </a:prstGeom>
          <a:noFill/>
          <a:ln/>
        </p:spPr>
        <p:txBody>
          <a:bodyPr wrap="square" rtlCol="0" anchor="ctr"/>
          <a:lstStyle/>
          <a:p>
            <a:pPr marL="0" indent="0" algn="ctr">
              <a:buNone/>
            </a:pPr>
            <a:r>
              <a:rPr lang="en-US" sz="1400" b="1" kern="0" spc="600" dirty="0">
                <a:solidFill>
                  <a:srgbClr val="D4F1EF"/>
                </a:solidFill>
                <a:latin typeface="Calibri" pitchFamily="34" charset="0"/>
                <a:ea typeface="Calibri" pitchFamily="34" charset="-122"/>
                <a:cs typeface="Calibri" pitchFamily="34" charset="-120"/>
              </a:rPr>
              <a:t>SECTION 1</a:t>
            </a:r>
            <a:endParaRPr lang="en-US" sz="1400" dirty="0"/>
          </a:p>
        </p:txBody>
      </p:sp>
      <p:sp>
        <p:nvSpPr>
          <p:cNvPr id="5" name="Text 3"/>
          <p:cNvSpPr/>
          <p:nvPr/>
        </p:nvSpPr>
        <p:spPr>
          <a:xfrm>
            <a:off x="457200" y="1645920"/>
            <a:ext cx="8229600" cy="1188720"/>
          </a:xfrm>
          <a:prstGeom prst="rect">
            <a:avLst/>
          </a:prstGeom>
          <a:noFill/>
          <a:ln/>
        </p:spPr>
        <p:txBody>
          <a:bodyPr wrap="square" rtlCol="0" anchor="ctr"/>
          <a:lstStyle/>
          <a:p>
            <a:pPr marL="0" indent="0" algn="ctr">
              <a:buNone/>
            </a:pPr>
            <a:r>
              <a:rPr lang="en-US" sz="4400" b="1" dirty="0">
                <a:solidFill>
                  <a:srgbClr val="FFFFFF"/>
                </a:solidFill>
                <a:latin typeface="Calibri" pitchFamily="34" charset="0"/>
                <a:ea typeface="Calibri" pitchFamily="34" charset="-122"/>
                <a:cs typeface="Calibri" pitchFamily="34" charset="-120"/>
              </a:rPr>
              <a:t>Confounding Variables</a:t>
            </a:r>
            <a:endParaRPr lang="en-US" sz="4400" dirty="0"/>
          </a:p>
        </p:txBody>
      </p:sp>
      <p:sp>
        <p:nvSpPr>
          <p:cNvPr id="6" name="Text 4"/>
          <p:cNvSpPr/>
          <p:nvPr/>
        </p:nvSpPr>
        <p:spPr>
          <a:xfrm>
            <a:off x="914400" y="3017520"/>
            <a:ext cx="7315200" cy="640080"/>
          </a:xfrm>
          <a:prstGeom prst="rect">
            <a:avLst/>
          </a:prstGeom>
          <a:noFill/>
          <a:ln/>
        </p:spPr>
        <p:txBody>
          <a:bodyPr wrap="square" rtlCol="0" anchor="ctr"/>
          <a:lstStyle/>
          <a:p>
            <a:pPr marL="0" indent="0" algn="ctr">
              <a:buNone/>
            </a:pPr>
            <a:r>
              <a:rPr lang="en-US" sz="1700" i="1" dirty="0">
                <a:solidFill>
                  <a:srgbClr val="D4F1EF"/>
                </a:solidFill>
                <a:latin typeface="Calibri" pitchFamily="34" charset="0"/>
                <a:ea typeface="Calibri" pitchFamily="34" charset="-122"/>
                <a:cs typeface="Calibri" pitchFamily="34" charset="-120"/>
              </a:rPr>
              <a:t>The "third variable" that distorts the true exposure–outcome relationship</a:t>
            </a:r>
            <a:endParaRPr lang="en-US" sz="17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2B45"/>
          </a:solidFill>
          <a:ln/>
        </p:spPr>
        <p:txBody>
          <a:bodyPr/>
          <a:lstStyle/>
          <a:p>
            <a:endParaRPr lang="en-US"/>
          </a:p>
        </p:txBody>
      </p:sp>
      <p:sp>
        <p:nvSpPr>
          <p:cNvPr id="3" name="Text 1"/>
          <p:cNvSpPr/>
          <p:nvPr/>
        </p:nvSpPr>
        <p:spPr>
          <a:xfrm>
            <a:off x="365760" y="0"/>
            <a:ext cx="8412480" cy="68580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What is a Confounder?</a:t>
            </a:r>
            <a:endParaRPr lang="en-US" sz="2200" dirty="0"/>
          </a:p>
        </p:txBody>
      </p:sp>
      <p:sp>
        <p:nvSpPr>
          <p:cNvPr id="4" name="Shape 2"/>
          <p:cNvSpPr/>
          <p:nvPr/>
        </p:nvSpPr>
        <p:spPr>
          <a:xfrm>
            <a:off x="274320" y="822960"/>
            <a:ext cx="3931920" cy="4023360"/>
          </a:xfrm>
          <a:prstGeom prst="rect">
            <a:avLst/>
          </a:prstGeom>
          <a:solidFill>
            <a:srgbClr val="FFFFFF"/>
          </a:solidFill>
          <a:ln/>
          <a:effectLst>
            <a:outerShdw blurRad="63500" dist="25400" dir="8100000" algn="bl" rotWithShape="0">
              <a:srgbClr val="000000">
                <a:alpha val="12000"/>
              </a:srgbClr>
            </a:outerShdw>
          </a:effectLst>
        </p:spPr>
        <p:txBody>
          <a:bodyPr/>
          <a:lstStyle/>
          <a:p>
            <a:endParaRPr lang="en-US"/>
          </a:p>
        </p:txBody>
      </p:sp>
      <p:sp>
        <p:nvSpPr>
          <p:cNvPr id="5" name="Shape 3"/>
          <p:cNvSpPr/>
          <p:nvPr/>
        </p:nvSpPr>
        <p:spPr>
          <a:xfrm>
            <a:off x="274320" y="822960"/>
            <a:ext cx="3931920" cy="457200"/>
          </a:xfrm>
          <a:prstGeom prst="rect">
            <a:avLst/>
          </a:prstGeom>
          <a:solidFill>
            <a:srgbClr val="0E7C7B"/>
          </a:solidFill>
          <a:ln/>
        </p:spPr>
        <p:txBody>
          <a:bodyPr/>
          <a:lstStyle/>
          <a:p>
            <a:endParaRPr lang="en-US"/>
          </a:p>
        </p:txBody>
      </p:sp>
      <p:sp>
        <p:nvSpPr>
          <p:cNvPr id="6" name="Text 4"/>
          <p:cNvSpPr/>
          <p:nvPr/>
        </p:nvSpPr>
        <p:spPr>
          <a:xfrm>
            <a:off x="365760" y="822960"/>
            <a:ext cx="3749040" cy="457200"/>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THREE CRITERIA FOR CONFOUNDING</a:t>
            </a:r>
            <a:endParaRPr lang="en-US" sz="1100" dirty="0"/>
          </a:p>
        </p:txBody>
      </p:sp>
      <p:sp>
        <p:nvSpPr>
          <p:cNvPr id="7" name="Shape 5"/>
          <p:cNvSpPr/>
          <p:nvPr/>
        </p:nvSpPr>
        <p:spPr>
          <a:xfrm>
            <a:off x="457200" y="1417320"/>
            <a:ext cx="502920" cy="502920"/>
          </a:xfrm>
          <a:prstGeom prst="ellipse">
            <a:avLst/>
          </a:prstGeom>
          <a:solidFill>
            <a:srgbClr val="0E7C7B"/>
          </a:solidFill>
          <a:ln/>
        </p:spPr>
        <p:txBody>
          <a:bodyPr/>
          <a:lstStyle/>
          <a:p>
            <a:endParaRPr lang="en-US"/>
          </a:p>
        </p:txBody>
      </p:sp>
      <p:sp>
        <p:nvSpPr>
          <p:cNvPr id="8" name="Text 6"/>
          <p:cNvSpPr/>
          <p:nvPr/>
        </p:nvSpPr>
        <p:spPr>
          <a:xfrm>
            <a:off x="457200" y="1417320"/>
            <a:ext cx="502920" cy="50292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①</a:t>
            </a:r>
            <a:endParaRPr lang="en-US" sz="1400" dirty="0"/>
          </a:p>
        </p:txBody>
      </p:sp>
      <p:sp>
        <p:nvSpPr>
          <p:cNvPr id="9" name="Text 7"/>
          <p:cNvSpPr/>
          <p:nvPr/>
        </p:nvSpPr>
        <p:spPr>
          <a:xfrm>
            <a:off x="1051560" y="1435608"/>
            <a:ext cx="3017520" cy="685800"/>
          </a:xfrm>
          <a:prstGeom prst="rect">
            <a:avLst/>
          </a:prstGeom>
          <a:noFill/>
          <a:ln/>
        </p:spPr>
        <p:txBody>
          <a:bodyPr wrap="square" rtlCol="0" anchor="ctr"/>
          <a:lstStyle/>
          <a:p>
            <a:pPr marL="0" indent="0">
              <a:buNone/>
            </a:pPr>
            <a:r>
              <a:rPr lang="en-US" sz="1250" dirty="0">
                <a:solidFill>
                  <a:srgbClr val="1A2E3D"/>
                </a:solidFill>
                <a:latin typeface="Calibri" pitchFamily="34" charset="0"/>
                <a:ea typeface="Calibri" pitchFamily="34" charset="-122"/>
                <a:cs typeface="Calibri" pitchFamily="34" charset="-120"/>
              </a:rPr>
              <a:t>Associated with the EXPOSURE (but not caused by it)</a:t>
            </a:r>
            <a:endParaRPr lang="en-US" sz="1250" dirty="0"/>
          </a:p>
        </p:txBody>
      </p:sp>
      <p:sp>
        <p:nvSpPr>
          <p:cNvPr id="10" name="Shape 8"/>
          <p:cNvSpPr/>
          <p:nvPr/>
        </p:nvSpPr>
        <p:spPr>
          <a:xfrm>
            <a:off x="457200" y="2423160"/>
            <a:ext cx="502920" cy="502920"/>
          </a:xfrm>
          <a:prstGeom prst="ellipse">
            <a:avLst/>
          </a:prstGeom>
          <a:solidFill>
            <a:srgbClr val="0E7C7B"/>
          </a:solidFill>
          <a:ln/>
        </p:spPr>
        <p:txBody>
          <a:bodyPr/>
          <a:lstStyle/>
          <a:p>
            <a:endParaRPr lang="en-US"/>
          </a:p>
        </p:txBody>
      </p:sp>
      <p:sp>
        <p:nvSpPr>
          <p:cNvPr id="11" name="Text 9"/>
          <p:cNvSpPr/>
          <p:nvPr/>
        </p:nvSpPr>
        <p:spPr>
          <a:xfrm>
            <a:off x="457200" y="2423160"/>
            <a:ext cx="502920" cy="50292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②</a:t>
            </a:r>
            <a:endParaRPr lang="en-US" sz="1400" dirty="0"/>
          </a:p>
        </p:txBody>
      </p:sp>
      <p:sp>
        <p:nvSpPr>
          <p:cNvPr id="12" name="Text 10"/>
          <p:cNvSpPr/>
          <p:nvPr/>
        </p:nvSpPr>
        <p:spPr>
          <a:xfrm>
            <a:off x="1051560" y="2441448"/>
            <a:ext cx="3017520" cy="685800"/>
          </a:xfrm>
          <a:prstGeom prst="rect">
            <a:avLst/>
          </a:prstGeom>
          <a:noFill/>
          <a:ln/>
        </p:spPr>
        <p:txBody>
          <a:bodyPr wrap="square" rtlCol="0" anchor="ctr"/>
          <a:lstStyle/>
          <a:p>
            <a:pPr marL="0" indent="0">
              <a:buNone/>
            </a:pPr>
            <a:r>
              <a:rPr lang="en-US" sz="1250" dirty="0">
                <a:solidFill>
                  <a:srgbClr val="1A2E3D"/>
                </a:solidFill>
                <a:latin typeface="Calibri" pitchFamily="34" charset="0"/>
                <a:ea typeface="Calibri" pitchFamily="34" charset="-122"/>
                <a:cs typeface="Calibri" pitchFamily="34" charset="-120"/>
              </a:rPr>
              <a:t>Associated with the OUTCOME (independently of exposure)</a:t>
            </a:r>
            <a:endParaRPr lang="en-US" sz="1250" dirty="0"/>
          </a:p>
        </p:txBody>
      </p:sp>
      <p:sp>
        <p:nvSpPr>
          <p:cNvPr id="13" name="Shape 11"/>
          <p:cNvSpPr/>
          <p:nvPr/>
        </p:nvSpPr>
        <p:spPr>
          <a:xfrm>
            <a:off x="457200" y="3429000"/>
            <a:ext cx="502920" cy="502920"/>
          </a:xfrm>
          <a:prstGeom prst="ellipse">
            <a:avLst/>
          </a:prstGeom>
          <a:solidFill>
            <a:srgbClr val="0E7C7B"/>
          </a:solidFill>
          <a:ln/>
        </p:spPr>
        <p:txBody>
          <a:bodyPr/>
          <a:lstStyle/>
          <a:p>
            <a:endParaRPr lang="en-US"/>
          </a:p>
        </p:txBody>
      </p:sp>
      <p:sp>
        <p:nvSpPr>
          <p:cNvPr id="14" name="Text 12"/>
          <p:cNvSpPr/>
          <p:nvPr/>
        </p:nvSpPr>
        <p:spPr>
          <a:xfrm>
            <a:off x="457200" y="3429000"/>
            <a:ext cx="502920" cy="50292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③</a:t>
            </a:r>
            <a:endParaRPr lang="en-US" sz="1400" dirty="0"/>
          </a:p>
        </p:txBody>
      </p:sp>
      <p:sp>
        <p:nvSpPr>
          <p:cNvPr id="15" name="Text 13"/>
          <p:cNvSpPr/>
          <p:nvPr/>
        </p:nvSpPr>
        <p:spPr>
          <a:xfrm>
            <a:off x="1051560" y="3447288"/>
            <a:ext cx="3017520" cy="685800"/>
          </a:xfrm>
          <a:prstGeom prst="rect">
            <a:avLst/>
          </a:prstGeom>
          <a:noFill/>
          <a:ln/>
        </p:spPr>
        <p:txBody>
          <a:bodyPr wrap="square" rtlCol="0" anchor="ctr"/>
          <a:lstStyle/>
          <a:p>
            <a:pPr marL="0" indent="0">
              <a:buNone/>
            </a:pPr>
            <a:r>
              <a:rPr lang="en-US" sz="1250" dirty="0">
                <a:solidFill>
                  <a:srgbClr val="1A2E3D"/>
                </a:solidFill>
                <a:latin typeface="Calibri" pitchFamily="34" charset="0"/>
                <a:ea typeface="Calibri" pitchFamily="34" charset="-122"/>
                <a:cs typeface="Calibri" pitchFamily="34" charset="-120"/>
              </a:rPr>
              <a:t>NOT in the causal pathway between exposure and outcome</a:t>
            </a:r>
            <a:endParaRPr lang="en-US" sz="1250" dirty="0"/>
          </a:p>
        </p:txBody>
      </p:sp>
      <p:sp>
        <p:nvSpPr>
          <p:cNvPr id="16" name="Shape 14"/>
          <p:cNvSpPr/>
          <p:nvPr/>
        </p:nvSpPr>
        <p:spPr>
          <a:xfrm>
            <a:off x="4434840" y="822960"/>
            <a:ext cx="4389120" cy="4023360"/>
          </a:xfrm>
          <a:prstGeom prst="rect">
            <a:avLst/>
          </a:prstGeom>
          <a:solidFill>
            <a:srgbClr val="FFFFFF"/>
          </a:solidFill>
          <a:ln/>
          <a:effectLst>
            <a:outerShdw blurRad="63500" dist="25400" dir="8100000" algn="bl" rotWithShape="0">
              <a:srgbClr val="000000">
                <a:alpha val="12000"/>
              </a:srgbClr>
            </a:outerShdw>
          </a:effectLst>
        </p:spPr>
        <p:txBody>
          <a:bodyPr/>
          <a:lstStyle/>
          <a:p>
            <a:endParaRPr lang="en-US"/>
          </a:p>
        </p:txBody>
      </p:sp>
      <p:sp>
        <p:nvSpPr>
          <p:cNvPr id="17" name="Shape 15"/>
          <p:cNvSpPr/>
          <p:nvPr/>
        </p:nvSpPr>
        <p:spPr>
          <a:xfrm>
            <a:off x="4434840" y="822960"/>
            <a:ext cx="4389120" cy="457200"/>
          </a:xfrm>
          <a:prstGeom prst="rect">
            <a:avLst/>
          </a:prstGeom>
          <a:solidFill>
            <a:srgbClr val="0D2B45"/>
          </a:solidFill>
          <a:ln/>
        </p:spPr>
        <p:txBody>
          <a:bodyPr/>
          <a:lstStyle/>
          <a:p>
            <a:endParaRPr lang="en-US"/>
          </a:p>
        </p:txBody>
      </p:sp>
      <p:sp>
        <p:nvSpPr>
          <p:cNvPr id="18" name="Text 16"/>
          <p:cNvSpPr/>
          <p:nvPr/>
        </p:nvSpPr>
        <p:spPr>
          <a:xfrm>
            <a:off x="4526280" y="822960"/>
            <a:ext cx="4206240" cy="457200"/>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CLASSIC EXAMPLE: Shoe Size &amp; Reading Ability</a:t>
            </a:r>
            <a:endParaRPr lang="en-US" sz="1100" dirty="0"/>
          </a:p>
        </p:txBody>
      </p:sp>
      <p:sp>
        <p:nvSpPr>
          <p:cNvPr id="19" name="Shape 17"/>
          <p:cNvSpPr/>
          <p:nvPr/>
        </p:nvSpPr>
        <p:spPr>
          <a:xfrm>
            <a:off x="5806440" y="1463040"/>
            <a:ext cx="1645920" cy="502920"/>
          </a:xfrm>
          <a:prstGeom prst="rect">
            <a:avLst/>
          </a:prstGeom>
          <a:solidFill>
            <a:srgbClr val="F4A261"/>
          </a:solidFill>
          <a:ln/>
          <a:effectLst>
            <a:outerShdw blurRad="63500" dist="25400" dir="8100000" algn="bl" rotWithShape="0">
              <a:srgbClr val="000000">
                <a:alpha val="12000"/>
              </a:srgbClr>
            </a:outerShdw>
          </a:effectLst>
        </p:spPr>
        <p:txBody>
          <a:bodyPr/>
          <a:lstStyle/>
          <a:p>
            <a:endParaRPr lang="en-US"/>
          </a:p>
        </p:txBody>
      </p:sp>
      <p:sp>
        <p:nvSpPr>
          <p:cNvPr id="20" name="Text 18"/>
          <p:cNvSpPr/>
          <p:nvPr/>
        </p:nvSpPr>
        <p:spPr>
          <a:xfrm>
            <a:off x="5806440" y="1463040"/>
            <a:ext cx="1645920" cy="502920"/>
          </a:xfrm>
          <a:prstGeom prst="rect">
            <a:avLst/>
          </a:prstGeom>
          <a:noFill/>
          <a:ln/>
        </p:spPr>
        <p:txBody>
          <a:bodyPr wrap="square" rtlCol="0" anchor="ctr"/>
          <a:lstStyle/>
          <a:p>
            <a:pPr marL="0" indent="0" algn="ctr">
              <a:buNone/>
            </a:pPr>
            <a:r>
              <a:rPr lang="en-US" sz="1100" b="1" dirty="0">
                <a:solidFill>
                  <a:srgbClr val="0D2B45"/>
                </a:solidFill>
                <a:latin typeface="Calibri" pitchFamily="34" charset="0"/>
                <a:ea typeface="Calibri" pitchFamily="34" charset="-122"/>
                <a:cs typeface="Calibri" pitchFamily="34" charset="-120"/>
              </a:rPr>
              <a:t>AGE</a:t>
            </a:r>
            <a:endParaRPr lang="en-US" sz="1100" dirty="0"/>
          </a:p>
          <a:p>
            <a:pPr marL="0" indent="0" algn="ctr">
              <a:buNone/>
            </a:pPr>
            <a:r>
              <a:rPr lang="en-US" sz="1100" b="1" dirty="0">
                <a:solidFill>
                  <a:srgbClr val="0D2B45"/>
                </a:solidFill>
                <a:latin typeface="Calibri" pitchFamily="34" charset="0"/>
                <a:ea typeface="Calibri" pitchFamily="34" charset="-122"/>
                <a:cs typeface="Calibri" pitchFamily="34" charset="-120"/>
              </a:rPr>
              <a:t>(Confounder)</a:t>
            </a:r>
            <a:endParaRPr lang="en-US" sz="1100" dirty="0"/>
          </a:p>
        </p:txBody>
      </p:sp>
      <p:sp>
        <p:nvSpPr>
          <p:cNvPr id="21" name="Shape 19"/>
          <p:cNvSpPr/>
          <p:nvPr/>
        </p:nvSpPr>
        <p:spPr>
          <a:xfrm flipV="1">
            <a:off x="5267246" y="1920240"/>
            <a:ext cx="960120" cy="685800"/>
          </a:xfrm>
          <a:prstGeom prst="line">
            <a:avLst/>
          </a:prstGeom>
          <a:noFill/>
          <a:ln w="25400">
            <a:solidFill>
              <a:srgbClr val="F4A261"/>
            </a:solidFill>
            <a:prstDash val="solid"/>
          </a:ln>
        </p:spPr>
        <p:txBody>
          <a:bodyPr/>
          <a:lstStyle/>
          <a:p>
            <a:endParaRPr lang="en-US"/>
          </a:p>
        </p:txBody>
      </p:sp>
      <p:sp>
        <p:nvSpPr>
          <p:cNvPr id="22" name="Shape 20"/>
          <p:cNvSpPr/>
          <p:nvPr/>
        </p:nvSpPr>
        <p:spPr>
          <a:xfrm>
            <a:off x="6903720" y="1965959"/>
            <a:ext cx="864901" cy="685799"/>
          </a:xfrm>
          <a:prstGeom prst="line">
            <a:avLst/>
          </a:prstGeom>
          <a:noFill/>
          <a:ln w="25400">
            <a:solidFill>
              <a:srgbClr val="F4A261"/>
            </a:solidFill>
            <a:prstDash val="solid"/>
          </a:ln>
        </p:spPr>
        <p:txBody>
          <a:bodyPr/>
          <a:lstStyle/>
          <a:p>
            <a:endParaRPr lang="en-US"/>
          </a:p>
        </p:txBody>
      </p:sp>
      <p:sp>
        <p:nvSpPr>
          <p:cNvPr id="23" name="Shape 21"/>
          <p:cNvSpPr/>
          <p:nvPr/>
        </p:nvSpPr>
        <p:spPr>
          <a:xfrm>
            <a:off x="4526280" y="2606040"/>
            <a:ext cx="1645920" cy="502920"/>
          </a:xfrm>
          <a:prstGeom prst="rect">
            <a:avLst/>
          </a:prstGeom>
          <a:solidFill>
            <a:srgbClr val="0E7C7B"/>
          </a:solidFill>
          <a:ln/>
          <a:effectLst>
            <a:outerShdw blurRad="63500" dist="25400" dir="8100000" algn="bl" rotWithShape="0">
              <a:srgbClr val="000000">
                <a:alpha val="12000"/>
              </a:srgbClr>
            </a:outerShdw>
          </a:effectLst>
        </p:spPr>
        <p:txBody>
          <a:bodyPr/>
          <a:lstStyle/>
          <a:p>
            <a:endParaRPr lang="en-US"/>
          </a:p>
        </p:txBody>
      </p:sp>
      <p:sp>
        <p:nvSpPr>
          <p:cNvPr id="24" name="Text 22"/>
          <p:cNvSpPr/>
          <p:nvPr/>
        </p:nvSpPr>
        <p:spPr>
          <a:xfrm>
            <a:off x="4526280" y="2606040"/>
            <a:ext cx="1645920" cy="50292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SHOE SIZE</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(Exposure)</a:t>
            </a:r>
            <a:endParaRPr lang="en-US" sz="1100" dirty="0"/>
          </a:p>
        </p:txBody>
      </p:sp>
      <p:sp>
        <p:nvSpPr>
          <p:cNvPr id="25" name="Shape 23"/>
          <p:cNvSpPr/>
          <p:nvPr/>
        </p:nvSpPr>
        <p:spPr>
          <a:xfrm>
            <a:off x="7360920" y="2606040"/>
            <a:ext cx="1371600" cy="502920"/>
          </a:xfrm>
          <a:prstGeom prst="rect">
            <a:avLst/>
          </a:prstGeom>
          <a:solidFill>
            <a:srgbClr val="6B3FA0"/>
          </a:solidFill>
          <a:ln/>
          <a:effectLst>
            <a:outerShdw blurRad="63500" dist="25400" dir="8100000" algn="bl" rotWithShape="0">
              <a:srgbClr val="000000">
                <a:alpha val="12000"/>
              </a:srgbClr>
            </a:outerShdw>
          </a:effectLst>
        </p:spPr>
        <p:txBody>
          <a:bodyPr/>
          <a:lstStyle/>
          <a:p>
            <a:endParaRPr lang="en-US"/>
          </a:p>
        </p:txBody>
      </p:sp>
      <p:sp>
        <p:nvSpPr>
          <p:cNvPr id="26" name="Text 24"/>
          <p:cNvSpPr/>
          <p:nvPr/>
        </p:nvSpPr>
        <p:spPr>
          <a:xfrm>
            <a:off x="7360920" y="2606040"/>
            <a:ext cx="1371600" cy="50292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READING</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(Outcome)</a:t>
            </a:r>
            <a:endParaRPr lang="en-US" sz="1100" dirty="0"/>
          </a:p>
        </p:txBody>
      </p:sp>
      <p:sp>
        <p:nvSpPr>
          <p:cNvPr id="27" name="Shape 25"/>
          <p:cNvSpPr/>
          <p:nvPr/>
        </p:nvSpPr>
        <p:spPr>
          <a:xfrm>
            <a:off x="6172200" y="2852928"/>
            <a:ext cx="1188720" cy="0"/>
          </a:xfrm>
          <a:prstGeom prst="line">
            <a:avLst/>
          </a:prstGeom>
          <a:noFill/>
          <a:ln w="25400">
            <a:solidFill>
              <a:srgbClr val="C0392B"/>
            </a:solidFill>
            <a:prstDash val="dash"/>
          </a:ln>
        </p:spPr>
        <p:txBody>
          <a:bodyPr/>
          <a:lstStyle/>
          <a:p>
            <a:endParaRPr lang="en-US"/>
          </a:p>
        </p:txBody>
      </p:sp>
      <p:sp>
        <p:nvSpPr>
          <p:cNvPr id="28" name="Text 26"/>
          <p:cNvSpPr/>
          <p:nvPr/>
        </p:nvSpPr>
        <p:spPr>
          <a:xfrm>
            <a:off x="5943600" y="2990088"/>
            <a:ext cx="1645920" cy="411480"/>
          </a:xfrm>
          <a:prstGeom prst="rect">
            <a:avLst/>
          </a:prstGeom>
          <a:noFill/>
          <a:ln/>
        </p:spPr>
        <p:txBody>
          <a:bodyPr wrap="square" rtlCol="0" anchor="ctr"/>
          <a:lstStyle/>
          <a:p>
            <a:pPr marL="0" indent="0" algn="ctr">
              <a:buNone/>
            </a:pPr>
            <a:r>
              <a:rPr lang="en-US" sz="950" i="1" dirty="0">
                <a:solidFill>
                  <a:srgbClr val="C0392B"/>
                </a:solidFill>
                <a:latin typeface="Calibri" pitchFamily="34" charset="0"/>
                <a:ea typeface="Calibri" pitchFamily="34" charset="-122"/>
                <a:cs typeface="Calibri" pitchFamily="34" charset="-120"/>
              </a:rPr>
              <a:t>Spurious association</a:t>
            </a:r>
            <a:endParaRPr lang="en-US" sz="950" dirty="0"/>
          </a:p>
          <a:p>
            <a:pPr marL="0" indent="0" algn="ctr">
              <a:buNone/>
            </a:pPr>
            <a:r>
              <a:rPr lang="en-US" sz="950" i="1" dirty="0">
                <a:solidFill>
                  <a:srgbClr val="C0392B"/>
                </a:solidFill>
                <a:latin typeface="Calibri" pitchFamily="34" charset="0"/>
                <a:ea typeface="Calibri" pitchFamily="34" charset="-122"/>
                <a:cs typeface="Calibri" pitchFamily="34" charset="-120"/>
              </a:rPr>
              <a:t>(confounded)</a:t>
            </a:r>
            <a:endParaRPr lang="en-US" sz="950" dirty="0"/>
          </a:p>
        </p:txBody>
      </p:sp>
      <p:sp>
        <p:nvSpPr>
          <p:cNvPr id="29" name="Shape 27"/>
          <p:cNvSpPr/>
          <p:nvPr/>
        </p:nvSpPr>
        <p:spPr>
          <a:xfrm>
            <a:off x="4526280" y="3383280"/>
            <a:ext cx="4297680" cy="1325880"/>
          </a:xfrm>
          <a:prstGeom prst="rect">
            <a:avLst/>
          </a:prstGeom>
          <a:solidFill>
            <a:srgbClr val="D4F1EF"/>
          </a:solidFill>
          <a:ln/>
        </p:spPr>
        <p:txBody>
          <a:bodyPr/>
          <a:lstStyle/>
          <a:p>
            <a:endParaRPr lang="en-US"/>
          </a:p>
        </p:txBody>
      </p:sp>
      <p:sp>
        <p:nvSpPr>
          <p:cNvPr id="30" name="Text 28"/>
          <p:cNvSpPr/>
          <p:nvPr/>
        </p:nvSpPr>
        <p:spPr>
          <a:xfrm>
            <a:off x="4663440" y="3456432"/>
            <a:ext cx="4023360" cy="274320"/>
          </a:xfrm>
          <a:prstGeom prst="rect">
            <a:avLst/>
          </a:prstGeom>
          <a:noFill/>
          <a:ln/>
        </p:spPr>
        <p:txBody>
          <a:bodyPr wrap="square" rtlCol="0" anchor="ctr"/>
          <a:lstStyle/>
          <a:p>
            <a:pPr marL="0" indent="0">
              <a:buNone/>
            </a:pPr>
            <a:r>
              <a:rPr lang="en-US" sz="1200" b="1" dirty="0">
                <a:solidFill>
                  <a:srgbClr val="0D2B45"/>
                </a:solidFill>
                <a:latin typeface="Calibri" pitchFamily="34" charset="0"/>
                <a:ea typeface="Calibri" pitchFamily="34" charset="-122"/>
                <a:cs typeface="Calibri" pitchFamily="34" charset="-120"/>
              </a:rPr>
              <a:t>CONTROL METHODS:</a:t>
            </a:r>
            <a:endParaRPr lang="en-US" sz="1200" dirty="0"/>
          </a:p>
        </p:txBody>
      </p:sp>
      <p:sp>
        <p:nvSpPr>
          <p:cNvPr id="31" name="Text 29"/>
          <p:cNvSpPr/>
          <p:nvPr/>
        </p:nvSpPr>
        <p:spPr>
          <a:xfrm>
            <a:off x="4663440" y="3749040"/>
            <a:ext cx="4023360" cy="868680"/>
          </a:xfrm>
          <a:prstGeom prst="rect">
            <a:avLst/>
          </a:prstGeom>
          <a:noFill/>
          <a:ln/>
        </p:spPr>
        <p:txBody>
          <a:bodyPr wrap="square" rtlCol="0" anchor="ctr"/>
          <a:lstStyle/>
          <a:p>
            <a:pPr marL="0" indent="0">
              <a:buNone/>
            </a:pPr>
            <a:r>
              <a:rPr lang="en-US" sz="1150" b="1" dirty="0">
                <a:solidFill>
                  <a:srgbClr val="1A2E3D"/>
                </a:solidFill>
                <a:latin typeface="Calibri" pitchFamily="34" charset="0"/>
                <a:ea typeface="Calibri" pitchFamily="34" charset="-122"/>
                <a:cs typeface="Calibri" pitchFamily="34" charset="-120"/>
              </a:rPr>
              <a:t>Design: </a:t>
            </a:r>
            <a:r>
              <a:rPr lang="en-US" sz="1150" dirty="0">
                <a:solidFill>
                  <a:srgbClr val="1A2E3D"/>
                </a:solidFill>
                <a:latin typeface="Calibri" pitchFamily="34" charset="0"/>
                <a:ea typeface="Calibri" pitchFamily="34" charset="-122"/>
                <a:cs typeface="Calibri" pitchFamily="34" charset="-120"/>
              </a:rPr>
              <a:t>Randomization, restriction, matching
</a:t>
            </a:r>
            <a:r>
              <a:rPr lang="en-US" sz="1150" b="1" dirty="0">
                <a:solidFill>
                  <a:srgbClr val="1A2E3D"/>
                </a:solidFill>
                <a:latin typeface="Calibri" pitchFamily="34" charset="0"/>
                <a:ea typeface="Calibri" pitchFamily="34" charset="-122"/>
                <a:cs typeface="Calibri" pitchFamily="34" charset="-120"/>
              </a:rPr>
              <a:t>Analysis: </a:t>
            </a:r>
            <a:r>
              <a:rPr lang="en-US" sz="1150" dirty="0">
                <a:solidFill>
                  <a:srgbClr val="1A2E3D"/>
                </a:solidFill>
                <a:latin typeface="Calibri" pitchFamily="34" charset="0"/>
                <a:ea typeface="Calibri" pitchFamily="34" charset="-122"/>
                <a:cs typeface="Calibri" pitchFamily="34" charset="-120"/>
              </a:rPr>
              <a:t>Multivariable regression, stratification, propensity scores</a:t>
            </a:r>
            <a:endParaRPr lang="en-US" sz="11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2B45"/>
          </a:solidFill>
          <a:ln/>
        </p:spPr>
        <p:txBody>
          <a:bodyPr/>
          <a:lstStyle/>
          <a:p>
            <a:endParaRPr lang="en-US"/>
          </a:p>
        </p:txBody>
      </p:sp>
      <p:sp>
        <p:nvSpPr>
          <p:cNvPr id="3" name="Text 1"/>
          <p:cNvSpPr/>
          <p:nvPr/>
        </p:nvSpPr>
        <p:spPr>
          <a:xfrm>
            <a:off x="365760" y="0"/>
            <a:ext cx="8412480" cy="68580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Detecting &amp; Controlling Confounding</a:t>
            </a:r>
            <a:endParaRPr lang="en-US" sz="2200" dirty="0"/>
          </a:p>
        </p:txBody>
      </p:sp>
      <p:sp>
        <p:nvSpPr>
          <p:cNvPr id="4" name="Shape 2"/>
          <p:cNvSpPr/>
          <p:nvPr/>
        </p:nvSpPr>
        <p:spPr>
          <a:xfrm>
            <a:off x="274320" y="822960"/>
            <a:ext cx="8595360" cy="1051560"/>
          </a:xfrm>
          <a:prstGeom prst="rect">
            <a:avLst/>
          </a:prstGeom>
          <a:solidFill>
            <a:srgbClr val="0D2B45"/>
          </a:solidFill>
          <a:ln/>
        </p:spPr>
        <p:txBody>
          <a:bodyPr/>
          <a:lstStyle/>
          <a:p>
            <a:endParaRPr lang="en-US"/>
          </a:p>
        </p:txBody>
      </p:sp>
      <p:sp>
        <p:nvSpPr>
          <p:cNvPr id="5" name="Text 3"/>
          <p:cNvSpPr/>
          <p:nvPr/>
        </p:nvSpPr>
        <p:spPr>
          <a:xfrm>
            <a:off x="457200" y="868680"/>
            <a:ext cx="2743200" cy="320040"/>
          </a:xfrm>
          <a:prstGeom prst="rect">
            <a:avLst/>
          </a:prstGeom>
          <a:noFill/>
          <a:ln/>
        </p:spPr>
        <p:txBody>
          <a:bodyPr wrap="square" rtlCol="0" anchor="ctr"/>
          <a:lstStyle/>
          <a:p>
            <a:pPr marL="0" indent="0">
              <a:buNone/>
            </a:pPr>
            <a:r>
              <a:rPr lang="en-US" sz="1400" b="1" dirty="0">
                <a:solidFill>
                  <a:srgbClr val="F4A261"/>
                </a:solidFill>
                <a:latin typeface="Calibri" pitchFamily="34" charset="0"/>
                <a:ea typeface="Calibri" pitchFamily="34" charset="-122"/>
                <a:cs typeface="Calibri" pitchFamily="34" charset="-120"/>
              </a:rPr>
              <a:t>The 10% Rule</a:t>
            </a:r>
            <a:endParaRPr lang="en-US" sz="1400" dirty="0"/>
          </a:p>
        </p:txBody>
      </p:sp>
      <p:sp>
        <p:nvSpPr>
          <p:cNvPr id="6" name="Text 4"/>
          <p:cNvSpPr/>
          <p:nvPr/>
        </p:nvSpPr>
        <p:spPr>
          <a:xfrm>
            <a:off x="457200" y="1188720"/>
            <a:ext cx="8229600" cy="548640"/>
          </a:xfrm>
          <a:prstGeom prst="rect">
            <a:avLst/>
          </a:prstGeom>
          <a:noFill/>
          <a:ln/>
        </p:spPr>
        <p:txBody>
          <a:bodyPr wrap="square" rtlCol="0" anchor="ctr"/>
          <a:lstStyle/>
          <a:p>
            <a:pPr marL="0" indent="0">
              <a:buNone/>
            </a:pPr>
            <a:r>
              <a:rPr lang="en-US" sz="1250" dirty="0">
                <a:solidFill>
                  <a:srgbClr val="FFFFFF"/>
                </a:solidFill>
                <a:latin typeface="Calibri" pitchFamily="34" charset="0"/>
                <a:ea typeface="Calibri" pitchFamily="34" charset="-122"/>
                <a:cs typeface="Calibri" pitchFamily="34" charset="-120"/>
              </a:rPr>
              <a:t>If adding a variable to a model changes the main exposure coefficient (β or OR) by ≥ 10%, it is considered a confounder and should be retained in the model.</a:t>
            </a:r>
            <a:endParaRPr lang="en-US" sz="1250" dirty="0"/>
          </a:p>
        </p:txBody>
      </p:sp>
      <p:sp>
        <p:nvSpPr>
          <p:cNvPr id="7" name="Text 5"/>
          <p:cNvSpPr/>
          <p:nvPr/>
        </p:nvSpPr>
        <p:spPr>
          <a:xfrm>
            <a:off x="274320" y="2011680"/>
            <a:ext cx="8595360" cy="365760"/>
          </a:xfrm>
          <a:prstGeom prst="rect">
            <a:avLst/>
          </a:prstGeom>
          <a:noFill/>
          <a:ln/>
        </p:spPr>
        <p:txBody>
          <a:bodyPr wrap="square" rtlCol="0" anchor="ctr"/>
          <a:lstStyle/>
          <a:p>
            <a:pPr marL="0" indent="0">
              <a:buNone/>
            </a:pPr>
            <a:r>
              <a:rPr lang="en-US" sz="1300" b="1" dirty="0">
                <a:solidFill>
                  <a:srgbClr val="0D2B45"/>
                </a:solidFill>
                <a:latin typeface="Calibri" pitchFamily="34" charset="0"/>
                <a:ea typeface="Calibri" pitchFamily="34" charset="-122"/>
                <a:cs typeface="Calibri" pitchFamily="34" charset="-120"/>
              </a:rPr>
              <a:t>Example: Coffee drinking → Lung cancer (crude vs. adjusted for smoking)</a:t>
            </a:r>
            <a:endParaRPr lang="en-US" sz="1300" dirty="0"/>
          </a:p>
        </p:txBody>
      </p:sp>
      <p:graphicFrame>
        <p:nvGraphicFramePr>
          <p:cNvPr id="9" name="Table 0"/>
          <p:cNvGraphicFramePr>
            <a:graphicFrameLocks noGrp="1"/>
          </p:cNvGraphicFramePr>
          <p:nvPr/>
        </p:nvGraphicFramePr>
        <p:xfrm>
          <a:off x="274320" y="2423160"/>
          <a:ext cx="8595360" cy="1371600"/>
        </p:xfrm>
        <a:graphic>
          <a:graphicData uri="http://schemas.openxmlformats.org/drawingml/2006/table">
            <a:tbl>
              <a:tblPr/>
              <a:tblGrid>
                <a:gridCol w="2560320">
                  <a:extLst>
                    <a:ext uri="{9D8B030D-6E8A-4147-A177-3AD203B41FA5}">
                      <a16:colId xmlns:a16="http://schemas.microsoft.com/office/drawing/2014/main" val="20000"/>
                    </a:ext>
                  </a:extLst>
                </a:gridCol>
                <a:gridCol w="2560320">
                  <a:extLst>
                    <a:ext uri="{9D8B030D-6E8A-4147-A177-3AD203B41FA5}">
                      <a16:colId xmlns:a16="http://schemas.microsoft.com/office/drawing/2014/main" val="20001"/>
                    </a:ext>
                  </a:extLst>
                </a:gridCol>
                <a:gridCol w="3474720">
                  <a:extLst>
                    <a:ext uri="{9D8B030D-6E8A-4147-A177-3AD203B41FA5}">
                      <a16:colId xmlns:a16="http://schemas.microsoft.com/office/drawing/2014/main" val="20002"/>
                    </a:ext>
                  </a:extLst>
                </a:gridCol>
              </a:tblGrid>
              <a:tr h="426720">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Model</a:t>
                      </a:r>
                      <a:endParaRPr lang="en-US" sz="125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0E7C7B"/>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OR (95% CI)</a:t>
                      </a:r>
                      <a:endParaRPr lang="en-US" sz="125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0E7C7B"/>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Interpretation</a:t>
                      </a:r>
                      <a:endParaRPr lang="en-US" sz="125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0E7C7B"/>
                    </a:solidFill>
                  </a:tcPr>
                </a:tc>
                <a:extLst>
                  <a:ext uri="{0D108BD9-81ED-4DB2-BD59-A6C34878D82A}">
                    <a16:rowId xmlns:a16="http://schemas.microsoft.com/office/drawing/2014/main" val="10000"/>
                  </a:ext>
                </a:extLst>
              </a:tr>
              <a:tr h="426720">
                <a:tc>
                  <a:txBody>
                    <a:bodyPr/>
                    <a:lstStyle/>
                    <a:p>
                      <a:pPr marL="0" indent="0">
                        <a:buNone/>
                      </a:pPr>
                      <a:r>
                        <a:rPr lang="en-US" sz="1250" dirty="0">
                          <a:solidFill>
                            <a:srgbClr val="000000"/>
                          </a:solidFill>
                          <a:latin typeface="Calibri" pitchFamily="34" charset="0"/>
                          <a:ea typeface="Calibri" pitchFamily="34" charset="-122"/>
                          <a:cs typeface="Calibri" pitchFamily="34" charset="-120"/>
                        </a:rPr>
                        <a:t>Crude (unadjusted)</a:t>
                      </a:r>
                      <a:endParaRPr lang="en-US" sz="125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buNone/>
                      </a:pPr>
                      <a:r>
                        <a:rPr lang="en-US" sz="1250" dirty="0">
                          <a:solidFill>
                            <a:srgbClr val="000000"/>
                          </a:solidFill>
                          <a:latin typeface="Calibri" pitchFamily="34" charset="0"/>
                          <a:ea typeface="Calibri" pitchFamily="34" charset="-122"/>
                          <a:cs typeface="Calibri" pitchFamily="34" charset="-120"/>
                        </a:rPr>
                        <a:t>2.4 (1.8 – 3.2)</a:t>
                      </a:r>
                      <a:endParaRPr lang="en-US" sz="125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buNone/>
                      </a:pPr>
                      <a:r>
                        <a:rPr lang="en-US" sz="1250" dirty="0">
                          <a:solidFill>
                            <a:srgbClr val="000000"/>
                          </a:solidFill>
                          <a:latin typeface="Calibri" pitchFamily="34" charset="0"/>
                          <a:ea typeface="Calibri" pitchFamily="34" charset="-122"/>
                          <a:cs typeface="Calibri" pitchFamily="34" charset="-120"/>
                        </a:rPr>
                        <a:t>Coffee appears strongly associated with lung cancer</a:t>
                      </a:r>
                      <a:endParaRPr lang="en-US" sz="125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1"/>
                  </a:ext>
                </a:extLst>
              </a:tr>
              <a:tr h="426720">
                <a:tc>
                  <a:txBody>
                    <a:bodyPr/>
                    <a:lstStyle/>
                    <a:p>
                      <a:pPr marL="0" indent="0">
                        <a:buNone/>
                      </a:pPr>
                      <a:r>
                        <a:rPr lang="en-US" sz="1250" dirty="0">
                          <a:solidFill>
                            <a:srgbClr val="000000"/>
                          </a:solidFill>
                          <a:latin typeface="Calibri" pitchFamily="34" charset="0"/>
                          <a:ea typeface="Calibri" pitchFamily="34" charset="-122"/>
                          <a:cs typeface="Calibri" pitchFamily="34" charset="-120"/>
                        </a:rPr>
                        <a:t>Adjusted for smoking</a:t>
                      </a:r>
                      <a:endParaRPr lang="en-US" sz="125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buNone/>
                      </a:pPr>
                      <a:r>
                        <a:rPr lang="en-US" sz="1250" dirty="0">
                          <a:solidFill>
                            <a:srgbClr val="000000"/>
                          </a:solidFill>
                          <a:latin typeface="Calibri" pitchFamily="34" charset="0"/>
                          <a:ea typeface="Calibri" pitchFamily="34" charset="-122"/>
                          <a:cs typeface="Calibri" pitchFamily="34" charset="-120"/>
                        </a:rPr>
                        <a:t>1.1 (0.8 – 1.5)</a:t>
                      </a:r>
                      <a:endParaRPr lang="en-US" sz="125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buNone/>
                      </a:pPr>
                      <a:r>
                        <a:rPr lang="en-US" sz="1250" dirty="0">
                          <a:solidFill>
                            <a:srgbClr val="000000"/>
                          </a:solidFill>
                          <a:latin typeface="Calibri" pitchFamily="34" charset="0"/>
                          <a:ea typeface="Calibri" pitchFamily="34" charset="-122"/>
                          <a:cs typeface="Calibri" pitchFamily="34" charset="-120"/>
                        </a:rPr>
                        <a:t>Association disappears → Smoking was confounding!</a:t>
                      </a:r>
                      <a:endParaRPr lang="en-US" sz="125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8" name="Shape 6"/>
          <p:cNvSpPr/>
          <p:nvPr/>
        </p:nvSpPr>
        <p:spPr>
          <a:xfrm>
            <a:off x="274320" y="3840480"/>
            <a:ext cx="8595360" cy="1051560"/>
          </a:xfrm>
          <a:prstGeom prst="rect">
            <a:avLst/>
          </a:prstGeom>
          <a:solidFill>
            <a:srgbClr val="D4F1EF"/>
          </a:solidFill>
          <a:ln/>
        </p:spPr>
        <p:txBody>
          <a:bodyPr/>
          <a:lstStyle/>
          <a:p>
            <a:endParaRPr lang="en-US"/>
          </a:p>
        </p:txBody>
      </p:sp>
      <p:sp>
        <p:nvSpPr>
          <p:cNvPr id="10" name="Text 7"/>
          <p:cNvSpPr/>
          <p:nvPr/>
        </p:nvSpPr>
        <p:spPr>
          <a:xfrm>
            <a:off x="457200" y="3904488"/>
            <a:ext cx="3200400" cy="301752"/>
          </a:xfrm>
          <a:prstGeom prst="rect">
            <a:avLst/>
          </a:prstGeom>
          <a:noFill/>
          <a:ln/>
        </p:spPr>
        <p:txBody>
          <a:bodyPr wrap="square" rtlCol="0" anchor="ctr"/>
          <a:lstStyle/>
          <a:p>
            <a:pPr marL="0" indent="0">
              <a:buNone/>
            </a:pPr>
            <a:r>
              <a:rPr lang="en-US" sz="1300" b="1" dirty="0">
                <a:solidFill>
                  <a:srgbClr val="0E7C7B"/>
                </a:solidFill>
                <a:latin typeface="Calibri" pitchFamily="34" charset="0"/>
                <a:ea typeface="Calibri" pitchFamily="34" charset="-122"/>
                <a:cs typeface="Calibri" pitchFamily="34" charset="-120"/>
              </a:rPr>
              <a:t>Residual Confounding</a:t>
            </a:r>
            <a:endParaRPr lang="en-US" sz="1300" dirty="0"/>
          </a:p>
        </p:txBody>
      </p:sp>
      <p:sp>
        <p:nvSpPr>
          <p:cNvPr id="11" name="Text 8"/>
          <p:cNvSpPr/>
          <p:nvPr/>
        </p:nvSpPr>
        <p:spPr>
          <a:xfrm>
            <a:off x="457200" y="4206240"/>
            <a:ext cx="8229600" cy="594360"/>
          </a:xfrm>
          <a:prstGeom prst="rect">
            <a:avLst/>
          </a:prstGeom>
          <a:noFill/>
          <a:ln/>
        </p:spPr>
        <p:txBody>
          <a:bodyPr wrap="square" rtlCol="0" anchor="ctr"/>
          <a:lstStyle/>
          <a:p>
            <a:pPr marL="0" indent="0">
              <a:buNone/>
            </a:pPr>
            <a:r>
              <a:rPr lang="en-US" sz="1200" dirty="0">
                <a:solidFill>
                  <a:srgbClr val="1A2E3D"/>
                </a:solidFill>
                <a:latin typeface="Calibri" pitchFamily="34" charset="0"/>
                <a:ea typeface="Calibri" pitchFamily="34" charset="-122"/>
                <a:cs typeface="Calibri" pitchFamily="34" charset="-120"/>
              </a:rPr>
              <a:t>Even after adjustment, confounding may persist due to imprecise measurement of the confounder, unmeasured confounders, or insufficient control. Acknowledge this as a study limitation.</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9B72D0"/>
          </a:solidFill>
          <a:ln/>
        </p:spPr>
        <p:txBody>
          <a:bodyPr/>
          <a:lstStyle/>
          <a:p>
            <a:endParaRPr lang="en-US"/>
          </a:p>
        </p:txBody>
      </p:sp>
      <p:sp>
        <p:nvSpPr>
          <p:cNvPr id="3" name="Shape 1"/>
          <p:cNvSpPr/>
          <p:nvPr/>
        </p:nvSpPr>
        <p:spPr>
          <a:xfrm>
            <a:off x="0" y="5070348"/>
            <a:ext cx="9144000" cy="73152"/>
          </a:xfrm>
          <a:prstGeom prst="rect">
            <a:avLst/>
          </a:prstGeom>
          <a:solidFill>
            <a:srgbClr val="9B72D0"/>
          </a:solidFill>
          <a:ln/>
        </p:spPr>
        <p:txBody>
          <a:bodyPr/>
          <a:lstStyle/>
          <a:p>
            <a:endParaRPr lang="en-US"/>
          </a:p>
        </p:txBody>
      </p:sp>
      <p:sp>
        <p:nvSpPr>
          <p:cNvPr id="4" name="Text 2"/>
          <p:cNvSpPr/>
          <p:nvPr/>
        </p:nvSpPr>
        <p:spPr>
          <a:xfrm>
            <a:off x="457200" y="1097280"/>
            <a:ext cx="8229600" cy="457200"/>
          </a:xfrm>
          <a:prstGeom prst="rect">
            <a:avLst/>
          </a:prstGeom>
          <a:noFill/>
          <a:ln/>
        </p:spPr>
        <p:txBody>
          <a:bodyPr wrap="square" rtlCol="0" anchor="ctr"/>
          <a:lstStyle/>
          <a:p>
            <a:pPr marL="0" indent="0" algn="ctr">
              <a:buNone/>
            </a:pPr>
            <a:r>
              <a:rPr lang="en-US" sz="1400" b="1" kern="0" spc="600" dirty="0">
                <a:solidFill>
                  <a:srgbClr val="D4B8F0"/>
                </a:solidFill>
                <a:latin typeface="Calibri" pitchFamily="34" charset="0"/>
                <a:ea typeface="Calibri" pitchFamily="34" charset="-122"/>
                <a:cs typeface="Calibri" pitchFamily="34" charset="-120"/>
              </a:rPr>
              <a:t>SECTION 2</a:t>
            </a:r>
            <a:endParaRPr lang="en-US" sz="1400" dirty="0"/>
          </a:p>
        </p:txBody>
      </p:sp>
      <p:sp>
        <p:nvSpPr>
          <p:cNvPr id="5" name="Text 3"/>
          <p:cNvSpPr/>
          <p:nvPr/>
        </p:nvSpPr>
        <p:spPr>
          <a:xfrm>
            <a:off x="457200" y="1645920"/>
            <a:ext cx="8229600" cy="1463040"/>
          </a:xfrm>
          <a:prstGeom prst="rect">
            <a:avLst/>
          </a:prstGeom>
          <a:noFill/>
          <a:ln/>
        </p:spPr>
        <p:txBody>
          <a:bodyPr wrap="square" rtlCol="0" anchor="ctr"/>
          <a:lstStyle/>
          <a:p>
            <a:pPr marL="0" indent="0" algn="ctr">
              <a:buNone/>
            </a:pPr>
            <a:r>
              <a:rPr lang="en-US" sz="4000" b="1" dirty="0">
                <a:solidFill>
                  <a:srgbClr val="FFFFFF"/>
                </a:solidFill>
                <a:latin typeface="Calibri" pitchFamily="34" charset="0"/>
                <a:ea typeface="Calibri" pitchFamily="34" charset="-122"/>
                <a:cs typeface="Calibri" pitchFamily="34" charset="-120"/>
              </a:rPr>
              <a:t>Moderators</a:t>
            </a:r>
            <a:endParaRPr lang="en-US" sz="4000" dirty="0"/>
          </a:p>
          <a:p>
            <a:pPr marL="0" indent="0" algn="ctr">
              <a:buNone/>
            </a:pPr>
            <a:r>
              <a:rPr lang="en-US" sz="4000" b="1" dirty="0">
                <a:solidFill>
                  <a:srgbClr val="FFFFFF"/>
                </a:solidFill>
                <a:latin typeface="Calibri" pitchFamily="34" charset="0"/>
                <a:ea typeface="Calibri" pitchFamily="34" charset="-122"/>
                <a:cs typeface="Calibri" pitchFamily="34" charset="-120"/>
              </a:rPr>
              <a:t>&amp; Effect Modification</a:t>
            </a:r>
            <a:endParaRPr lang="en-US" sz="4000" dirty="0"/>
          </a:p>
        </p:txBody>
      </p:sp>
      <p:sp>
        <p:nvSpPr>
          <p:cNvPr id="6" name="Text 4"/>
          <p:cNvSpPr/>
          <p:nvPr/>
        </p:nvSpPr>
        <p:spPr>
          <a:xfrm>
            <a:off x="914400" y="3291840"/>
            <a:ext cx="7315200" cy="640080"/>
          </a:xfrm>
          <a:prstGeom prst="rect">
            <a:avLst/>
          </a:prstGeom>
          <a:noFill/>
          <a:ln/>
        </p:spPr>
        <p:txBody>
          <a:bodyPr wrap="square" rtlCol="0" anchor="ctr"/>
          <a:lstStyle/>
          <a:p>
            <a:pPr marL="0" indent="0" algn="ctr">
              <a:buNone/>
            </a:pPr>
            <a:r>
              <a:rPr lang="en-US" sz="1700" i="1" dirty="0">
                <a:solidFill>
                  <a:srgbClr val="D4B8F0"/>
                </a:solidFill>
                <a:latin typeface="Calibri" pitchFamily="34" charset="0"/>
                <a:ea typeface="Calibri" pitchFamily="34" charset="-122"/>
                <a:cs typeface="Calibri" pitchFamily="34" charset="-120"/>
              </a:rPr>
              <a:t>When the exposure–outcome relationship VARIES across subgroups</a:t>
            </a:r>
            <a:endParaRPr lang="en-US" sz="17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2B45"/>
          </a:solidFill>
          <a:ln/>
        </p:spPr>
        <p:txBody>
          <a:bodyPr/>
          <a:lstStyle/>
          <a:p>
            <a:endParaRPr lang="en-US"/>
          </a:p>
        </p:txBody>
      </p:sp>
      <p:sp>
        <p:nvSpPr>
          <p:cNvPr id="3" name="Text 1"/>
          <p:cNvSpPr/>
          <p:nvPr/>
        </p:nvSpPr>
        <p:spPr>
          <a:xfrm>
            <a:off x="365760" y="0"/>
            <a:ext cx="8412480" cy="68580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Moderation / Effect Modification</a:t>
            </a:r>
            <a:endParaRPr lang="en-US" sz="2200" dirty="0"/>
          </a:p>
        </p:txBody>
      </p:sp>
      <p:sp>
        <p:nvSpPr>
          <p:cNvPr id="4" name="Shape 2"/>
          <p:cNvSpPr/>
          <p:nvPr/>
        </p:nvSpPr>
        <p:spPr>
          <a:xfrm>
            <a:off x="274320" y="822960"/>
            <a:ext cx="8595360" cy="868680"/>
          </a:xfrm>
          <a:prstGeom prst="rect">
            <a:avLst/>
          </a:prstGeom>
          <a:solidFill>
            <a:srgbClr val="6B3FA0"/>
          </a:solidFill>
          <a:ln/>
        </p:spPr>
        <p:txBody>
          <a:bodyPr/>
          <a:lstStyle/>
          <a:p>
            <a:endParaRPr lang="en-US"/>
          </a:p>
        </p:txBody>
      </p:sp>
      <p:sp>
        <p:nvSpPr>
          <p:cNvPr id="5" name="Text 3"/>
          <p:cNvSpPr/>
          <p:nvPr/>
        </p:nvSpPr>
        <p:spPr>
          <a:xfrm>
            <a:off x="457200" y="868680"/>
            <a:ext cx="8229600" cy="777240"/>
          </a:xfrm>
          <a:prstGeom prst="rect">
            <a:avLst/>
          </a:prstGeom>
          <a:noFill/>
          <a:ln/>
        </p:spPr>
        <p:txBody>
          <a:bodyPr wrap="square" rtlCol="0" anchor="ctr"/>
          <a:lstStyle/>
          <a:p>
            <a:pPr marL="0" indent="0">
              <a:buNone/>
            </a:pPr>
            <a:r>
              <a:rPr lang="en-US" sz="1300" dirty="0">
                <a:solidFill>
                  <a:srgbClr val="FFFFFF"/>
                </a:solidFill>
                <a:latin typeface="Calibri" pitchFamily="34" charset="0"/>
                <a:ea typeface="Calibri" pitchFamily="34" charset="-122"/>
                <a:cs typeface="Calibri" pitchFamily="34" charset="-120"/>
              </a:rPr>
              <a:t>A moderator (M) is a variable that changes the STRENGTH or DIRECTION of the relationship between exposure (X) and outcome (Y). This is tested as a statistical interaction.</a:t>
            </a:r>
            <a:endParaRPr lang="en-US" sz="1300" dirty="0"/>
          </a:p>
        </p:txBody>
      </p:sp>
      <p:sp>
        <p:nvSpPr>
          <p:cNvPr id="6" name="Shape 4"/>
          <p:cNvSpPr/>
          <p:nvPr/>
        </p:nvSpPr>
        <p:spPr>
          <a:xfrm>
            <a:off x="274320" y="1828800"/>
            <a:ext cx="4114800" cy="3063240"/>
          </a:xfrm>
          <a:prstGeom prst="rect">
            <a:avLst/>
          </a:prstGeom>
          <a:solidFill>
            <a:srgbClr val="FFFFFF"/>
          </a:solidFill>
          <a:ln/>
          <a:effectLst>
            <a:outerShdw blurRad="63500" dist="25400" dir="8100000" algn="bl" rotWithShape="0">
              <a:srgbClr val="000000">
                <a:alpha val="12000"/>
              </a:srgbClr>
            </a:outerShdw>
          </a:effectLst>
        </p:spPr>
        <p:txBody>
          <a:bodyPr/>
          <a:lstStyle/>
          <a:p>
            <a:endParaRPr lang="en-US"/>
          </a:p>
        </p:txBody>
      </p:sp>
      <p:sp>
        <p:nvSpPr>
          <p:cNvPr id="7" name="Shape 5"/>
          <p:cNvSpPr/>
          <p:nvPr/>
        </p:nvSpPr>
        <p:spPr>
          <a:xfrm>
            <a:off x="274320" y="1828800"/>
            <a:ext cx="4114800" cy="411480"/>
          </a:xfrm>
          <a:prstGeom prst="rect">
            <a:avLst/>
          </a:prstGeom>
          <a:solidFill>
            <a:srgbClr val="6B3FA0"/>
          </a:solidFill>
          <a:ln/>
        </p:spPr>
        <p:txBody>
          <a:bodyPr/>
          <a:lstStyle/>
          <a:p>
            <a:endParaRPr lang="en-US"/>
          </a:p>
        </p:txBody>
      </p:sp>
      <p:sp>
        <p:nvSpPr>
          <p:cNvPr id="8" name="Text 6"/>
          <p:cNvSpPr/>
          <p:nvPr/>
        </p:nvSpPr>
        <p:spPr>
          <a:xfrm>
            <a:off x="365760" y="1828800"/>
            <a:ext cx="3931920" cy="41148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Testing for Interaction</a:t>
            </a:r>
            <a:endParaRPr lang="en-US" sz="1300" dirty="0"/>
          </a:p>
        </p:txBody>
      </p:sp>
      <p:sp>
        <p:nvSpPr>
          <p:cNvPr id="9" name="Text 7"/>
          <p:cNvSpPr/>
          <p:nvPr/>
        </p:nvSpPr>
        <p:spPr>
          <a:xfrm>
            <a:off x="411480" y="2331720"/>
            <a:ext cx="3886200" cy="2468880"/>
          </a:xfrm>
          <a:prstGeom prst="rect">
            <a:avLst/>
          </a:prstGeom>
          <a:noFill/>
          <a:ln/>
        </p:spPr>
        <p:txBody>
          <a:bodyPr wrap="square" rtlCol="0" anchor="ctr"/>
          <a:lstStyle/>
          <a:p>
            <a:pPr marL="0" indent="0">
              <a:buNone/>
            </a:pPr>
            <a:r>
              <a:rPr lang="en-US" sz="1200" b="1" dirty="0">
                <a:solidFill>
                  <a:srgbClr val="1A2E3D"/>
                </a:solidFill>
                <a:latin typeface="Calibri" pitchFamily="34" charset="0"/>
                <a:ea typeface="Calibri" pitchFamily="34" charset="-122"/>
                <a:cs typeface="Calibri" pitchFamily="34" charset="-120"/>
              </a:rPr>
              <a:t>Regression with product term:
</a:t>
            </a:r>
            <a:r>
              <a:rPr lang="en-US" sz="1200" dirty="0">
                <a:solidFill>
                  <a:srgbClr val="1A2E3D"/>
                </a:solidFill>
                <a:latin typeface="Calibri" pitchFamily="34" charset="0"/>
                <a:ea typeface="Calibri" pitchFamily="34" charset="-122"/>
                <a:cs typeface="Calibri" pitchFamily="34" charset="-120"/>
              </a:rPr>
              <a:t>Y = β₀ + β₁X + β₂M + β₃(X×M)
• β₃ = interaction coefficient
• Significant β₃ → effect modification present
</a:t>
            </a:r>
            <a:r>
              <a:rPr lang="en-US" sz="1200" b="1" dirty="0">
                <a:solidFill>
                  <a:srgbClr val="1A2E3D"/>
                </a:solidFill>
                <a:latin typeface="Calibri" pitchFamily="34" charset="0"/>
                <a:ea typeface="Calibri" pitchFamily="34" charset="-122"/>
                <a:cs typeface="Calibri" pitchFamily="34" charset="-120"/>
              </a:rPr>
              <a:t>Stratified analysis: </a:t>
            </a:r>
            <a:r>
              <a:rPr lang="en-US" sz="1200" dirty="0">
                <a:solidFill>
                  <a:srgbClr val="1A2E3D"/>
                </a:solidFill>
                <a:latin typeface="Calibri" pitchFamily="34" charset="0"/>
                <a:ea typeface="Calibri" pitchFamily="34" charset="-122"/>
                <a:cs typeface="Calibri" pitchFamily="34" charset="-120"/>
              </a:rPr>
              <a:t>Run separate models in each stratum of M and compare</a:t>
            </a:r>
            <a:endParaRPr lang="en-US" sz="1200" dirty="0"/>
          </a:p>
        </p:txBody>
      </p:sp>
      <p:sp>
        <p:nvSpPr>
          <p:cNvPr id="10" name="Shape 8"/>
          <p:cNvSpPr/>
          <p:nvPr/>
        </p:nvSpPr>
        <p:spPr>
          <a:xfrm>
            <a:off x="4617720" y="1828800"/>
            <a:ext cx="4251960" cy="3063240"/>
          </a:xfrm>
          <a:prstGeom prst="rect">
            <a:avLst/>
          </a:prstGeom>
          <a:solidFill>
            <a:srgbClr val="FFFFFF"/>
          </a:solidFill>
          <a:ln/>
          <a:effectLst>
            <a:outerShdw blurRad="63500" dist="25400" dir="8100000" algn="bl" rotWithShape="0">
              <a:srgbClr val="000000">
                <a:alpha val="12000"/>
              </a:srgbClr>
            </a:outerShdw>
          </a:effectLst>
        </p:spPr>
        <p:txBody>
          <a:bodyPr/>
          <a:lstStyle/>
          <a:p>
            <a:endParaRPr lang="en-US"/>
          </a:p>
        </p:txBody>
      </p:sp>
      <p:sp>
        <p:nvSpPr>
          <p:cNvPr id="11" name="Shape 9"/>
          <p:cNvSpPr/>
          <p:nvPr/>
        </p:nvSpPr>
        <p:spPr>
          <a:xfrm>
            <a:off x="4617720" y="1828800"/>
            <a:ext cx="4251960" cy="411480"/>
          </a:xfrm>
          <a:prstGeom prst="rect">
            <a:avLst/>
          </a:prstGeom>
          <a:solidFill>
            <a:srgbClr val="0D2B45"/>
          </a:solidFill>
          <a:ln/>
        </p:spPr>
        <p:txBody>
          <a:bodyPr/>
          <a:lstStyle/>
          <a:p>
            <a:endParaRPr lang="en-US"/>
          </a:p>
        </p:txBody>
      </p:sp>
      <p:sp>
        <p:nvSpPr>
          <p:cNvPr id="12" name="Text 10"/>
          <p:cNvSpPr/>
          <p:nvPr/>
        </p:nvSpPr>
        <p:spPr>
          <a:xfrm>
            <a:off x="4709160" y="1828800"/>
            <a:ext cx="4069080" cy="41148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Public Health Example</a:t>
            </a:r>
            <a:endParaRPr lang="en-US" sz="1300" dirty="0"/>
          </a:p>
        </p:txBody>
      </p:sp>
      <p:sp>
        <p:nvSpPr>
          <p:cNvPr id="13" name="Text 11"/>
          <p:cNvSpPr/>
          <p:nvPr/>
        </p:nvSpPr>
        <p:spPr>
          <a:xfrm>
            <a:off x="4754880" y="2331720"/>
            <a:ext cx="4023360" cy="502920"/>
          </a:xfrm>
          <a:prstGeom prst="rect">
            <a:avLst/>
          </a:prstGeom>
          <a:noFill/>
          <a:ln/>
        </p:spPr>
        <p:txBody>
          <a:bodyPr wrap="square" rtlCol="0" anchor="ctr"/>
          <a:lstStyle/>
          <a:p>
            <a:pPr marL="0" indent="0">
              <a:buNone/>
            </a:pPr>
            <a:r>
              <a:rPr lang="en-US" sz="1250" b="1" i="1" dirty="0">
                <a:solidFill>
                  <a:srgbClr val="0D2B45"/>
                </a:solidFill>
                <a:latin typeface="Calibri" pitchFamily="34" charset="0"/>
                <a:ea typeface="Calibri" pitchFamily="34" charset="-122"/>
                <a:cs typeface="Calibri" pitchFamily="34" charset="-120"/>
              </a:rPr>
              <a:t>Does physical activity (X) reduce diabetes risk (Y)?</a:t>
            </a:r>
            <a:endParaRPr lang="en-US" sz="1250" dirty="0"/>
          </a:p>
        </p:txBody>
      </p:sp>
      <p:graphicFrame>
        <p:nvGraphicFramePr>
          <p:cNvPr id="14" name="Table 0"/>
          <p:cNvGraphicFramePr>
            <a:graphicFrameLocks noGrp="1"/>
          </p:cNvGraphicFramePr>
          <p:nvPr/>
        </p:nvGraphicFramePr>
        <p:xfrm>
          <a:off x="4709160" y="2880360"/>
          <a:ext cx="4023360" cy="822960"/>
        </p:xfrm>
        <a:graphic>
          <a:graphicData uri="http://schemas.openxmlformats.org/drawingml/2006/table">
            <a:tbl>
              <a:tblPr/>
              <a:tblGrid>
                <a:gridCol w="201168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tblGrid>
              <a:tr h="274320">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Moderator (M)</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0F2"/>
                    </a:solidFill>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Effect of PA on DM Risk</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0F2"/>
                    </a:solidFill>
                  </a:tcPr>
                </a:tc>
                <a:extLst>
                  <a:ext uri="{0D108BD9-81ED-4DB2-BD59-A6C34878D82A}">
                    <a16:rowId xmlns:a16="http://schemas.microsoft.com/office/drawing/2014/main" val="10000"/>
                  </a:ext>
                </a:extLst>
              </a:tr>
              <a:tr h="274320">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Normal weight</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0F2"/>
                    </a:solidFill>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OR = 0.6 (protective)</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0F2"/>
                    </a:solidFill>
                  </a:tcPr>
                </a:tc>
                <a:extLst>
                  <a:ext uri="{0D108BD9-81ED-4DB2-BD59-A6C34878D82A}">
                    <a16:rowId xmlns:a16="http://schemas.microsoft.com/office/drawing/2014/main" val="10001"/>
                  </a:ext>
                </a:extLst>
              </a:tr>
              <a:tr h="274320">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Obese</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0F2"/>
                    </a:solidFill>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OR = 0.3 (strongly protective)</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0F2"/>
                    </a:solidFill>
                  </a:tcPr>
                </a:tc>
                <a:extLst>
                  <a:ext uri="{0D108BD9-81ED-4DB2-BD59-A6C34878D82A}">
                    <a16:rowId xmlns:a16="http://schemas.microsoft.com/office/drawing/2014/main" val="10002"/>
                  </a:ext>
                </a:extLst>
              </a:tr>
            </a:tbl>
          </a:graphicData>
        </a:graphic>
      </p:graphicFrame>
      <p:sp>
        <p:nvSpPr>
          <p:cNvPr id="15" name="Text 12"/>
          <p:cNvSpPr/>
          <p:nvPr/>
        </p:nvSpPr>
        <p:spPr>
          <a:xfrm>
            <a:off x="4754880" y="3767328"/>
            <a:ext cx="4023360" cy="1005840"/>
          </a:xfrm>
          <a:prstGeom prst="rect">
            <a:avLst/>
          </a:prstGeom>
          <a:noFill/>
          <a:ln/>
        </p:spPr>
        <p:txBody>
          <a:bodyPr wrap="square" rtlCol="0" anchor="ctr"/>
          <a:lstStyle/>
          <a:p>
            <a:pPr marL="0" indent="0">
              <a:buNone/>
            </a:pPr>
            <a:r>
              <a:rPr lang="en-US" sz="1200" i="1" dirty="0">
                <a:solidFill>
                  <a:srgbClr val="6B3FA0"/>
                </a:solidFill>
                <a:latin typeface="Calibri" pitchFamily="34" charset="0"/>
                <a:ea typeface="Calibri" pitchFamily="34" charset="-122"/>
                <a:cs typeface="Calibri" pitchFamily="34" charset="-120"/>
              </a:rPr>
              <a:t>→ Weight status MODERATES the effect of physical activity. The interaction term (PA × BMI category) would be significant.</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2DBE76"/>
          </a:solidFill>
          <a:ln/>
        </p:spPr>
        <p:txBody>
          <a:bodyPr/>
          <a:lstStyle/>
          <a:p>
            <a:endParaRPr lang="en-US"/>
          </a:p>
        </p:txBody>
      </p:sp>
      <p:sp>
        <p:nvSpPr>
          <p:cNvPr id="3" name="Shape 1"/>
          <p:cNvSpPr/>
          <p:nvPr/>
        </p:nvSpPr>
        <p:spPr>
          <a:xfrm>
            <a:off x="0" y="5070348"/>
            <a:ext cx="9144000" cy="73152"/>
          </a:xfrm>
          <a:prstGeom prst="rect">
            <a:avLst/>
          </a:prstGeom>
          <a:solidFill>
            <a:srgbClr val="2DBE76"/>
          </a:solidFill>
          <a:ln/>
        </p:spPr>
        <p:txBody>
          <a:bodyPr/>
          <a:lstStyle/>
          <a:p>
            <a:endParaRPr lang="en-US"/>
          </a:p>
        </p:txBody>
      </p:sp>
      <p:sp>
        <p:nvSpPr>
          <p:cNvPr id="4" name="Text 2"/>
          <p:cNvSpPr/>
          <p:nvPr/>
        </p:nvSpPr>
        <p:spPr>
          <a:xfrm>
            <a:off x="457200" y="1097280"/>
            <a:ext cx="8229600" cy="457200"/>
          </a:xfrm>
          <a:prstGeom prst="rect">
            <a:avLst/>
          </a:prstGeom>
          <a:noFill/>
          <a:ln/>
        </p:spPr>
        <p:txBody>
          <a:bodyPr wrap="square" rtlCol="0" anchor="ctr"/>
          <a:lstStyle/>
          <a:p>
            <a:pPr marL="0" indent="0" algn="ctr">
              <a:buNone/>
            </a:pPr>
            <a:r>
              <a:rPr lang="en-US" sz="1400" b="1" kern="0" spc="600" dirty="0">
                <a:solidFill>
                  <a:srgbClr val="A8E6C3"/>
                </a:solidFill>
                <a:latin typeface="Calibri" pitchFamily="34" charset="0"/>
                <a:ea typeface="Calibri" pitchFamily="34" charset="-122"/>
                <a:cs typeface="Calibri" pitchFamily="34" charset="-120"/>
              </a:rPr>
              <a:t>SECTION 3</a:t>
            </a:r>
            <a:endParaRPr lang="en-US" sz="1400" dirty="0"/>
          </a:p>
        </p:txBody>
      </p:sp>
      <p:sp>
        <p:nvSpPr>
          <p:cNvPr id="5" name="Text 3"/>
          <p:cNvSpPr/>
          <p:nvPr/>
        </p:nvSpPr>
        <p:spPr>
          <a:xfrm>
            <a:off x="457200" y="1645920"/>
            <a:ext cx="8229600" cy="1463040"/>
          </a:xfrm>
          <a:prstGeom prst="rect">
            <a:avLst/>
          </a:prstGeom>
          <a:noFill/>
          <a:ln/>
        </p:spPr>
        <p:txBody>
          <a:bodyPr wrap="square" rtlCol="0" anchor="ctr"/>
          <a:lstStyle/>
          <a:p>
            <a:pPr marL="0" indent="0" algn="ctr">
              <a:buNone/>
            </a:pPr>
            <a:r>
              <a:rPr lang="en-US" sz="4000" b="1" dirty="0">
                <a:solidFill>
                  <a:srgbClr val="FFFFFF"/>
                </a:solidFill>
                <a:latin typeface="Calibri" pitchFamily="34" charset="0"/>
                <a:ea typeface="Calibri" pitchFamily="34" charset="-122"/>
                <a:cs typeface="Calibri" pitchFamily="34" charset="-120"/>
              </a:rPr>
              <a:t>Mediators &amp;</a:t>
            </a:r>
            <a:endParaRPr lang="en-US" sz="4000" dirty="0"/>
          </a:p>
          <a:p>
            <a:pPr marL="0" indent="0" algn="ctr">
              <a:buNone/>
            </a:pPr>
            <a:r>
              <a:rPr lang="en-US" sz="4000" b="1" dirty="0">
                <a:solidFill>
                  <a:srgbClr val="FFFFFF"/>
                </a:solidFill>
                <a:latin typeface="Calibri" pitchFamily="34" charset="0"/>
                <a:ea typeface="Calibri" pitchFamily="34" charset="-122"/>
                <a:cs typeface="Calibri" pitchFamily="34" charset="-120"/>
              </a:rPr>
              <a:t>Mediation Analysis</a:t>
            </a:r>
            <a:endParaRPr lang="en-US" sz="4000" dirty="0"/>
          </a:p>
        </p:txBody>
      </p:sp>
      <p:sp>
        <p:nvSpPr>
          <p:cNvPr id="6" name="Text 4"/>
          <p:cNvSpPr/>
          <p:nvPr/>
        </p:nvSpPr>
        <p:spPr>
          <a:xfrm>
            <a:off x="914400" y="3291840"/>
            <a:ext cx="7315200" cy="640080"/>
          </a:xfrm>
          <a:prstGeom prst="rect">
            <a:avLst/>
          </a:prstGeom>
          <a:noFill/>
          <a:ln/>
        </p:spPr>
        <p:txBody>
          <a:bodyPr wrap="square" rtlCol="0" anchor="ctr"/>
          <a:lstStyle/>
          <a:p>
            <a:pPr marL="0" indent="0" algn="ctr">
              <a:buNone/>
            </a:pPr>
            <a:r>
              <a:rPr lang="en-US" sz="1700" i="1" dirty="0">
                <a:solidFill>
                  <a:srgbClr val="A8E6C3"/>
                </a:solidFill>
                <a:latin typeface="Calibri" pitchFamily="34" charset="0"/>
                <a:ea typeface="Calibri" pitchFamily="34" charset="-122"/>
                <a:cs typeface="Calibri" pitchFamily="34" charset="-120"/>
              </a:rPr>
              <a:t>Uncovering the MECHANISM through which exposure affects outcome</a:t>
            </a:r>
            <a:endParaRPr lang="en-US" sz="17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2B45"/>
          </a:solidFill>
          <a:ln/>
        </p:spPr>
        <p:txBody>
          <a:bodyPr/>
          <a:lstStyle/>
          <a:p>
            <a:endParaRPr lang="en-US"/>
          </a:p>
        </p:txBody>
      </p:sp>
      <p:sp>
        <p:nvSpPr>
          <p:cNvPr id="3" name="Text 1"/>
          <p:cNvSpPr/>
          <p:nvPr/>
        </p:nvSpPr>
        <p:spPr>
          <a:xfrm>
            <a:off x="365760" y="0"/>
            <a:ext cx="8412480" cy="68580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Mediation Analysis: Pathways &amp; Methods</a:t>
            </a:r>
            <a:endParaRPr lang="en-US" sz="2200" dirty="0"/>
          </a:p>
        </p:txBody>
      </p:sp>
      <p:sp>
        <p:nvSpPr>
          <p:cNvPr id="4" name="Shape 2"/>
          <p:cNvSpPr/>
          <p:nvPr/>
        </p:nvSpPr>
        <p:spPr>
          <a:xfrm>
            <a:off x="274320" y="822960"/>
            <a:ext cx="8595360" cy="1874520"/>
          </a:xfrm>
          <a:prstGeom prst="rect">
            <a:avLst/>
          </a:prstGeom>
          <a:solidFill>
            <a:srgbClr val="FFFFFF"/>
          </a:solidFill>
          <a:ln/>
          <a:effectLst>
            <a:outerShdw blurRad="63500" dist="25400" dir="8100000" algn="bl" rotWithShape="0">
              <a:srgbClr val="000000">
                <a:alpha val="12000"/>
              </a:srgbClr>
            </a:outerShdw>
          </a:effectLst>
        </p:spPr>
        <p:txBody>
          <a:bodyPr/>
          <a:lstStyle/>
          <a:p>
            <a:endParaRPr lang="en-US"/>
          </a:p>
        </p:txBody>
      </p:sp>
      <p:sp>
        <p:nvSpPr>
          <p:cNvPr id="5" name="Shape 3"/>
          <p:cNvSpPr/>
          <p:nvPr/>
        </p:nvSpPr>
        <p:spPr>
          <a:xfrm>
            <a:off x="457200" y="1005840"/>
            <a:ext cx="1737360" cy="640080"/>
          </a:xfrm>
          <a:prstGeom prst="rect">
            <a:avLst/>
          </a:prstGeom>
          <a:solidFill>
            <a:srgbClr val="0E7C7B"/>
          </a:solidFill>
          <a:ln/>
        </p:spPr>
        <p:txBody>
          <a:bodyPr/>
          <a:lstStyle/>
          <a:p>
            <a:endParaRPr lang="en-US"/>
          </a:p>
        </p:txBody>
      </p:sp>
      <p:sp>
        <p:nvSpPr>
          <p:cNvPr id="6" name="Text 4"/>
          <p:cNvSpPr/>
          <p:nvPr/>
        </p:nvSpPr>
        <p:spPr>
          <a:xfrm>
            <a:off x="457200" y="1005840"/>
            <a:ext cx="1737360" cy="64008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X</a:t>
            </a:r>
            <a:endParaRPr lang="en-US" sz="1300" dirty="0"/>
          </a:p>
          <a:p>
            <a:pPr marL="0" indent="0" algn="ctr">
              <a:buNone/>
            </a:pPr>
            <a:r>
              <a:rPr lang="en-US" sz="1300" b="1" dirty="0">
                <a:solidFill>
                  <a:srgbClr val="FFFFFF"/>
                </a:solidFill>
                <a:latin typeface="Calibri" pitchFamily="34" charset="0"/>
                <a:ea typeface="Calibri" pitchFamily="34" charset="-122"/>
                <a:cs typeface="Calibri" pitchFamily="34" charset="-120"/>
              </a:rPr>
              <a:t>(Exposure)</a:t>
            </a:r>
            <a:endParaRPr lang="en-US" sz="1300" dirty="0"/>
          </a:p>
        </p:txBody>
      </p:sp>
      <p:sp>
        <p:nvSpPr>
          <p:cNvPr id="7" name="Shape 5"/>
          <p:cNvSpPr/>
          <p:nvPr/>
        </p:nvSpPr>
        <p:spPr>
          <a:xfrm>
            <a:off x="3703320" y="886968"/>
            <a:ext cx="1737360" cy="640080"/>
          </a:xfrm>
          <a:prstGeom prst="rect">
            <a:avLst/>
          </a:prstGeom>
          <a:solidFill>
            <a:srgbClr val="1A7A4A"/>
          </a:solidFill>
          <a:ln/>
        </p:spPr>
        <p:txBody>
          <a:bodyPr/>
          <a:lstStyle/>
          <a:p>
            <a:endParaRPr lang="en-US"/>
          </a:p>
        </p:txBody>
      </p:sp>
      <p:sp>
        <p:nvSpPr>
          <p:cNvPr id="8" name="Text 6"/>
          <p:cNvSpPr/>
          <p:nvPr/>
        </p:nvSpPr>
        <p:spPr>
          <a:xfrm>
            <a:off x="3703320" y="886968"/>
            <a:ext cx="1737360" cy="64008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M</a:t>
            </a:r>
            <a:endParaRPr lang="en-US" sz="1300" dirty="0"/>
          </a:p>
          <a:p>
            <a:pPr marL="0" indent="0" algn="ctr">
              <a:buNone/>
            </a:pPr>
            <a:r>
              <a:rPr lang="en-US" sz="1300" b="1" dirty="0">
                <a:solidFill>
                  <a:srgbClr val="FFFFFF"/>
                </a:solidFill>
                <a:latin typeface="Calibri" pitchFamily="34" charset="0"/>
                <a:ea typeface="Calibri" pitchFamily="34" charset="-122"/>
                <a:cs typeface="Calibri" pitchFamily="34" charset="-120"/>
              </a:rPr>
              <a:t>(Mediator)</a:t>
            </a:r>
            <a:endParaRPr lang="en-US" sz="1300" dirty="0"/>
          </a:p>
        </p:txBody>
      </p:sp>
      <p:sp>
        <p:nvSpPr>
          <p:cNvPr id="9" name="Shape 7"/>
          <p:cNvSpPr/>
          <p:nvPr/>
        </p:nvSpPr>
        <p:spPr>
          <a:xfrm>
            <a:off x="6949440" y="1005840"/>
            <a:ext cx="1737360" cy="640080"/>
          </a:xfrm>
          <a:prstGeom prst="rect">
            <a:avLst/>
          </a:prstGeom>
          <a:solidFill>
            <a:srgbClr val="6B3FA0"/>
          </a:solidFill>
          <a:ln/>
        </p:spPr>
        <p:txBody>
          <a:bodyPr/>
          <a:lstStyle/>
          <a:p>
            <a:endParaRPr lang="en-US"/>
          </a:p>
        </p:txBody>
      </p:sp>
      <p:sp>
        <p:nvSpPr>
          <p:cNvPr id="10" name="Text 8"/>
          <p:cNvSpPr/>
          <p:nvPr/>
        </p:nvSpPr>
        <p:spPr>
          <a:xfrm>
            <a:off x="6949440" y="1005840"/>
            <a:ext cx="1737360" cy="64008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Y</a:t>
            </a:r>
            <a:endParaRPr lang="en-US" sz="1300" dirty="0"/>
          </a:p>
          <a:p>
            <a:pPr marL="0" indent="0" algn="ctr">
              <a:buNone/>
            </a:pPr>
            <a:r>
              <a:rPr lang="en-US" sz="1300" b="1" dirty="0">
                <a:solidFill>
                  <a:srgbClr val="FFFFFF"/>
                </a:solidFill>
                <a:latin typeface="Calibri" pitchFamily="34" charset="0"/>
                <a:ea typeface="Calibri" pitchFamily="34" charset="-122"/>
                <a:cs typeface="Calibri" pitchFamily="34" charset="-120"/>
              </a:rPr>
              <a:t>(Outcome)</a:t>
            </a:r>
            <a:endParaRPr lang="en-US" sz="1300" dirty="0"/>
          </a:p>
        </p:txBody>
      </p:sp>
      <p:sp>
        <p:nvSpPr>
          <p:cNvPr id="11" name="Shape 9"/>
          <p:cNvSpPr/>
          <p:nvPr/>
        </p:nvSpPr>
        <p:spPr>
          <a:xfrm>
            <a:off x="2194560" y="1207008"/>
            <a:ext cx="1508760" cy="0"/>
          </a:xfrm>
          <a:prstGeom prst="line">
            <a:avLst/>
          </a:prstGeom>
          <a:noFill/>
          <a:ln w="31750">
            <a:solidFill>
              <a:srgbClr val="1A7A4A"/>
            </a:solidFill>
            <a:prstDash val="solid"/>
          </a:ln>
        </p:spPr>
        <p:txBody>
          <a:bodyPr/>
          <a:lstStyle/>
          <a:p>
            <a:endParaRPr lang="en-US"/>
          </a:p>
        </p:txBody>
      </p:sp>
      <p:sp>
        <p:nvSpPr>
          <p:cNvPr id="12" name="Text 10"/>
          <p:cNvSpPr/>
          <p:nvPr/>
        </p:nvSpPr>
        <p:spPr>
          <a:xfrm>
            <a:off x="2651760" y="1005840"/>
            <a:ext cx="457200" cy="274320"/>
          </a:xfrm>
          <a:prstGeom prst="rect">
            <a:avLst/>
          </a:prstGeom>
          <a:noFill/>
          <a:ln/>
        </p:spPr>
        <p:txBody>
          <a:bodyPr wrap="square" rtlCol="0" anchor="ctr"/>
          <a:lstStyle/>
          <a:p>
            <a:pPr marL="0" indent="0">
              <a:buNone/>
            </a:pPr>
            <a:r>
              <a:rPr lang="en-US" sz="1200" b="1" dirty="0">
                <a:solidFill>
                  <a:srgbClr val="1A7A4A"/>
                </a:solidFill>
                <a:latin typeface="Calibri" pitchFamily="34" charset="0"/>
                <a:ea typeface="Calibri" pitchFamily="34" charset="-122"/>
                <a:cs typeface="Calibri" pitchFamily="34" charset="-120"/>
              </a:rPr>
              <a:t>a</a:t>
            </a:r>
            <a:endParaRPr lang="en-US" sz="1200" dirty="0"/>
          </a:p>
        </p:txBody>
      </p:sp>
      <p:sp>
        <p:nvSpPr>
          <p:cNvPr id="13" name="Shape 11"/>
          <p:cNvSpPr/>
          <p:nvPr/>
        </p:nvSpPr>
        <p:spPr>
          <a:xfrm>
            <a:off x="5440680" y="1207008"/>
            <a:ext cx="1508760" cy="0"/>
          </a:xfrm>
          <a:prstGeom prst="line">
            <a:avLst/>
          </a:prstGeom>
          <a:noFill/>
          <a:ln w="31750">
            <a:solidFill>
              <a:srgbClr val="1A7A4A"/>
            </a:solidFill>
            <a:prstDash val="solid"/>
          </a:ln>
        </p:spPr>
        <p:txBody>
          <a:bodyPr/>
          <a:lstStyle/>
          <a:p>
            <a:endParaRPr lang="en-US"/>
          </a:p>
        </p:txBody>
      </p:sp>
      <p:sp>
        <p:nvSpPr>
          <p:cNvPr id="14" name="Text 12"/>
          <p:cNvSpPr/>
          <p:nvPr/>
        </p:nvSpPr>
        <p:spPr>
          <a:xfrm>
            <a:off x="5852160" y="1005840"/>
            <a:ext cx="457200" cy="274320"/>
          </a:xfrm>
          <a:prstGeom prst="rect">
            <a:avLst/>
          </a:prstGeom>
          <a:noFill/>
          <a:ln/>
        </p:spPr>
        <p:txBody>
          <a:bodyPr wrap="square" rtlCol="0" anchor="ctr"/>
          <a:lstStyle/>
          <a:p>
            <a:pPr marL="0" indent="0">
              <a:buNone/>
            </a:pPr>
            <a:r>
              <a:rPr lang="en-US" sz="1200" b="1" dirty="0">
                <a:solidFill>
                  <a:srgbClr val="1A7A4A"/>
                </a:solidFill>
                <a:latin typeface="Calibri" pitchFamily="34" charset="0"/>
                <a:ea typeface="Calibri" pitchFamily="34" charset="-122"/>
                <a:cs typeface="Calibri" pitchFamily="34" charset="-120"/>
              </a:rPr>
              <a:t>b</a:t>
            </a:r>
            <a:endParaRPr lang="en-US" sz="1200" dirty="0"/>
          </a:p>
        </p:txBody>
      </p:sp>
      <p:sp>
        <p:nvSpPr>
          <p:cNvPr id="15" name="Shape 13"/>
          <p:cNvSpPr/>
          <p:nvPr/>
        </p:nvSpPr>
        <p:spPr>
          <a:xfrm>
            <a:off x="2194560" y="1630806"/>
            <a:ext cx="4754880" cy="0"/>
          </a:xfrm>
          <a:prstGeom prst="line">
            <a:avLst/>
          </a:prstGeom>
          <a:noFill/>
          <a:ln w="31750">
            <a:solidFill>
              <a:srgbClr val="0D2B45"/>
            </a:solidFill>
            <a:prstDash val="solid"/>
          </a:ln>
        </p:spPr>
        <p:txBody>
          <a:bodyPr/>
          <a:lstStyle/>
          <a:p>
            <a:endParaRPr lang="en-US"/>
          </a:p>
        </p:txBody>
      </p:sp>
      <p:sp>
        <p:nvSpPr>
          <p:cNvPr id="16" name="Text 14"/>
          <p:cNvSpPr/>
          <p:nvPr/>
        </p:nvSpPr>
        <p:spPr>
          <a:xfrm>
            <a:off x="4023360" y="1719072"/>
            <a:ext cx="2286000" cy="274320"/>
          </a:xfrm>
          <a:prstGeom prst="rect">
            <a:avLst/>
          </a:prstGeom>
          <a:noFill/>
          <a:ln/>
        </p:spPr>
        <p:txBody>
          <a:bodyPr wrap="square" rtlCol="0" anchor="ctr"/>
          <a:lstStyle/>
          <a:p>
            <a:pPr marL="0" indent="0" algn="ctr">
              <a:buNone/>
            </a:pPr>
            <a:r>
              <a:rPr lang="en-US" sz="1100" i="1" dirty="0">
                <a:solidFill>
                  <a:srgbClr val="0D2B45"/>
                </a:solidFill>
                <a:latin typeface="Calibri" pitchFamily="34" charset="0"/>
                <a:ea typeface="Calibri" pitchFamily="34" charset="-122"/>
                <a:cs typeface="Calibri" pitchFamily="34" charset="-120"/>
              </a:rPr>
              <a:t>c' (direct effect)</a:t>
            </a:r>
            <a:endParaRPr lang="en-US" sz="1100" dirty="0"/>
          </a:p>
        </p:txBody>
      </p:sp>
      <p:sp>
        <p:nvSpPr>
          <p:cNvPr id="17" name="Text 15"/>
          <p:cNvSpPr/>
          <p:nvPr/>
        </p:nvSpPr>
        <p:spPr>
          <a:xfrm>
            <a:off x="320040" y="2359152"/>
            <a:ext cx="8503920" cy="274320"/>
          </a:xfrm>
          <a:prstGeom prst="rect">
            <a:avLst/>
          </a:prstGeom>
          <a:noFill/>
          <a:ln/>
        </p:spPr>
        <p:txBody>
          <a:bodyPr wrap="square" rtlCol="0" anchor="ctr"/>
          <a:lstStyle/>
          <a:p>
            <a:pPr marL="0" indent="0" algn="ctr">
              <a:buNone/>
            </a:pPr>
            <a:r>
              <a:rPr lang="en-US" sz="1250" b="1" dirty="0">
                <a:solidFill>
                  <a:srgbClr val="1A7A4A"/>
                </a:solidFill>
                <a:latin typeface="Calibri" pitchFamily="34" charset="0"/>
                <a:ea typeface="Calibri" pitchFamily="34" charset="-122"/>
                <a:cs typeface="Calibri" pitchFamily="34" charset="-120"/>
              </a:rPr>
              <a:t>Indirect effect (mediated) = a × b</a:t>
            </a:r>
            <a:endParaRPr lang="en-US" sz="1250" dirty="0"/>
          </a:p>
        </p:txBody>
      </p:sp>
      <p:sp>
        <p:nvSpPr>
          <p:cNvPr id="18" name="Text 16"/>
          <p:cNvSpPr/>
          <p:nvPr/>
        </p:nvSpPr>
        <p:spPr>
          <a:xfrm>
            <a:off x="320040" y="2578608"/>
            <a:ext cx="8503920" cy="237744"/>
          </a:xfrm>
          <a:prstGeom prst="rect">
            <a:avLst/>
          </a:prstGeom>
          <a:noFill/>
          <a:ln/>
        </p:spPr>
        <p:txBody>
          <a:bodyPr wrap="square" rtlCol="0" anchor="ctr"/>
          <a:lstStyle/>
          <a:p>
            <a:pPr marL="0" indent="0" algn="ctr">
              <a:buNone/>
            </a:pPr>
            <a:r>
              <a:rPr lang="en-US" sz="1150" dirty="0">
                <a:solidFill>
                  <a:srgbClr val="64748B"/>
                </a:solidFill>
                <a:latin typeface="Calibri" pitchFamily="34" charset="0"/>
                <a:ea typeface="Calibri" pitchFamily="34" charset="-122"/>
                <a:cs typeface="Calibri" pitchFamily="34" charset="-120"/>
              </a:rPr>
              <a:t>Total effect = direct (c') + indirect (a×b)</a:t>
            </a:r>
            <a:endParaRPr lang="en-US" sz="1150" dirty="0"/>
          </a:p>
        </p:txBody>
      </p:sp>
      <p:sp>
        <p:nvSpPr>
          <p:cNvPr id="19" name="Shape 17"/>
          <p:cNvSpPr/>
          <p:nvPr/>
        </p:nvSpPr>
        <p:spPr>
          <a:xfrm>
            <a:off x="274320" y="2926080"/>
            <a:ext cx="4114800" cy="1920240"/>
          </a:xfrm>
          <a:prstGeom prst="rect">
            <a:avLst/>
          </a:prstGeom>
          <a:solidFill>
            <a:srgbClr val="FFFFFF"/>
          </a:solidFill>
          <a:ln/>
          <a:effectLst>
            <a:outerShdw blurRad="63500" dist="25400" dir="8100000" algn="bl" rotWithShape="0">
              <a:srgbClr val="000000">
                <a:alpha val="12000"/>
              </a:srgbClr>
            </a:outerShdw>
          </a:effectLst>
        </p:spPr>
        <p:txBody>
          <a:bodyPr/>
          <a:lstStyle/>
          <a:p>
            <a:endParaRPr lang="en-US"/>
          </a:p>
        </p:txBody>
      </p:sp>
      <p:sp>
        <p:nvSpPr>
          <p:cNvPr id="20" name="Shape 18"/>
          <p:cNvSpPr/>
          <p:nvPr/>
        </p:nvSpPr>
        <p:spPr>
          <a:xfrm>
            <a:off x="274320" y="2926080"/>
            <a:ext cx="4114800" cy="411480"/>
          </a:xfrm>
          <a:prstGeom prst="rect">
            <a:avLst/>
          </a:prstGeom>
          <a:solidFill>
            <a:srgbClr val="0D2B45"/>
          </a:solidFill>
          <a:ln/>
        </p:spPr>
        <p:txBody>
          <a:bodyPr/>
          <a:lstStyle/>
          <a:p>
            <a:endParaRPr lang="en-US"/>
          </a:p>
        </p:txBody>
      </p:sp>
      <p:sp>
        <p:nvSpPr>
          <p:cNvPr id="21" name="Text 19"/>
          <p:cNvSpPr/>
          <p:nvPr/>
        </p:nvSpPr>
        <p:spPr>
          <a:xfrm>
            <a:off x="365760" y="2926080"/>
            <a:ext cx="3931920" cy="41148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Baron &amp; Kenny Steps</a:t>
            </a:r>
            <a:endParaRPr lang="en-US" sz="1300" dirty="0"/>
          </a:p>
        </p:txBody>
      </p:sp>
      <p:sp>
        <p:nvSpPr>
          <p:cNvPr id="22" name="Text 20"/>
          <p:cNvSpPr/>
          <p:nvPr/>
        </p:nvSpPr>
        <p:spPr>
          <a:xfrm>
            <a:off x="411480" y="3401568"/>
            <a:ext cx="3886200" cy="1371600"/>
          </a:xfrm>
          <a:prstGeom prst="rect">
            <a:avLst/>
          </a:prstGeom>
          <a:noFill/>
          <a:ln/>
        </p:spPr>
        <p:txBody>
          <a:bodyPr wrap="square" rtlCol="0" anchor="ctr"/>
          <a:lstStyle/>
          <a:p>
            <a:pPr marL="0" indent="0">
              <a:buNone/>
            </a:pPr>
            <a:r>
              <a:rPr lang="en-US" sz="1150" b="1" dirty="0">
                <a:solidFill>
                  <a:srgbClr val="1A2E3D"/>
                </a:solidFill>
                <a:latin typeface="Calibri" pitchFamily="34" charset="0"/>
                <a:ea typeface="Calibri" pitchFamily="34" charset="-122"/>
                <a:cs typeface="Calibri" pitchFamily="34" charset="-120"/>
              </a:rPr>
              <a:t>Step 1: </a:t>
            </a:r>
            <a:r>
              <a:rPr lang="en-US" sz="1150" dirty="0">
                <a:solidFill>
                  <a:srgbClr val="1A2E3D"/>
                </a:solidFill>
                <a:latin typeface="Calibri" pitchFamily="34" charset="0"/>
                <a:ea typeface="Calibri" pitchFamily="34" charset="-122"/>
                <a:cs typeface="Calibri" pitchFamily="34" charset="-120"/>
              </a:rPr>
              <a:t>X predicts Y (total effect)
</a:t>
            </a:r>
            <a:r>
              <a:rPr lang="en-US" sz="1150" b="1" dirty="0">
                <a:solidFill>
                  <a:srgbClr val="1A2E3D"/>
                </a:solidFill>
                <a:latin typeface="Calibri" pitchFamily="34" charset="0"/>
                <a:ea typeface="Calibri" pitchFamily="34" charset="-122"/>
                <a:cs typeface="Calibri" pitchFamily="34" charset="-120"/>
              </a:rPr>
              <a:t>Step 2: </a:t>
            </a:r>
            <a:r>
              <a:rPr lang="en-US" sz="1150" dirty="0">
                <a:solidFill>
                  <a:srgbClr val="1A2E3D"/>
                </a:solidFill>
                <a:latin typeface="Calibri" pitchFamily="34" charset="0"/>
                <a:ea typeface="Calibri" pitchFamily="34" charset="-122"/>
                <a:cs typeface="Calibri" pitchFamily="34" charset="-120"/>
              </a:rPr>
              <a:t>X predicts M (path a)
</a:t>
            </a:r>
            <a:r>
              <a:rPr lang="en-US" sz="1150" b="1" dirty="0">
                <a:solidFill>
                  <a:srgbClr val="1A2E3D"/>
                </a:solidFill>
                <a:latin typeface="Calibri" pitchFamily="34" charset="0"/>
                <a:ea typeface="Calibri" pitchFamily="34" charset="-122"/>
                <a:cs typeface="Calibri" pitchFamily="34" charset="-120"/>
              </a:rPr>
              <a:t>Step 3: </a:t>
            </a:r>
            <a:r>
              <a:rPr lang="en-US" sz="1150" dirty="0">
                <a:solidFill>
                  <a:srgbClr val="1A2E3D"/>
                </a:solidFill>
                <a:latin typeface="Calibri" pitchFamily="34" charset="0"/>
                <a:ea typeface="Calibri" pitchFamily="34" charset="-122"/>
                <a:cs typeface="Calibri" pitchFamily="34" charset="-120"/>
              </a:rPr>
              <a:t>M predicts Y controlling for X (path b)
</a:t>
            </a:r>
            <a:r>
              <a:rPr lang="en-US" sz="1150" b="1" dirty="0">
                <a:solidFill>
                  <a:srgbClr val="1A2E3D"/>
                </a:solidFill>
                <a:latin typeface="Calibri" pitchFamily="34" charset="0"/>
                <a:ea typeface="Calibri" pitchFamily="34" charset="-122"/>
                <a:cs typeface="Calibri" pitchFamily="34" charset="-120"/>
              </a:rPr>
              <a:t>Step 4: </a:t>
            </a:r>
            <a:r>
              <a:rPr lang="en-US" sz="1150" dirty="0">
                <a:solidFill>
                  <a:srgbClr val="1A2E3D"/>
                </a:solidFill>
                <a:latin typeface="Calibri" pitchFamily="34" charset="0"/>
                <a:ea typeface="Calibri" pitchFamily="34" charset="-122"/>
                <a:cs typeface="Calibri" pitchFamily="34" charset="-120"/>
              </a:rPr>
              <a:t>X effect on Y ↓ when M included (mediation)</a:t>
            </a:r>
            <a:endParaRPr lang="en-US" sz="1150" dirty="0"/>
          </a:p>
        </p:txBody>
      </p:sp>
      <p:sp>
        <p:nvSpPr>
          <p:cNvPr id="23" name="Shape 21"/>
          <p:cNvSpPr/>
          <p:nvPr/>
        </p:nvSpPr>
        <p:spPr>
          <a:xfrm>
            <a:off x="4617720" y="2926080"/>
            <a:ext cx="4251960" cy="1920240"/>
          </a:xfrm>
          <a:prstGeom prst="rect">
            <a:avLst/>
          </a:prstGeom>
          <a:solidFill>
            <a:srgbClr val="FFFFFF"/>
          </a:solidFill>
          <a:ln/>
          <a:effectLst>
            <a:outerShdw blurRad="63500" dist="25400" dir="8100000" algn="bl" rotWithShape="0">
              <a:srgbClr val="000000">
                <a:alpha val="12000"/>
              </a:srgbClr>
            </a:outerShdw>
          </a:effectLst>
        </p:spPr>
        <p:txBody>
          <a:bodyPr/>
          <a:lstStyle/>
          <a:p>
            <a:endParaRPr lang="en-US"/>
          </a:p>
        </p:txBody>
      </p:sp>
      <p:sp>
        <p:nvSpPr>
          <p:cNvPr id="24" name="Shape 22"/>
          <p:cNvSpPr/>
          <p:nvPr/>
        </p:nvSpPr>
        <p:spPr>
          <a:xfrm>
            <a:off x="4617720" y="2926080"/>
            <a:ext cx="4251960" cy="411480"/>
          </a:xfrm>
          <a:prstGeom prst="rect">
            <a:avLst/>
          </a:prstGeom>
          <a:solidFill>
            <a:srgbClr val="1A7A4A"/>
          </a:solidFill>
          <a:ln/>
        </p:spPr>
        <p:txBody>
          <a:bodyPr/>
          <a:lstStyle/>
          <a:p>
            <a:endParaRPr lang="en-US"/>
          </a:p>
        </p:txBody>
      </p:sp>
      <p:sp>
        <p:nvSpPr>
          <p:cNvPr id="25" name="Text 23"/>
          <p:cNvSpPr/>
          <p:nvPr/>
        </p:nvSpPr>
        <p:spPr>
          <a:xfrm>
            <a:off x="4709160" y="2926080"/>
            <a:ext cx="4069080" cy="41148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Public Health Example</a:t>
            </a:r>
            <a:endParaRPr lang="en-US" sz="1300" dirty="0"/>
          </a:p>
        </p:txBody>
      </p:sp>
      <p:sp>
        <p:nvSpPr>
          <p:cNvPr id="26" name="Text 24"/>
          <p:cNvSpPr/>
          <p:nvPr/>
        </p:nvSpPr>
        <p:spPr>
          <a:xfrm>
            <a:off x="4754880" y="3401568"/>
            <a:ext cx="4023360" cy="1371600"/>
          </a:xfrm>
          <a:prstGeom prst="rect">
            <a:avLst/>
          </a:prstGeom>
          <a:noFill/>
          <a:ln/>
        </p:spPr>
        <p:txBody>
          <a:bodyPr wrap="square" rtlCol="0" anchor="ctr"/>
          <a:lstStyle/>
          <a:p>
            <a:pPr marL="0" indent="0">
              <a:buNone/>
            </a:pPr>
            <a:r>
              <a:rPr lang="en-US" sz="1150" b="1" dirty="0">
                <a:solidFill>
                  <a:srgbClr val="1A2E3D"/>
                </a:solidFill>
                <a:latin typeface="Calibri" pitchFamily="34" charset="0"/>
                <a:ea typeface="Calibri" pitchFamily="34" charset="-122"/>
                <a:cs typeface="Calibri" pitchFamily="34" charset="-120"/>
              </a:rPr>
              <a:t>X: </a:t>
            </a:r>
            <a:r>
              <a:rPr lang="en-US" sz="1150" dirty="0">
                <a:solidFill>
                  <a:srgbClr val="1A2E3D"/>
                </a:solidFill>
                <a:latin typeface="Calibri" pitchFamily="34" charset="0"/>
                <a:ea typeface="Calibri" pitchFamily="34" charset="-122"/>
                <a:cs typeface="Calibri" pitchFamily="34" charset="-120"/>
              </a:rPr>
              <a:t>Low socioeconomic status
</a:t>
            </a:r>
            <a:r>
              <a:rPr lang="en-US" sz="1150" b="1" dirty="0">
                <a:solidFill>
                  <a:srgbClr val="1A2E3D"/>
                </a:solidFill>
                <a:latin typeface="Calibri" pitchFamily="34" charset="0"/>
                <a:ea typeface="Calibri" pitchFamily="34" charset="-122"/>
                <a:cs typeface="Calibri" pitchFamily="34" charset="-120"/>
              </a:rPr>
              <a:t>M: </a:t>
            </a:r>
            <a:r>
              <a:rPr lang="en-US" sz="1150" dirty="0">
                <a:solidFill>
                  <a:srgbClr val="1A2E3D"/>
                </a:solidFill>
                <a:latin typeface="Calibri" pitchFamily="34" charset="0"/>
                <a:ea typeface="Calibri" pitchFamily="34" charset="-122"/>
                <a:cs typeface="Calibri" pitchFamily="34" charset="-120"/>
              </a:rPr>
              <a:t>Poor diet quality (mediator)
</a:t>
            </a:r>
            <a:r>
              <a:rPr lang="en-US" sz="1150" b="1" dirty="0">
                <a:solidFill>
                  <a:srgbClr val="1A2E3D"/>
                </a:solidFill>
                <a:latin typeface="Calibri" pitchFamily="34" charset="0"/>
                <a:ea typeface="Calibri" pitchFamily="34" charset="-122"/>
                <a:cs typeface="Calibri" pitchFamily="34" charset="-120"/>
              </a:rPr>
              <a:t>Y: </a:t>
            </a:r>
            <a:r>
              <a:rPr lang="en-US" sz="1150" dirty="0">
                <a:solidFill>
                  <a:srgbClr val="1A2E3D"/>
                </a:solidFill>
                <a:latin typeface="Calibri" pitchFamily="34" charset="0"/>
                <a:ea typeface="Calibri" pitchFamily="34" charset="-122"/>
                <a:cs typeface="Calibri" pitchFamily="34" charset="-120"/>
              </a:rPr>
              <a:t>Type 2 diabetes
SES → Poor diet → Diabetes (indirect path)
SES → Diabetes directly (stress, access to care)
</a:t>
            </a:r>
            <a:endParaRPr lang="en-US" sz="11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2B45"/>
          </a:solidFill>
          <a:ln/>
        </p:spPr>
        <p:txBody>
          <a:bodyPr/>
          <a:lstStyle/>
          <a:p>
            <a:endParaRPr lang="en-US"/>
          </a:p>
        </p:txBody>
      </p:sp>
      <p:sp>
        <p:nvSpPr>
          <p:cNvPr id="3" name="Text 1"/>
          <p:cNvSpPr/>
          <p:nvPr/>
        </p:nvSpPr>
        <p:spPr>
          <a:xfrm>
            <a:off x="365760" y="0"/>
            <a:ext cx="8412480" cy="685800"/>
          </a:xfrm>
          <a:prstGeom prst="rect">
            <a:avLst/>
          </a:prstGeom>
          <a:noFill/>
          <a:ln/>
        </p:spPr>
        <p:txBody>
          <a:bodyPr wrap="square" rtlCol="0" anchor="ctr"/>
          <a:lstStyle/>
          <a:p>
            <a:pPr marL="0" indent="0">
              <a:buNone/>
            </a:pPr>
            <a:r>
              <a:rPr lang="en-US" sz="2100" b="1" dirty="0">
                <a:solidFill>
                  <a:srgbClr val="FFFFFF"/>
                </a:solidFill>
                <a:latin typeface="Calibri" pitchFamily="34" charset="0"/>
                <a:ea typeface="Calibri" pitchFamily="34" charset="-122"/>
                <a:cs typeface="Calibri" pitchFamily="34" charset="-120"/>
              </a:rPr>
              <a:t>Confounder vs. Moderator vs. Mediator — At a Glance</a:t>
            </a:r>
            <a:endParaRPr lang="en-US" sz="2100" dirty="0"/>
          </a:p>
        </p:txBody>
      </p:sp>
      <p:sp>
        <p:nvSpPr>
          <p:cNvPr id="4" name="Shape 2"/>
          <p:cNvSpPr/>
          <p:nvPr/>
        </p:nvSpPr>
        <p:spPr>
          <a:xfrm>
            <a:off x="274320" y="822960"/>
            <a:ext cx="2743200" cy="4069080"/>
          </a:xfrm>
          <a:prstGeom prst="rect">
            <a:avLst/>
          </a:prstGeom>
          <a:solidFill>
            <a:srgbClr val="FFFFFF"/>
          </a:solidFill>
          <a:ln/>
          <a:effectLst>
            <a:outerShdw blurRad="63500" dist="25400" dir="8100000" algn="bl" rotWithShape="0">
              <a:srgbClr val="000000">
                <a:alpha val="12000"/>
              </a:srgbClr>
            </a:outerShdw>
          </a:effectLst>
        </p:spPr>
        <p:txBody>
          <a:bodyPr/>
          <a:lstStyle/>
          <a:p>
            <a:endParaRPr lang="en-US"/>
          </a:p>
        </p:txBody>
      </p:sp>
      <p:sp>
        <p:nvSpPr>
          <p:cNvPr id="5" name="Shape 3"/>
          <p:cNvSpPr/>
          <p:nvPr/>
        </p:nvSpPr>
        <p:spPr>
          <a:xfrm>
            <a:off x="274320" y="822960"/>
            <a:ext cx="2743200" cy="548640"/>
          </a:xfrm>
          <a:prstGeom prst="rect">
            <a:avLst/>
          </a:prstGeom>
          <a:solidFill>
            <a:srgbClr val="0E7C7B"/>
          </a:solidFill>
          <a:ln/>
        </p:spPr>
        <p:txBody>
          <a:bodyPr/>
          <a:lstStyle/>
          <a:p>
            <a:endParaRPr lang="en-US"/>
          </a:p>
        </p:txBody>
      </p:sp>
      <p:sp>
        <p:nvSpPr>
          <p:cNvPr id="6" name="Text 4"/>
          <p:cNvSpPr/>
          <p:nvPr/>
        </p:nvSpPr>
        <p:spPr>
          <a:xfrm>
            <a:off x="320040" y="822960"/>
            <a:ext cx="2651760" cy="54864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CONFOUNDER</a:t>
            </a:r>
            <a:endParaRPr lang="en-US" sz="1400" dirty="0"/>
          </a:p>
        </p:txBody>
      </p:sp>
      <p:sp>
        <p:nvSpPr>
          <p:cNvPr id="7" name="Text 5"/>
          <p:cNvSpPr/>
          <p:nvPr/>
        </p:nvSpPr>
        <p:spPr>
          <a:xfrm>
            <a:off x="365760" y="1481328"/>
            <a:ext cx="914400" cy="256032"/>
          </a:xfrm>
          <a:prstGeom prst="rect">
            <a:avLst/>
          </a:prstGeom>
          <a:noFill/>
          <a:ln/>
        </p:spPr>
        <p:txBody>
          <a:bodyPr wrap="square" rtlCol="0" anchor="ctr"/>
          <a:lstStyle/>
          <a:p>
            <a:pPr marL="0" indent="0">
              <a:buNone/>
            </a:pPr>
            <a:r>
              <a:rPr lang="en-US" sz="1050" b="1" dirty="0">
                <a:solidFill>
                  <a:srgbClr val="0E7C7B"/>
                </a:solidFill>
                <a:latin typeface="Calibri" pitchFamily="34" charset="0"/>
                <a:ea typeface="Calibri" pitchFamily="34" charset="-122"/>
                <a:cs typeface="Calibri" pitchFamily="34" charset="-120"/>
              </a:rPr>
              <a:t>Role</a:t>
            </a:r>
            <a:endParaRPr lang="en-US" sz="1050" dirty="0"/>
          </a:p>
        </p:txBody>
      </p:sp>
      <p:sp>
        <p:nvSpPr>
          <p:cNvPr id="8" name="Text 6"/>
          <p:cNvSpPr/>
          <p:nvPr/>
        </p:nvSpPr>
        <p:spPr>
          <a:xfrm>
            <a:off x="365760" y="1728216"/>
            <a:ext cx="2514600" cy="347472"/>
          </a:xfrm>
          <a:prstGeom prst="rect">
            <a:avLst/>
          </a:prstGeom>
          <a:noFill/>
          <a:ln/>
        </p:spPr>
        <p:txBody>
          <a:bodyPr wrap="square" rtlCol="0" anchor="ctr"/>
          <a:lstStyle/>
          <a:p>
            <a:pPr marL="0" indent="0">
              <a:buNone/>
            </a:pPr>
            <a:r>
              <a:rPr lang="en-US" sz="1100" dirty="0">
                <a:solidFill>
                  <a:srgbClr val="1A2E3D"/>
                </a:solidFill>
                <a:latin typeface="Calibri" pitchFamily="34" charset="0"/>
                <a:ea typeface="Calibri" pitchFamily="34" charset="-122"/>
                <a:cs typeface="Calibri" pitchFamily="34" charset="-120"/>
              </a:rPr>
              <a:t>Distorts / biases</a:t>
            </a:r>
            <a:endParaRPr lang="en-US" sz="1100" dirty="0"/>
          </a:p>
        </p:txBody>
      </p:sp>
      <p:sp>
        <p:nvSpPr>
          <p:cNvPr id="9" name="Text 7"/>
          <p:cNvSpPr/>
          <p:nvPr/>
        </p:nvSpPr>
        <p:spPr>
          <a:xfrm>
            <a:off x="365760" y="2130552"/>
            <a:ext cx="914400" cy="256032"/>
          </a:xfrm>
          <a:prstGeom prst="rect">
            <a:avLst/>
          </a:prstGeom>
          <a:noFill/>
          <a:ln/>
        </p:spPr>
        <p:txBody>
          <a:bodyPr wrap="square" rtlCol="0" anchor="ctr"/>
          <a:lstStyle/>
          <a:p>
            <a:pPr marL="0" indent="0">
              <a:buNone/>
            </a:pPr>
            <a:r>
              <a:rPr lang="en-US" sz="1050" b="1" dirty="0">
                <a:solidFill>
                  <a:srgbClr val="0E7C7B"/>
                </a:solidFill>
                <a:latin typeface="Calibri" pitchFamily="34" charset="0"/>
                <a:ea typeface="Calibri" pitchFamily="34" charset="-122"/>
                <a:cs typeface="Calibri" pitchFamily="34" charset="-120"/>
              </a:rPr>
              <a:t>Position</a:t>
            </a:r>
            <a:endParaRPr lang="en-US" sz="1050" dirty="0"/>
          </a:p>
        </p:txBody>
      </p:sp>
      <p:sp>
        <p:nvSpPr>
          <p:cNvPr id="10" name="Text 8"/>
          <p:cNvSpPr/>
          <p:nvPr/>
        </p:nvSpPr>
        <p:spPr>
          <a:xfrm>
            <a:off x="365760" y="2377440"/>
            <a:ext cx="2514600" cy="347472"/>
          </a:xfrm>
          <a:prstGeom prst="rect">
            <a:avLst/>
          </a:prstGeom>
          <a:noFill/>
          <a:ln/>
        </p:spPr>
        <p:txBody>
          <a:bodyPr wrap="square" rtlCol="0" anchor="ctr"/>
          <a:lstStyle/>
          <a:p>
            <a:pPr marL="0" indent="0">
              <a:buNone/>
            </a:pPr>
            <a:r>
              <a:rPr lang="en-US" sz="1100" dirty="0">
                <a:solidFill>
                  <a:srgbClr val="1A2E3D"/>
                </a:solidFill>
                <a:latin typeface="Calibri" pitchFamily="34" charset="0"/>
                <a:ea typeface="Calibri" pitchFamily="34" charset="-122"/>
                <a:cs typeface="Calibri" pitchFamily="34" charset="-120"/>
              </a:rPr>
              <a:t>Before both X and Y</a:t>
            </a:r>
            <a:endParaRPr lang="en-US" sz="1100" dirty="0"/>
          </a:p>
        </p:txBody>
      </p:sp>
      <p:sp>
        <p:nvSpPr>
          <p:cNvPr id="11" name="Text 9"/>
          <p:cNvSpPr/>
          <p:nvPr/>
        </p:nvSpPr>
        <p:spPr>
          <a:xfrm>
            <a:off x="365760" y="2779776"/>
            <a:ext cx="914400" cy="256032"/>
          </a:xfrm>
          <a:prstGeom prst="rect">
            <a:avLst/>
          </a:prstGeom>
          <a:noFill/>
          <a:ln/>
        </p:spPr>
        <p:txBody>
          <a:bodyPr wrap="square" rtlCol="0" anchor="ctr"/>
          <a:lstStyle/>
          <a:p>
            <a:pPr marL="0" indent="0">
              <a:buNone/>
            </a:pPr>
            <a:r>
              <a:rPr lang="en-US" sz="1050" b="1" dirty="0">
                <a:solidFill>
                  <a:srgbClr val="0E7C7B"/>
                </a:solidFill>
                <a:latin typeface="Calibri" pitchFamily="34" charset="0"/>
                <a:ea typeface="Calibri" pitchFamily="34" charset="-122"/>
                <a:cs typeface="Calibri" pitchFamily="34" charset="-120"/>
              </a:rPr>
              <a:t>How tested</a:t>
            </a:r>
            <a:endParaRPr lang="en-US" sz="1050" dirty="0"/>
          </a:p>
        </p:txBody>
      </p:sp>
      <p:sp>
        <p:nvSpPr>
          <p:cNvPr id="12" name="Text 10"/>
          <p:cNvSpPr/>
          <p:nvPr/>
        </p:nvSpPr>
        <p:spPr>
          <a:xfrm>
            <a:off x="365760" y="3026664"/>
            <a:ext cx="2514600" cy="347472"/>
          </a:xfrm>
          <a:prstGeom prst="rect">
            <a:avLst/>
          </a:prstGeom>
          <a:noFill/>
          <a:ln/>
        </p:spPr>
        <p:txBody>
          <a:bodyPr wrap="square" rtlCol="0" anchor="ctr"/>
          <a:lstStyle/>
          <a:p>
            <a:pPr marL="0" indent="0">
              <a:buNone/>
            </a:pPr>
            <a:r>
              <a:rPr lang="en-US" sz="1100" dirty="0">
                <a:solidFill>
                  <a:srgbClr val="1A2E3D"/>
                </a:solidFill>
                <a:latin typeface="Calibri" pitchFamily="34" charset="0"/>
                <a:ea typeface="Calibri" pitchFamily="34" charset="-122"/>
                <a:cs typeface="Calibri" pitchFamily="34" charset="-120"/>
              </a:rPr>
              <a:t>Excluded/adjusted in model</a:t>
            </a:r>
            <a:endParaRPr lang="en-US" sz="1100" dirty="0"/>
          </a:p>
        </p:txBody>
      </p:sp>
      <p:sp>
        <p:nvSpPr>
          <p:cNvPr id="13" name="Text 11"/>
          <p:cNvSpPr/>
          <p:nvPr/>
        </p:nvSpPr>
        <p:spPr>
          <a:xfrm>
            <a:off x="365760" y="3429000"/>
            <a:ext cx="914400" cy="256032"/>
          </a:xfrm>
          <a:prstGeom prst="rect">
            <a:avLst/>
          </a:prstGeom>
          <a:noFill/>
          <a:ln/>
        </p:spPr>
        <p:txBody>
          <a:bodyPr wrap="square" rtlCol="0" anchor="ctr"/>
          <a:lstStyle/>
          <a:p>
            <a:pPr marL="0" indent="0">
              <a:buNone/>
            </a:pPr>
            <a:r>
              <a:rPr lang="en-US" sz="1050" b="1" dirty="0">
                <a:solidFill>
                  <a:srgbClr val="0E7C7B"/>
                </a:solidFill>
                <a:latin typeface="Calibri" pitchFamily="34" charset="0"/>
                <a:ea typeface="Calibri" pitchFamily="34" charset="-122"/>
                <a:cs typeface="Calibri" pitchFamily="34" charset="-120"/>
              </a:rPr>
              <a:t>Analytic goal</a:t>
            </a:r>
            <a:endParaRPr lang="en-US" sz="1050" dirty="0"/>
          </a:p>
        </p:txBody>
      </p:sp>
      <p:sp>
        <p:nvSpPr>
          <p:cNvPr id="14" name="Text 12"/>
          <p:cNvSpPr/>
          <p:nvPr/>
        </p:nvSpPr>
        <p:spPr>
          <a:xfrm>
            <a:off x="365760" y="3675888"/>
            <a:ext cx="2514600" cy="347472"/>
          </a:xfrm>
          <a:prstGeom prst="rect">
            <a:avLst/>
          </a:prstGeom>
          <a:noFill/>
          <a:ln/>
        </p:spPr>
        <p:txBody>
          <a:bodyPr wrap="square" rtlCol="0" anchor="ctr"/>
          <a:lstStyle/>
          <a:p>
            <a:pPr marL="0" indent="0">
              <a:buNone/>
            </a:pPr>
            <a:r>
              <a:rPr lang="en-US" sz="1100" dirty="0">
                <a:solidFill>
                  <a:srgbClr val="1A2E3D"/>
                </a:solidFill>
                <a:latin typeface="Calibri" pitchFamily="34" charset="0"/>
                <a:ea typeface="Calibri" pitchFamily="34" charset="-122"/>
                <a:cs typeface="Calibri" pitchFamily="34" charset="-120"/>
              </a:rPr>
              <a:t>Remove its effect</a:t>
            </a:r>
            <a:endParaRPr lang="en-US" sz="1100" dirty="0"/>
          </a:p>
        </p:txBody>
      </p:sp>
      <p:sp>
        <p:nvSpPr>
          <p:cNvPr id="15" name="Text 13"/>
          <p:cNvSpPr/>
          <p:nvPr/>
        </p:nvSpPr>
        <p:spPr>
          <a:xfrm>
            <a:off x="365760" y="4078224"/>
            <a:ext cx="914400" cy="256032"/>
          </a:xfrm>
          <a:prstGeom prst="rect">
            <a:avLst/>
          </a:prstGeom>
          <a:noFill/>
          <a:ln/>
        </p:spPr>
        <p:txBody>
          <a:bodyPr wrap="square" rtlCol="0" anchor="ctr"/>
          <a:lstStyle/>
          <a:p>
            <a:pPr marL="0" indent="0">
              <a:buNone/>
            </a:pPr>
            <a:r>
              <a:rPr lang="en-US" sz="1050" b="1" dirty="0">
                <a:solidFill>
                  <a:srgbClr val="0E7C7B"/>
                </a:solidFill>
                <a:latin typeface="Calibri" pitchFamily="34" charset="0"/>
                <a:ea typeface="Calibri" pitchFamily="34" charset="-122"/>
                <a:cs typeface="Calibri" pitchFamily="34" charset="-120"/>
              </a:rPr>
              <a:t>Example</a:t>
            </a:r>
            <a:endParaRPr lang="en-US" sz="1050" dirty="0"/>
          </a:p>
        </p:txBody>
      </p:sp>
      <p:sp>
        <p:nvSpPr>
          <p:cNvPr id="16" name="Text 14"/>
          <p:cNvSpPr/>
          <p:nvPr/>
        </p:nvSpPr>
        <p:spPr>
          <a:xfrm>
            <a:off x="365760" y="4325112"/>
            <a:ext cx="2514600" cy="347472"/>
          </a:xfrm>
          <a:prstGeom prst="rect">
            <a:avLst/>
          </a:prstGeom>
          <a:noFill/>
          <a:ln/>
        </p:spPr>
        <p:txBody>
          <a:bodyPr wrap="square" rtlCol="0" anchor="ctr"/>
          <a:lstStyle/>
          <a:p>
            <a:pPr marL="0" indent="0">
              <a:buNone/>
            </a:pPr>
            <a:r>
              <a:rPr lang="en-US" sz="1100" dirty="0">
                <a:solidFill>
                  <a:srgbClr val="1A2E3D"/>
                </a:solidFill>
                <a:latin typeface="Calibri" pitchFamily="34" charset="0"/>
                <a:ea typeface="Calibri" pitchFamily="34" charset="-122"/>
                <a:cs typeface="Calibri" pitchFamily="34" charset="-120"/>
              </a:rPr>
              <a:t>Smoking confounds coffee→lung cancer</a:t>
            </a:r>
            <a:endParaRPr lang="en-US" sz="1100" dirty="0"/>
          </a:p>
        </p:txBody>
      </p:sp>
      <p:sp>
        <p:nvSpPr>
          <p:cNvPr id="17" name="Shape 15"/>
          <p:cNvSpPr/>
          <p:nvPr/>
        </p:nvSpPr>
        <p:spPr>
          <a:xfrm>
            <a:off x="3172968" y="822960"/>
            <a:ext cx="2743200" cy="4069080"/>
          </a:xfrm>
          <a:prstGeom prst="rect">
            <a:avLst/>
          </a:prstGeom>
          <a:solidFill>
            <a:srgbClr val="FFFFFF"/>
          </a:solidFill>
          <a:ln/>
          <a:effectLst>
            <a:outerShdw blurRad="63500" dist="25400" dir="8100000" algn="bl" rotWithShape="0">
              <a:srgbClr val="000000">
                <a:alpha val="12000"/>
              </a:srgbClr>
            </a:outerShdw>
          </a:effectLst>
        </p:spPr>
        <p:txBody>
          <a:bodyPr/>
          <a:lstStyle/>
          <a:p>
            <a:endParaRPr lang="en-US"/>
          </a:p>
        </p:txBody>
      </p:sp>
      <p:sp>
        <p:nvSpPr>
          <p:cNvPr id="18" name="Shape 16"/>
          <p:cNvSpPr/>
          <p:nvPr/>
        </p:nvSpPr>
        <p:spPr>
          <a:xfrm>
            <a:off x="3172968" y="822960"/>
            <a:ext cx="2743200" cy="548640"/>
          </a:xfrm>
          <a:prstGeom prst="rect">
            <a:avLst/>
          </a:prstGeom>
          <a:solidFill>
            <a:srgbClr val="6B3FA0"/>
          </a:solidFill>
          <a:ln/>
        </p:spPr>
        <p:txBody>
          <a:bodyPr/>
          <a:lstStyle/>
          <a:p>
            <a:endParaRPr lang="en-US"/>
          </a:p>
        </p:txBody>
      </p:sp>
      <p:sp>
        <p:nvSpPr>
          <p:cNvPr id="19" name="Text 17"/>
          <p:cNvSpPr/>
          <p:nvPr/>
        </p:nvSpPr>
        <p:spPr>
          <a:xfrm>
            <a:off x="3218688" y="822960"/>
            <a:ext cx="2651760" cy="54864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MODERATOR</a:t>
            </a:r>
            <a:endParaRPr lang="en-US" sz="1400" dirty="0"/>
          </a:p>
        </p:txBody>
      </p:sp>
      <p:sp>
        <p:nvSpPr>
          <p:cNvPr id="20" name="Text 18"/>
          <p:cNvSpPr/>
          <p:nvPr/>
        </p:nvSpPr>
        <p:spPr>
          <a:xfrm>
            <a:off x="3264408" y="1481328"/>
            <a:ext cx="914400" cy="256032"/>
          </a:xfrm>
          <a:prstGeom prst="rect">
            <a:avLst/>
          </a:prstGeom>
          <a:noFill/>
          <a:ln/>
        </p:spPr>
        <p:txBody>
          <a:bodyPr wrap="square" rtlCol="0" anchor="ctr"/>
          <a:lstStyle/>
          <a:p>
            <a:pPr marL="0" indent="0">
              <a:buNone/>
            </a:pPr>
            <a:r>
              <a:rPr lang="en-US" sz="1050" b="1" dirty="0">
                <a:solidFill>
                  <a:srgbClr val="6B3FA0"/>
                </a:solidFill>
                <a:latin typeface="Calibri" pitchFamily="34" charset="0"/>
                <a:ea typeface="Calibri" pitchFamily="34" charset="-122"/>
                <a:cs typeface="Calibri" pitchFamily="34" charset="-120"/>
              </a:rPr>
              <a:t>Role</a:t>
            </a:r>
            <a:endParaRPr lang="en-US" sz="1050" dirty="0"/>
          </a:p>
        </p:txBody>
      </p:sp>
      <p:sp>
        <p:nvSpPr>
          <p:cNvPr id="21" name="Text 19"/>
          <p:cNvSpPr/>
          <p:nvPr/>
        </p:nvSpPr>
        <p:spPr>
          <a:xfrm>
            <a:off x="3264408" y="1728216"/>
            <a:ext cx="2514600" cy="347472"/>
          </a:xfrm>
          <a:prstGeom prst="rect">
            <a:avLst/>
          </a:prstGeom>
          <a:noFill/>
          <a:ln/>
        </p:spPr>
        <p:txBody>
          <a:bodyPr wrap="square" rtlCol="0" anchor="ctr"/>
          <a:lstStyle/>
          <a:p>
            <a:pPr marL="0" indent="0">
              <a:buNone/>
            </a:pPr>
            <a:r>
              <a:rPr lang="en-US" sz="1100" dirty="0">
                <a:solidFill>
                  <a:srgbClr val="1A2E3D"/>
                </a:solidFill>
                <a:latin typeface="Calibri" pitchFamily="34" charset="0"/>
                <a:ea typeface="Calibri" pitchFamily="34" charset="-122"/>
                <a:cs typeface="Calibri" pitchFamily="34" charset="-120"/>
              </a:rPr>
              <a:t>Modifies strength/direction</a:t>
            </a:r>
            <a:endParaRPr lang="en-US" sz="1100" dirty="0"/>
          </a:p>
        </p:txBody>
      </p:sp>
      <p:sp>
        <p:nvSpPr>
          <p:cNvPr id="22" name="Text 20"/>
          <p:cNvSpPr/>
          <p:nvPr/>
        </p:nvSpPr>
        <p:spPr>
          <a:xfrm>
            <a:off x="3264408" y="2130552"/>
            <a:ext cx="914400" cy="256032"/>
          </a:xfrm>
          <a:prstGeom prst="rect">
            <a:avLst/>
          </a:prstGeom>
          <a:noFill/>
          <a:ln/>
        </p:spPr>
        <p:txBody>
          <a:bodyPr wrap="square" rtlCol="0" anchor="ctr"/>
          <a:lstStyle/>
          <a:p>
            <a:pPr marL="0" indent="0">
              <a:buNone/>
            </a:pPr>
            <a:r>
              <a:rPr lang="en-US" sz="1050" b="1" dirty="0">
                <a:solidFill>
                  <a:srgbClr val="6B3FA0"/>
                </a:solidFill>
                <a:latin typeface="Calibri" pitchFamily="34" charset="0"/>
                <a:ea typeface="Calibri" pitchFamily="34" charset="-122"/>
                <a:cs typeface="Calibri" pitchFamily="34" charset="-120"/>
              </a:rPr>
              <a:t>Position</a:t>
            </a:r>
            <a:endParaRPr lang="en-US" sz="1050" dirty="0"/>
          </a:p>
        </p:txBody>
      </p:sp>
      <p:sp>
        <p:nvSpPr>
          <p:cNvPr id="23" name="Text 21"/>
          <p:cNvSpPr/>
          <p:nvPr/>
        </p:nvSpPr>
        <p:spPr>
          <a:xfrm>
            <a:off x="3264408" y="2377440"/>
            <a:ext cx="2514600" cy="347472"/>
          </a:xfrm>
          <a:prstGeom prst="rect">
            <a:avLst/>
          </a:prstGeom>
          <a:noFill/>
          <a:ln/>
        </p:spPr>
        <p:txBody>
          <a:bodyPr wrap="square" rtlCol="0" anchor="ctr"/>
          <a:lstStyle/>
          <a:p>
            <a:pPr marL="0" indent="0">
              <a:buNone/>
            </a:pPr>
            <a:r>
              <a:rPr lang="en-US" sz="1100" dirty="0">
                <a:solidFill>
                  <a:srgbClr val="1A2E3D"/>
                </a:solidFill>
                <a:latin typeface="Calibri" pitchFamily="34" charset="0"/>
                <a:ea typeface="Calibri" pitchFamily="34" charset="-122"/>
                <a:cs typeface="Calibri" pitchFamily="34" charset="-120"/>
              </a:rPr>
              <a:t>Interacts with X</a:t>
            </a:r>
            <a:endParaRPr lang="en-US" sz="1100" dirty="0"/>
          </a:p>
        </p:txBody>
      </p:sp>
      <p:sp>
        <p:nvSpPr>
          <p:cNvPr id="24" name="Text 22"/>
          <p:cNvSpPr/>
          <p:nvPr/>
        </p:nvSpPr>
        <p:spPr>
          <a:xfrm>
            <a:off x="3264408" y="2779776"/>
            <a:ext cx="914400" cy="256032"/>
          </a:xfrm>
          <a:prstGeom prst="rect">
            <a:avLst/>
          </a:prstGeom>
          <a:noFill/>
          <a:ln/>
        </p:spPr>
        <p:txBody>
          <a:bodyPr wrap="square" rtlCol="0" anchor="ctr"/>
          <a:lstStyle/>
          <a:p>
            <a:pPr marL="0" indent="0">
              <a:buNone/>
            </a:pPr>
            <a:r>
              <a:rPr lang="en-US" sz="1050" b="1" dirty="0">
                <a:solidFill>
                  <a:srgbClr val="6B3FA0"/>
                </a:solidFill>
                <a:latin typeface="Calibri" pitchFamily="34" charset="0"/>
                <a:ea typeface="Calibri" pitchFamily="34" charset="-122"/>
                <a:cs typeface="Calibri" pitchFamily="34" charset="-120"/>
              </a:rPr>
              <a:t>How tested</a:t>
            </a:r>
            <a:endParaRPr lang="en-US" sz="1050" dirty="0"/>
          </a:p>
        </p:txBody>
      </p:sp>
      <p:sp>
        <p:nvSpPr>
          <p:cNvPr id="25" name="Text 23"/>
          <p:cNvSpPr/>
          <p:nvPr/>
        </p:nvSpPr>
        <p:spPr>
          <a:xfrm>
            <a:off x="3264408" y="3026664"/>
            <a:ext cx="2514600" cy="347472"/>
          </a:xfrm>
          <a:prstGeom prst="rect">
            <a:avLst/>
          </a:prstGeom>
          <a:noFill/>
          <a:ln/>
        </p:spPr>
        <p:txBody>
          <a:bodyPr wrap="square" rtlCol="0" anchor="ctr"/>
          <a:lstStyle/>
          <a:p>
            <a:pPr marL="0" indent="0">
              <a:buNone/>
            </a:pPr>
            <a:r>
              <a:rPr lang="en-US" sz="1100" dirty="0">
                <a:solidFill>
                  <a:srgbClr val="1A2E3D"/>
                </a:solidFill>
                <a:latin typeface="Calibri" pitchFamily="34" charset="0"/>
                <a:ea typeface="Calibri" pitchFamily="34" charset="-122"/>
                <a:cs typeface="Calibri" pitchFamily="34" charset="-120"/>
              </a:rPr>
              <a:t>Product term (X×M) in model</a:t>
            </a:r>
            <a:endParaRPr lang="en-US" sz="1100" dirty="0"/>
          </a:p>
        </p:txBody>
      </p:sp>
      <p:sp>
        <p:nvSpPr>
          <p:cNvPr id="26" name="Text 24"/>
          <p:cNvSpPr/>
          <p:nvPr/>
        </p:nvSpPr>
        <p:spPr>
          <a:xfrm>
            <a:off x="3264408" y="3429000"/>
            <a:ext cx="914400" cy="256032"/>
          </a:xfrm>
          <a:prstGeom prst="rect">
            <a:avLst/>
          </a:prstGeom>
          <a:noFill/>
          <a:ln/>
        </p:spPr>
        <p:txBody>
          <a:bodyPr wrap="square" rtlCol="0" anchor="ctr"/>
          <a:lstStyle/>
          <a:p>
            <a:pPr marL="0" indent="0">
              <a:buNone/>
            </a:pPr>
            <a:r>
              <a:rPr lang="en-US" sz="1050" b="1" dirty="0">
                <a:solidFill>
                  <a:srgbClr val="6B3FA0"/>
                </a:solidFill>
                <a:latin typeface="Calibri" pitchFamily="34" charset="0"/>
                <a:ea typeface="Calibri" pitchFamily="34" charset="-122"/>
                <a:cs typeface="Calibri" pitchFamily="34" charset="-120"/>
              </a:rPr>
              <a:t>Analytic goal</a:t>
            </a:r>
            <a:endParaRPr lang="en-US" sz="1050" dirty="0"/>
          </a:p>
        </p:txBody>
      </p:sp>
      <p:sp>
        <p:nvSpPr>
          <p:cNvPr id="27" name="Text 25"/>
          <p:cNvSpPr/>
          <p:nvPr/>
        </p:nvSpPr>
        <p:spPr>
          <a:xfrm>
            <a:off x="3264408" y="3675888"/>
            <a:ext cx="2514600" cy="347472"/>
          </a:xfrm>
          <a:prstGeom prst="rect">
            <a:avLst/>
          </a:prstGeom>
          <a:noFill/>
          <a:ln/>
        </p:spPr>
        <p:txBody>
          <a:bodyPr wrap="square" rtlCol="0" anchor="ctr"/>
          <a:lstStyle/>
          <a:p>
            <a:pPr marL="0" indent="0">
              <a:buNone/>
            </a:pPr>
            <a:r>
              <a:rPr lang="en-US" sz="1100" dirty="0">
                <a:solidFill>
                  <a:srgbClr val="1A2E3D"/>
                </a:solidFill>
                <a:latin typeface="Calibri" pitchFamily="34" charset="0"/>
                <a:ea typeface="Calibri" pitchFamily="34" charset="-122"/>
                <a:cs typeface="Calibri" pitchFamily="34" charset="-120"/>
              </a:rPr>
              <a:t>Describe for whom</a:t>
            </a:r>
            <a:endParaRPr lang="en-US" sz="1100" dirty="0"/>
          </a:p>
        </p:txBody>
      </p:sp>
      <p:sp>
        <p:nvSpPr>
          <p:cNvPr id="28" name="Text 26"/>
          <p:cNvSpPr/>
          <p:nvPr/>
        </p:nvSpPr>
        <p:spPr>
          <a:xfrm>
            <a:off x="3264408" y="4078224"/>
            <a:ext cx="914400" cy="256032"/>
          </a:xfrm>
          <a:prstGeom prst="rect">
            <a:avLst/>
          </a:prstGeom>
          <a:noFill/>
          <a:ln/>
        </p:spPr>
        <p:txBody>
          <a:bodyPr wrap="square" rtlCol="0" anchor="ctr"/>
          <a:lstStyle/>
          <a:p>
            <a:pPr marL="0" indent="0">
              <a:buNone/>
            </a:pPr>
            <a:r>
              <a:rPr lang="en-US" sz="1050" b="1" dirty="0">
                <a:solidFill>
                  <a:srgbClr val="6B3FA0"/>
                </a:solidFill>
                <a:latin typeface="Calibri" pitchFamily="34" charset="0"/>
                <a:ea typeface="Calibri" pitchFamily="34" charset="-122"/>
                <a:cs typeface="Calibri" pitchFamily="34" charset="-120"/>
              </a:rPr>
              <a:t>Example</a:t>
            </a:r>
            <a:endParaRPr lang="en-US" sz="1050" dirty="0"/>
          </a:p>
        </p:txBody>
      </p:sp>
      <p:sp>
        <p:nvSpPr>
          <p:cNvPr id="29" name="Text 27"/>
          <p:cNvSpPr/>
          <p:nvPr/>
        </p:nvSpPr>
        <p:spPr>
          <a:xfrm>
            <a:off x="3264408" y="4325112"/>
            <a:ext cx="2514600" cy="347472"/>
          </a:xfrm>
          <a:prstGeom prst="rect">
            <a:avLst/>
          </a:prstGeom>
          <a:noFill/>
          <a:ln/>
        </p:spPr>
        <p:txBody>
          <a:bodyPr wrap="square" rtlCol="0" anchor="ctr"/>
          <a:lstStyle/>
          <a:p>
            <a:pPr marL="0" indent="0">
              <a:buNone/>
            </a:pPr>
            <a:r>
              <a:rPr lang="en-US" sz="1100" dirty="0">
                <a:solidFill>
                  <a:srgbClr val="1A2E3D"/>
                </a:solidFill>
                <a:latin typeface="Calibri" pitchFamily="34" charset="0"/>
                <a:ea typeface="Calibri" pitchFamily="34" charset="-122"/>
                <a:cs typeface="Calibri" pitchFamily="34" charset="-120"/>
              </a:rPr>
              <a:t>BMI moderates PA→diabetes</a:t>
            </a:r>
            <a:endParaRPr lang="en-US" sz="1100" dirty="0"/>
          </a:p>
        </p:txBody>
      </p:sp>
      <p:sp>
        <p:nvSpPr>
          <p:cNvPr id="30" name="Shape 28"/>
          <p:cNvSpPr/>
          <p:nvPr/>
        </p:nvSpPr>
        <p:spPr>
          <a:xfrm>
            <a:off x="6071616" y="822960"/>
            <a:ext cx="2743200" cy="4069080"/>
          </a:xfrm>
          <a:prstGeom prst="rect">
            <a:avLst/>
          </a:prstGeom>
          <a:solidFill>
            <a:srgbClr val="FFFFFF"/>
          </a:solidFill>
          <a:ln/>
          <a:effectLst>
            <a:outerShdw blurRad="63500" dist="25400" dir="8100000" algn="bl" rotWithShape="0">
              <a:srgbClr val="000000">
                <a:alpha val="12000"/>
              </a:srgbClr>
            </a:outerShdw>
          </a:effectLst>
        </p:spPr>
        <p:txBody>
          <a:bodyPr/>
          <a:lstStyle/>
          <a:p>
            <a:endParaRPr lang="en-US"/>
          </a:p>
        </p:txBody>
      </p:sp>
      <p:sp>
        <p:nvSpPr>
          <p:cNvPr id="31" name="Shape 29"/>
          <p:cNvSpPr/>
          <p:nvPr/>
        </p:nvSpPr>
        <p:spPr>
          <a:xfrm>
            <a:off x="6071616" y="822960"/>
            <a:ext cx="2743200" cy="548640"/>
          </a:xfrm>
          <a:prstGeom prst="rect">
            <a:avLst/>
          </a:prstGeom>
          <a:solidFill>
            <a:srgbClr val="1A7A4A"/>
          </a:solidFill>
          <a:ln/>
        </p:spPr>
        <p:txBody>
          <a:bodyPr/>
          <a:lstStyle/>
          <a:p>
            <a:endParaRPr lang="en-US"/>
          </a:p>
        </p:txBody>
      </p:sp>
      <p:sp>
        <p:nvSpPr>
          <p:cNvPr id="32" name="Text 30"/>
          <p:cNvSpPr/>
          <p:nvPr/>
        </p:nvSpPr>
        <p:spPr>
          <a:xfrm>
            <a:off x="6117336" y="822960"/>
            <a:ext cx="2651760" cy="54864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MEDIATOR</a:t>
            </a:r>
            <a:endParaRPr lang="en-US" sz="1400" dirty="0"/>
          </a:p>
        </p:txBody>
      </p:sp>
      <p:sp>
        <p:nvSpPr>
          <p:cNvPr id="33" name="Text 31"/>
          <p:cNvSpPr/>
          <p:nvPr/>
        </p:nvSpPr>
        <p:spPr>
          <a:xfrm>
            <a:off x="6163056" y="1481328"/>
            <a:ext cx="914400" cy="256032"/>
          </a:xfrm>
          <a:prstGeom prst="rect">
            <a:avLst/>
          </a:prstGeom>
          <a:noFill/>
          <a:ln/>
        </p:spPr>
        <p:txBody>
          <a:bodyPr wrap="square" rtlCol="0" anchor="ctr"/>
          <a:lstStyle/>
          <a:p>
            <a:pPr marL="0" indent="0">
              <a:buNone/>
            </a:pPr>
            <a:r>
              <a:rPr lang="en-US" sz="1050" b="1" dirty="0">
                <a:solidFill>
                  <a:srgbClr val="1A7A4A"/>
                </a:solidFill>
                <a:latin typeface="Calibri" pitchFamily="34" charset="0"/>
                <a:ea typeface="Calibri" pitchFamily="34" charset="-122"/>
                <a:cs typeface="Calibri" pitchFamily="34" charset="-120"/>
              </a:rPr>
              <a:t>Role</a:t>
            </a:r>
            <a:endParaRPr lang="en-US" sz="1050" dirty="0"/>
          </a:p>
        </p:txBody>
      </p:sp>
      <p:sp>
        <p:nvSpPr>
          <p:cNvPr id="34" name="Text 32"/>
          <p:cNvSpPr/>
          <p:nvPr/>
        </p:nvSpPr>
        <p:spPr>
          <a:xfrm>
            <a:off x="6163056" y="1728216"/>
            <a:ext cx="2514600" cy="347472"/>
          </a:xfrm>
          <a:prstGeom prst="rect">
            <a:avLst/>
          </a:prstGeom>
          <a:noFill/>
          <a:ln/>
        </p:spPr>
        <p:txBody>
          <a:bodyPr wrap="square" rtlCol="0" anchor="ctr"/>
          <a:lstStyle/>
          <a:p>
            <a:pPr marL="0" indent="0">
              <a:buNone/>
            </a:pPr>
            <a:r>
              <a:rPr lang="en-US" sz="1100" dirty="0">
                <a:solidFill>
                  <a:srgbClr val="1A2E3D"/>
                </a:solidFill>
                <a:latin typeface="Calibri" pitchFamily="34" charset="0"/>
                <a:ea typeface="Calibri" pitchFamily="34" charset="-122"/>
                <a:cs typeface="Calibri" pitchFamily="34" charset="-120"/>
              </a:rPr>
              <a:t>Explains mechanism</a:t>
            </a:r>
            <a:endParaRPr lang="en-US" sz="1100" dirty="0"/>
          </a:p>
        </p:txBody>
      </p:sp>
      <p:sp>
        <p:nvSpPr>
          <p:cNvPr id="35" name="Text 33"/>
          <p:cNvSpPr/>
          <p:nvPr/>
        </p:nvSpPr>
        <p:spPr>
          <a:xfrm>
            <a:off x="6163056" y="2130552"/>
            <a:ext cx="914400" cy="256032"/>
          </a:xfrm>
          <a:prstGeom prst="rect">
            <a:avLst/>
          </a:prstGeom>
          <a:noFill/>
          <a:ln/>
        </p:spPr>
        <p:txBody>
          <a:bodyPr wrap="square" rtlCol="0" anchor="ctr"/>
          <a:lstStyle/>
          <a:p>
            <a:pPr marL="0" indent="0">
              <a:buNone/>
            </a:pPr>
            <a:r>
              <a:rPr lang="en-US" sz="1050" b="1" dirty="0">
                <a:solidFill>
                  <a:srgbClr val="1A7A4A"/>
                </a:solidFill>
                <a:latin typeface="Calibri" pitchFamily="34" charset="0"/>
                <a:ea typeface="Calibri" pitchFamily="34" charset="-122"/>
                <a:cs typeface="Calibri" pitchFamily="34" charset="-120"/>
              </a:rPr>
              <a:t>Position</a:t>
            </a:r>
            <a:endParaRPr lang="en-US" sz="1050" dirty="0"/>
          </a:p>
        </p:txBody>
      </p:sp>
      <p:sp>
        <p:nvSpPr>
          <p:cNvPr id="36" name="Text 34"/>
          <p:cNvSpPr/>
          <p:nvPr/>
        </p:nvSpPr>
        <p:spPr>
          <a:xfrm>
            <a:off x="6163056" y="2377440"/>
            <a:ext cx="2514600" cy="347472"/>
          </a:xfrm>
          <a:prstGeom prst="rect">
            <a:avLst/>
          </a:prstGeom>
          <a:noFill/>
          <a:ln/>
        </p:spPr>
        <p:txBody>
          <a:bodyPr wrap="square" rtlCol="0" anchor="ctr"/>
          <a:lstStyle/>
          <a:p>
            <a:pPr marL="0" indent="0">
              <a:buNone/>
            </a:pPr>
            <a:r>
              <a:rPr lang="en-US" sz="1100" dirty="0">
                <a:solidFill>
                  <a:srgbClr val="1A2E3D"/>
                </a:solidFill>
                <a:latin typeface="Calibri" pitchFamily="34" charset="0"/>
                <a:ea typeface="Calibri" pitchFamily="34" charset="-122"/>
                <a:cs typeface="Calibri" pitchFamily="34" charset="-120"/>
              </a:rPr>
              <a:t>On causal pathway X→Y</a:t>
            </a:r>
            <a:endParaRPr lang="en-US" sz="1100" dirty="0"/>
          </a:p>
        </p:txBody>
      </p:sp>
      <p:sp>
        <p:nvSpPr>
          <p:cNvPr id="37" name="Text 35"/>
          <p:cNvSpPr/>
          <p:nvPr/>
        </p:nvSpPr>
        <p:spPr>
          <a:xfrm>
            <a:off x="6163056" y="2779776"/>
            <a:ext cx="914400" cy="256032"/>
          </a:xfrm>
          <a:prstGeom prst="rect">
            <a:avLst/>
          </a:prstGeom>
          <a:noFill/>
          <a:ln/>
        </p:spPr>
        <p:txBody>
          <a:bodyPr wrap="square" rtlCol="0" anchor="ctr"/>
          <a:lstStyle/>
          <a:p>
            <a:pPr marL="0" indent="0">
              <a:buNone/>
            </a:pPr>
            <a:r>
              <a:rPr lang="en-US" sz="1050" b="1" dirty="0">
                <a:solidFill>
                  <a:srgbClr val="1A7A4A"/>
                </a:solidFill>
                <a:latin typeface="Calibri" pitchFamily="34" charset="0"/>
                <a:ea typeface="Calibri" pitchFamily="34" charset="-122"/>
                <a:cs typeface="Calibri" pitchFamily="34" charset="-120"/>
              </a:rPr>
              <a:t>How tested</a:t>
            </a:r>
            <a:endParaRPr lang="en-US" sz="1050" dirty="0"/>
          </a:p>
        </p:txBody>
      </p:sp>
      <p:sp>
        <p:nvSpPr>
          <p:cNvPr id="38" name="Text 36"/>
          <p:cNvSpPr/>
          <p:nvPr/>
        </p:nvSpPr>
        <p:spPr>
          <a:xfrm>
            <a:off x="6163056" y="3026664"/>
            <a:ext cx="2514600" cy="347472"/>
          </a:xfrm>
          <a:prstGeom prst="rect">
            <a:avLst/>
          </a:prstGeom>
          <a:noFill/>
          <a:ln/>
        </p:spPr>
        <p:txBody>
          <a:bodyPr wrap="square" rtlCol="0" anchor="ctr"/>
          <a:lstStyle/>
          <a:p>
            <a:pPr marL="0" indent="0">
              <a:buNone/>
            </a:pPr>
            <a:r>
              <a:rPr lang="en-US" sz="1100" dirty="0">
                <a:solidFill>
                  <a:srgbClr val="1A2E3D"/>
                </a:solidFill>
                <a:latin typeface="Calibri" pitchFamily="34" charset="0"/>
                <a:ea typeface="Calibri" pitchFamily="34" charset="-122"/>
                <a:cs typeface="Calibri" pitchFamily="34" charset="-120"/>
              </a:rPr>
              <a:t>Path analysis / mediation</a:t>
            </a:r>
            <a:endParaRPr lang="en-US" sz="1100" dirty="0"/>
          </a:p>
        </p:txBody>
      </p:sp>
      <p:sp>
        <p:nvSpPr>
          <p:cNvPr id="39" name="Text 37"/>
          <p:cNvSpPr/>
          <p:nvPr/>
        </p:nvSpPr>
        <p:spPr>
          <a:xfrm>
            <a:off x="6163056" y="3429000"/>
            <a:ext cx="914400" cy="256032"/>
          </a:xfrm>
          <a:prstGeom prst="rect">
            <a:avLst/>
          </a:prstGeom>
          <a:noFill/>
          <a:ln/>
        </p:spPr>
        <p:txBody>
          <a:bodyPr wrap="square" rtlCol="0" anchor="ctr"/>
          <a:lstStyle/>
          <a:p>
            <a:pPr marL="0" indent="0">
              <a:buNone/>
            </a:pPr>
            <a:r>
              <a:rPr lang="en-US" sz="1050" b="1" dirty="0">
                <a:solidFill>
                  <a:srgbClr val="1A7A4A"/>
                </a:solidFill>
                <a:latin typeface="Calibri" pitchFamily="34" charset="0"/>
                <a:ea typeface="Calibri" pitchFamily="34" charset="-122"/>
                <a:cs typeface="Calibri" pitchFamily="34" charset="-120"/>
              </a:rPr>
              <a:t>Analytic goal</a:t>
            </a:r>
            <a:endParaRPr lang="en-US" sz="1050" dirty="0"/>
          </a:p>
        </p:txBody>
      </p:sp>
      <p:sp>
        <p:nvSpPr>
          <p:cNvPr id="40" name="Text 38"/>
          <p:cNvSpPr/>
          <p:nvPr/>
        </p:nvSpPr>
        <p:spPr>
          <a:xfrm>
            <a:off x="6163056" y="3675888"/>
            <a:ext cx="2514600" cy="347472"/>
          </a:xfrm>
          <a:prstGeom prst="rect">
            <a:avLst/>
          </a:prstGeom>
          <a:noFill/>
          <a:ln/>
        </p:spPr>
        <p:txBody>
          <a:bodyPr wrap="square" rtlCol="0" anchor="ctr"/>
          <a:lstStyle/>
          <a:p>
            <a:pPr marL="0" indent="0">
              <a:buNone/>
            </a:pPr>
            <a:r>
              <a:rPr lang="en-US" sz="1100" dirty="0">
                <a:solidFill>
                  <a:srgbClr val="1A2E3D"/>
                </a:solidFill>
                <a:latin typeface="Calibri" pitchFamily="34" charset="0"/>
                <a:ea typeface="Calibri" pitchFamily="34" charset="-122"/>
                <a:cs typeface="Calibri" pitchFamily="34" charset="-120"/>
              </a:rPr>
              <a:t>Understand how/why</a:t>
            </a:r>
            <a:endParaRPr lang="en-US" sz="1100" dirty="0"/>
          </a:p>
        </p:txBody>
      </p:sp>
      <p:sp>
        <p:nvSpPr>
          <p:cNvPr id="41" name="Text 39"/>
          <p:cNvSpPr/>
          <p:nvPr/>
        </p:nvSpPr>
        <p:spPr>
          <a:xfrm>
            <a:off x="6163056" y="4078224"/>
            <a:ext cx="914400" cy="256032"/>
          </a:xfrm>
          <a:prstGeom prst="rect">
            <a:avLst/>
          </a:prstGeom>
          <a:noFill/>
          <a:ln/>
        </p:spPr>
        <p:txBody>
          <a:bodyPr wrap="square" rtlCol="0" anchor="ctr"/>
          <a:lstStyle/>
          <a:p>
            <a:pPr marL="0" indent="0">
              <a:buNone/>
            </a:pPr>
            <a:r>
              <a:rPr lang="en-US" sz="1050" b="1" dirty="0">
                <a:solidFill>
                  <a:srgbClr val="1A7A4A"/>
                </a:solidFill>
                <a:latin typeface="Calibri" pitchFamily="34" charset="0"/>
                <a:ea typeface="Calibri" pitchFamily="34" charset="-122"/>
                <a:cs typeface="Calibri" pitchFamily="34" charset="-120"/>
              </a:rPr>
              <a:t>Example</a:t>
            </a:r>
            <a:endParaRPr lang="en-US" sz="1050" dirty="0"/>
          </a:p>
        </p:txBody>
      </p:sp>
      <p:sp>
        <p:nvSpPr>
          <p:cNvPr id="42" name="Text 40"/>
          <p:cNvSpPr/>
          <p:nvPr/>
        </p:nvSpPr>
        <p:spPr>
          <a:xfrm>
            <a:off x="6163056" y="4325112"/>
            <a:ext cx="2514600" cy="347472"/>
          </a:xfrm>
          <a:prstGeom prst="rect">
            <a:avLst/>
          </a:prstGeom>
          <a:noFill/>
          <a:ln/>
        </p:spPr>
        <p:txBody>
          <a:bodyPr wrap="square" rtlCol="0" anchor="ctr"/>
          <a:lstStyle/>
          <a:p>
            <a:pPr marL="0" indent="0">
              <a:buNone/>
            </a:pPr>
            <a:r>
              <a:rPr lang="en-US" sz="1100" dirty="0">
                <a:solidFill>
                  <a:srgbClr val="1A2E3D"/>
                </a:solidFill>
                <a:latin typeface="Calibri" pitchFamily="34" charset="0"/>
                <a:ea typeface="Calibri" pitchFamily="34" charset="-122"/>
                <a:cs typeface="Calibri" pitchFamily="34" charset="-120"/>
              </a:rPr>
              <a:t>Diet mediates SES→diabetes</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23E5C"/>
          </a:solidFill>
          <a:ln/>
        </p:spPr>
        <p:txBody>
          <a:bodyPr/>
          <a:lstStyle/>
          <a:p>
            <a:endParaRPr lang="en-US"/>
          </a:p>
        </p:txBody>
      </p:sp>
      <p:sp>
        <p:nvSpPr>
          <p:cNvPr id="3" name="Text 1"/>
          <p:cNvSpPr/>
          <p:nvPr/>
        </p:nvSpPr>
        <p:spPr>
          <a:xfrm>
            <a:off x="365760" y="0"/>
            <a:ext cx="8229600" cy="1005840"/>
          </a:xfrm>
          <a:prstGeom prst="rect">
            <a:avLst/>
          </a:prstGeom>
          <a:noFill/>
          <a:ln/>
        </p:spPr>
        <p:txBody>
          <a:bodyPr wrap="square" rtlCol="0" anchor="ctr"/>
          <a:lstStyle/>
          <a:p>
            <a:pPr marL="0" indent="0">
              <a:buNone/>
            </a:pPr>
            <a:r>
              <a:rPr lang="en-US" sz="2000" b="1" dirty="0">
                <a:solidFill>
                  <a:srgbClr val="FFFFFF"/>
                </a:solidFill>
                <a:latin typeface="Georgia" pitchFamily="34" charset="0"/>
                <a:ea typeface="Georgia" pitchFamily="34" charset="-122"/>
                <a:cs typeface="Georgia" pitchFamily="34" charset="-120"/>
              </a:rPr>
              <a:t>Confounding vs. Effect Modification vs. Mediation</a:t>
            </a:r>
            <a:endParaRPr lang="en-US" sz="2000" dirty="0"/>
          </a:p>
        </p:txBody>
      </p:sp>
      <p:sp>
        <p:nvSpPr>
          <p:cNvPr id="4" name="Shape 2"/>
          <p:cNvSpPr/>
          <p:nvPr/>
        </p:nvSpPr>
        <p:spPr>
          <a:xfrm>
            <a:off x="274320" y="1143000"/>
            <a:ext cx="8595360" cy="1097280"/>
          </a:xfrm>
          <a:prstGeom prst="rect">
            <a:avLst/>
          </a:prstGeom>
          <a:solidFill>
            <a:srgbClr val="E8F4F5"/>
          </a:solidFill>
          <a:ln w="12700">
            <a:solidFill>
              <a:srgbClr val="DDDDDD"/>
            </a:solidFill>
            <a:prstDash val="solid"/>
          </a:ln>
          <a:effectLst>
            <a:outerShdw blurRad="101600" dist="38100" dir="8100000" algn="bl" rotWithShape="0">
              <a:srgbClr val="000000">
                <a:alpha val="12000"/>
              </a:srgbClr>
            </a:outerShdw>
          </a:effectLst>
        </p:spPr>
        <p:txBody>
          <a:bodyPr/>
          <a:lstStyle/>
          <a:p>
            <a:endParaRPr lang="en-US"/>
          </a:p>
        </p:txBody>
      </p:sp>
      <p:sp>
        <p:nvSpPr>
          <p:cNvPr id="5" name="Shape 3"/>
          <p:cNvSpPr/>
          <p:nvPr/>
        </p:nvSpPr>
        <p:spPr>
          <a:xfrm>
            <a:off x="274320" y="1143000"/>
            <a:ext cx="109728" cy="1097280"/>
          </a:xfrm>
          <a:prstGeom prst="rect">
            <a:avLst/>
          </a:prstGeom>
          <a:solidFill>
            <a:srgbClr val="028090"/>
          </a:solidFill>
          <a:ln w="12700">
            <a:solidFill>
              <a:srgbClr val="028090"/>
            </a:solidFill>
            <a:prstDash val="solid"/>
          </a:ln>
        </p:spPr>
        <p:txBody>
          <a:bodyPr/>
          <a:lstStyle/>
          <a:p>
            <a:endParaRPr lang="en-US"/>
          </a:p>
        </p:txBody>
      </p:sp>
      <p:sp>
        <p:nvSpPr>
          <p:cNvPr id="6" name="Text 4"/>
          <p:cNvSpPr/>
          <p:nvPr/>
        </p:nvSpPr>
        <p:spPr>
          <a:xfrm>
            <a:off x="502920" y="1216152"/>
            <a:ext cx="2011680" cy="365760"/>
          </a:xfrm>
          <a:prstGeom prst="rect">
            <a:avLst/>
          </a:prstGeom>
          <a:noFill/>
          <a:ln/>
        </p:spPr>
        <p:txBody>
          <a:bodyPr wrap="square" rtlCol="0" anchor="ctr"/>
          <a:lstStyle/>
          <a:p>
            <a:pPr marL="0" indent="0">
              <a:buNone/>
            </a:pPr>
            <a:r>
              <a:rPr lang="en-US" sz="1400" b="1" dirty="0">
                <a:solidFill>
                  <a:srgbClr val="1A2E35"/>
                </a:solidFill>
                <a:latin typeface="Georgia" pitchFamily="34" charset="0"/>
                <a:ea typeface="Georgia" pitchFamily="34" charset="-122"/>
                <a:cs typeface="Georgia" pitchFamily="34" charset="-120"/>
              </a:rPr>
              <a:t>Confounding</a:t>
            </a:r>
            <a:endParaRPr lang="en-US" sz="1400" dirty="0"/>
          </a:p>
        </p:txBody>
      </p:sp>
      <p:sp>
        <p:nvSpPr>
          <p:cNvPr id="7" name="Text 5"/>
          <p:cNvSpPr/>
          <p:nvPr/>
        </p:nvSpPr>
        <p:spPr>
          <a:xfrm>
            <a:off x="502920" y="1600200"/>
            <a:ext cx="4389120" cy="502920"/>
          </a:xfrm>
          <a:prstGeom prst="rect">
            <a:avLst/>
          </a:prstGeom>
          <a:noFill/>
          <a:ln/>
        </p:spPr>
        <p:txBody>
          <a:bodyPr wrap="square" rtlCol="0" anchor="ctr"/>
          <a:lstStyle/>
          <a:p>
            <a:pPr marL="0" indent="0">
              <a:buNone/>
            </a:pPr>
            <a:r>
              <a:rPr lang="en-US" sz="1100" dirty="0">
                <a:solidFill>
                  <a:srgbClr val="1A2E35"/>
                </a:solidFill>
                <a:latin typeface="Calibri" pitchFamily="34" charset="0"/>
                <a:ea typeface="Calibri" pitchFamily="34" charset="-122"/>
                <a:cs typeface="Calibri" pitchFamily="34" charset="-120"/>
              </a:rPr>
              <a:t>A third variable distorts the apparent exposure-outcome relationship</a:t>
            </a:r>
            <a:endParaRPr lang="en-US" sz="1100" dirty="0"/>
          </a:p>
        </p:txBody>
      </p:sp>
      <p:sp>
        <p:nvSpPr>
          <p:cNvPr id="8" name="Shape 6"/>
          <p:cNvSpPr/>
          <p:nvPr/>
        </p:nvSpPr>
        <p:spPr>
          <a:xfrm>
            <a:off x="5029200" y="1216152"/>
            <a:ext cx="3703320" cy="411480"/>
          </a:xfrm>
          <a:prstGeom prst="rect">
            <a:avLst/>
          </a:prstGeom>
          <a:solidFill>
            <a:srgbClr val="028090">
              <a:alpha val="15000"/>
            </a:srgbClr>
          </a:solidFill>
          <a:ln w="12700">
            <a:solidFill>
              <a:srgbClr val="028090">
                <a:alpha val="50000"/>
              </a:srgbClr>
            </a:solidFill>
            <a:prstDash val="solid"/>
          </a:ln>
        </p:spPr>
        <p:txBody>
          <a:bodyPr/>
          <a:lstStyle/>
          <a:p>
            <a:endParaRPr lang="en-US"/>
          </a:p>
        </p:txBody>
      </p:sp>
      <p:sp>
        <p:nvSpPr>
          <p:cNvPr id="9" name="Text 7"/>
          <p:cNvSpPr/>
          <p:nvPr/>
        </p:nvSpPr>
        <p:spPr>
          <a:xfrm>
            <a:off x="5074920" y="1216152"/>
            <a:ext cx="3611880" cy="411480"/>
          </a:xfrm>
          <a:prstGeom prst="rect">
            <a:avLst/>
          </a:prstGeom>
          <a:noFill/>
          <a:ln/>
        </p:spPr>
        <p:txBody>
          <a:bodyPr wrap="square" rtlCol="0" anchor="ctr"/>
          <a:lstStyle/>
          <a:p>
            <a:pPr marL="0" indent="0">
              <a:buNone/>
            </a:pPr>
            <a:r>
              <a:rPr lang="en-US" sz="1100" b="1" dirty="0">
                <a:solidFill>
                  <a:srgbClr val="1A2E35"/>
                </a:solidFill>
                <a:latin typeface="Calibri" pitchFamily="34" charset="0"/>
                <a:ea typeface="Calibri" pitchFamily="34" charset="-122"/>
                <a:cs typeface="Calibri" pitchFamily="34" charset="-120"/>
              </a:rPr>
              <a:t>Action: CONTROL for it in regression</a:t>
            </a:r>
            <a:endParaRPr lang="en-US" sz="1100" dirty="0"/>
          </a:p>
        </p:txBody>
      </p:sp>
      <p:sp>
        <p:nvSpPr>
          <p:cNvPr id="10" name="Text 8"/>
          <p:cNvSpPr/>
          <p:nvPr/>
        </p:nvSpPr>
        <p:spPr>
          <a:xfrm>
            <a:off x="5029200" y="1691640"/>
            <a:ext cx="3703320" cy="457200"/>
          </a:xfrm>
          <a:prstGeom prst="rect">
            <a:avLst/>
          </a:prstGeom>
          <a:noFill/>
          <a:ln/>
        </p:spPr>
        <p:txBody>
          <a:bodyPr wrap="square" rtlCol="0" anchor="ctr"/>
          <a:lstStyle/>
          <a:p>
            <a:pPr marL="0" indent="0">
              <a:buNone/>
            </a:pPr>
            <a:r>
              <a:rPr lang="en-US" sz="1000" i="1" dirty="0">
                <a:solidFill>
                  <a:srgbClr val="3D6470"/>
                </a:solidFill>
                <a:latin typeface="Calibri" pitchFamily="34" charset="0"/>
                <a:ea typeface="Calibri" pitchFamily="34" charset="-122"/>
                <a:cs typeface="Calibri" pitchFamily="34" charset="-120"/>
              </a:rPr>
              <a:t>e.g., Smoking confounds coffee → lung cancer association</a:t>
            </a:r>
            <a:endParaRPr lang="en-US" sz="1000" dirty="0"/>
          </a:p>
        </p:txBody>
      </p:sp>
      <p:sp>
        <p:nvSpPr>
          <p:cNvPr id="11" name="Shape 9"/>
          <p:cNvSpPr/>
          <p:nvPr/>
        </p:nvSpPr>
        <p:spPr>
          <a:xfrm>
            <a:off x="274320" y="2404872"/>
            <a:ext cx="8595360" cy="1097280"/>
          </a:xfrm>
          <a:prstGeom prst="rect">
            <a:avLst/>
          </a:prstGeom>
          <a:solidFill>
            <a:srgbClr val="E8F4F5"/>
          </a:solidFill>
          <a:ln w="12700">
            <a:solidFill>
              <a:srgbClr val="DDDDDD"/>
            </a:solidFill>
            <a:prstDash val="solid"/>
          </a:ln>
          <a:effectLst>
            <a:outerShdw blurRad="101600" dist="38100" dir="8100000" algn="bl" rotWithShape="0">
              <a:srgbClr val="000000">
                <a:alpha val="12000"/>
              </a:srgbClr>
            </a:outerShdw>
          </a:effectLst>
        </p:spPr>
        <p:txBody>
          <a:bodyPr/>
          <a:lstStyle/>
          <a:p>
            <a:endParaRPr lang="en-US"/>
          </a:p>
        </p:txBody>
      </p:sp>
      <p:sp>
        <p:nvSpPr>
          <p:cNvPr id="12" name="Shape 10"/>
          <p:cNvSpPr/>
          <p:nvPr/>
        </p:nvSpPr>
        <p:spPr>
          <a:xfrm>
            <a:off x="274320" y="2404872"/>
            <a:ext cx="109728" cy="1097280"/>
          </a:xfrm>
          <a:prstGeom prst="rect">
            <a:avLst/>
          </a:prstGeom>
          <a:solidFill>
            <a:srgbClr val="00A896"/>
          </a:solidFill>
          <a:ln w="12700">
            <a:solidFill>
              <a:srgbClr val="00A896"/>
            </a:solidFill>
            <a:prstDash val="solid"/>
          </a:ln>
        </p:spPr>
        <p:txBody>
          <a:bodyPr/>
          <a:lstStyle/>
          <a:p>
            <a:endParaRPr lang="en-US"/>
          </a:p>
        </p:txBody>
      </p:sp>
      <p:sp>
        <p:nvSpPr>
          <p:cNvPr id="13" name="Text 11"/>
          <p:cNvSpPr/>
          <p:nvPr/>
        </p:nvSpPr>
        <p:spPr>
          <a:xfrm>
            <a:off x="502920" y="2478024"/>
            <a:ext cx="2011680" cy="365760"/>
          </a:xfrm>
          <a:prstGeom prst="rect">
            <a:avLst/>
          </a:prstGeom>
          <a:noFill/>
          <a:ln/>
        </p:spPr>
        <p:txBody>
          <a:bodyPr wrap="square" rtlCol="0" anchor="ctr"/>
          <a:lstStyle/>
          <a:p>
            <a:pPr marL="0" indent="0">
              <a:buNone/>
            </a:pPr>
            <a:r>
              <a:rPr lang="en-US" sz="1400" b="1" dirty="0">
                <a:solidFill>
                  <a:srgbClr val="1A2E35"/>
                </a:solidFill>
                <a:latin typeface="Georgia" pitchFamily="34" charset="0"/>
                <a:ea typeface="Georgia" pitchFamily="34" charset="-122"/>
                <a:cs typeface="Georgia" pitchFamily="34" charset="-120"/>
              </a:rPr>
              <a:t>Effect Modification</a:t>
            </a:r>
            <a:endParaRPr lang="en-US" sz="1400" dirty="0"/>
          </a:p>
        </p:txBody>
      </p:sp>
      <p:sp>
        <p:nvSpPr>
          <p:cNvPr id="14" name="Text 12"/>
          <p:cNvSpPr/>
          <p:nvPr/>
        </p:nvSpPr>
        <p:spPr>
          <a:xfrm>
            <a:off x="502920" y="2862072"/>
            <a:ext cx="4389120" cy="502920"/>
          </a:xfrm>
          <a:prstGeom prst="rect">
            <a:avLst/>
          </a:prstGeom>
          <a:noFill/>
          <a:ln/>
        </p:spPr>
        <p:txBody>
          <a:bodyPr wrap="square" rtlCol="0" anchor="ctr"/>
          <a:lstStyle/>
          <a:p>
            <a:pPr marL="0" indent="0">
              <a:buNone/>
            </a:pPr>
            <a:r>
              <a:rPr lang="en-US" sz="1100" dirty="0">
                <a:solidFill>
                  <a:srgbClr val="1A2E35"/>
                </a:solidFill>
                <a:latin typeface="Calibri" pitchFamily="34" charset="0"/>
                <a:ea typeface="Calibri" pitchFamily="34" charset="-122"/>
                <a:cs typeface="Calibri" pitchFamily="34" charset="-120"/>
              </a:rPr>
              <a:t>The effect of exposure DIFFERS across strata of a third variable</a:t>
            </a:r>
            <a:endParaRPr lang="en-US" sz="1100" dirty="0"/>
          </a:p>
        </p:txBody>
      </p:sp>
      <p:sp>
        <p:nvSpPr>
          <p:cNvPr id="15" name="Shape 13"/>
          <p:cNvSpPr/>
          <p:nvPr/>
        </p:nvSpPr>
        <p:spPr>
          <a:xfrm>
            <a:off x="5029200" y="2478024"/>
            <a:ext cx="3703320" cy="411480"/>
          </a:xfrm>
          <a:prstGeom prst="rect">
            <a:avLst/>
          </a:prstGeom>
          <a:solidFill>
            <a:srgbClr val="00A896">
              <a:alpha val="15000"/>
            </a:srgbClr>
          </a:solidFill>
          <a:ln w="12700">
            <a:solidFill>
              <a:srgbClr val="00A896">
                <a:alpha val="50000"/>
              </a:srgbClr>
            </a:solidFill>
            <a:prstDash val="solid"/>
          </a:ln>
        </p:spPr>
        <p:txBody>
          <a:bodyPr/>
          <a:lstStyle/>
          <a:p>
            <a:endParaRPr lang="en-US"/>
          </a:p>
        </p:txBody>
      </p:sp>
      <p:sp>
        <p:nvSpPr>
          <p:cNvPr id="16" name="Text 14"/>
          <p:cNvSpPr/>
          <p:nvPr/>
        </p:nvSpPr>
        <p:spPr>
          <a:xfrm>
            <a:off x="5074920" y="2478024"/>
            <a:ext cx="3611880" cy="411480"/>
          </a:xfrm>
          <a:prstGeom prst="rect">
            <a:avLst/>
          </a:prstGeom>
          <a:noFill/>
          <a:ln/>
        </p:spPr>
        <p:txBody>
          <a:bodyPr wrap="square" rtlCol="0" anchor="ctr"/>
          <a:lstStyle/>
          <a:p>
            <a:pPr marL="0" indent="0">
              <a:buNone/>
            </a:pPr>
            <a:r>
              <a:rPr lang="en-US" sz="1100" b="1" dirty="0">
                <a:solidFill>
                  <a:srgbClr val="1A2E35"/>
                </a:solidFill>
                <a:latin typeface="Calibri" pitchFamily="34" charset="0"/>
                <a:ea typeface="Calibri" pitchFamily="34" charset="-122"/>
                <a:cs typeface="Calibri" pitchFamily="34" charset="-120"/>
              </a:rPr>
              <a:t>Action: REPORT stratified results; include interaction term</a:t>
            </a:r>
            <a:endParaRPr lang="en-US" sz="1100" dirty="0"/>
          </a:p>
        </p:txBody>
      </p:sp>
      <p:sp>
        <p:nvSpPr>
          <p:cNvPr id="17" name="Text 15"/>
          <p:cNvSpPr/>
          <p:nvPr/>
        </p:nvSpPr>
        <p:spPr>
          <a:xfrm>
            <a:off x="5029200" y="2953512"/>
            <a:ext cx="3703320" cy="457200"/>
          </a:xfrm>
          <a:prstGeom prst="rect">
            <a:avLst/>
          </a:prstGeom>
          <a:noFill/>
          <a:ln/>
        </p:spPr>
        <p:txBody>
          <a:bodyPr wrap="square" rtlCol="0" anchor="ctr"/>
          <a:lstStyle/>
          <a:p>
            <a:pPr marL="0" indent="0">
              <a:buNone/>
            </a:pPr>
            <a:r>
              <a:rPr lang="en-US" sz="1000" i="1" dirty="0">
                <a:solidFill>
                  <a:srgbClr val="3D6470"/>
                </a:solidFill>
                <a:latin typeface="Calibri" pitchFamily="34" charset="0"/>
                <a:ea typeface="Calibri" pitchFamily="34" charset="-122"/>
                <a:cs typeface="Calibri" pitchFamily="34" charset="-120"/>
              </a:rPr>
              <a:t>e.g., Aspirin reduces MI risk more strongly in men vs women</a:t>
            </a:r>
            <a:endParaRPr lang="en-US" sz="1000" dirty="0"/>
          </a:p>
        </p:txBody>
      </p:sp>
      <p:sp>
        <p:nvSpPr>
          <p:cNvPr id="18" name="Shape 16"/>
          <p:cNvSpPr/>
          <p:nvPr/>
        </p:nvSpPr>
        <p:spPr>
          <a:xfrm>
            <a:off x="274320" y="3666744"/>
            <a:ext cx="8595360" cy="1097280"/>
          </a:xfrm>
          <a:prstGeom prst="rect">
            <a:avLst/>
          </a:prstGeom>
          <a:solidFill>
            <a:srgbClr val="E8F4F5"/>
          </a:solidFill>
          <a:ln w="12700">
            <a:solidFill>
              <a:srgbClr val="DDDDDD"/>
            </a:solidFill>
            <a:prstDash val="solid"/>
          </a:ln>
          <a:effectLst>
            <a:outerShdw blurRad="101600" dist="38100" dir="8100000" algn="bl" rotWithShape="0">
              <a:srgbClr val="000000">
                <a:alpha val="12000"/>
              </a:srgbClr>
            </a:outerShdw>
          </a:effectLst>
        </p:spPr>
        <p:txBody>
          <a:bodyPr/>
          <a:lstStyle/>
          <a:p>
            <a:endParaRPr lang="en-US"/>
          </a:p>
        </p:txBody>
      </p:sp>
      <p:sp>
        <p:nvSpPr>
          <p:cNvPr id="19" name="Shape 17"/>
          <p:cNvSpPr/>
          <p:nvPr/>
        </p:nvSpPr>
        <p:spPr>
          <a:xfrm>
            <a:off x="274320" y="3666744"/>
            <a:ext cx="109728" cy="1097280"/>
          </a:xfrm>
          <a:prstGeom prst="rect">
            <a:avLst/>
          </a:prstGeom>
          <a:solidFill>
            <a:srgbClr val="02C39A"/>
          </a:solidFill>
          <a:ln w="12700">
            <a:solidFill>
              <a:srgbClr val="02C39A"/>
            </a:solidFill>
            <a:prstDash val="solid"/>
          </a:ln>
        </p:spPr>
        <p:txBody>
          <a:bodyPr/>
          <a:lstStyle/>
          <a:p>
            <a:endParaRPr lang="en-US"/>
          </a:p>
        </p:txBody>
      </p:sp>
      <p:sp>
        <p:nvSpPr>
          <p:cNvPr id="20" name="Text 18"/>
          <p:cNvSpPr/>
          <p:nvPr/>
        </p:nvSpPr>
        <p:spPr>
          <a:xfrm>
            <a:off x="502920" y="3739896"/>
            <a:ext cx="2011680" cy="365760"/>
          </a:xfrm>
          <a:prstGeom prst="rect">
            <a:avLst/>
          </a:prstGeom>
          <a:noFill/>
          <a:ln/>
        </p:spPr>
        <p:txBody>
          <a:bodyPr wrap="square" rtlCol="0" anchor="ctr"/>
          <a:lstStyle/>
          <a:p>
            <a:pPr marL="0" indent="0">
              <a:buNone/>
            </a:pPr>
            <a:r>
              <a:rPr lang="en-US" sz="1400" b="1" dirty="0">
                <a:solidFill>
                  <a:srgbClr val="1A2E35"/>
                </a:solidFill>
                <a:latin typeface="Georgia" pitchFamily="34" charset="0"/>
                <a:ea typeface="Georgia" pitchFamily="34" charset="-122"/>
                <a:cs typeface="Georgia" pitchFamily="34" charset="-120"/>
              </a:rPr>
              <a:t>Mediation</a:t>
            </a:r>
            <a:endParaRPr lang="en-US" sz="1400" dirty="0"/>
          </a:p>
        </p:txBody>
      </p:sp>
      <p:sp>
        <p:nvSpPr>
          <p:cNvPr id="21" name="Text 19"/>
          <p:cNvSpPr/>
          <p:nvPr/>
        </p:nvSpPr>
        <p:spPr>
          <a:xfrm>
            <a:off x="502920" y="4123944"/>
            <a:ext cx="4389120" cy="502920"/>
          </a:xfrm>
          <a:prstGeom prst="rect">
            <a:avLst/>
          </a:prstGeom>
          <a:noFill/>
          <a:ln/>
        </p:spPr>
        <p:txBody>
          <a:bodyPr wrap="square" rtlCol="0" anchor="ctr"/>
          <a:lstStyle/>
          <a:p>
            <a:pPr marL="0" indent="0">
              <a:buNone/>
            </a:pPr>
            <a:r>
              <a:rPr lang="en-US" sz="1100" dirty="0">
                <a:solidFill>
                  <a:srgbClr val="1A2E35"/>
                </a:solidFill>
                <a:latin typeface="Calibri" pitchFamily="34" charset="0"/>
                <a:ea typeface="Calibri" pitchFamily="34" charset="-122"/>
                <a:cs typeface="Calibri" pitchFamily="34" charset="-120"/>
              </a:rPr>
              <a:t>The third variable lies ON the causal pathway between exposure and outcome</a:t>
            </a:r>
            <a:endParaRPr lang="en-US" sz="1100" dirty="0"/>
          </a:p>
        </p:txBody>
      </p:sp>
      <p:sp>
        <p:nvSpPr>
          <p:cNvPr id="22" name="Shape 20"/>
          <p:cNvSpPr/>
          <p:nvPr/>
        </p:nvSpPr>
        <p:spPr>
          <a:xfrm>
            <a:off x="5029200" y="3739896"/>
            <a:ext cx="3703320" cy="411480"/>
          </a:xfrm>
          <a:prstGeom prst="rect">
            <a:avLst/>
          </a:prstGeom>
          <a:solidFill>
            <a:srgbClr val="02C39A">
              <a:alpha val="15000"/>
            </a:srgbClr>
          </a:solidFill>
          <a:ln w="12700">
            <a:solidFill>
              <a:srgbClr val="02C39A">
                <a:alpha val="50000"/>
              </a:srgbClr>
            </a:solidFill>
            <a:prstDash val="solid"/>
          </a:ln>
        </p:spPr>
        <p:txBody>
          <a:bodyPr/>
          <a:lstStyle/>
          <a:p>
            <a:endParaRPr lang="en-US"/>
          </a:p>
        </p:txBody>
      </p:sp>
      <p:sp>
        <p:nvSpPr>
          <p:cNvPr id="23" name="Text 21"/>
          <p:cNvSpPr/>
          <p:nvPr/>
        </p:nvSpPr>
        <p:spPr>
          <a:xfrm>
            <a:off x="5074920" y="3739896"/>
            <a:ext cx="3611880" cy="411480"/>
          </a:xfrm>
          <a:prstGeom prst="rect">
            <a:avLst/>
          </a:prstGeom>
          <a:noFill/>
          <a:ln/>
        </p:spPr>
        <p:txBody>
          <a:bodyPr wrap="square" rtlCol="0" anchor="ctr"/>
          <a:lstStyle/>
          <a:p>
            <a:pPr marL="0" indent="0">
              <a:buNone/>
            </a:pPr>
            <a:r>
              <a:rPr lang="en-US" sz="1100" b="1" dirty="0">
                <a:solidFill>
                  <a:srgbClr val="1A2E35"/>
                </a:solidFill>
                <a:latin typeface="Calibri" pitchFamily="34" charset="0"/>
                <a:ea typeface="Calibri" pitchFamily="34" charset="-122"/>
                <a:cs typeface="Calibri" pitchFamily="34" charset="-120"/>
              </a:rPr>
              <a:t>Action: Do NOT adjust for mediators (blocks the causal effect)</a:t>
            </a:r>
            <a:endParaRPr lang="en-US" sz="1100" dirty="0"/>
          </a:p>
        </p:txBody>
      </p:sp>
      <p:sp>
        <p:nvSpPr>
          <p:cNvPr id="24" name="Text 22"/>
          <p:cNvSpPr/>
          <p:nvPr/>
        </p:nvSpPr>
        <p:spPr>
          <a:xfrm>
            <a:off x="5029200" y="4215384"/>
            <a:ext cx="3703320" cy="457200"/>
          </a:xfrm>
          <a:prstGeom prst="rect">
            <a:avLst/>
          </a:prstGeom>
          <a:noFill/>
          <a:ln/>
        </p:spPr>
        <p:txBody>
          <a:bodyPr wrap="square" rtlCol="0" anchor="ctr"/>
          <a:lstStyle/>
          <a:p>
            <a:pPr marL="0" indent="0">
              <a:buNone/>
            </a:pPr>
            <a:r>
              <a:rPr lang="en-US" sz="1000" i="1" dirty="0">
                <a:solidFill>
                  <a:srgbClr val="3D6470"/>
                </a:solidFill>
                <a:latin typeface="Calibri" pitchFamily="34" charset="0"/>
                <a:ea typeface="Calibri" pitchFamily="34" charset="-122"/>
                <a:cs typeface="Calibri" pitchFamily="34" charset="-120"/>
              </a:rPr>
              <a:t>e.g., Obesity mediates the relationship between diet and diabetes</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11">
    <p:bg>
      <p:bgPr>
        <a:solidFill>
          <a:srgbClr val="028090"/>
        </a:solidFill>
        <a:effectLst/>
      </p:bgPr>
    </p:bg>
    <p:spTree>
      <p:nvGrpSpPr>
        <p:cNvPr id="1" name=""/>
        <p:cNvGrpSpPr/>
        <p:nvPr/>
      </p:nvGrpSpPr>
      <p:grpSpPr>
        <a:xfrm>
          <a:off x="0" y="0"/>
          <a:ext cx="0" cy="0"/>
          <a:chOff x="0" y="0"/>
          <a:chExt cx="0" cy="0"/>
        </a:xfrm>
      </p:grpSpPr>
      <p:sp>
        <p:nvSpPr>
          <p:cNvPr id="2" name="Shape 0"/>
          <p:cNvSpPr/>
          <p:nvPr/>
        </p:nvSpPr>
        <p:spPr>
          <a:xfrm>
            <a:off x="-914400" y="-457200"/>
            <a:ext cx="3657600" cy="3657600"/>
          </a:xfrm>
          <a:prstGeom prst="ellipse">
            <a:avLst/>
          </a:prstGeom>
          <a:solidFill>
            <a:srgbClr val="02C39A">
              <a:alpha val="30000"/>
            </a:srgbClr>
          </a:solidFill>
          <a:ln w="12700">
            <a:solidFill>
              <a:srgbClr val="02C39A">
                <a:alpha val="30000"/>
              </a:srgbClr>
            </a:solidFill>
            <a:prstDash val="solid"/>
          </a:ln>
        </p:spPr>
        <p:txBody>
          <a:bodyPr/>
          <a:lstStyle/>
          <a:p>
            <a:endParaRPr lang="en-US"/>
          </a:p>
        </p:txBody>
      </p:sp>
      <p:sp>
        <p:nvSpPr>
          <p:cNvPr id="3" name="Shape 1"/>
          <p:cNvSpPr/>
          <p:nvPr/>
        </p:nvSpPr>
        <p:spPr>
          <a:xfrm>
            <a:off x="6400800" y="2743200"/>
            <a:ext cx="3657600" cy="3657600"/>
          </a:xfrm>
          <a:prstGeom prst="ellipse">
            <a:avLst/>
          </a:prstGeom>
          <a:solidFill>
            <a:srgbClr val="023E5C">
              <a:alpha val="35000"/>
            </a:srgbClr>
          </a:solidFill>
          <a:ln w="12700">
            <a:solidFill>
              <a:srgbClr val="023E5C">
                <a:alpha val="35000"/>
              </a:srgbClr>
            </a:solidFill>
            <a:prstDash val="solid"/>
          </a:ln>
        </p:spPr>
        <p:txBody>
          <a:bodyPr/>
          <a:lstStyle/>
          <a:p>
            <a:endParaRPr lang="en-US"/>
          </a:p>
        </p:txBody>
      </p:sp>
      <p:sp>
        <p:nvSpPr>
          <p:cNvPr id="4" name="Text 2"/>
          <p:cNvSpPr/>
          <p:nvPr/>
        </p:nvSpPr>
        <p:spPr>
          <a:xfrm>
            <a:off x="914400" y="1371600"/>
            <a:ext cx="7315200" cy="457200"/>
          </a:xfrm>
          <a:prstGeom prst="rect">
            <a:avLst/>
          </a:prstGeom>
          <a:noFill/>
          <a:ln/>
        </p:spPr>
        <p:txBody>
          <a:bodyPr wrap="square" rtlCol="0" anchor="ctr"/>
          <a:lstStyle/>
          <a:p>
            <a:pPr marL="0" indent="0" algn="ctr">
              <a:buNone/>
            </a:pPr>
            <a:r>
              <a:rPr lang="en-US" sz="1400" b="1" kern="0" spc="600" dirty="0">
                <a:solidFill>
                  <a:srgbClr val="02C39A"/>
                </a:solidFill>
                <a:latin typeface="Calibri" pitchFamily="34" charset="0"/>
                <a:ea typeface="Calibri" pitchFamily="34" charset="-122"/>
                <a:cs typeface="Calibri" pitchFamily="34" charset="-120"/>
              </a:rPr>
              <a:t>PART 3</a:t>
            </a:r>
            <a:endParaRPr lang="en-US" sz="1400" dirty="0"/>
          </a:p>
        </p:txBody>
      </p:sp>
      <p:sp>
        <p:nvSpPr>
          <p:cNvPr id="5" name="Text 3"/>
          <p:cNvSpPr/>
          <p:nvPr/>
        </p:nvSpPr>
        <p:spPr>
          <a:xfrm>
            <a:off x="914400" y="1828800"/>
            <a:ext cx="7315200" cy="1645920"/>
          </a:xfrm>
          <a:prstGeom prst="rect">
            <a:avLst/>
          </a:prstGeom>
          <a:noFill/>
          <a:ln/>
        </p:spPr>
        <p:txBody>
          <a:bodyPr wrap="square" rtlCol="0" anchor="ctr"/>
          <a:lstStyle/>
          <a:p>
            <a:pPr marL="0" indent="0" algn="ctr">
              <a:buNone/>
            </a:pPr>
            <a:r>
              <a:rPr lang="en-US" sz="3800" b="1" dirty="0">
                <a:solidFill>
                  <a:srgbClr val="FFFFFF"/>
                </a:solidFill>
                <a:latin typeface="Georgia" pitchFamily="34" charset="0"/>
                <a:ea typeface="Georgia" pitchFamily="34" charset="-122"/>
                <a:cs typeface="Georgia" pitchFamily="34" charset="-120"/>
              </a:rPr>
              <a:t>Types of Regression</a:t>
            </a:r>
            <a:endParaRPr lang="en-US" sz="3800" dirty="0"/>
          </a:p>
          <a:p>
            <a:pPr marL="0" indent="0" algn="ctr">
              <a:buNone/>
            </a:pPr>
            <a:r>
              <a:rPr lang="en-US" sz="3800" b="1" dirty="0">
                <a:solidFill>
                  <a:srgbClr val="FFFFFF"/>
                </a:solidFill>
                <a:latin typeface="Georgia" pitchFamily="34" charset="0"/>
                <a:ea typeface="Georgia" pitchFamily="34" charset="-122"/>
                <a:cs typeface="Georgia" pitchFamily="34" charset="-120"/>
              </a:rPr>
              <a:t>Models in Public Health</a:t>
            </a:r>
            <a:endParaRPr lang="en-US" sz="38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12">
    <p:bg>
      <p:bgPr>
        <a:solidFill>
          <a:srgbClr val="F0F7F8"/>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23E5C"/>
          </a:solidFill>
          <a:ln/>
        </p:spPr>
        <p:txBody>
          <a:bodyPr/>
          <a:lstStyle/>
          <a:p>
            <a:endParaRPr lang="en-US"/>
          </a:p>
        </p:txBody>
      </p:sp>
      <p:sp>
        <p:nvSpPr>
          <p:cNvPr id="3" name="Text 1"/>
          <p:cNvSpPr/>
          <p:nvPr/>
        </p:nvSpPr>
        <p:spPr>
          <a:xfrm>
            <a:off x="365760" y="0"/>
            <a:ext cx="8229600" cy="1005840"/>
          </a:xfrm>
          <a:prstGeom prst="rect">
            <a:avLst/>
          </a:prstGeom>
          <a:noFill/>
          <a:ln/>
        </p:spPr>
        <p:txBody>
          <a:bodyPr wrap="square" rtlCol="0" anchor="ctr"/>
          <a:lstStyle/>
          <a:p>
            <a:pPr marL="0" indent="0">
              <a:buNone/>
            </a:pPr>
            <a:r>
              <a:rPr lang="en-US" sz="2200" b="1" dirty="0">
                <a:solidFill>
                  <a:srgbClr val="FFFFFF"/>
                </a:solidFill>
                <a:latin typeface="Georgia" pitchFamily="34" charset="0"/>
                <a:ea typeface="Georgia" pitchFamily="34" charset="-122"/>
                <a:cs typeface="Georgia" pitchFamily="34" charset="-120"/>
              </a:rPr>
              <a:t>Choosing the Right Regression Model</a:t>
            </a:r>
            <a:endParaRPr lang="en-US" sz="2200" dirty="0"/>
          </a:p>
        </p:txBody>
      </p:sp>
      <p:sp>
        <p:nvSpPr>
          <p:cNvPr id="4" name="Shape 2"/>
          <p:cNvSpPr/>
          <p:nvPr/>
        </p:nvSpPr>
        <p:spPr>
          <a:xfrm>
            <a:off x="274320" y="1097280"/>
            <a:ext cx="8595360" cy="457200"/>
          </a:xfrm>
          <a:prstGeom prst="rect">
            <a:avLst/>
          </a:prstGeom>
          <a:solidFill>
            <a:srgbClr val="028090"/>
          </a:solidFill>
          <a:ln w="12700">
            <a:solidFill>
              <a:srgbClr val="028090"/>
            </a:solidFill>
            <a:prstDash val="solid"/>
          </a:ln>
        </p:spPr>
        <p:txBody>
          <a:bodyPr/>
          <a:lstStyle/>
          <a:p>
            <a:endParaRPr lang="en-US"/>
          </a:p>
        </p:txBody>
      </p:sp>
      <p:sp>
        <p:nvSpPr>
          <p:cNvPr id="5" name="Text 3"/>
          <p:cNvSpPr/>
          <p:nvPr/>
        </p:nvSpPr>
        <p:spPr>
          <a:xfrm>
            <a:off x="320040" y="1097280"/>
            <a:ext cx="1737360" cy="45720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Outcome Type</a:t>
            </a:r>
            <a:endParaRPr lang="en-US" sz="1200" dirty="0"/>
          </a:p>
        </p:txBody>
      </p:sp>
      <p:sp>
        <p:nvSpPr>
          <p:cNvPr id="6" name="Text 4"/>
          <p:cNvSpPr/>
          <p:nvPr/>
        </p:nvSpPr>
        <p:spPr>
          <a:xfrm>
            <a:off x="2103120" y="1097280"/>
            <a:ext cx="1920240" cy="45720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Distribution</a:t>
            </a:r>
            <a:endParaRPr lang="en-US" sz="1200" dirty="0"/>
          </a:p>
        </p:txBody>
      </p:sp>
      <p:sp>
        <p:nvSpPr>
          <p:cNvPr id="7" name="Text 5"/>
          <p:cNvSpPr/>
          <p:nvPr/>
        </p:nvSpPr>
        <p:spPr>
          <a:xfrm>
            <a:off x="4069080" y="1097280"/>
            <a:ext cx="2011680" cy="45720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Regression Model</a:t>
            </a:r>
            <a:endParaRPr lang="en-US" sz="1200" dirty="0"/>
          </a:p>
        </p:txBody>
      </p:sp>
      <p:sp>
        <p:nvSpPr>
          <p:cNvPr id="8" name="Text 6"/>
          <p:cNvSpPr/>
          <p:nvPr/>
        </p:nvSpPr>
        <p:spPr>
          <a:xfrm>
            <a:off x="6126480" y="1097280"/>
            <a:ext cx="2743200" cy="45720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Public Health Example</a:t>
            </a:r>
            <a:endParaRPr lang="en-US" sz="1200" dirty="0"/>
          </a:p>
        </p:txBody>
      </p:sp>
      <p:sp>
        <p:nvSpPr>
          <p:cNvPr id="9" name="Shape 7"/>
          <p:cNvSpPr/>
          <p:nvPr/>
        </p:nvSpPr>
        <p:spPr>
          <a:xfrm>
            <a:off x="274320" y="1572768"/>
            <a:ext cx="8595360" cy="566928"/>
          </a:xfrm>
          <a:prstGeom prst="rect">
            <a:avLst/>
          </a:prstGeom>
          <a:solidFill>
            <a:srgbClr val="FFFFFF"/>
          </a:solidFill>
          <a:ln w="3810">
            <a:solidFill>
              <a:srgbClr val="DDDDDD"/>
            </a:solidFill>
            <a:prstDash val="solid"/>
          </a:ln>
        </p:spPr>
        <p:txBody>
          <a:bodyPr/>
          <a:lstStyle/>
          <a:p>
            <a:endParaRPr lang="en-US"/>
          </a:p>
        </p:txBody>
      </p:sp>
      <p:sp>
        <p:nvSpPr>
          <p:cNvPr id="10" name="Text 8"/>
          <p:cNvSpPr/>
          <p:nvPr/>
        </p:nvSpPr>
        <p:spPr>
          <a:xfrm>
            <a:off x="320040" y="1572768"/>
            <a:ext cx="1737360" cy="566928"/>
          </a:xfrm>
          <a:prstGeom prst="rect">
            <a:avLst/>
          </a:prstGeom>
          <a:noFill/>
          <a:ln/>
        </p:spPr>
        <p:txBody>
          <a:bodyPr wrap="square" rtlCol="0" anchor="ctr"/>
          <a:lstStyle/>
          <a:p>
            <a:pPr marL="0" indent="0">
              <a:buNone/>
            </a:pPr>
            <a:r>
              <a:rPr lang="en-US" sz="1100" dirty="0">
                <a:solidFill>
                  <a:srgbClr val="1A2E35"/>
                </a:solidFill>
                <a:latin typeface="Calibri" pitchFamily="34" charset="0"/>
                <a:ea typeface="Calibri" pitchFamily="34" charset="-122"/>
                <a:cs typeface="Calibri" pitchFamily="34" charset="-120"/>
              </a:rPr>
              <a:t>Continuous</a:t>
            </a:r>
            <a:endParaRPr lang="en-US" sz="1100" dirty="0"/>
          </a:p>
        </p:txBody>
      </p:sp>
      <p:sp>
        <p:nvSpPr>
          <p:cNvPr id="11" name="Text 9"/>
          <p:cNvSpPr/>
          <p:nvPr/>
        </p:nvSpPr>
        <p:spPr>
          <a:xfrm>
            <a:off x="2103120" y="1572768"/>
            <a:ext cx="1920240" cy="566928"/>
          </a:xfrm>
          <a:prstGeom prst="rect">
            <a:avLst/>
          </a:prstGeom>
          <a:noFill/>
          <a:ln/>
        </p:spPr>
        <p:txBody>
          <a:bodyPr wrap="square" rtlCol="0" anchor="ctr"/>
          <a:lstStyle/>
          <a:p>
            <a:pPr marL="0" indent="0">
              <a:buNone/>
            </a:pPr>
            <a:r>
              <a:rPr lang="en-US" sz="1100" dirty="0">
                <a:solidFill>
                  <a:srgbClr val="1A2E35"/>
                </a:solidFill>
                <a:latin typeface="Calibri" pitchFamily="34" charset="0"/>
                <a:ea typeface="Calibri" pitchFamily="34" charset="-122"/>
                <a:cs typeface="Calibri" pitchFamily="34" charset="-120"/>
              </a:rPr>
              <a:t>Normal</a:t>
            </a:r>
            <a:endParaRPr lang="en-US" sz="1100" dirty="0"/>
          </a:p>
        </p:txBody>
      </p:sp>
      <p:sp>
        <p:nvSpPr>
          <p:cNvPr id="12" name="Text 10"/>
          <p:cNvSpPr/>
          <p:nvPr/>
        </p:nvSpPr>
        <p:spPr>
          <a:xfrm>
            <a:off x="4069080" y="1572768"/>
            <a:ext cx="2011680" cy="566928"/>
          </a:xfrm>
          <a:prstGeom prst="rect">
            <a:avLst/>
          </a:prstGeom>
          <a:noFill/>
          <a:ln/>
        </p:spPr>
        <p:txBody>
          <a:bodyPr wrap="square" rtlCol="0" anchor="ctr"/>
          <a:lstStyle/>
          <a:p>
            <a:pPr marL="0" indent="0">
              <a:buNone/>
            </a:pPr>
            <a:r>
              <a:rPr lang="en-US" sz="1100" dirty="0">
                <a:solidFill>
                  <a:srgbClr val="1A2E35"/>
                </a:solidFill>
                <a:latin typeface="Calibri" pitchFamily="34" charset="0"/>
                <a:ea typeface="Calibri" pitchFamily="34" charset="-122"/>
                <a:cs typeface="Calibri" pitchFamily="34" charset="-120"/>
              </a:rPr>
              <a:t>Multiple Linear</a:t>
            </a:r>
            <a:endParaRPr lang="en-US" sz="1100" dirty="0"/>
          </a:p>
          <a:p>
            <a:pPr marL="0" indent="0">
              <a:buNone/>
            </a:pPr>
            <a:r>
              <a:rPr lang="en-US" sz="1100" dirty="0">
                <a:solidFill>
                  <a:srgbClr val="1A2E35"/>
                </a:solidFill>
                <a:latin typeface="Calibri" pitchFamily="34" charset="0"/>
                <a:ea typeface="Calibri" pitchFamily="34" charset="-122"/>
                <a:cs typeface="Calibri" pitchFamily="34" charset="-120"/>
              </a:rPr>
              <a:t>Regression</a:t>
            </a:r>
            <a:endParaRPr lang="en-US" sz="1100" dirty="0"/>
          </a:p>
        </p:txBody>
      </p:sp>
      <p:sp>
        <p:nvSpPr>
          <p:cNvPr id="13" name="Text 11"/>
          <p:cNvSpPr/>
          <p:nvPr/>
        </p:nvSpPr>
        <p:spPr>
          <a:xfrm>
            <a:off x="6126480" y="1572768"/>
            <a:ext cx="2743200" cy="566928"/>
          </a:xfrm>
          <a:prstGeom prst="rect">
            <a:avLst/>
          </a:prstGeom>
          <a:noFill/>
          <a:ln/>
        </p:spPr>
        <p:txBody>
          <a:bodyPr wrap="square" rtlCol="0" anchor="ctr"/>
          <a:lstStyle/>
          <a:p>
            <a:pPr marL="0" indent="0">
              <a:buNone/>
            </a:pPr>
            <a:r>
              <a:rPr lang="en-US" sz="1100" dirty="0">
                <a:solidFill>
                  <a:srgbClr val="1A2E35"/>
                </a:solidFill>
                <a:latin typeface="Calibri" pitchFamily="34" charset="0"/>
                <a:ea typeface="Calibri" pitchFamily="34" charset="-122"/>
                <a:cs typeface="Calibri" pitchFamily="34" charset="-120"/>
              </a:rPr>
              <a:t>Predict systolic BP from age, BMI, salt</a:t>
            </a:r>
            <a:endParaRPr lang="en-US" sz="1100" dirty="0"/>
          </a:p>
        </p:txBody>
      </p:sp>
      <p:sp>
        <p:nvSpPr>
          <p:cNvPr id="14" name="Shape 12"/>
          <p:cNvSpPr/>
          <p:nvPr/>
        </p:nvSpPr>
        <p:spPr>
          <a:xfrm>
            <a:off x="274320" y="2157984"/>
            <a:ext cx="8595360" cy="566928"/>
          </a:xfrm>
          <a:prstGeom prst="rect">
            <a:avLst/>
          </a:prstGeom>
          <a:solidFill>
            <a:srgbClr val="E8F4F5"/>
          </a:solidFill>
          <a:ln w="3810">
            <a:solidFill>
              <a:srgbClr val="DDDDDD"/>
            </a:solidFill>
            <a:prstDash val="solid"/>
          </a:ln>
        </p:spPr>
        <p:txBody>
          <a:bodyPr/>
          <a:lstStyle/>
          <a:p>
            <a:endParaRPr lang="en-US"/>
          </a:p>
        </p:txBody>
      </p:sp>
      <p:sp>
        <p:nvSpPr>
          <p:cNvPr id="15" name="Text 13"/>
          <p:cNvSpPr/>
          <p:nvPr/>
        </p:nvSpPr>
        <p:spPr>
          <a:xfrm>
            <a:off x="320040" y="2157984"/>
            <a:ext cx="1737360" cy="566928"/>
          </a:xfrm>
          <a:prstGeom prst="rect">
            <a:avLst/>
          </a:prstGeom>
          <a:noFill/>
          <a:ln/>
        </p:spPr>
        <p:txBody>
          <a:bodyPr wrap="square" rtlCol="0" anchor="ctr"/>
          <a:lstStyle/>
          <a:p>
            <a:pPr marL="0" indent="0">
              <a:buNone/>
            </a:pPr>
            <a:r>
              <a:rPr lang="en-US" sz="1100" dirty="0">
                <a:solidFill>
                  <a:srgbClr val="1A2E35"/>
                </a:solidFill>
                <a:latin typeface="Calibri" pitchFamily="34" charset="0"/>
                <a:ea typeface="Calibri" pitchFamily="34" charset="-122"/>
                <a:cs typeface="Calibri" pitchFamily="34" charset="-120"/>
              </a:rPr>
              <a:t>Binary</a:t>
            </a:r>
            <a:endParaRPr lang="en-US" sz="1100" dirty="0"/>
          </a:p>
          <a:p>
            <a:pPr marL="0" indent="0">
              <a:buNone/>
            </a:pPr>
            <a:r>
              <a:rPr lang="en-US" sz="1100" dirty="0">
                <a:solidFill>
                  <a:srgbClr val="1A2E35"/>
                </a:solidFill>
                <a:latin typeface="Calibri" pitchFamily="34" charset="0"/>
                <a:ea typeface="Calibri" pitchFamily="34" charset="-122"/>
                <a:cs typeface="Calibri" pitchFamily="34" charset="-120"/>
              </a:rPr>
              <a:t>(Yes/No)</a:t>
            </a:r>
            <a:endParaRPr lang="en-US" sz="1100" dirty="0"/>
          </a:p>
        </p:txBody>
      </p:sp>
      <p:sp>
        <p:nvSpPr>
          <p:cNvPr id="16" name="Text 14"/>
          <p:cNvSpPr/>
          <p:nvPr/>
        </p:nvSpPr>
        <p:spPr>
          <a:xfrm>
            <a:off x="2103120" y="2157984"/>
            <a:ext cx="1920240" cy="566928"/>
          </a:xfrm>
          <a:prstGeom prst="rect">
            <a:avLst/>
          </a:prstGeom>
          <a:noFill/>
          <a:ln/>
        </p:spPr>
        <p:txBody>
          <a:bodyPr wrap="square" rtlCol="0" anchor="ctr"/>
          <a:lstStyle/>
          <a:p>
            <a:pPr marL="0" indent="0">
              <a:buNone/>
            </a:pPr>
            <a:r>
              <a:rPr lang="en-US" sz="1100" dirty="0">
                <a:solidFill>
                  <a:srgbClr val="1A2E35"/>
                </a:solidFill>
                <a:latin typeface="Calibri" pitchFamily="34" charset="0"/>
                <a:ea typeface="Calibri" pitchFamily="34" charset="-122"/>
                <a:cs typeface="Calibri" pitchFamily="34" charset="-120"/>
              </a:rPr>
              <a:t>Binomial</a:t>
            </a:r>
            <a:endParaRPr lang="en-US" sz="1100" dirty="0"/>
          </a:p>
        </p:txBody>
      </p:sp>
      <p:sp>
        <p:nvSpPr>
          <p:cNvPr id="17" name="Text 15"/>
          <p:cNvSpPr/>
          <p:nvPr/>
        </p:nvSpPr>
        <p:spPr>
          <a:xfrm>
            <a:off x="4069080" y="2157984"/>
            <a:ext cx="2011680" cy="566928"/>
          </a:xfrm>
          <a:prstGeom prst="rect">
            <a:avLst/>
          </a:prstGeom>
          <a:noFill/>
          <a:ln/>
        </p:spPr>
        <p:txBody>
          <a:bodyPr wrap="square" rtlCol="0" anchor="ctr"/>
          <a:lstStyle/>
          <a:p>
            <a:pPr marL="0" indent="0">
              <a:buNone/>
            </a:pPr>
            <a:r>
              <a:rPr lang="en-US" sz="1100" dirty="0">
                <a:solidFill>
                  <a:srgbClr val="1A2E35"/>
                </a:solidFill>
                <a:latin typeface="Calibri" pitchFamily="34" charset="0"/>
                <a:ea typeface="Calibri" pitchFamily="34" charset="-122"/>
                <a:cs typeface="Calibri" pitchFamily="34" charset="-120"/>
              </a:rPr>
              <a:t>Logistic Regression</a:t>
            </a:r>
            <a:endParaRPr lang="en-US" sz="1100" dirty="0"/>
          </a:p>
        </p:txBody>
      </p:sp>
      <p:sp>
        <p:nvSpPr>
          <p:cNvPr id="18" name="Text 16"/>
          <p:cNvSpPr/>
          <p:nvPr/>
        </p:nvSpPr>
        <p:spPr>
          <a:xfrm>
            <a:off x="6126480" y="2157984"/>
            <a:ext cx="2743200" cy="566928"/>
          </a:xfrm>
          <a:prstGeom prst="rect">
            <a:avLst/>
          </a:prstGeom>
          <a:noFill/>
          <a:ln/>
        </p:spPr>
        <p:txBody>
          <a:bodyPr wrap="square" rtlCol="0" anchor="ctr"/>
          <a:lstStyle/>
          <a:p>
            <a:pPr marL="0" indent="0">
              <a:buNone/>
            </a:pPr>
            <a:r>
              <a:rPr lang="en-US" sz="1100" dirty="0">
                <a:solidFill>
                  <a:srgbClr val="1A2E35"/>
                </a:solidFill>
                <a:latin typeface="Calibri" pitchFamily="34" charset="0"/>
                <a:ea typeface="Calibri" pitchFamily="34" charset="-122"/>
                <a:cs typeface="Calibri" pitchFamily="34" charset="-120"/>
              </a:rPr>
              <a:t>Odds of having diabetes given risk factors</a:t>
            </a:r>
            <a:endParaRPr lang="en-US" sz="1100" dirty="0"/>
          </a:p>
        </p:txBody>
      </p:sp>
      <p:sp>
        <p:nvSpPr>
          <p:cNvPr id="19" name="Shape 17"/>
          <p:cNvSpPr/>
          <p:nvPr/>
        </p:nvSpPr>
        <p:spPr>
          <a:xfrm>
            <a:off x="274320" y="2743200"/>
            <a:ext cx="8595360" cy="566928"/>
          </a:xfrm>
          <a:prstGeom prst="rect">
            <a:avLst/>
          </a:prstGeom>
          <a:solidFill>
            <a:srgbClr val="FFFFFF"/>
          </a:solidFill>
          <a:ln w="3810">
            <a:solidFill>
              <a:srgbClr val="DDDDDD"/>
            </a:solidFill>
            <a:prstDash val="solid"/>
          </a:ln>
        </p:spPr>
        <p:txBody>
          <a:bodyPr/>
          <a:lstStyle/>
          <a:p>
            <a:endParaRPr lang="en-US"/>
          </a:p>
        </p:txBody>
      </p:sp>
      <p:sp>
        <p:nvSpPr>
          <p:cNvPr id="20" name="Text 18"/>
          <p:cNvSpPr/>
          <p:nvPr/>
        </p:nvSpPr>
        <p:spPr>
          <a:xfrm>
            <a:off x="320040" y="2743200"/>
            <a:ext cx="1737360" cy="566928"/>
          </a:xfrm>
          <a:prstGeom prst="rect">
            <a:avLst/>
          </a:prstGeom>
          <a:noFill/>
          <a:ln/>
        </p:spPr>
        <p:txBody>
          <a:bodyPr wrap="square" rtlCol="0" anchor="ctr"/>
          <a:lstStyle/>
          <a:p>
            <a:pPr marL="0" indent="0">
              <a:buNone/>
            </a:pPr>
            <a:r>
              <a:rPr lang="en-US" sz="1100" dirty="0">
                <a:solidFill>
                  <a:srgbClr val="1A2E35"/>
                </a:solidFill>
                <a:latin typeface="Calibri" pitchFamily="34" charset="0"/>
                <a:ea typeface="Calibri" pitchFamily="34" charset="-122"/>
                <a:cs typeface="Calibri" pitchFamily="34" charset="-120"/>
              </a:rPr>
              <a:t>Count data</a:t>
            </a:r>
            <a:endParaRPr lang="en-US" sz="1100" dirty="0"/>
          </a:p>
        </p:txBody>
      </p:sp>
      <p:sp>
        <p:nvSpPr>
          <p:cNvPr id="21" name="Text 19"/>
          <p:cNvSpPr/>
          <p:nvPr/>
        </p:nvSpPr>
        <p:spPr>
          <a:xfrm>
            <a:off x="2103120" y="2743200"/>
            <a:ext cx="1920240" cy="566928"/>
          </a:xfrm>
          <a:prstGeom prst="rect">
            <a:avLst/>
          </a:prstGeom>
          <a:noFill/>
          <a:ln/>
        </p:spPr>
        <p:txBody>
          <a:bodyPr wrap="square" rtlCol="0" anchor="ctr"/>
          <a:lstStyle/>
          <a:p>
            <a:pPr marL="0" indent="0">
              <a:buNone/>
            </a:pPr>
            <a:r>
              <a:rPr lang="en-US" sz="1100" dirty="0">
                <a:solidFill>
                  <a:srgbClr val="1A2E35"/>
                </a:solidFill>
                <a:latin typeface="Calibri" pitchFamily="34" charset="0"/>
                <a:ea typeface="Calibri" pitchFamily="34" charset="-122"/>
                <a:cs typeface="Calibri" pitchFamily="34" charset="-120"/>
              </a:rPr>
              <a:t>Poisson</a:t>
            </a:r>
            <a:endParaRPr lang="en-US" sz="1100" dirty="0"/>
          </a:p>
        </p:txBody>
      </p:sp>
      <p:sp>
        <p:nvSpPr>
          <p:cNvPr id="22" name="Text 20"/>
          <p:cNvSpPr/>
          <p:nvPr/>
        </p:nvSpPr>
        <p:spPr>
          <a:xfrm>
            <a:off x="4069080" y="2743200"/>
            <a:ext cx="2011680" cy="566928"/>
          </a:xfrm>
          <a:prstGeom prst="rect">
            <a:avLst/>
          </a:prstGeom>
          <a:noFill/>
          <a:ln/>
        </p:spPr>
        <p:txBody>
          <a:bodyPr wrap="square" rtlCol="0" anchor="ctr"/>
          <a:lstStyle/>
          <a:p>
            <a:pPr marL="0" indent="0">
              <a:buNone/>
            </a:pPr>
            <a:r>
              <a:rPr lang="en-US" sz="1100" dirty="0">
                <a:solidFill>
                  <a:srgbClr val="1A2E35"/>
                </a:solidFill>
                <a:latin typeface="Calibri" pitchFamily="34" charset="0"/>
                <a:ea typeface="Calibri" pitchFamily="34" charset="-122"/>
                <a:cs typeface="Calibri" pitchFamily="34" charset="-120"/>
              </a:rPr>
              <a:t>Poisson Regression</a:t>
            </a:r>
            <a:endParaRPr lang="en-US" sz="1100" dirty="0"/>
          </a:p>
        </p:txBody>
      </p:sp>
      <p:sp>
        <p:nvSpPr>
          <p:cNvPr id="23" name="Text 21"/>
          <p:cNvSpPr/>
          <p:nvPr/>
        </p:nvSpPr>
        <p:spPr>
          <a:xfrm>
            <a:off x="6126480" y="2743200"/>
            <a:ext cx="2743200" cy="566928"/>
          </a:xfrm>
          <a:prstGeom prst="rect">
            <a:avLst/>
          </a:prstGeom>
          <a:noFill/>
          <a:ln/>
        </p:spPr>
        <p:txBody>
          <a:bodyPr wrap="square" rtlCol="0" anchor="ctr"/>
          <a:lstStyle/>
          <a:p>
            <a:pPr marL="0" indent="0">
              <a:buNone/>
            </a:pPr>
            <a:r>
              <a:rPr lang="en-US" sz="1100" dirty="0">
                <a:solidFill>
                  <a:srgbClr val="1A2E35"/>
                </a:solidFill>
                <a:latin typeface="Calibri" pitchFamily="34" charset="0"/>
                <a:ea typeface="Calibri" pitchFamily="34" charset="-122"/>
                <a:cs typeface="Calibri" pitchFamily="34" charset="-120"/>
              </a:rPr>
              <a:t>Number of asthma ER visits per year</a:t>
            </a:r>
            <a:endParaRPr lang="en-US" sz="1100" dirty="0"/>
          </a:p>
        </p:txBody>
      </p:sp>
      <p:sp>
        <p:nvSpPr>
          <p:cNvPr id="24" name="Shape 22"/>
          <p:cNvSpPr/>
          <p:nvPr/>
        </p:nvSpPr>
        <p:spPr>
          <a:xfrm>
            <a:off x="274320" y="3328416"/>
            <a:ext cx="8595360" cy="566928"/>
          </a:xfrm>
          <a:prstGeom prst="rect">
            <a:avLst/>
          </a:prstGeom>
          <a:solidFill>
            <a:srgbClr val="E8F4F5"/>
          </a:solidFill>
          <a:ln w="3810">
            <a:solidFill>
              <a:srgbClr val="DDDDDD"/>
            </a:solidFill>
            <a:prstDash val="solid"/>
          </a:ln>
        </p:spPr>
        <p:txBody>
          <a:bodyPr/>
          <a:lstStyle/>
          <a:p>
            <a:endParaRPr lang="en-US"/>
          </a:p>
        </p:txBody>
      </p:sp>
      <p:sp>
        <p:nvSpPr>
          <p:cNvPr id="25" name="Text 23"/>
          <p:cNvSpPr/>
          <p:nvPr/>
        </p:nvSpPr>
        <p:spPr>
          <a:xfrm>
            <a:off x="320040" y="3328416"/>
            <a:ext cx="1737360" cy="566928"/>
          </a:xfrm>
          <a:prstGeom prst="rect">
            <a:avLst/>
          </a:prstGeom>
          <a:noFill/>
          <a:ln/>
        </p:spPr>
        <p:txBody>
          <a:bodyPr wrap="square" rtlCol="0" anchor="ctr"/>
          <a:lstStyle/>
          <a:p>
            <a:pPr marL="0" indent="0">
              <a:buNone/>
            </a:pPr>
            <a:r>
              <a:rPr lang="en-US" sz="1100" dirty="0">
                <a:solidFill>
                  <a:srgbClr val="1A2E35"/>
                </a:solidFill>
                <a:latin typeface="Calibri" pitchFamily="34" charset="0"/>
                <a:ea typeface="Calibri" pitchFamily="34" charset="-122"/>
                <a:cs typeface="Calibri" pitchFamily="34" charset="-120"/>
              </a:rPr>
              <a:t>Time-to-event</a:t>
            </a:r>
            <a:endParaRPr lang="en-US" sz="1100" dirty="0"/>
          </a:p>
        </p:txBody>
      </p:sp>
      <p:sp>
        <p:nvSpPr>
          <p:cNvPr id="26" name="Text 24"/>
          <p:cNvSpPr/>
          <p:nvPr/>
        </p:nvSpPr>
        <p:spPr>
          <a:xfrm>
            <a:off x="2103120" y="3328416"/>
            <a:ext cx="1920240" cy="566928"/>
          </a:xfrm>
          <a:prstGeom prst="rect">
            <a:avLst/>
          </a:prstGeom>
          <a:noFill/>
          <a:ln/>
        </p:spPr>
        <p:txBody>
          <a:bodyPr wrap="square" rtlCol="0" anchor="ctr"/>
          <a:lstStyle/>
          <a:p>
            <a:pPr marL="0" indent="0">
              <a:buNone/>
            </a:pPr>
            <a:r>
              <a:rPr lang="en-US" sz="1100" dirty="0">
                <a:solidFill>
                  <a:srgbClr val="1A2E35"/>
                </a:solidFill>
                <a:latin typeface="Calibri" pitchFamily="34" charset="0"/>
                <a:ea typeface="Calibri" pitchFamily="34" charset="-122"/>
                <a:cs typeface="Calibri" pitchFamily="34" charset="-120"/>
              </a:rPr>
              <a:t>Survival</a:t>
            </a:r>
            <a:endParaRPr lang="en-US" sz="1100" dirty="0"/>
          </a:p>
        </p:txBody>
      </p:sp>
      <p:sp>
        <p:nvSpPr>
          <p:cNvPr id="27" name="Text 25"/>
          <p:cNvSpPr/>
          <p:nvPr/>
        </p:nvSpPr>
        <p:spPr>
          <a:xfrm>
            <a:off x="4069080" y="3328416"/>
            <a:ext cx="2011680" cy="566928"/>
          </a:xfrm>
          <a:prstGeom prst="rect">
            <a:avLst/>
          </a:prstGeom>
          <a:noFill/>
          <a:ln/>
        </p:spPr>
        <p:txBody>
          <a:bodyPr wrap="square" rtlCol="0" anchor="ctr"/>
          <a:lstStyle/>
          <a:p>
            <a:pPr marL="0" indent="0">
              <a:buNone/>
            </a:pPr>
            <a:r>
              <a:rPr lang="en-US" sz="1100" dirty="0">
                <a:solidFill>
                  <a:srgbClr val="1A2E35"/>
                </a:solidFill>
                <a:latin typeface="Calibri" pitchFamily="34" charset="0"/>
                <a:ea typeface="Calibri" pitchFamily="34" charset="-122"/>
                <a:cs typeface="Calibri" pitchFamily="34" charset="-120"/>
              </a:rPr>
              <a:t>Cox Proportional</a:t>
            </a:r>
            <a:endParaRPr lang="en-US" sz="1100" dirty="0"/>
          </a:p>
          <a:p>
            <a:pPr marL="0" indent="0">
              <a:buNone/>
            </a:pPr>
            <a:r>
              <a:rPr lang="en-US" sz="1100" dirty="0">
                <a:solidFill>
                  <a:srgbClr val="1A2E35"/>
                </a:solidFill>
                <a:latin typeface="Calibri" pitchFamily="34" charset="0"/>
                <a:ea typeface="Calibri" pitchFamily="34" charset="-122"/>
                <a:cs typeface="Calibri" pitchFamily="34" charset="-120"/>
              </a:rPr>
              <a:t>Hazards</a:t>
            </a:r>
            <a:endParaRPr lang="en-US" sz="1100" dirty="0"/>
          </a:p>
        </p:txBody>
      </p:sp>
      <p:sp>
        <p:nvSpPr>
          <p:cNvPr id="28" name="Text 26"/>
          <p:cNvSpPr/>
          <p:nvPr/>
        </p:nvSpPr>
        <p:spPr>
          <a:xfrm>
            <a:off x="6126480" y="3328416"/>
            <a:ext cx="2743200" cy="566928"/>
          </a:xfrm>
          <a:prstGeom prst="rect">
            <a:avLst/>
          </a:prstGeom>
          <a:noFill/>
          <a:ln/>
        </p:spPr>
        <p:txBody>
          <a:bodyPr wrap="square" rtlCol="0" anchor="ctr"/>
          <a:lstStyle/>
          <a:p>
            <a:pPr marL="0" indent="0">
              <a:buNone/>
            </a:pPr>
            <a:r>
              <a:rPr lang="en-US" sz="1100" dirty="0">
                <a:solidFill>
                  <a:srgbClr val="1A2E35"/>
                </a:solidFill>
                <a:latin typeface="Calibri" pitchFamily="34" charset="0"/>
                <a:ea typeface="Calibri" pitchFamily="34" charset="-122"/>
                <a:cs typeface="Calibri" pitchFamily="34" charset="-120"/>
              </a:rPr>
              <a:t>Time to death or disease remission</a:t>
            </a:r>
            <a:endParaRPr lang="en-US" sz="1100" dirty="0"/>
          </a:p>
        </p:txBody>
      </p:sp>
      <p:sp>
        <p:nvSpPr>
          <p:cNvPr id="29" name="Shape 27"/>
          <p:cNvSpPr/>
          <p:nvPr/>
        </p:nvSpPr>
        <p:spPr>
          <a:xfrm>
            <a:off x="274320" y="3913632"/>
            <a:ext cx="8595360" cy="566928"/>
          </a:xfrm>
          <a:prstGeom prst="rect">
            <a:avLst/>
          </a:prstGeom>
          <a:solidFill>
            <a:srgbClr val="FFFFFF"/>
          </a:solidFill>
          <a:ln w="3810">
            <a:solidFill>
              <a:srgbClr val="DDDDDD"/>
            </a:solidFill>
            <a:prstDash val="solid"/>
          </a:ln>
        </p:spPr>
        <p:txBody>
          <a:bodyPr/>
          <a:lstStyle/>
          <a:p>
            <a:endParaRPr lang="en-US"/>
          </a:p>
        </p:txBody>
      </p:sp>
      <p:sp>
        <p:nvSpPr>
          <p:cNvPr id="30" name="Text 28"/>
          <p:cNvSpPr/>
          <p:nvPr/>
        </p:nvSpPr>
        <p:spPr>
          <a:xfrm>
            <a:off x="320040" y="3913632"/>
            <a:ext cx="1737360" cy="566928"/>
          </a:xfrm>
          <a:prstGeom prst="rect">
            <a:avLst/>
          </a:prstGeom>
          <a:noFill/>
          <a:ln/>
        </p:spPr>
        <p:txBody>
          <a:bodyPr wrap="square" rtlCol="0" anchor="ctr"/>
          <a:lstStyle/>
          <a:p>
            <a:pPr marL="0" indent="0">
              <a:buNone/>
            </a:pPr>
            <a:r>
              <a:rPr lang="en-US" sz="1100" dirty="0">
                <a:solidFill>
                  <a:srgbClr val="1A2E35"/>
                </a:solidFill>
                <a:latin typeface="Calibri" pitchFamily="34" charset="0"/>
                <a:ea typeface="Calibri" pitchFamily="34" charset="-122"/>
                <a:cs typeface="Calibri" pitchFamily="34" charset="-120"/>
              </a:rPr>
              <a:t>Ordinal</a:t>
            </a:r>
            <a:endParaRPr lang="en-US" sz="1100" dirty="0"/>
          </a:p>
          <a:p>
            <a:pPr marL="0" indent="0">
              <a:buNone/>
            </a:pPr>
            <a:r>
              <a:rPr lang="en-US" sz="1100" dirty="0">
                <a:solidFill>
                  <a:srgbClr val="1A2E35"/>
                </a:solidFill>
                <a:latin typeface="Calibri" pitchFamily="34" charset="0"/>
                <a:ea typeface="Calibri" pitchFamily="34" charset="-122"/>
                <a:cs typeface="Calibri" pitchFamily="34" charset="-120"/>
              </a:rPr>
              <a:t>categories</a:t>
            </a:r>
            <a:endParaRPr lang="en-US" sz="1100" dirty="0"/>
          </a:p>
        </p:txBody>
      </p:sp>
      <p:sp>
        <p:nvSpPr>
          <p:cNvPr id="31" name="Text 29"/>
          <p:cNvSpPr/>
          <p:nvPr/>
        </p:nvSpPr>
        <p:spPr>
          <a:xfrm>
            <a:off x="2103120" y="3913632"/>
            <a:ext cx="1920240" cy="566928"/>
          </a:xfrm>
          <a:prstGeom prst="rect">
            <a:avLst/>
          </a:prstGeom>
          <a:noFill/>
          <a:ln/>
        </p:spPr>
        <p:txBody>
          <a:bodyPr wrap="square" rtlCol="0" anchor="ctr"/>
          <a:lstStyle/>
          <a:p>
            <a:pPr marL="0" indent="0">
              <a:buNone/>
            </a:pPr>
            <a:r>
              <a:rPr lang="en-US" sz="1100" dirty="0">
                <a:solidFill>
                  <a:srgbClr val="1A2E35"/>
                </a:solidFill>
                <a:latin typeface="Calibri" pitchFamily="34" charset="0"/>
                <a:ea typeface="Calibri" pitchFamily="34" charset="-122"/>
                <a:cs typeface="Calibri" pitchFamily="34" charset="-120"/>
              </a:rPr>
              <a:t>Ordinal</a:t>
            </a:r>
            <a:endParaRPr lang="en-US" sz="1100" dirty="0"/>
          </a:p>
        </p:txBody>
      </p:sp>
      <p:sp>
        <p:nvSpPr>
          <p:cNvPr id="32" name="Text 30"/>
          <p:cNvSpPr/>
          <p:nvPr/>
        </p:nvSpPr>
        <p:spPr>
          <a:xfrm>
            <a:off x="4069080" y="3913632"/>
            <a:ext cx="2011680" cy="566928"/>
          </a:xfrm>
          <a:prstGeom prst="rect">
            <a:avLst/>
          </a:prstGeom>
          <a:noFill/>
          <a:ln/>
        </p:spPr>
        <p:txBody>
          <a:bodyPr wrap="square" rtlCol="0" anchor="ctr"/>
          <a:lstStyle/>
          <a:p>
            <a:pPr marL="0" indent="0">
              <a:buNone/>
            </a:pPr>
            <a:r>
              <a:rPr lang="en-US" sz="1100" dirty="0">
                <a:solidFill>
                  <a:srgbClr val="1A2E35"/>
                </a:solidFill>
                <a:latin typeface="Calibri" pitchFamily="34" charset="0"/>
                <a:ea typeface="Calibri" pitchFamily="34" charset="-122"/>
                <a:cs typeface="Calibri" pitchFamily="34" charset="-120"/>
              </a:rPr>
              <a:t>Ordinal Logistic</a:t>
            </a:r>
            <a:endParaRPr lang="en-US" sz="1100" dirty="0"/>
          </a:p>
          <a:p>
            <a:pPr marL="0" indent="0">
              <a:buNone/>
            </a:pPr>
            <a:r>
              <a:rPr lang="en-US" sz="1100" dirty="0">
                <a:solidFill>
                  <a:srgbClr val="1A2E35"/>
                </a:solidFill>
                <a:latin typeface="Calibri" pitchFamily="34" charset="0"/>
                <a:ea typeface="Calibri" pitchFamily="34" charset="-122"/>
                <a:cs typeface="Calibri" pitchFamily="34" charset="-120"/>
              </a:rPr>
              <a:t>Regression</a:t>
            </a:r>
            <a:endParaRPr lang="en-US" sz="1100" dirty="0"/>
          </a:p>
        </p:txBody>
      </p:sp>
      <p:sp>
        <p:nvSpPr>
          <p:cNvPr id="33" name="Text 31"/>
          <p:cNvSpPr/>
          <p:nvPr/>
        </p:nvSpPr>
        <p:spPr>
          <a:xfrm>
            <a:off x="6126480" y="3913632"/>
            <a:ext cx="2743200" cy="566928"/>
          </a:xfrm>
          <a:prstGeom prst="rect">
            <a:avLst/>
          </a:prstGeom>
          <a:noFill/>
          <a:ln/>
        </p:spPr>
        <p:txBody>
          <a:bodyPr wrap="square" rtlCol="0" anchor="ctr"/>
          <a:lstStyle/>
          <a:p>
            <a:pPr marL="0" indent="0">
              <a:buNone/>
            </a:pPr>
            <a:r>
              <a:rPr lang="en-US" sz="1100" dirty="0">
                <a:solidFill>
                  <a:srgbClr val="1A2E35"/>
                </a:solidFill>
                <a:latin typeface="Calibri" pitchFamily="34" charset="0"/>
                <a:ea typeface="Calibri" pitchFamily="34" charset="-122"/>
                <a:cs typeface="Calibri" pitchFamily="34" charset="-120"/>
              </a:rPr>
              <a:t>Disease severity: mild/moderate/severe</a:t>
            </a:r>
            <a:endParaRPr lang="en-US" sz="1100" dirty="0"/>
          </a:p>
        </p:txBody>
      </p:sp>
      <p:sp>
        <p:nvSpPr>
          <p:cNvPr id="34" name="Shape 32"/>
          <p:cNvSpPr/>
          <p:nvPr/>
        </p:nvSpPr>
        <p:spPr>
          <a:xfrm>
            <a:off x="274320" y="4498848"/>
            <a:ext cx="8595360" cy="566928"/>
          </a:xfrm>
          <a:prstGeom prst="rect">
            <a:avLst/>
          </a:prstGeom>
          <a:solidFill>
            <a:srgbClr val="E8F4F5"/>
          </a:solidFill>
          <a:ln w="3810">
            <a:solidFill>
              <a:srgbClr val="DDDDDD"/>
            </a:solidFill>
            <a:prstDash val="solid"/>
          </a:ln>
        </p:spPr>
        <p:txBody>
          <a:bodyPr/>
          <a:lstStyle/>
          <a:p>
            <a:endParaRPr lang="en-US"/>
          </a:p>
        </p:txBody>
      </p:sp>
      <p:sp>
        <p:nvSpPr>
          <p:cNvPr id="35" name="Text 33"/>
          <p:cNvSpPr/>
          <p:nvPr/>
        </p:nvSpPr>
        <p:spPr>
          <a:xfrm>
            <a:off x="320040" y="4498848"/>
            <a:ext cx="1737360" cy="566928"/>
          </a:xfrm>
          <a:prstGeom prst="rect">
            <a:avLst/>
          </a:prstGeom>
          <a:noFill/>
          <a:ln/>
        </p:spPr>
        <p:txBody>
          <a:bodyPr wrap="square" rtlCol="0" anchor="ctr"/>
          <a:lstStyle/>
          <a:p>
            <a:pPr marL="0" indent="0">
              <a:buNone/>
            </a:pPr>
            <a:r>
              <a:rPr lang="en-US" sz="1100" dirty="0">
                <a:solidFill>
                  <a:srgbClr val="1A2E35"/>
                </a:solidFill>
                <a:latin typeface="Calibri" pitchFamily="34" charset="0"/>
                <a:ea typeface="Calibri" pitchFamily="34" charset="-122"/>
                <a:cs typeface="Calibri" pitchFamily="34" charset="-120"/>
              </a:rPr>
              <a:t>Nominal</a:t>
            </a:r>
            <a:endParaRPr lang="en-US" sz="1100" dirty="0"/>
          </a:p>
          <a:p>
            <a:pPr marL="0" indent="0">
              <a:buNone/>
            </a:pPr>
            <a:r>
              <a:rPr lang="en-US" sz="1100" dirty="0">
                <a:solidFill>
                  <a:srgbClr val="1A2E35"/>
                </a:solidFill>
                <a:latin typeface="Calibri" pitchFamily="34" charset="0"/>
                <a:ea typeface="Calibri" pitchFamily="34" charset="-122"/>
                <a:cs typeface="Calibri" pitchFamily="34" charset="-120"/>
              </a:rPr>
              <a:t>categories</a:t>
            </a:r>
            <a:endParaRPr lang="en-US" sz="1100" dirty="0"/>
          </a:p>
        </p:txBody>
      </p:sp>
      <p:sp>
        <p:nvSpPr>
          <p:cNvPr id="36" name="Text 34"/>
          <p:cNvSpPr/>
          <p:nvPr/>
        </p:nvSpPr>
        <p:spPr>
          <a:xfrm>
            <a:off x="2103120" y="4498848"/>
            <a:ext cx="1920240" cy="566928"/>
          </a:xfrm>
          <a:prstGeom prst="rect">
            <a:avLst/>
          </a:prstGeom>
          <a:noFill/>
          <a:ln/>
        </p:spPr>
        <p:txBody>
          <a:bodyPr wrap="square" rtlCol="0" anchor="ctr"/>
          <a:lstStyle/>
          <a:p>
            <a:pPr marL="0" indent="0">
              <a:buNone/>
            </a:pPr>
            <a:r>
              <a:rPr lang="en-US" sz="1100" dirty="0">
                <a:solidFill>
                  <a:srgbClr val="1A2E35"/>
                </a:solidFill>
                <a:latin typeface="Calibri" pitchFamily="34" charset="0"/>
                <a:ea typeface="Calibri" pitchFamily="34" charset="-122"/>
                <a:cs typeface="Calibri" pitchFamily="34" charset="-120"/>
              </a:rPr>
              <a:t>Multinomial</a:t>
            </a:r>
            <a:endParaRPr lang="en-US" sz="1100" dirty="0"/>
          </a:p>
        </p:txBody>
      </p:sp>
      <p:sp>
        <p:nvSpPr>
          <p:cNvPr id="37" name="Text 35"/>
          <p:cNvSpPr/>
          <p:nvPr/>
        </p:nvSpPr>
        <p:spPr>
          <a:xfrm>
            <a:off x="4069080" y="4498848"/>
            <a:ext cx="2011680" cy="566928"/>
          </a:xfrm>
          <a:prstGeom prst="rect">
            <a:avLst/>
          </a:prstGeom>
          <a:noFill/>
          <a:ln/>
        </p:spPr>
        <p:txBody>
          <a:bodyPr wrap="square" rtlCol="0" anchor="ctr"/>
          <a:lstStyle/>
          <a:p>
            <a:pPr marL="0" indent="0">
              <a:buNone/>
            </a:pPr>
            <a:r>
              <a:rPr lang="en-US" sz="1100" dirty="0">
                <a:solidFill>
                  <a:srgbClr val="1A2E35"/>
                </a:solidFill>
                <a:latin typeface="Calibri" pitchFamily="34" charset="0"/>
                <a:ea typeface="Calibri" pitchFamily="34" charset="-122"/>
                <a:cs typeface="Calibri" pitchFamily="34" charset="-120"/>
              </a:rPr>
              <a:t>Multinomial Logistic</a:t>
            </a:r>
            <a:endParaRPr lang="en-US" sz="1100" dirty="0"/>
          </a:p>
          <a:p>
            <a:pPr marL="0" indent="0">
              <a:buNone/>
            </a:pPr>
            <a:r>
              <a:rPr lang="en-US" sz="1100" dirty="0">
                <a:solidFill>
                  <a:srgbClr val="1A2E35"/>
                </a:solidFill>
                <a:latin typeface="Calibri" pitchFamily="34" charset="0"/>
                <a:ea typeface="Calibri" pitchFamily="34" charset="-122"/>
                <a:cs typeface="Calibri" pitchFamily="34" charset="-120"/>
              </a:rPr>
              <a:t>Regression</a:t>
            </a:r>
            <a:endParaRPr lang="en-US" sz="1100" dirty="0"/>
          </a:p>
        </p:txBody>
      </p:sp>
      <p:sp>
        <p:nvSpPr>
          <p:cNvPr id="38" name="Text 36"/>
          <p:cNvSpPr/>
          <p:nvPr/>
        </p:nvSpPr>
        <p:spPr>
          <a:xfrm>
            <a:off x="6126480" y="4498848"/>
            <a:ext cx="2743200" cy="566928"/>
          </a:xfrm>
          <a:prstGeom prst="rect">
            <a:avLst/>
          </a:prstGeom>
          <a:noFill/>
          <a:ln/>
        </p:spPr>
        <p:txBody>
          <a:bodyPr wrap="square" rtlCol="0" anchor="ctr"/>
          <a:lstStyle/>
          <a:p>
            <a:pPr marL="0" indent="0">
              <a:buNone/>
            </a:pPr>
            <a:r>
              <a:rPr lang="en-US" sz="1100" dirty="0">
                <a:solidFill>
                  <a:srgbClr val="1A2E35"/>
                </a:solidFill>
                <a:latin typeface="Calibri" pitchFamily="34" charset="0"/>
                <a:ea typeface="Calibri" pitchFamily="34" charset="-122"/>
                <a:cs typeface="Calibri" pitchFamily="34" charset="-120"/>
              </a:rPr>
              <a:t>Type of healthcare utilization</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C0A6B-0E14-9CAE-04F4-FDCFFF4EEAA0}"/>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7F8B59D6-EC4B-8753-57A7-FEA7A9926821}"/>
              </a:ext>
            </a:extLst>
          </p:cNvPr>
          <p:cNvSpPr/>
          <p:nvPr/>
        </p:nvSpPr>
        <p:spPr>
          <a:xfrm>
            <a:off x="0" y="0"/>
            <a:ext cx="9144000" cy="73152"/>
          </a:xfrm>
          <a:prstGeom prst="rect">
            <a:avLst/>
          </a:prstGeom>
          <a:solidFill>
            <a:srgbClr val="E8A838"/>
          </a:solidFill>
          <a:ln w="12700">
            <a:solidFill>
              <a:srgbClr val="E8A838"/>
            </a:solidFill>
            <a:prstDash val="solid"/>
          </a:ln>
        </p:spPr>
        <p:txBody>
          <a:bodyPr/>
          <a:lstStyle/>
          <a:p>
            <a:endParaRPr lang="en-US"/>
          </a:p>
        </p:txBody>
      </p:sp>
      <p:sp>
        <p:nvSpPr>
          <p:cNvPr id="3" name="Text 1">
            <a:extLst>
              <a:ext uri="{FF2B5EF4-FFF2-40B4-BE49-F238E27FC236}">
                <a16:creationId xmlns:a16="http://schemas.microsoft.com/office/drawing/2014/main" id="{3FDB503F-2C6D-CF1E-2E1E-EBA86468D250}"/>
              </a:ext>
            </a:extLst>
          </p:cNvPr>
          <p:cNvSpPr/>
          <p:nvPr/>
        </p:nvSpPr>
        <p:spPr>
          <a:xfrm>
            <a:off x="411480" y="164592"/>
            <a:ext cx="8321040" cy="640080"/>
          </a:xfrm>
          <a:prstGeom prst="rect">
            <a:avLst/>
          </a:prstGeom>
          <a:noFill/>
          <a:ln/>
        </p:spPr>
        <p:txBody>
          <a:bodyPr wrap="square" lIns="0" tIns="0" rIns="0" bIns="0" rtlCol="0" anchor="ctr"/>
          <a:lstStyle/>
          <a:p>
            <a:pPr marL="0" indent="0">
              <a:buNone/>
            </a:pPr>
            <a:r>
              <a:rPr lang="en-US" sz="2800" b="1" dirty="0">
                <a:solidFill>
                  <a:srgbClr val="065A82"/>
                </a:solidFill>
                <a:latin typeface="Cambria" pitchFamily="34" charset="0"/>
                <a:ea typeface="Cambria" pitchFamily="34" charset="-122"/>
                <a:cs typeface="Cambria" pitchFamily="34" charset="-120"/>
              </a:rPr>
              <a:t>Types of Multiple Regression</a:t>
            </a:r>
            <a:endParaRPr lang="en-US" sz="2800" dirty="0"/>
          </a:p>
        </p:txBody>
      </p:sp>
      <p:sp>
        <p:nvSpPr>
          <p:cNvPr id="4" name="Shape 2">
            <a:extLst>
              <a:ext uri="{FF2B5EF4-FFF2-40B4-BE49-F238E27FC236}">
                <a16:creationId xmlns:a16="http://schemas.microsoft.com/office/drawing/2014/main" id="{A05D68F0-459B-B078-F406-27C754DC355F}"/>
              </a:ext>
            </a:extLst>
          </p:cNvPr>
          <p:cNvSpPr/>
          <p:nvPr/>
        </p:nvSpPr>
        <p:spPr>
          <a:xfrm>
            <a:off x="411480" y="960120"/>
            <a:ext cx="4069080" cy="1252728"/>
          </a:xfrm>
          <a:prstGeom prst="rect">
            <a:avLst/>
          </a:prstGeom>
          <a:solidFill>
            <a:srgbClr val="FFFFFF"/>
          </a:solidFill>
          <a:ln w="12700">
            <a:solidFill>
              <a:srgbClr val="D6E4EC"/>
            </a:solidFill>
            <a:prstDash val="solid"/>
          </a:ln>
          <a:effectLst>
            <a:outerShdw blurRad="76200" dist="25400" dir="8100000" algn="bl" rotWithShape="0">
              <a:srgbClr val="000000">
                <a:alpha val="10000"/>
              </a:srgbClr>
            </a:outerShdw>
          </a:effectLst>
        </p:spPr>
        <p:txBody>
          <a:bodyPr/>
          <a:lstStyle/>
          <a:p>
            <a:endParaRPr lang="en-US"/>
          </a:p>
        </p:txBody>
      </p:sp>
      <p:sp>
        <p:nvSpPr>
          <p:cNvPr id="5" name="Shape 3">
            <a:extLst>
              <a:ext uri="{FF2B5EF4-FFF2-40B4-BE49-F238E27FC236}">
                <a16:creationId xmlns:a16="http://schemas.microsoft.com/office/drawing/2014/main" id="{AB5D1747-9FD2-64DF-5C6A-C6BB12E9F1AE}"/>
              </a:ext>
            </a:extLst>
          </p:cNvPr>
          <p:cNvSpPr/>
          <p:nvPr/>
        </p:nvSpPr>
        <p:spPr>
          <a:xfrm>
            <a:off x="411480" y="960120"/>
            <a:ext cx="64008" cy="1252728"/>
          </a:xfrm>
          <a:prstGeom prst="rect">
            <a:avLst/>
          </a:prstGeom>
          <a:solidFill>
            <a:srgbClr val="065A82"/>
          </a:solidFill>
          <a:ln w="12700">
            <a:solidFill>
              <a:srgbClr val="065A82"/>
            </a:solidFill>
            <a:prstDash val="solid"/>
          </a:ln>
        </p:spPr>
        <p:txBody>
          <a:bodyPr/>
          <a:lstStyle/>
          <a:p>
            <a:endParaRPr lang="en-US"/>
          </a:p>
        </p:txBody>
      </p:sp>
      <p:sp>
        <p:nvSpPr>
          <p:cNvPr id="6" name="Text 4">
            <a:extLst>
              <a:ext uri="{FF2B5EF4-FFF2-40B4-BE49-F238E27FC236}">
                <a16:creationId xmlns:a16="http://schemas.microsoft.com/office/drawing/2014/main" id="{F4B38F39-E537-C6C1-EF54-29916778F515}"/>
              </a:ext>
            </a:extLst>
          </p:cNvPr>
          <p:cNvSpPr/>
          <p:nvPr/>
        </p:nvSpPr>
        <p:spPr>
          <a:xfrm>
            <a:off x="548640" y="1033272"/>
            <a:ext cx="3886200" cy="347472"/>
          </a:xfrm>
          <a:prstGeom prst="rect">
            <a:avLst/>
          </a:prstGeom>
          <a:noFill/>
          <a:ln/>
        </p:spPr>
        <p:txBody>
          <a:bodyPr wrap="square" lIns="0" tIns="0" rIns="0" bIns="0" rtlCol="0" anchor="ctr"/>
          <a:lstStyle/>
          <a:p>
            <a:pPr marL="0" indent="0">
              <a:buNone/>
            </a:pPr>
            <a:r>
              <a:rPr lang="en-US" sz="1300" b="1" dirty="0">
                <a:solidFill>
                  <a:srgbClr val="065A82"/>
                </a:solidFill>
                <a:latin typeface="Cambria" pitchFamily="34" charset="0"/>
                <a:ea typeface="Cambria" pitchFamily="34" charset="-122"/>
                <a:cs typeface="Cambria" pitchFamily="34" charset="-120"/>
              </a:rPr>
              <a:t>Standard (Simultaneous)</a:t>
            </a:r>
            <a:endParaRPr lang="en-US" sz="1300" dirty="0"/>
          </a:p>
        </p:txBody>
      </p:sp>
      <p:sp>
        <p:nvSpPr>
          <p:cNvPr id="7" name="Text 5">
            <a:extLst>
              <a:ext uri="{FF2B5EF4-FFF2-40B4-BE49-F238E27FC236}">
                <a16:creationId xmlns:a16="http://schemas.microsoft.com/office/drawing/2014/main" id="{E9BDABB8-6032-0C09-95BA-AB6C9597692B}"/>
              </a:ext>
            </a:extLst>
          </p:cNvPr>
          <p:cNvSpPr/>
          <p:nvPr/>
        </p:nvSpPr>
        <p:spPr>
          <a:xfrm>
            <a:off x="548640" y="1371600"/>
            <a:ext cx="3886200" cy="749808"/>
          </a:xfrm>
          <a:prstGeom prst="rect">
            <a:avLst/>
          </a:prstGeom>
          <a:noFill/>
          <a:ln/>
        </p:spPr>
        <p:txBody>
          <a:bodyPr wrap="square" lIns="0" tIns="0" rIns="0" bIns="0" rtlCol="0" anchor="t"/>
          <a:lstStyle/>
          <a:p>
            <a:pPr marL="0" indent="0">
              <a:buNone/>
            </a:pPr>
            <a:r>
              <a:rPr lang="en-US" sz="1200" dirty="0">
                <a:solidFill>
                  <a:srgbClr val="1A2D3D"/>
                </a:solidFill>
                <a:latin typeface="Calibri" pitchFamily="34" charset="0"/>
                <a:ea typeface="Calibri" pitchFamily="34" charset="-122"/>
                <a:cs typeface="Calibri" pitchFamily="34" charset="-120"/>
              </a:rPr>
              <a:t>All IVs entered at once. Each assessed as if entered last. Use when theory does not specify entry order. Most common.</a:t>
            </a:r>
            <a:endParaRPr lang="en-US" sz="1200" dirty="0"/>
          </a:p>
        </p:txBody>
      </p:sp>
      <p:sp>
        <p:nvSpPr>
          <p:cNvPr id="8" name="Shape 6">
            <a:extLst>
              <a:ext uri="{FF2B5EF4-FFF2-40B4-BE49-F238E27FC236}">
                <a16:creationId xmlns:a16="http://schemas.microsoft.com/office/drawing/2014/main" id="{80B9BCA4-D87A-7748-CE35-0D1064CB1001}"/>
              </a:ext>
            </a:extLst>
          </p:cNvPr>
          <p:cNvSpPr/>
          <p:nvPr/>
        </p:nvSpPr>
        <p:spPr>
          <a:xfrm>
            <a:off x="4663440" y="960120"/>
            <a:ext cx="4069080" cy="1252728"/>
          </a:xfrm>
          <a:prstGeom prst="rect">
            <a:avLst/>
          </a:prstGeom>
          <a:solidFill>
            <a:srgbClr val="FFFFFF"/>
          </a:solidFill>
          <a:ln w="12700">
            <a:solidFill>
              <a:srgbClr val="D6E4EC"/>
            </a:solidFill>
            <a:prstDash val="solid"/>
          </a:ln>
          <a:effectLst>
            <a:outerShdw blurRad="76200" dist="25400" dir="8100000" algn="bl" rotWithShape="0">
              <a:srgbClr val="000000">
                <a:alpha val="10000"/>
              </a:srgbClr>
            </a:outerShdw>
          </a:effectLst>
        </p:spPr>
        <p:txBody>
          <a:bodyPr/>
          <a:lstStyle/>
          <a:p>
            <a:endParaRPr lang="en-US"/>
          </a:p>
        </p:txBody>
      </p:sp>
      <p:sp>
        <p:nvSpPr>
          <p:cNvPr id="9" name="Shape 7">
            <a:extLst>
              <a:ext uri="{FF2B5EF4-FFF2-40B4-BE49-F238E27FC236}">
                <a16:creationId xmlns:a16="http://schemas.microsoft.com/office/drawing/2014/main" id="{4117892A-50E6-A800-B380-0636B43FF3D4}"/>
              </a:ext>
            </a:extLst>
          </p:cNvPr>
          <p:cNvSpPr/>
          <p:nvPr/>
        </p:nvSpPr>
        <p:spPr>
          <a:xfrm>
            <a:off x="4663440" y="960120"/>
            <a:ext cx="64008" cy="1252728"/>
          </a:xfrm>
          <a:prstGeom prst="rect">
            <a:avLst/>
          </a:prstGeom>
          <a:solidFill>
            <a:srgbClr val="1C7293"/>
          </a:solidFill>
          <a:ln w="12700">
            <a:solidFill>
              <a:srgbClr val="1C7293"/>
            </a:solidFill>
            <a:prstDash val="solid"/>
          </a:ln>
        </p:spPr>
        <p:txBody>
          <a:bodyPr/>
          <a:lstStyle/>
          <a:p>
            <a:endParaRPr lang="en-US"/>
          </a:p>
        </p:txBody>
      </p:sp>
      <p:sp>
        <p:nvSpPr>
          <p:cNvPr id="10" name="Text 8">
            <a:extLst>
              <a:ext uri="{FF2B5EF4-FFF2-40B4-BE49-F238E27FC236}">
                <a16:creationId xmlns:a16="http://schemas.microsoft.com/office/drawing/2014/main" id="{AC3B3F7E-EE18-C436-D3B5-682C8B12549F}"/>
              </a:ext>
            </a:extLst>
          </p:cNvPr>
          <p:cNvSpPr/>
          <p:nvPr/>
        </p:nvSpPr>
        <p:spPr>
          <a:xfrm>
            <a:off x="4800600" y="1033272"/>
            <a:ext cx="3886200" cy="347472"/>
          </a:xfrm>
          <a:prstGeom prst="rect">
            <a:avLst/>
          </a:prstGeom>
          <a:noFill/>
          <a:ln/>
        </p:spPr>
        <p:txBody>
          <a:bodyPr wrap="square" lIns="0" tIns="0" rIns="0" bIns="0" rtlCol="0" anchor="ctr"/>
          <a:lstStyle/>
          <a:p>
            <a:pPr marL="0" indent="0">
              <a:buNone/>
            </a:pPr>
            <a:r>
              <a:rPr lang="en-US" sz="1300" b="1" dirty="0">
                <a:solidFill>
                  <a:srgbClr val="1C7293"/>
                </a:solidFill>
                <a:latin typeface="Cambria" pitchFamily="34" charset="0"/>
                <a:ea typeface="Cambria" pitchFamily="34" charset="-122"/>
                <a:cs typeface="Cambria" pitchFamily="34" charset="-120"/>
              </a:rPr>
              <a:t>Hierarchical (Sequential)</a:t>
            </a:r>
            <a:endParaRPr lang="en-US" sz="1300" dirty="0"/>
          </a:p>
        </p:txBody>
      </p:sp>
      <p:sp>
        <p:nvSpPr>
          <p:cNvPr id="11" name="Text 9">
            <a:extLst>
              <a:ext uri="{FF2B5EF4-FFF2-40B4-BE49-F238E27FC236}">
                <a16:creationId xmlns:a16="http://schemas.microsoft.com/office/drawing/2014/main" id="{58B92E8E-DAC8-6241-E580-134B4C3B1FDF}"/>
              </a:ext>
            </a:extLst>
          </p:cNvPr>
          <p:cNvSpPr/>
          <p:nvPr/>
        </p:nvSpPr>
        <p:spPr>
          <a:xfrm>
            <a:off x="4800600" y="1371600"/>
            <a:ext cx="3886200" cy="749808"/>
          </a:xfrm>
          <a:prstGeom prst="rect">
            <a:avLst/>
          </a:prstGeom>
          <a:noFill/>
          <a:ln/>
        </p:spPr>
        <p:txBody>
          <a:bodyPr wrap="square" lIns="0" tIns="0" rIns="0" bIns="0" rtlCol="0" anchor="t"/>
          <a:lstStyle/>
          <a:p>
            <a:pPr marL="0" indent="0">
              <a:buNone/>
            </a:pPr>
            <a:r>
              <a:rPr lang="en-US" sz="1200" dirty="0">
                <a:solidFill>
                  <a:srgbClr val="1A2D3D"/>
                </a:solidFill>
                <a:latin typeface="Calibri" pitchFamily="34" charset="0"/>
                <a:ea typeface="Calibri" pitchFamily="34" charset="-122"/>
                <a:cs typeface="Calibri" pitchFamily="34" charset="-120"/>
              </a:rPr>
              <a:t>IVs entered in theoretically driven blocks. R² change at each step tests added predictive power. Preferred in confirmatory research.</a:t>
            </a:r>
            <a:endParaRPr lang="en-US" sz="1200" dirty="0"/>
          </a:p>
        </p:txBody>
      </p:sp>
      <p:sp>
        <p:nvSpPr>
          <p:cNvPr id="12" name="Shape 10">
            <a:extLst>
              <a:ext uri="{FF2B5EF4-FFF2-40B4-BE49-F238E27FC236}">
                <a16:creationId xmlns:a16="http://schemas.microsoft.com/office/drawing/2014/main" id="{38E12524-9681-B559-F6E8-7BEF3B037472}"/>
              </a:ext>
            </a:extLst>
          </p:cNvPr>
          <p:cNvSpPr/>
          <p:nvPr/>
        </p:nvSpPr>
        <p:spPr>
          <a:xfrm>
            <a:off x="411480" y="2331720"/>
            <a:ext cx="4069080" cy="1252728"/>
          </a:xfrm>
          <a:prstGeom prst="rect">
            <a:avLst/>
          </a:prstGeom>
          <a:solidFill>
            <a:srgbClr val="FFFFFF"/>
          </a:solidFill>
          <a:ln w="12700">
            <a:solidFill>
              <a:srgbClr val="D6E4EC"/>
            </a:solidFill>
            <a:prstDash val="solid"/>
          </a:ln>
          <a:effectLst>
            <a:outerShdw blurRad="76200" dist="25400" dir="8100000" algn="bl" rotWithShape="0">
              <a:srgbClr val="000000">
                <a:alpha val="10000"/>
              </a:srgbClr>
            </a:outerShdw>
          </a:effectLst>
        </p:spPr>
        <p:txBody>
          <a:bodyPr/>
          <a:lstStyle/>
          <a:p>
            <a:endParaRPr lang="en-US"/>
          </a:p>
        </p:txBody>
      </p:sp>
      <p:sp>
        <p:nvSpPr>
          <p:cNvPr id="13" name="Shape 11">
            <a:extLst>
              <a:ext uri="{FF2B5EF4-FFF2-40B4-BE49-F238E27FC236}">
                <a16:creationId xmlns:a16="http://schemas.microsoft.com/office/drawing/2014/main" id="{80C22EEC-B189-D212-D8AC-0EC0096AF431}"/>
              </a:ext>
            </a:extLst>
          </p:cNvPr>
          <p:cNvSpPr/>
          <p:nvPr/>
        </p:nvSpPr>
        <p:spPr>
          <a:xfrm>
            <a:off x="411480" y="2331720"/>
            <a:ext cx="64008" cy="1252728"/>
          </a:xfrm>
          <a:prstGeom prst="rect">
            <a:avLst/>
          </a:prstGeom>
          <a:solidFill>
            <a:srgbClr val="E8A838"/>
          </a:solidFill>
          <a:ln w="12700">
            <a:solidFill>
              <a:srgbClr val="E8A838"/>
            </a:solidFill>
            <a:prstDash val="solid"/>
          </a:ln>
        </p:spPr>
        <p:txBody>
          <a:bodyPr/>
          <a:lstStyle/>
          <a:p>
            <a:endParaRPr lang="en-US"/>
          </a:p>
        </p:txBody>
      </p:sp>
      <p:sp>
        <p:nvSpPr>
          <p:cNvPr id="14" name="Text 12">
            <a:extLst>
              <a:ext uri="{FF2B5EF4-FFF2-40B4-BE49-F238E27FC236}">
                <a16:creationId xmlns:a16="http://schemas.microsoft.com/office/drawing/2014/main" id="{589078CB-0262-F1F9-F63F-7110BBF32743}"/>
              </a:ext>
            </a:extLst>
          </p:cNvPr>
          <p:cNvSpPr/>
          <p:nvPr/>
        </p:nvSpPr>
        <p:spPr>
          <a:xfrm>
            <a:off x="548640" y="2404872"/>
            <a:ext cx="3886200" cy="347472"/>
          </a:xfrm>
          <a:prstGeom prst="rect">
            <a:avLst/>
          </a:prstGeom>
          <a:noFill/>
          <a:ln/>
        </p:spPr>
        <p:txBody>
          <a:bodyPr wrap="square" lIns="0" tIns="0" rIns="0" bIns="0" rtlCol="0" anchor="ctr"/>
          <a:lstStyle/>
          <a:p>
            <a:pPr marL="0" indent="0">
              <a:buNone/>
            </a:pPr>
            <a:r>
              <a:rPr lang="en-US" sz="1300" b="1" dirty="0">
                <a:solidFill>
                  <a:srgbClr val="E8A838"/>
                </a:solidFill>
                <a:latin typeface="Cambria" pitchFamily="34" charset="0"/>
                <a:ea typeface="Cambria" pitchFamily="34" charset="-122"/>
                <a:cs typeface="Cambria" pitchFamily="34" charset="-120"/>
              </a:rPr>
              <a:t>Statistical (Stepwise/Forward/Backward)</a:t>
            </a:r>
            <a:endParaRPr lang="en-US" sz="1300" dirty="0"/>
          </a:p>
        </p:txBody>
      </p:sp>
      <p:sp>
        <p:nvSpPr>
          <p:cNvPr id="15" name="Text 13">
            <a:extLst>
              <a:ext uri="{FF2B5EF4-FFF2-40B4-BE49-F238E27FC236}">
                <a16:creationId xmlns:a16="http://schemas.microsoft.com/office/drawing/2014/main" id="{F78455BE-A130-738F-F872-6F04249A917C}"/>
              </a:ext>
            </a:extLst>
          </p:cNvPr>
          <p:cNvSpPr/>
          <p:nvPr/>
        </p:nvSpPr>
        <p:spPr>
          <a:xfrm>
            <a:off x="548640" y="2743200"/>
            <a:ext cx="3886200" cy="749808"/>
          </a:xfrm>
          <a:prstGeom prst="rect">
            <a:avLst/>
          </a:prstGeom>
          <a:noFill/>
          <a:ln/>
        </p:spPr>
        <p:txBody>
          <a:bodyPr wrap="square" lIns="0" tIns="0" rIns="0" bIns="0" rtlCol="0" anchor="t"/>
          <a:lstStyle/>
          <a:p>
            <a:pPr marL="0" indent="0">
              <a:buNone/>
            </a:pPr>
            <a:r>
              <a:rPr lang="en-US" sz="1200" dirty="0">
                <a:solidFill>
                  <a:srgbClr val="1A2D3D"/>
                </a:solidFill>
                <a:latin typeface="Calibri" pitchFamily="34" charset="0"/>
                <a:ea typeface="Calibri" pitchFamily="34" charset="-122"/>
                <a:cs typeface="Calibri" pitchFamily="34" charset="-120"/>
              </a:rPr>
              <a:t>Computer selects variables based on statistical criteria. Exploratory only — capitalises on chance. Requires cross-validation.</a:t>
            </a:r>
            <a:endParaRPr lang="en-US" sz="1200" dirty="0"/>
          </a:p>
        </p:txBody>
      </p:sp>
      <p:sp>
        <p:nvSpPr>
          <p:cNvPr id="16" name="Shape 14">
            <a:extLst>
              <a:ext uri="{FF2B5EF4-FFF2-40B4-BE49-F238E27FC236}">
                <a16:creationId xmlns:a16="http://schemas.microsoft.com/office/drawing/2014/main" id="{BE880B02-59F1-64A3-8E2F-5AADA6D169E8}"/>
              </a:ext>
            </a:extLst>
          </p:cNvPr>
          <p:cNvSpPr/>
          <p:nvPr/>
        </p:nvSpPr>
        <p:spPr>
          <a:xfrm>
            <a:off x="4663440" y="2331720"/>
            <a:ext cx="4069080" cy="1252728"/>
          </a:xfrm>
          <a:prstGeom prst="rect">
            <a:avLst/>
          </a:prstGeom>
          <a:solidFill>
            <a:srgbClr val="FFFFFF"/>
          </a:solidFill>
          <a:ln w="12700">
            <a:solidFill>
              <a:srgbClr val="D6E4EC"/>
            </a:solidFill>
            <a:prstDash val="solid"/>
          </a:ln>
          <a:effectLst>
            <a:outerShdw blurRad="76200" dist="25400" dir="8100000" algn="bl" rotWithShape="0">
              <a:srgbClr val="000000">
                <a:alpha val="10000"/>
              </a:srgbClr>
            </a:outerShdw>
          </a:effectLst>
        </p:spPr>
        <p:txBody>
          <a:bodyPr/>
          <a:lstStyle/>
          <a:p>
            <a:endParaRPr lang="en-US"/>
          </a:p>
        </p:txBody>
      </p:sp>
      <p:sp>
        <p:nvSpPr>
          <p:cNvPr id="17" name="Shape 15">
            <a:extLst>
              <a:ext uri="{FF2B5EF4-FFF2-40B4-BE49-F238E27FC236}">
                <a16:creationId xmlns:a16="http://schemas.microsoft.com/office/drawing/2014/main" id="{4541CD1C-413A-CDBA-DCD5-D70FD0EF81F6}"/>
              </a:ext>
            </a:extLst>
          </p:cNvPr>
          <p:cNvSpPr/>
          <p:nvPr/>
        </p:nvSpPr>
        <p:spPr>
          <a:xfrm>
            <a:off x="4663440" y="2331720"/>
            <a:ext cx="64008" cy="1252728"/>
          </a:xfrm>
          <a:prstGeom prst="rect">
            <a:avLst/>
          </a:prstGeom>
          <a:solidFill>
            <a:srgbClr val="065A82"/>
          </a:solidFill>
          <a:ln w="12700">
            <a:solidFill>
              <a:srgbClr val="065A82"/>
            </a:solidFill>
            <a:prstDash val="solid"/>
          </a:ln>
        </p:spPr>
        <p:txBody>
          <a:bodyPr/>
          <a:lstStyle/>
          <a:p>
            <a:endParaRPr lang="en-US"/>
          </a:p>
        </p:txBody>
      </p:sp>
      <p:sp>
        <p:nvSpPr>
          <p:cNvPr id="18" name="Text 16">
            <a:extLst>
              <a:ext uri="{FF2B5EF4-FFF2-40B4-BE49-F238E27FC236}">
                <a16:creationId xmlns:a16="http://schemas.microsoft.com/office/drawing/2014/main" id="{CB65492F-A307-3F53-3B3D-D0418B6E6409}"/>
              </a:ext>
            </a:extLst>
          </p:cNvPr>
          <p:cNvSpPr/>
          <p:nvPr/>
        </p:nvSpPr>
        <p:spPr>
          <a:xfrm>
            <a:off x="4800600" y="2404872"/>
            <a:ext cx="3886200" cy="347472"/>
          </a:xfrm>
          <a:prstGeom prst="rect">
            <a:avLst/>
          </a:prstGeom>
          <a:noFill/>
          <a:ln/>
        </p:spPr>
        <p:txBody>
          <a:bodyPr wrap="square" lIns="0" tIns="0" rIns="0" bIns="0" rtlCol="0" anchor="ctr"/>
          <a:lstStyle/>
          <a:p>
            <a:pPr marL="0" indent="0">
              <a:buNone/>
            </a:pPr>
            <a:r>
              <a:rPr lang="en-US" sz="1300" b="1" dirty="0">
                <a:solidFill>
                  <a:srgbClr val="065A82"/>
                </a:solidFill>
                <a:latin typeface="Cambria" pitchFamily="34" charset="0"/>
                <a:ea typeface="Cambria" pitchFamily="34" charset="-122"/>
                <a:cs typeface="Cambria" pitchFamily="34" charset="-120"/>
              </a:rPr>
              <a:t>Logistic Regression</a:t>
            </a:r>
            <a:endParaRPr lang="en-US" sz="1300" dirty="0"/>
          </a:p>
        </p:txBody>
      </p:sp>
      <p:sp>
        <p:nvSpPr>
          <p:cNvPr id="19" name="Text 17">
            <a:extLst>
              <a:ext uri="{FF2B5EF4-FFF2-40B4-BE49-F238E27FC236}">
                <a16:creationId xmlns:a16="http://schemas.microsoft.com/office/drawing/2014/main" id="{6E67CAB7-58E2-9217-E858-B208F3BA3B65}"/>
              </a:ext>
            </a:extLst>
          </p:cNvPr>
          <p:cNvSpPr/>
          <p:nvPr/>
        </p:nvSpPr>
        <p:spPr>
          <a:xfrm>
            <a:off x="4800600" y="2743200"/>
            <a:ext cx="3886200" cy="749808"/>
          </a:xfrm>
          <a:prstGeom prst="rect">
            <a:avLst/>
          </a:prstGeom>
          <a:noFill/>
          <a:ln/>
        </p:spPr>
        <p:txBody>
          <a:bodyPr wrap="square" lIns="0" tIns="0" rIns="0" bIns="0" rtlCol="0" anchor="t"/>
          <a:lstStyle/>
          <a:p>
            <a:pPr marL="0" indent="0">
              <a:buNone/>
            </a:pPr>
            <a:r>
              <a:rPr lang="en-US" sz="1200" dirty="0">
                <a:solidFill>
                  <a:srgbClr val="1A2D3D"/>
                </a:solidFill>
                <a:latin typeface="Calibri" pitchFamily="34" charset="0"/>
                <a:ea typeface="Calibri" pitchFamily="34" charset="-122"/>
                <a:cs typeface="Calibri" pitchFamily="34" charset="-120"/>
              </a:rPr>
              <a:t>DV is categorical (binary/ordinal/multinomial). Estimates odds ratios. Standard in epidemiology for risk factor analysis.</a:t>
            </a:r>
            <a:endParaRPr lang="en-US" sz="1200" dirty="0"/>
          </a:p>
        </p:txBody>
      </p:sp>
      <p:sp>
        <p:nvSpPr>
          <p:cNvPr id="20" name="Shape 18">
            <a:extLst>
              <a:ext uri="{FF2B5EF4-FFF2-40B4-BE49-F238E27FC236}">
                <a16:creationId xmlns:a16="http://schemas.microsoft.com/office/drawing/2014/main" id="{EF168148-2DA9-3309-056E-B5B921372E9A}"/>
              </a:ext>
            </a:extLst>
          </p:cNvPr>
          <p:cNvSpPr/>
          <p:nvPr/>
        </p:nvSpPr>
        <p:spPr>
          <a:xfrm>
            <a:off x="411480" y="3703320"/>
            <a:ext cx="4069080" cy="1252728"/>
          </a:xfrm>
          <a:prstGeom prst="rect">
            <a:avLst/>
          </a:prstGeom>
          <a:solidFill>
            <a:srgbClr val="FFFFFF"/>
          </a:solidFill>
          <a:ln w="12700">
            <a:solidFill>
              <a:srgbClr val="D6E4EC"/>
            </a:solidFill>
            <a:prstDash val="solid"/>
          </a:ln>
          <a:effectLst>
            <a:outerShdw blurRad="76200" dist="25400" dir="8100000" algn="bl" rotWithShape="0">
              <a:srgbClr val="000000">
                <a:alpha val="10000"/>
              </a:srgbClr>
            </a:outerShdw>
          </a:effectLst>
        </p:spPr>
        <p:txBody>
          <a:bodyPr/>
          <a:lstStyle/>
          <a:p>
            <a:endParaRPr lang="en-US"/>
          </a:p>
        </p:txBody>
      </p:sp>
      <p:sp>
        <p:nvSpPr>
          <p:cNvPr id="21" name="Shape 19">
            <a:extLst>
              <a:ext uri="{FF2B5EF4-FFF2-40B4-BE49-F238E27FC236}">
                <a16:creationId xmlns:a16="http://schemas.microsoft.com/office/drawing/2014/main" id="{91DD007F-34D3-188F-8913-F231E5833ED7}"/>
              </a:ext>
            </a:extLst>
          </p:cNvPr>
          <p:cNvSpPr/>
          <p:nvPr/>
        </p:nvSpPr>
        <p:spPr>
          <a:xfrm>
            <a:off x="411480" y="3703320"/>
            <a:ext cx="64008" cy="1252728"/>
          </a:xfrm>
          <a:prstGeom prst="rect">
            <a:avLst/>
          </a:prstGeom>
          <a:solidFill>
            <a:srgbClr val="1C7293"/>
          </a:solidFill>
          <a:ln w="12700">
            <a:solidFill>
              <a:srgbClr val="1C7293"/>
            </a:solidFill>
            <a:prstDash val="solid"/>
          </a:ln>
        </p:spPr>
        <p:txBody>
          <a:bodyPr/>
          <a:lstStyle/>
          <a:p>
            <a:endParaRPr lang="en-US"/>
          </a:p>
        </p:txBody>
      </p:sp>
      <p:sp>
        <p:nvSpPr>
          <p:cNvPr id="22" name="Text 20">
            <a:extLst>
              <a:ext uri="{FF2B5EF4-FFF2-40B4-BE49-F238E27FC236}">
                <a16:creationId xmlns:a16="http://schemas.microsoft.com/office/drawing/2014/main" id="{0AD8D25A-93D8-24C0-ED96-C02B6CC9442D}"/>
              </a:ext>
            </a:extLst>
          </p:cNvPr>
          <p:cNvSpPr/>
          <p:nvPr/>
        </p:nvSpPr>
        <p:spPr>
          <a:xfrm>
            <a:off x="548640" y="3776472"/>
            <a:ext cx="3886200" cy="347472"/>
          </a:xfrm>
          <a:prstGeom prst="rect">
            <a:avLst/>
          </a:prstGeom>
          <a:noFill/>
          <a:ln/>
        </p:spPr>
        <p:txBody>
          <a:bodyPr wrap="square" lIns="0" tIns="0" rIns="0" bIns="0" rtlCol="0" anchor="ctr"/>
          <a:lstStyle/>
          <a:p>
            <a:pPr marL="0" indent="0">
              <a:buNone/>
            </a:pPr>
            <a:r>
              <a:rPr lang="en-US" sz="1300" b="1" dirty="0">
                <a:solidFill>
                  <a:srgbClr val="1C7293"/>
                </a:solidFill>
                <a:latin typeface="Cambria" pitchFamily="34" charset="0"/>
                <a:ea typeface="Cambria" pitchFamily="34" charset="-122"/>
                <a:cs typeface="Cambria" pitchFamily="34" charset="-120"/>
              </a:rPr>
              <a:t>Polynomial Regression</a:t>
            </a:r>
            <a:endParaRPr lang="en-US" sz="1300" dirty="0"/>
          </a:p>
        </p:txBody>
      </p:sp>
      <p:sp>
        <p:nvSpPr>
          <p:cNvPr id="23" name="Text 21">
            <a:extLst>
              <a:ext uri="{FF2B5EF4-FFF2-40B4-BE49-F238E27FC236}">
                <a16:creationId xmlns:a16="http://schemas.microsoft.com/office/drawing/2014/main" id="{3542BBE7-0F7E-75DC-D424-AF3FA8839759}"/>
              </a:ext>
            </a:extLst>
          </p:cNvPr>
          <p:cNvSpPr/>
          <p:nvPr/>
        </p:nvSpPr>
        <p:spPr>
          <a:xfrm>
            <a:off x="548640" y="4114800"/>
            <a:ext cx="3886200" cy="749808"/>
          </a:xfrm>
          <a:prstGeom prst="rect">
            <a:avLst/>
          </a:prstGeom>
          <a:noFill/>
          <a:ln/>
        </p:spPr>
        <p:txBody>
          <a:bodyPr wrap="square" lIns="0" tIns="0" rIns="0" bIns="0" rtlCol="0" anchor="t"/>
          <a:lstStyle/>
          <a:p>
            <a:pPr marL="0" indent="0">
              <a:buNone/>
            </a:pPr>
            <a:r>
              <a:rPr lang="en-US" sz="1200" dirty="0">
                <a:solidFill>
                  <a:srgbClr val="1A2D3D"/>
                </a:solidFill>
                <a:latin typeface="Calibri" pitchFamily="34" charset="0"/>
                <a:ea typeface="Calibri" pitchFamily="34" charset="-122"/>
                <a:cs typeface="Calibri" pitchFamily="34" charset="-120"/>
              </a:rPr>
              <a:t>Adds squared or cubic terms to model curvilinear relationships. Centre variables first to reduce multicollinearity.</a:t>
            </a:r>
            <a:endParaRPr lang="en-US" sz="1200" dirty="0"/>
          </a:p>
        </p:txBody>
      </p:sp>
      <p:sp>
        <p:nvSpPr>
          <p:cNvPr id="24" name="Shape 22">
            <a:extLst>
              <a:ext uri="{FF2B5EF4-FFF2-40B4-BE49-F238E27FC236}">
                <a16:creationId xmlns:a16="http://schemas.microsoft.com/office/drawing/2014/main" id="{0261D8EA-BFB8-44EE-9351-A054DA1AA5F3}"/>
              </a:ext>
            </a:extLst>
          </p:cNvPr>
          <p:cNvSpPr/>
          <p:nvPr/>
        </p:nvSpPr>
        <p:spPr>
          <a:xfrm>
            <a:off x="4663440" y="3703320"/>
            <a:ext cx="4069080" cy="1252728"/>
          </a:xfrm>
          <a:prstGeom prst="rect">
            <a:avLst/>
          </a:prstGeom>
          <a:solidFill>
            <a:srgbClr val="FFFFFF"/>
          </a:solidFill>
          <a:ln w="12700">
            <a:solidFill>
              <a:srgbClr val="D6E4EC"/>
            </a:solidFill>
            <a:prstDash val="solid"/>
          </a:ln>
          <a:effectLst>
            <a:outerShdw blurRad="76200" dist="25400" dir="8100000" algn="bl" rotWithShape="0">
              <a:srgbClr val="000000">
                <a:alpha val="10000"/>
              </a:srgbClr>
            </a:outerShdw>
          </a:effectLst>
        </p:spPr>
        <p:txBody>
          <a:bodyPr/>
          <a:lstStyle/>
          <a:p>
            <a:endParaRPr lang="en-US"/>
          </a:p>
        </p:txBody>
      </p:sp>
      <p:sp>
        <p:nvSpPr>
          <p:cNvPr id="25" name="Shape 23">
            <a:extLst>
              <a:ext uri="{FF2B5EF4-FFF2-40B4-BE49-F238E27FC236}">
                <a16:creationId xmlns:a16="http://schemas.microsoft.com/office/drawing/2014/main" id="{A76235F2-9749-90DE-9C6B-CA93847EECEF}"/>
              </a:ext>
            </a:extLst>
          </p:cNvPr>
          <p:cNvSpPr/>
          <p:nvPr/>
        </p:nvSpPr>
        <p:spPr>
          <a:xfrm>
            <a:off x="4663440" y="3703320"/>
            <a:ext cx="64008" cy="1252728"/>
          </a:xfrm>
          <a:prstGeom prst="rect">
            <a:avLst/>
          </a:prstGeom>
          <a:solidFill>
            <a:srgbClr val="E8A838"/>
          </a:solidFill>
          <a:ln w="12700">
            <a:solidFill>
              <a:srgbClr val="E8A838"/>
            </a:solidFill>
            <a:prstDash val="solid"/>
          </a:ln>
        </p:spPr>
        <p:txBody>
          <a:bodyPr/>
          <a:lstStyle/>
          <a:p>
            <a:endParaRPr lang="en-US"/>
          </a:p>
        </p:txBody>
      </p:sp>
      <p:sp>
        <p:nvSpPr>
          <p:cNvPr id="26" name="Text 24">
            <a:extLst>
              <a:ext uri="{FF2B5EF4-FFF2-40B4-BE49-F238E27FC236}">
                <a16:creationId xmlns:a16="http://schemas.microsoft.com/office/drawing/2014/main" id="{1A2DE5FA-C55B-B4D7-3FD5-5C082AAF8D14}"/>
              </a:ext>
            </a:extLst>
          </p:cNvPr>
          <p:cNvSpPr/>
          <p:nvPr/>
        </p:nvSpPr>
        <p:spPr>
          <a:xfrm>
            <a:off x="4800600" y="3776472"/>
            <a:ext cx="3886200" cy="347472"/>
          </a:xfrm>
          <a:prstGeom prst="rect">
            <a:avLst/>
          </a:prstGeom>
          <a:noFill/>
          <a:ln/>
        </p:spPr>
        <p:txBody>
          <a:bodyPr wrap="square" lIns="0" tIns="0" rIns="0" bIns="0" rtlCol="0" anchor="ctr"/>
          <a:lstStyle/>
          <a:p>
            <a:pPr marL="0" indent="0">
              <a:buNone/>
            </a:pPr>
            <a:r>
              <a:rPr lang="en-US" sz="1300" b="1" dirty="0">
                <a:solidFill>
                  <a:srgbClr val="E8A838"/>
                </a:solidFill>
                <a:latin typeface="Cambria" pitchFamily="34" charset="0"/>
                <a:ea typeface="Cambria" pitchFamily="34" charset="-122"/>
                <a:cs typeface="Cambria" pitchFamily="34" charset="-120"/>
              </a:rPr>
              <a:t>Interaction Terms</a:t>
            </a:r>
            <a:endParaRPr lang="en-US" sz="1300" dirty="0"/>
          </a:p>
        </p:txBody>
      </p:sp>
      <p:sp>
        <p:nvSpPr>
          <p:cNvPr id="27" name="Text 25">
            <a:extLst>
              <a:ext uri="{FF2B5EF4-FFF2-40B4-BE49-F238E27FC236}">
                <a16:creationId xmlns:a16="http://schemas.microsoft.com/office/drawing/2014/main" id="{052E3CED-1296-4812-E38B-C3372F2717F0}"/>
              </a:ext>
            </a:extLst>
          </p:cNvPr>
          <p:cNvSpPr/>
          <p:nvPr/>
        </p:nvSpPr>
        <p:spPr>
          <a:xfrm>
            <a:off x="4800600" y="4114800"/>
            <a:ext cx="3886200" cy="749808"/>
          </a:xfrm>
          <a:prstGeom prst="rect">
            <a:avLst/>
          </a:prstGeom>
          <a:noFill/>
          <a:ln/>
        </p:spPr>
        <p:txBody>
          <a:bodyPr wrap="square" lIns="0" tIns="0" rIns="0" bIns="0" rtlCol="0" anchor="t"/>
          <a:lstStyle/>
          <a:p>
            <a:pPr marL="0" indent="0">
              <a:buNone/>
            </a:pPr>
            <a:r>
              <a:rPr lang="en-US" sz="1200" dirty="0">
                <a:solidFill>
                  <a:srgbClr val="1A2D3D"/>
                </a:solidFill>
                <a:latin typeface="Calibri" pitchFamily="34" charset="0"/>
                <a:ea typeface="Calibri" pitchFamily="34" charset="-122"/>
                <a:cs typeface="Calibri" pitchFamily="34" charset="-120"/>
              </a:rPr>
              <a:t>X₁ × X₂ term tests moderation. If β is significant, the effect of X₁ depends on the level of X₂. Always include main effects.</a:t>
            </a:r>
            <a:endParaRPr lang="en-US" sz="1200" dirty="0"/>
          </a:p>
        </p:txBody>
      </p:sp>
    </p:spTree>
    <p:extLst>
      <p:ext uri="{BB962C8B-B14F-4D97-AF65-F5344CB8AC3E}">
        <p14:creationId xmlns:p14="http://schemas.microsoft.com/office/powerpoint/2010/main" val="222798382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4A768A-116E-C9DE-011E-1C75C2B0C662}"/>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ABA78239-AEB1-172E-DC94-F01A32F1B816}"/>
              </a:ext>
            </a:extLst>
          </p:cNvPr>
          <p:cNvSpPr/>
          <p:nvPr/>
        </p:nvSpPr>
        <p:spPr>
          <a:xfrm>
            <a:off x="0" y="0"/>
            <a:ext cx="9144000" cy="73152"/>
          </a:xfrm>
          <a:prstGeom prst="rect">
            <a:avLst/>
          </a:prstGeom>
          <a:solidFill>
            <a:srgbClr val="E8A838"/>
          </a:solidFill>
          <a:ln w="12700">
            <a:solidFill>
              <a:srgbClr val="E8A838"/>
            </a:solidFill>
            <a:prstDash val="solid"/>
          </a:ln>
        </p:spPr>
        <p:txBody>
          <a:bodyPr/>
          <a:lstStyle/>
          <a:p>
            <a:endParaRPr lang="en-US"/>
          </a:p>
        </p:txBody>
      </p:sp>
      <p:sp>
        <p:nvSpPr>
          <p:cNvPr id="3" name="Text 1">
            <a:extLst>
              <a:ext uri="{FF2B5EF4-FFF2-40B4-BE49-F238E27FC236}">
                <a16:creationId xmlns:a16="http://schemas.microsoft.com/office/drawing/2014/main" id="{BC010CAA-C145-9B6D-06D8-43C6A34399D8}"/>
              </a:ext>
            </a:extLst>
          </p:cNvPr>
          <p:cNvSpPr/>
          <p:nvPr/>
        </p:nvSpPr>
        <p:spPr>
          <a:xfrm>
            <a:off x="411480" y="164592"/>
            <a:ext cx="8321040" cy="640080"/>
          </a:xfrm>
          <a:prstGeom prst="rect">
            <a:avLst/>
          </a:prstGeom>
          <a:noFill/>
          <a:ln/>
        </p:spPr>
        <p:txBody>
          <a:bodyPr wrap="square" lIns="0" tIns="0" rIns="0" bIns="0" rtlCol="0" anchor="ctr"/>
          <a:lstStyle/>
          <a:p>
            <a:pPr marL="0" indent="0">
              <a:buNone/>
            </a:pPr>
            <a:r>
              <a:rPr lang="en-US" sz="2800" b="1" dirty="0">
                <a:solidFill>
                  <a:srgbClr val="065A82"/>
                </a:solidFill>
                <a:latin typeface="Cambria" pitchFamily="34" charset="0"/>
                <a:ea typeface="Cambria" pitchFamily="34" charset="-122"/>
                <a:cs typeface="Cambria" pitchFamily="34" charset="-120"/>
              </a:rPr>
              <a:t>Multiple Regression: Core Concepts</a:t>
            </a:r>
            <a:endParaRPr lang="en-US" sz="2800" dirty="0"/>
          </a:p>
        </p:txBody>
      </p:sp>
      <p:sp>
        <p:nvSpPr>
          <p:cNvPr id="4" name="Shape 2">
            <a:extLst>
              <a:ext uri="{FF2B5EF4-FFF2-40B4-BE49-F238E27FC236}">
                <a16:creationId xmlns:a16="http://schemas.microsoft.com/office/drawing/2014/main" id="{E8DA7DAE-8FEB-8570-97B7-7BC76448FF12}"/>
              </a:ext>
            </a:extLst>
          </p:cNvPr>
          <p:cNvSpPr/>
          <p:nvPr/>
        </p:nvSpPr>
        <p:spPr>
          <a:xfrm>
            <a:off x="411480" y="960120"/>
            <a:ext cx="8321040" cy="777240"/>
          </a:xfrm>
          <a:prstGeom prst="rect">
            <a:avLst/>
          </a:prstGeom>
          <a:solidFill>
            <a:srgbClr val="065A82"/>
          </a:solidFill>
          <a:ln w="12700">
            <a:solidFill>
              <a:srgbClr val="065A82"/>
            </a:solidFill>
            <a:prstDash val="solid"/>
          </a:ln>
        </p:spPr>
        <p:txBody>
          <a:bodyPr/>
          <a:lstStyle/>
          <a:p>
            <a:endParaRPr lang="en-US"/>
          </a:p>
        </p:txBody>
      </p:sp>
      <p:sp>
        <p:nvSpPr>
          <p:cNvPr id="5" name="Text 3">
            <a:extLst>
              <a:ext uri="{FF2B5EF4-FFF2-40B4-BE49-F238E27FC236}">
                <a16:creationId xmlns:a16="http://schemas.microsoft.com/office/drawing/2014/main" id="{339D6548-D3A3-CF95-97B3-459E1DF1E8C9}"/>
              </a:ext>
            </a:extLst>
          </p:cNvPr>
          <p:cNvSpPr/>
          <p:nvPr/>
        </p:nvSpPr>
        <p:spPr>
          <a:xfrm>
            <a:off x="502920" y="1005840"/>
            <a:ext cx="8138160" cy="68580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Ŷ = B₀ + B₁X₁ + B₂X₂ + ... + BₖXₖ + ε</a:t>
            </a:r>
            <a:endParaRPr lang="en-US" sz="2000" dirty="0"/>
          </a:p>
        </p:txBody>
      </p:sp>
      <p:sp>
        <p:nvSpPr>
          <p:cNvPr id="6" name="Shape 4">
            <a:extLst>
              <a:ext uri="{FF2B5EF4-FFF2-40B4-BE49-F238E27FC236}">
                <a16:creationId xmlns:a16="http://schemas.microsoft.com/office/drawing/2014/main" id="{B32C1D00-7D85-2B22-653E-6C6F6D72C27A}"/>
              </a:ext>
            </a:extLst>
          </p:cNvPr>
          <p:cNvSpPr/>
          <p:nvPr/>
        </p:nvSpPr>
        <p:spPr>
          <a:xfrm>
            <a:off x="411480" y="1828800"/>
            <a:ext cx="1920240" cy="3108960"/>
          </a:xfrm>
          <a:prstGeom prst="rect">
            <a:avLst/>
          </a:prstGeom>
          <a:solidFill>
            <a:srgbClr val="FFFFFF"/>
          </a:solidFill>
          <a:ln w="12700">
            <a:solidFill>
              <a:srgbClr val="D6E4EC"/>
            </a:solidFill>
            <a:prstDash val="solid"/>
          </a:ln>
          <a:effectLst>
            <a:outerShdw blurRad="76200" dist="25400" dir="8100000" algn="bl" rotWithShape="0">
              <a:srgbClr val="000000">
                <a:alpha val="10000"/>
              </a:srgbClr>
            </a:outerShdw>
          </a:effectLst>
        </p:spPr>
        <p:txBody>
          <a:bodyPr/>
          <a:lstStyle/>
          <a:p>
            <a:endParaRPr lang="en-US"/>
          </a:p>
        </p:txBody>
      </p:sp>
      <p:sp>
        <p:nvSpPr>
          <p:cNvPr id="7" name="Shape 5">
            <a:extLst>
              <a:ext uri="{FF2B5EF4-FFF2-40B4-BE49-F238E27FC236}">
                <a16:creationId xmlns:a16="http://schemas.microsoft.com/office/drawing/2014/main" id="{83BA3614-5F77-EF6F-65CA-07ECDC8AD880}"/>
              </a:ext>
            </a:extLst>
          </p:cNvPr>
          <p:cNvSpPr/>
          <p:nvPr/>
        </p:nvSpPr>
        <p:spPr>
          <a:xfrm>
            <a:off x="411480" y="1828800"/>
            <a:ext cx="64008" cy="3108960"/>
          </a:xfrm>
          <a:prstGeom prst="rect">
            <a:avLst/>
          </a:prstGeom>
          <a:solidFill>
            <a:srgbClr val="065A82"/>
          </a:solidFill>
          <a:ln w="12700">
            <a:solidFill>
              <a:srgbClr val="065A82"/>
            </a:solidFill>
            <a:prstDash val="solid"/>
          </a:ln>
        </p:spPr>
        <p:txBody>
          <a:bodyPr/>
          <a:lstStyle/>
          <a:p>
            <a:endParaRPr lang="en-US"/>
          </a:p>
        </p:txBody>
      </p:sp>
      <p:sp>
        <p:nvSpPr>
          <p:cNvPr id="8" name="Text 6">
            <a:extLst>
              <a:ext uri="{FF2B5EF4-FFF2-40B4-BE49-F238E27FC236}">
                <a16:creationId xmlns:a16="http://schemas.microsoft.com/office/drawing/2014/main" id="{C9CEC192-0B97-A794-EE85-2AB094BDD952}"/>
              </a:ext>
            </a:extLst>
          </p:cNvPr>
          <p:cNvSpPr/>
          <p:nvPr/>
        </p:nvSpPr>
        <p:spPr>
          <a:xfrm>
            <a:off x="548640" y="1901952"/>
            <a:ext cx="1737360" cy="347472"/>
          </a:xfrm>
          <a:prstGeom prst="rect">
            <a:avLst/>
          </a:prstGeom>
          <a:noFill/>
          <a:ln/>
        </p:spPr>
        <p:txBody>
          <a:bodyPr wrap="square" lIns="0" tIns="0" rIns="0" bIns="0" rtlCol="0" anchor="ctr"/>
          <a:lstStyle/>
          <a:p>
            <a:pPr marL="0" indent="0">
              <a:buNone/>
            </a:pPr>
            <a:r>
              <a:rPr lang="en-US" sz="1300" b="1" dirty="0">
                <a:solidFill>
                  <a:srgbClr val="065A82"/>
                </a:solidFill>
                <a:latin typeface="Cambria" pitchFamily="34" charset="0"/>
                <a:ea typeface="Cambria" pitchFamily="34" charset="-122"/>
                <a:cs typeface="Cambria" pitchFamily="34" charset="-120"/>
              </a:rPr>
              <a:t>R²</a:t>
            </a:r>
            <a:endParaRPr lang="en-US" sz="1300" dirty="0"/>
          </a:p>
        </p:txBody>
      </p:sp>
      <p:sp>
        <p:nvSpPr>
          <p:cNvPr id="9" name="Text 7">
            <a:extLst>
              <a:ext uri="{FF2B5EF4-FFF2-40B4-BE49-F238E27FC236}">
                <a16:creationId xmlns:a16="http://schemas.microsoft.com/office/drawing/2014/main" id="{873B768B-F30E-8A18-7BC3-0F8889438B6D}"/>
              </a:ext>
            </a:extLst>
          </p:cNvPr>
          <p:cNvSpPr/>
          <p:nvPr/>
        </p:nvSpPr>
        <p:spPr>
          <a:xfrm>
            <a:off x="548640" y="2240280"/>
            <a:ext cx="1737360" cy="2606040"/>
          </a:xfrm>
          <a:prstGeom prst="rect">
            <a:avLst/>
          </a:prstGeom>
          <a:noFill/>
          <a:ln/>
        </p:spPr>
        <p:txBody>
          <a:bodyPr wrap="square" lIns="0" tIns="0" rIns="0" bIns="0" rtlCol="0" anchor="t"/>
          <a:lstStyle/>
          <a:p>
            <a:pPr marL="0" indent="0">
              <a:buNone/>
            </a:pPr>
            <a:r>
              <a:rPr lang="en-US" sz="1200" dirty="0">
                <a:solidFill>
                  <a:srgbClr val="1A2D3D"/>
                </a:solidFill>
                <a:latin typeface="Calibri" pitchFamily="34" charset="0"/>
                <a:ea typeface="Calibri" pitchFamily="34" charset="-122"/>
                <a:cs typeface="Calibri" pitchFamily="34" charset="-120"/>
              </a:rPr>
              <a:t>Proportion of variance in DV explained by all IVs combined.</a:t>
            </a:r>
            <a:endParaRPr lang="en-US" sz="1200" dirty="0"/>
          </a:p>
          <a:p>
            <a:pPr marL="0" indent="0">
              <a:buNone/>
            </a:pPr>
            <a:endParaRPr lang="en-US" sz="1200" dirty="0"/>
          </a:p>
          <a:p>
            <a:pPr marL="0" indent="0">
              <a:buNone/>
            </a:pPr>
            <a:r>
              <a:rPr lang="en-US" sz="1200" dirty="0">
                <a:solidFill>
                  <a:srgbClr val="1A2D3D"/>
                </a:solidFill>
                <a:latin typeface="Calibri" pitchFamily="34" charset="0"/>
                <a:ea typeface="Calibri" pitchFamily="34" charset="-122"/>
                <a:cs typeface="Calibri" pitchFamily="34" charset="-120"/>
              </a:rPr>
              <a:t>Adjusted R² corrects for number of predictors.</a:t>
            </a:r>
            <a:endParaRPr lang="en-US" sz="1200" dirty="0"/>
          </a:p>
        </p:txBody>
      </p:sp>
      <p:sp>
        <p:nvSpPr>
          <p:cNvPr id="10" name="Shape 8">
            <a:extLst>
              <a:ext uri="{FF2B5EF4-FFF2-40B4-BE49-F238E27FC236}">
                <a16:creationId xmlns:a16="http://schemas.microsoft.com/office/drawing/2014/main" id="{1F83D032-B4F8-4D6E-F433-56E98BD6399F}"/>
              </a:ext>
            </a:extLst>
          </p:cNvPr>
          <p:cNvSpPr/>
          <p:nvPr/>
        </p:nvSpPr>
        <p:spPr>
          <a:xfrm>
            <a:off x="2423160" y="1828800"/>
            <a:ext cx="1920240" cy="3108960"/>
          </a:xfrm>
          <a:prstGeom prst="rect">
            <a:avLst/>
          </a:prstGeom>
          <a:solidFill>
            <a:srgbClr val="FFFFFF"/>
          </a:solidFill>
          <a:ln w="12700">
            <a:solidFill>
              <a:srgbClr val="D6E4EC"/>
            </a:solidFill>
            <a:prstDash val="solid"/>
          </a:ln>
          <a:effectLst>
            <a:outerShdw blurRad="76200" dist="25400" dir="8100000" algn="bl" rotWithShape="0">
              <a:srgbClr val="000000">
                <a:alpha val="10000"/>
              </a:srgbClr>
            </a:outerShdw>
          </a:effectLst>
        </p:spPr>
        <p:txBody>
          <a:bodyPr/>
          <a:lstStyle/>
          <a:p>
            <a:endParaRPr lang="en-US"/>
          </a:p>
        </p:txBody>
      </p:sp>
      <p:sp>
        <p:nvSpPr>
          <p:cNvPr id="11" name="Shape 9">
            <a:extLst>
              <a:ext uri="{FF2B5EF4-FFF2-40B4-BE49-F238E27FC236}">
                <a16:creationId xmlns:a16="http://schemas.microsoft.com/office/drawing/2014/main" id="{120302BE-4660-47CA-49BF-A250E15CE1DB}"/>
              </a:ext>
            </a:extLst>
          </p:cNvPr>
          <p:cNvSpPr/>
          <p:nvPr/>
        </p:nvSpPr>
        <p:spPr>
          <a:xfrm>
            <a:off x="2423160" y="1828800"/>
            <a:ext cx="64008" cy="3108960"/>
          </a:xfrm>
          <a:prstGeom prst="rect">
            <a:avLst/>
          </a:prstGeom>
          <a:solidFill>
            <a:srgbClr val="1C7293"/>
          </a:solidFill>
          <a:ln w="12700">
            <a:solidFill>
              <a:srgbClr val="1C7293"/>
            </a:solidFill>
            <a:prstDash val="solid"/>
          </a:ln>
        </p:spPr>
        <p:txBody>
          <a:bodyPr/>
          <a:lstStyle/>
          <a:p>
            <a:endParaRPr lang="en-US"/>
          </a:p>
        </p:txBody>
      </p:sp>
      <p:sp>
        <p:nvSpPr>
          <p:cNvPr id="12" name="Text 10">
            <a:extLst>
              <a:ext uri="{FF2B5EF4-FFF2-40B4-BE49-F238E27FC236}">
                <a16:creationId xmlns:a16="http://schemas.microsoft.com/office/drawing/2014/main" id="{E2F24E34-3402-B62C-7DA2-19BD43B526AC}"/>
              </a:ext>
            </a:extLst>
          </p:cNvPr>
          <p:cNvSpPr/>
          <p:nvPr/>
        </p:nvSpPr>
        <p:spPr>
          <a:xfrm>
            <a:off x="2560320" y="1901952"/>
            <a:ext cx="1737360" cy="347472"/>
          </a:xfrm>
          <a:prstGeom prst="rect">
            <a:avLst/>
          </a:prstGeom>
          <a:noFill/>
          <a:ln/>
        </p:spPr>
        <p:txBody>
          <a:bodyPr wrap="square" lIns="0" tIns="0" rIns="0" bIns="0" rtlCol="0" anchor="ctr"/>
          <a:lstStyle/>
          <a:p>
            <a:pPr marL="0" indent="0">
              <a:buNone/>
            </a:pPr>
            <a:r>
              <a:rPr lang="en-US" sz="1300" b="1" dirty="0">
                <a:solidFill>
                  <a:srgbClr val="1C7293"/>
                </a:solidFill>
                <a:latin typeface="Cambria" pitchFamily="34" charset="0"/>
                <a:ea typeface="Cambria" pitchFamily="34" charset="-122"/>
                <a:cs typeface="Cambria" pitchFamily="34" charset="-120"/>
              </a:rPr>
              <a:t>B / β</a:t>
            </a:r>
            <a:endParaRPr lang="en-US" sz="1300" dirty="0"/>
          </a:p>
        </p:txBody>
      </p:sp>
      <p:sp>
        <p:nvSpPr>
          <p:cNvPr id="13" name="Text 11">
            <a:extLst>
              <a:ext uri="{FF2B5EF4-FFF2-40B4-BE49-F238E27FC236}">
                <a16:creationId xmlns:a16="http://schemas.microsoft.com/office/drawing/2014/main" id="{68C6D69B-80F2-65EE-68B8-3A79ED7CDEA6}"/>
              </a:ext>
            </a:extLst>
          </p:cNvPr>
          <p:cNvSpPr/>
          <p:nvPr/>
        </p:nvSpPr>
        <p:spPr>
          <a:xfrm>
            <a:off x="2560320" y="2240280"/>
            <a:ext cx="1737360" cy="2606040"/>
          </a:xfrm>
          <a:prstGeom prst="rect">
            <a:avLst/>
          </a:prstGeom>
          <a:noFill/>
          <a:ln/>
        </p:spPr>
        <p:txBody>
          <a:bodyPr wrap="square" lIns="0" tIns="0" rIns="0" bIns="0" rtlCol="0" anchor="t"/>
          <a:lstStyle/>
          <a:p>
            <a:pPr marL="0" indent="0">
              <a:buNone/>
            </a:pPr>
            <a:r>
              <a:rPr lang="en-US" sz="1200" dirty="0">
                <a:solidFill>
                  <a:srgbClr val="1A2D3D"/>
                </a:solidFill>
                <a:latin typeface="Calibri" pitchFamily="34" charset="0"/>
                <a:ea typeface="Calibri" pitchFamily="34" charset="-122"/>
                <a:cs typeface="Calibri" pitchFamily="34" charset="-120"/>
              </a:rPr>
              <a:t>B = unstandardised coefficient (units of X).</a:t>
            </a:r>
            <a:endParaRPr lang="en-US" sz="1200" dirty="0"/>
          </a:p>
          <a:p>
            <a:pPr marL="0" indent="0">
              <a:buNone/>
            </a:pPr>
            <a:endParaRPr lang="en-US" sz="1200" dirty="0"/>
          </a:p>
          <a:p>
            <a:pPr marL="0" indent="0">
              <a:buNone/>
            </a:pPr>
            <a:r>
              <a:rPr lang="en-US" sz="1200" dirty="0">
                <a:solidFill>
                  <a:srgbClr val="1A2D3D"/>
                </a:solidFill>
                <a:latin typeface="Calibri" pitchFamily="34" charset="0"/>
                <a:ea typeface="Calibri" pitchFamily="34" charset="-122"/>
                <a:cs typeface="Calibri" pitchFamily="34" charset="-120"/>
              </a:rPr>
              <a:t>β = standardised (SD units) — compare relative importance across IVs.</a:t>
            </a:r>
            <a:endParaRPr lang="en-US" sz="1200" dirty="0"/>
          </a:p>
        </p:txBody>
      </p:sp>
      <p:sp>
        <p:nvSpPr>
          <p:cNvPr id="14" name="Shape 12">
            <a:extLst>
              <a:ext uri="{FF2B5EF4-FFF2-40B4-BE49-F238E27FC236}">
                <a16:creationId xmlns:a16="http://schemas.microsoft.com/office/drawing/2014/main" id="{F05F277D-C2F9-FC4F-7B5B-50DE25EA3EED}"/>
              </a:ext>
            </a:extLst>
          </p:cNvPr>
          <p:cNvSpPr/>
          <p:nvPr/>
        </p:nvSpPr>
        <p:spPr>
          <a:xfrm>
            <a:off x="4434840" y="1828800"/>
            <a:ext cx="1920240" cy="3108960"/>
          </a:xfrm>
          <a:prstGeom prst="rect">
            <a:avLst/>
          </a:prstGeom>
          <a:solidFill>
            <a:srgbClr val="FFFFFF"/>
          </a:solidFill>
          <a:ln w="12700">
            <a:solidFill>
              <a:srgbClr val="D6E4EC"/>
            </a:solidFill>
            <a:prstDash val="solid"/>
          </a:ln>
          <a:effectLst>
            <a:outerShdw blurRad="76200" dist="25400" dir="8100000" algn="bl" rotWithShape="0">
              <a:srgbClr val="000000">
                <a:alpha val="10000"/>
              </a:srgbClr>
            </a:outerShdw>
          </a:effectLst>
        </p:spPr>
        <p:txBody>
          <a:bodyPr/>
          <a:lstStyle/>
          <a:p>
            <a:endParaRPr lang="en-US"/>
          </a:p>
        </p:txBody>
      </p:sp>
      <p:sp>
        <p:nvSpPr>
          <p:cNvPr id="15" name="Shape 13">
            <a:extLst>
              <a:ext uri="{FF2B5EF4-FFF2-40B4-BE49-F238E27FC236}">
                <a16:creationId xmlns:a16="http://schemas.microsoft.com/office/drawing/2014/main" id="{D45249A6-C720-94B9-D6E6-45DFE9BED914}"/>
              </a:ext>
            </a:extLst>
          </p:cNvPr>
          <p:cNvSpPr/>
          <p:nvPr/>
        </p:nvSpPr>
        <p:spPr>
          <a:xfrm>
            <a:off x="4434840" y="1828800"/>
            <a:ext cx="64008" cy="3108960"/>
          </a:xfrm>
          <a:prstGeom prst="rect">
            <a:avLst/>
          </a:prstGeom>
          <a:solidFill>
            <a:srgbClr val="E8A838"/>
          </a:solidFill>
          <a:ln w="12700">
            <a:solidFill>
              <a:srgbClr val="E8A838"/>
            </a:solidFill>
            <a:prstDash val="solid"/>
          </a:ln>
        </p:spPr>
        <p:txBody>
          <a:bodyPr/>
          <a:lstStyle/>
          <a:p>
            <a:endParaRPr lang="en-US"/>
          </a:p>
        </p:txBody>
      </p:sp>
      <p:sp>
        <p:nvSpPr>
          <p:cNvPr id="16" name="Text 14">
            <a:extLst>
              <a:ext uri="{FF2B5EF4-FFF2-40B4-BE49-F238E27FC236}">
                <a16:creationId xmlns:a16="http://schemas.microsoft.com/office/drawing/2014/main" id="{9481ECDF-62B8-4E55-E0DE-56B1DD5F9616}"/>
              </a:ext>
            </a:extLst>
          </p:cNvPr>
          <p:cNvSpPr/>
          <p:nvPr/>
        </p:nvSpPr>
        <p:spPr>
          <a:xfrm>
            <a:off x="4572000" y="1901952"/>
            <a:ext cx="1737360" cy="347472"/>
          </a:xfrm>
          <a:prstGeom prst="rect">
            <a:avLst/>
          </a:prstGeom>
          <a:noFill/>
          <a:ln/>
        </p:spPr>
        <p:txBody>
          <a:bodyPr wrap="square" lIns="0" tIns="0" rIns="0" bIns="0" rtlCol="0" anchor="ctr"/>
          <a:lstStyle/>
          <a:p>
            <a:pPr marL="0" indent="0">
              <a:buNone/>
            </a:pPr>
            <a:r>
              <a:rPr lang="en-US" sz="1300" b="1" dirty="0">
                <a:solidFill>
                  <a:srgbClr val="E8A838"/>
                </a:solidFill>
                <a:latin typeface="Cambria" pitchFamily="34" charset="0"/>
                <a:ea typeface="Cambria" pitchFamily="34" charset="-122"/>
                <a:cs typeface="Cambria" pitchFamily="34" charset="-120"/>
              </a:rPr>
              <a:t>sr²</a:t>
            </a:r>
            <a:endParaRPr lang="en-US" sz="1300" dirty="0"/>
          </a:p>
        </p:txBody>
      </p:sp>
      <p:sp>
        <p:nvSpPr>
          <p:cNvPr id="17" name="Text 15">
            <a:extLst>
              <a:ext uri="{FF2B5EF4-FFF2-40B4-BE49-F238E27FC236}">
                <a16:creationId xmlns:a16="http://schemas.microsoft.com/office/drawing/2014/main" id="{51755B8E-52EA-F85B-6092-F0BAE61187CD}"/>
              </a:ext>
            </a:extLst>
          </p:cNvPr>
          <p:cNvSpPr/>
          <p:nvPr/>
        </p:nvSpPr>
        <p:spPr>
          <a:xfrm>
            <a:off x="4572000" y="2240280"/>
            <a:ext cx="1737360" cy="2606040"/>
          </a:xfrm>
          <a:prstGeom prst="rect">
            <a:avLst/>
          </a:prstGeom>
          <a:noFill/>
          <a:ln/>
        </p:spPr>
        <p:txBody>
          <a:bodyPr wrap="square" lIns="0" tIns="0" rIns="0" bIns="0" rtlCol="0" anchor="t"/>
          <a:lstStyle/>
          <a:p>
            <a:pPr marL="0" indent="0">
              <a:buNone/>
            </a:pPr>
            <a:r>
              <a:rPr lang="en-US" sz="1200" dirty="0">
                <a:solidFill>
                  <a:srgbClr val="1A2D3D"/>
                </a:solidFill>
                <a:latin typeface="Calibri" pitchFamily="34" charset="0"/>
                <a:ea typeface="Calibri" pitchFamily="34" charset="-122"/>
                <a:cs typeface="Calibri" pitchFamily="34" charset="-120"/>
              </a:rPr>
              <a:t>Squared semi-partial correlation — unique variance explained by each IV, controlling others. True unique contribution.</a:t>
            </a:r>
            <a:endParaRPr lang="en-US" sz="1200" dirty="0"/>
          </a:p>
        </p:txBody>
      </p:sp>
      <p:sp>
        <p:nvSpPr>
          <p:cNvPr id="18" name="Shape 16">
            <a:extLst>
              <a:ext uri="{FF2B5EF4-FFF2-40B4-BE49-F238E27FC236}">
                <a16:creationId xmlns:a16="http://schemas.microsoft.com/office/drawing/2014/main" id="{2E4A9F55-9509-7E10-7A87-AC065F21E83B}"/>
              </a:ext>
            </a:extLst>
          </p:cNvPr>
          <p:cNvSpPr/>
          <p:nvPr/>
        </p:nvSpPr>
        <p:spPr>
          <a:xfrm>
            <a:off x="6446520" y="1828800"/>
            <a:ext cx="1920240" cy="3108960"/>
          </a:xfrm>
          <a:prstGeom prst="rect">
            <a:avLst/>
          </a:prstGeom>
          <a:solidFill>
            <a:srgbClr val="FFFFFF"/>
          </a:solidFill>
          <a:ln w="12700">
            <a:solidFill>
              <a:srgbClr val="D6E4EC"/>
            </a:solidFill>
            <a:prstDash val="solid"/>
          </a:ln>
          <a:effectLst>
            <a:outerShdw blurRad="76200" dist="25400" dir="8100000" algn="bl" rotWithShape="0">
              <a:srgbClr val="000000">
                <a:alpha val="10000"/>
              </a:srgbClr>
            </a:outerShdw>
          </a:effectLst>
        </p:spPr>
        <p:txBody>
          <a:bodyPr/>
          <a:lstStyle/>
          <a:p>
            <a:endParaRPr lang="en-US"/>
          </a:p>
        </p:txBody>
      </p:sp>
      <p:sp>
        <p:nvSpPr>
          <p:cNvPr id="19" name="Shape 17">
            <a:extLst>
              <a:ext uri="{FF2B5EF4-FFF2-40B4-BE49-F238E27FC236}">
                <a16:creationId xmlns:a16="http://schemas.microsoft.com/office/drawing/2014/main" id="{F58B9E23-0C5E-30C7-DD9A-398081F255A7}"/>
              </a:ext>
            </a:extLst>
          </p:cNvPr>
          <p:cNvSpPr/>
          <p:nvPr/>
        </p:nvSpPr>
        <p:spPr>
          <a:xfrm>
            <a:off x="6446520" y="1828800"/>
            <a:ext cx="64008" cy="3108960"/>
          </a:xfrm>
          <a:prstGeom prst="rect">
            <a:avLst/>
          </a:prstGeom>
          <a:solidFill>
            <a:srgbClr val="065A82"/>
          </a:solidFill>
          <a:ln w="12700">
            <a:solidFill>
              <a:srgbClr val="065A82"/>
            </a:solidFill>
            <a:prstDash val="solid"/>
          </a:ln>
        </p:spPr>
        <p:txBody>
          <a:bodyPr/>
          <a:lstStyle/>
          <a:p>
            <a:endParaRPr lang="en-US"/>
          </a:p>
        </p:txBody>
      </p:sp>
      <p:sp>
        <p:nvSpPr>
          <p:cNvPr id="20" name="Text 18">
            <a:extLst>
              <a:ext uri="{FF2B5EF4-FFF2-40B4-BE49-F238E27FC236}">
                <a16:creationId xmlns:a16="http://schemas.microsoft.com/office/drawing/2014/main" id="{C7AC58DC-E10B-B3B1-FD7B-445624E7D5B3}"/>
              </a:ext>
            </a:extLst>
          </p:cNvPr>
          <p:cNvSpPr/>
          <p:nvPr/>
        </p:nvSpPr>
        <p:spPr>
          <a:xfrm>
            <a:off x="6583680" y="1901952"/>
            <a:ext cx="1737360" cy="347472"/>
          </a:xfrm>
          <a:prstGeom prst="rect">
            <a:avLst/>
          </a:prstGeom>
          <a:noFill/>
          <a:ln/>
        </p:spPr>
        <p:txBody>
          <a:bodyPr wrap="square" lIns="0" tIns="0" rIns="0" bIns="0" rtlCol="0" anchor="ctr"/>
          <a:lstStyle/>
          <a:p>
            <a:pPr marL="0" indent="0">
              <a:buNone/>
            </a:pPr>
            <a:r>
              <a:rPr lang="en-US" sz="1300" b="1" dirty="0">
                <a:solidFill>
                  <a:srgbClr val="065A82"/>
                </a:solidFill>
                <a:latin typeface="Cambria" pitchFamily="34" charset="0"/>
                <a:ea typeface="Cambria" pitchFamily="34" charset="-122"/>
                <a:cs typeface="Cambria" pitchFamily="34" charset="-120"/>
              </a:rPr>
              <a:t>F &amp; t</a:t>
            </a:r>
            <a:endParaRPr lang="en-US" sz="1300" dirty="0"/>
          </a:p>
        </p:txBody>
      </p:sp>
      <p:sp>
        <p:nvSpPr>
          <p:cNvPr id="21" name="Text 19">
            <a:extLst>
              <a:ext uri="{FF2B5EF4-FFF2-40B4-BE49-F238E27FC236}">
                <a16:creationId xmlns:a16="http://schemas.microsoft.com/office/drawing/2014/main" id="{F9A2A4A0-CCAE-F154-E535-8F43238AA0CC}"/>
              </a:ext>
            </a:extLst>
          </p:cNvPr>
          <p:cNvSpPr/>
          <p:nvPr/>
        </p:nvSpPr>
        <p:spPr>
          <a:xfrm>
            <a:off x="6583680" y="2240280"/>
            <a:ext cx="1737360" cy="2606040"/>
          </a:xfrm>
          <a:prstGeom prst="rect">
            <a:avLst/>
          </a:prstGeom>
          <a:noFill/>
          <a:ln/>
        </p:spPr>
        <p:txBody>
          <a:bodyPr wrap="square" lIns="0" tIns="0" rIns="0" bIns="0" rtlCol="0" anchor="t"/>
          <a:lstStyle/>
          <a:p>
            <a:pPr marL="0" indent="0">
              <a:buNone/>
            </a:pPr>
            <a:r>
              <a:rPr lang="en-US" sz="1200" dirty="0">
                <a:solidFill>
                  <a:srgbClr val="1A2D3D"/>
                </a:solidFill>
                <a:latin typeface="Calibri" pitchFamily="34" charset="0"/>
                <a:ea typeface="Calibri" pitchFamily="34" charset="-122"/>
                <a:cs typeface="Calibri" pitchFamily="34" charset="-120"/>
              </a:rPr>
              <a:t>Overall model significance: F-test.</a:t>
            </a:r>
            <a:endParaRPr lang="en-US" sz="1200" dirty="0"/>
          </a:p>
          <a:p>
            <a:pPr marL="0" indent="0">
              <a:buNone/>
            </a:pPr>
            <a:endParaRPr lang="en-US" sz="1200" dirty="0"/>
          </a:p>
          <a:p>
            <a:pPr marL="0" indent="0">
              <a:buNone/>
            </a:pPr>
            <a:r>
              <a:rPr lang="en-US" sz="1200" dirty="0">
                <a:solidFill>
                  <a:srgbClr val="1A2D3D"/>
                </a:solidFill>
                <a:latin typeface="Calibri" pitchFamily="34" charset="0"/>
                <a:ea typeface="Calibri" pitchFamily="34" charset="-122"/>
                <a:cs typeface="Calibri" pitchFamily="34" charset="-120"/>
              </a:rPr>
              <a:t>Individual predictor significance: t-test on each B coefficient.</a:t>
            </a:r>
            <a:endParaRPr lang="en-US" sz="1200" dirty="0"/>
          </a:p>
        </p:txBody>
      </p:sp>
    </p:spTree>
    <p:extLst>
      <p:ext uri="{BB962C8B-B14F-4D97-AF65-F5344CB8AC3E}">
        <p14:creationId xmlns:p14="http://schemas.microsoft.com/office/powerpoint/2010/main" val="251465553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28090"/>
          </a:solidFill>
          <a:ln/>
        </p:spPr>
        <p:txBody>
          <a:bodyPr/>
          <a:lstStyle/>
          <a:p>
            <a:endParaRPr lang="en-US"/>
          </a:p>
        </p:txBody>
      </p:sp>
      <p:sp>
        <p:nvSpPr>
          <p:cNvPr id="3" name="Text 1"/>
          <p:cNvSpPr/>
          <p:nvPr/>
        </p:nvSpPr>
        <p:spPr>
          <a:xfrm>
            <a:off x="365760" y="0"/>
            <a:ext cx="8229600" cy="1005840"/>
          </a:xfrm>
          <a:prstGeom prst="rect">
            <a:avLst/>
          </a:prstGeom>
          <a:noFill/>
          <a:ln/>
        </p:spPr>
        <p:txBody>
          <a:bodyPr wrap="square" rtlCol="0" anchor="ctr"/>
          <a:lstStyle/>
          <a:p>
            <a:pPr marL="0" indent="0">
              <a:buNone/>
            </a:pPr>
            <a:r>
              <a:rPr lang="en-US" sz="2200" b="1" dirty="0">
                <a:solidFill>
                  <a:srgbClr val="FFFFFF"/>
                </a:solidFill>
                <a:latin typeface="Georgia" pitchFamily="34" charset="0"/>
                <a:ea typeface="Georgia" pitchFamily="34" charset="-122"/>
                <a:cs typeface="Georgia" pitchFamily="34" charset="-120"/>
              </a:rPr>
              <a:t>Multiple Linear Regression</a:t>
            </a:r>
            <a:endParaRPr lang="en-US" sz="2200" dirty="0"/>
          </a:p>
        </p:txBody>
      </p:sp>
      <p:sp>
        <p:nvSpPr>
          <p:cNvPr id="4" name="Shape 2"/>
          <p:cNvSpPr/>
          <p:nvPr/>
        </p:nvSpPr>
        <p:spPr>
          <a:xfrm>
            <a:off x="274320" y="1097280"/>
            <a:ext cx="8595360" cy="731520"/>
          </a:xfrm>
          <a:prstGeom prst="rect">
            <a:avLst/>
          </a:prstGeom>
          <a:solidFill>
            <a:srgbClr val="023E5C"/>
          </a:solidFill>
          <a:ln w="12700">
            <a:solidFill>
              <a:srgbClr val="023E5C"/>
            </a:solidFill>
            <a:prstDash val="solid"/>
          </a:ln>
          <a:effectLst>
            <a:outerShdw blurRad="101600" dist="38100" dir="8100000" algn="bl" rotWithShape="0">
              <a:srgbClr val="000000">
                <a:alpha val="12000"/>
              </a:srgbClr>
            </a:outerShdw>
          </a:effectLst>
        </p:spPr>
        <p:txBody>
          <a:bodyPr/>
          <a:lstStyle/>
          <a:p>
            <a:endParaRPr lang="en-US"/>
          </a:p>
        </p:txBody>
      </p:sp>
      <p:sp>
        <p:nvSpPr>
          <p:cNvPr id="5" name="Text 3"/>
          <p:cNvSpPr/>
          <p:nvPr/>
        </p:nvSpPr>
        <p:spPr>
          <a:xfrm>
            <a:off x="274320" y="1097280"/>
            <a:ext cx="8595360" cy="731520"/>
          </a:xfrm>
          <a:prstGeom prst="rect">
            <a:avLst/>
          </a:prstGeom>
          <a:noFill/>
          <a:ln/>
        </p:spPr>
        <p:txBody>
          <a:bodyPr wrap="square" rtlCol="0" anchor="ctr"/>
          <a:lstStyle/>
          <a:p>
            <a:pPr marL="0" indent="0" algn="ctr">
              <a:buNone/>
            </a:pPr>
            <a:r>
              <a:rPr lang="en-US" sz="1800" b="1" dirty="0">
                <a:solidFill>
                  <a:srgbClr val="02C39A"/>
                </a:solidFill>
                <a:latin typeface="Calibri" pitchFamily="34" charset="0"/>
                <a:ea typeface="Calibri" pitchFamily="34" charset="-122"/>
                <a:cs typeface="Calibri" pitchFamily="34" charset="-120"/>
              </a:rPr>
              <a:t>Y = β₀ + β₁X₁ + β₂X₂ + ... + βₖXₖ + ε</a:t>
            </a:r>
            <a:endParaRPr lang="en-US" sz="1800" dirty="0"/>
          </a:p>
        </p:txBody>
      </p:sp>
      <p:sp>
        <p:nvSpPr>
          <p:cNvPr id="6" name="Shape 4"/>
          <p:cNvSpPr/>
          <p:nvPr/>
        </p:nvSpPr>
        <p:spPr>
          <a:xfrm>
            <a:off x="274320" y="2011680"/>
            <a:ext cx="4251960" cy="822960"/>
          </a:xfrm>
          <a:prstGeom prst="rect">
            <a:avLst/>
          </a:prstGeom>
          <a:solidFill>
            <a:srgbClr val="E8F4F5"/>
          </a:solidFill>
          <a:ln w="12700">
            <a:solidFill>
              <a:srgbClr val="DDDDDD"/>
            </a:solidFill>
            <a:prstDash val="solid"/>
          </a:ln>
          <a:effectLst>
            <a:outerShdw blurRad="101600" dist="38100" dir="8100000" algn="bl" rotWithShape="0">
              <a:srgbClr val="000000">
                <a:alpha val="12000"/>
              </a:srgbClr>
            </a:outerShdw>
          </a:effectLst>
        </p:spPr>
        <p:txBody>
          <a:bodyPr/>
          <a:lstStyle/>
          <a:p>
            <a:endParaRPr lang="en-US"/>
          </a:p>
        </p:txBody>
      </p:sp>
      <p:sp>
        <p:nvSpPr>
          <p:cNvPr id="7" name="Shape 5"/>
          <p:cNvSpPr/>
          <p:nvPr/>
        </p:nvSpPr>
        <p:spPr>
          <a:xfrm>
            <a:off x="274320" y="2011680"/>
            <a:ext cx="91440" cy="822960"/>
          </a:xfrm>
          <a:prstGeom prst="rect">
            <a:avLst/>
          </a:prstGeom>
          <a:solidFill>
            <a:srgbClr val="028090"/>
          </a:solidFill>
          <a:ln w="12700">
            <a:solidFill>
              <a:srgbClr val="028090"/>
            </a:solidFill>
            <a:prstDash val="solid"/>
          </a:ln>
        </p:spPr>
        <p:txBody>
          <a:bodyPr/>
          <a:lstStyle/>
          <a:p>
            <a:endParaRPr lang="en-US"/>
          </a:p>
        </p:txBody>
      </p:sp>
      <p:sp>
        <p:nvSpPr>
          <p:cNvPr id="8" name="Text 6"/>
          <p:cNvSpPr/>
          <p:nvPr/>
        </p:nvSpPr>
        <p:spPr>
          <a:xfrm>
            <a:off x="457200" y="2057400"/>
            <a:ext cx="3977640" cy="320040"/>
          </a:xfrm>
          <a:prstGeom prst="rect">
            <a:avLst/>
          </a:prstGeom>
          <a:noFill/>
          <a:ln/>
        </p:spPr>
        <p:txBody>
          <a:bodyPr wrap="square" rtlCol="0" anchor="ctr"/>
          <a:lstStyle/>
          <a:p>
            <a:pPr marL="0" indent="0">
              <a:buNone/>
            </a:pPr>
            <a:r>
              <a:rPr lang="en-US" sz="1200" b="1" dirty="0">
                <a:solidFill>
                  <a:srgbClr val="023E5C"/>
                </a:solidFill>
                <a:latin typeface="Calibri" pitchFamily="34" charset="0"/>
                <a:ea typeface="Calibri" pitchFamily="34" charset="-122"/>
                <a:cs typeface="Calibri" pitchFamily="34" charset="-120"/>
              </a:rPr>
              <a:t>When to use:</a:t>
            </a:r>
            <a:endParaRPr lang="en-US" sz="1200" dirty="0"/>
          </a:p>
        </p:txBody>
      </p:sp>
      <p:sp>
        <p:nvSpPr>
          <p:cNvPr id="9" name="Text 7"/>
          <p:cNvSpPr/>
          <p:nvPr/>
        </p:nvSpPr>
        <p:spPr>
          <a:xfrm>
            <a:off x="457200" y="2395728"/>
            <a:ext cx="3977640" cy="384048"/>
          </a:xfrm>
          <a:prstGeom prst="rect">
            <a:avLst/>
          </a:prstGeom>
          <a:noFill/>
          <a:ln/>
        </p:spPr>
        <p:txBody>
          <a:bodyPr wrap="square" rtlCol="0" anchor="ctr"/>
          <a:lstStyle/>
          <a:p>
            <a:pPr marL="0" indent="0">
              <a:buNone/>
            </a:pPr>
            <a:r>
              <a:rPr lang="en-US" sz="1100" dirty="0">
                <a:solidFill>
                  <a:srgbClr val="3D6470"/>
                </a:solidFill>
                <a:latin typeface="Calibri" pitchFamily="34" charset="0"/>
                <a:ea typeface="Calibri" pitchFamily="34" charset="-122"/>
                <a:cs typeface="Calibri" pitchFamily="34" charset="-120"/>
              </a:rPr>
              <a:t>Continuous outcome (e.g., SBP, BMI, length of stay, cost)</a:t>
            </a:r>
            <a:endParaRPr lang="en-US" sz="1100" dirty="0"/>
          </a:p>
        </p:txBody>
      </p:sp>
      <p:sp>
        <p:nvSpPr>
          <p:cNvPr id="10" name="Shape 8"/>
          <p:cNvSpPr/>
          <p:nvPr/>
        </p:nvSpPr>
        <p:spPr>
          <a:xfrm>
            <a:off x="274320" y="2971800"/>
            <a:ext cx="4251960" cy="822960"/>
          </a:xfrm>
          <a:prstGeom prst="rect">
            <a:avLst/>
          </a:prstGeom>
          <a:solidFill>
            <a:srgbClr val="E8F4F5"/>
          </a:solidFill>
          <a:ln w="12700">
            <a:solidFill>
              <a:srgbClr val="DDDDDD"/>
            </a:solidFill>
            <a:prstDash val="solid"/>
          </a:ln>
          <a:effectLst>
            <a:outerShdw blurRad="101600" dist="38100" dir="8100000" algn="bl" rotWithShape="0">
              <a:srgbClr val="000000">
                <a:alpha val="12000"/>
              </a:srgbClr>
            </a:outerShdw>
          </a:effectLst>
        </p:spPr>
        <p:txBody>
          <a:bodyPr/>
          <a:lstStyle/>
          <a:p>
            <a:endParaRPr lang="en-US"/>
          </a:p>
        </p:txBody>
      </p:sp>
      <p:sp>
        <p:nvSpPr>
          <p:cNvPr id="11" name="Shape 9"/>
          <p:cNvSpPr/>
          <p:nvPr/>
        </p:nvSpPr>
        <p:spPr>
          <a:xfrm>
            <a:off x="274320" y="2971800"/>
            <a:ext cx="91440" cy="822960"/>
          </a:xfrm>
          <a:prstGeom prst="rect">
            <a:avLst/>
          </a:prstGeom>
          <a:solidFill>
            <a:srgbClr val="028090"/>
          </a:solidFill>
          <a:ln w="12700">
            <a:solidFill>
              <a:srgbClr val="028090"/>
            </a:solidFill>
            <a:prstDash val="solid"/>
          </a:ln>
        </p:spPr>
        <p:txBody>
          <a:bodyPr/>
          <a:lstStyle/>
          <a:p>
            <a:endParaRPr lang="en-US"/>
          </a:p>
        </p:txBody>
      </p:sp>
      <p:sp>
        <p:nvSpPr>
          <p:cNvPr id="12" name="Text 10"/>
          <p:cNvSpPr/>
          <p:nvPr/>
        </p:nvSpPr>
        <p:spPr>
          <a:xfrm>
            <a:off x="457200" y="3017520"/>
            <a:ext cx="3977640" cy="320040"/>
          </a:xfrm>
          <a:prstGeom prst="rect">
            <a:avLst/>
          </a:prstGeom>
          <a:noFill/>
          <a:ln/>
        </p:spPr>
        <p:txBody>
          <a:bodyPr wrap="square" rtlCol="0" anchor="ctr"/>
          <a:lstStyle/>
          <a:p>
            <a:pPr marL="0" indent="0">
              <a:buNone/>
            </a:pPr>
            <a:r>
              <a:rPr lang="en-US" sz="1200" b="1" dirty="0">
                <a:solidFill>
                  <a:srgbClr val="023E5C"/>
                </a:solidFill>
                <a:latin typeface="Calibri" pitchFamily="34" charset="0"/>
                <a:ea typeface="Calibri" pitchFamily="34" charset="-122"/>
                <a:cs typeface="Calibri" pitchFamily="34" charset="-120"/>
              </a:rPr>
              <a:t>Key assumption:</a:t>
            </a:r>
            <a:endParaRPr lang="en-US" sz="1200" dirty="0"/>
          </a:p>
        </p:txBody>
      </p:sp>
      <p:sp>
        <p:nvSpPr>
          <p:cNvPr id="13" name="Text 11"/>
          <p:cNvSpPr/>
          <p:nvPr/>
        </p:nvSpPr>
        <p:spPr>
          <a:xfrm>
            <a:off x="457200" y="3355848"/>
            <a:ext cx="3977640" cy="384048"/>
          </a:xfrm>
          <a:prstGeom prst="rect">
            <a:avLst/>
          </a:prstGeom>
          <a:noFill/>
          <a:ln/>
        </p:spPr>
        <p:txBody>
          <a:bodyPr wrap="square" rtlCol="0" anchor="ctr"/>
          <a:lstStyle/>
          <a:p>
            <a:pPr marL="0" indent="0">
              <a:buNone/>
            </a:pPr>
            <a:r>
              <a:rPr lang="en-US" sz="1100" dirty="0">
                <a:solidFill>
                  <a:srgbClr val="3D6470"/>
                </a:solidFill>
                <a:latin typeface="Calibri" pitchFamily="34" charset="0"/>
                <a:ea typeface="Calibri" pitchFamily="34" charset="-122"/>
                <a:cs typeface="Calibri" pitchFamily="34" charset="-120"/>
              </a:rPr>
              <a:t>Outcome is normally distributed; linear relationship; homoscedasticity</a:t>
            </a:r>
            <a:endParaRPr lang="en-US" sz="1100" dirty="0"/>
          </a:p>
        </p:txBody>
      </p:sp>
      <p:sp>
        <p:nvSpPr>
          <p:cNvPr id="14" name="Shape 12"/>
          <p:cNvSpPr/>
          <p:nvPr/>
        </p:nvSpPr>
        <p:spPr>
          <a:xfrm>
            <a:off x="274320" y="3931920"/>
            <a:ext cx="4251960" cy="822960"/>
          </a:xfrm>
          <a:prstGeom prst="rect">
            <a:avLst/>
          </a:prstGeom>
          <a:solidFill>
            <a:srgbClr val="E8F4F5"/>
          </a:solidFill>
          <a:ln w="12700">
            <a:solidFill>
              <a:srgbClr val="DDDDDD"/>
            </a:solidFill>
            <a:prstDash val="solid"/>
          </a:ln>
          <a:effectLst>
            <a:outerShdw blurRad="101600" dist="38100" dir="8100000" algn="bl" rotWithShape="0">
              <a:srgbClr val="000000">
                <a:alpha val="12000"/>
              </a:srgbClr>
            </a:outerShdw>
          </a:effectLst>
        </p:spPr>
        <p:txBody>
          <a:bodyPr/>
          <a:lstStyle/>
          <a:p>
            <a:endParaRPr lang="en-US"/>
          </a:p>
        </p:txBody>
      </p:sp>
      <p:sp>
        <p:nvSpPr>
          <p:cNvPr id="15" name="Shape 13"/>
          <p:cNvSpPr/>
          <p:nvPr/>
        </p:nvSpPr>
        <p:spPr>
          <a:xfrm>
            <a:off x="274320" y="3931920"/>
            <a:ext cx="91440" cy="822960"/>
          </a:xfrm>
          <a:prstGeom prst="rect">
            <a:avLst/>
          </a:prstGeom>
          <a:solidFill>
            <a:srgbClr val="028090"/>
          </a:solidFill>
          <a:ln w="12700">
            <a:solidFill>
              <a:srgbClr val="028090"/>
            </a:solidFill>
            <a:prstDash val="solid"/>
          </a:ln>
        </p:spPr>
        <p:txBody>
          <a:bodyPr/>
          <a:lstStyle/>
          <a:p>
            <a:endParaRPr lang="en-US"/>
          </a:p>
        </p:txBody>
      </p:sp>
      <p:sp>
        <p:nvSpPr>
          <p:cNvPr id="16" name="Text 14"/>
          <p:cNvSpPr/>
          <p:nvPr/>
        </p:nvSpPr>
        <p:spPr>
          <a:xfrm>
            <a:off x="457200" y="3977640"/>
            <a:ext cx="3977640" cy="320040"/>
          </a:xfrm>
          <a:prstGeom prst="rect">
            <a:avLst/>
          </a:prstGeom>
          <a:noFill/>
          <a:ln/>
        </p:spPr>
        <p:txBody>
          <a:bodyPr wrap="square" rtlCol="0" anchor="ctr"/>
          <a:lstStyle/>
          <a:p>
            <a:pPr marL="0" indent="0">
              <a:buNone/>
            </a:pPr>
            <a:r>
              <a:rPr lang="en-US" sz="1200" b="1" dirty="0">
                <a:solidFill>
                  <a:srgbClr val="023E5C"/>
                </a:solidFill>
                <a:latin typeface="Calibri" pitchFamily="34" charset="0"/>
                <a:ea typeface="Calibri" pitchFamily="34" charset="-122"/>
                <a:cs typeface="Calibri" pitchFamily="34" charset="-120"/>
              </a:rPr>
              <a:t>Interpretation:</a:t>
            </a:r>
            <a:endParaRPr lang="en-US" sz="1200" dirty="0"/>
          </a:p>
        </p:txBody>
      </p:sp>
      <p:sp>
        <p:nvSpPr>
          <p:cNvPr id="17" name="Text 15"/>
          <p:cNvSpPr/>
          <p:nvPr/>
        </p:nvSpPr>
        <p:spPr>
          <a:xfrm>
            <a:off x="457200" y="4315968"/>
            <a:ext cx="3977640" cy="384048"/>
          </a:xfrm>
          <a:prstGeom prst="rect">
            <a:avLst/>
          </a:prstGeom>
          <a:noFill/>
          <a:ln/>
        </p:spPr>
        <p:txBody>
          <a:bodyPr wrap="square" rtlCol="0" anchor="ctr"/>
          <a:lstStyle/>
          <a:p>
            <a:pPr marL="0" indent="0">
              <a:buNone/>
            </a:pPr>
            <a:r>
              <a:rPr lang="en-US" sz="1100" dirty="0">
                <a:solidFill>
                  <a:srgbClr val="3D6470"/>
                </a:solidFill>
                <a:latin typeface="Calibri" pitchFamily="34" charset="0"/>
                <a:ea typeface="Calibri" pitchFamily="34" charset="-122"/>
                <a:cs typeface="Calibri" pitchFamily="34" charset="-120"/>
              </a:rPr>
              <a:t>β₁ = the change in Y for each unit increase in X₁, holding all other variables constant</a:t>
            </a:r>
            <a:endParaRPr lang="en-US" sz="1100" dirty="0"/>
          </a:p>
        </p:txBody>
      </p:sp>
      <p:sp>
        <p:nvSpPr>
          <p:cNvPr id="18" name="Shape 16"/>
          <p:cNvSpPr/>
          <p:nvPr/>
        </p:nvSpPr>
        <p:spPr>
          <a:xfrm>
            <a:off x="4709160" y="2011680"/>
            <a:ext cx="4251960" cy="822960"/>
          </a:xfrm>
          <a:prstGeom prst="rect">
            <a:avLst/>
          </a:prstGeom>
          <a:solidFill>
            <a:srgbClr val="E8F4F5"/>
          </a:solidFill>
          <a:ln w="12700">
            <a:solidFill>
              <a:srgbClr val="DDDDDD"/>
            </a:solidFill>
            <a:prstDash val="solid"/>
          </a:ln>
          <a:effectLst>
            <a:outerShdw blurRad="101600" dist="38100" dir="8100000" algn="bl" rotWithShape="0">
              <a:srgbClr val="000000">
                <a:alpha val="12000"/>
              </a:srgbClr>
            </a:outerShdw>
          </a:effectLst>
        </p:spPr>
        <p:txBody>
          <a:bodyPr/>
          <a:lstStyle/>
          <a:p>
            <a:endParaRPr lang="en-US"/>
          </a:p>
        </p:txBody>
      </p:sp>
      <p:sp>
        <p:nvSpPr>
          <p:cNvPr id="19" name="Shape 17"/>
          <p:cNvSpPr/>
          <p:nvPr/>
        </p:nvSpPr>
        <p:spPr>
          <a:xfrm>
            <a:off x="4709160" y="2011680"/>
            <a:ext cx="91440" cy="822960"/>
          </a:xfrm>
          <a:prstGeom prst="rect">
            <a:avLst/>
          </a:prstGeom>
          <a:solidFill>
            <a:srgbClr val="028090"/>
          </a:solidFill>
          <a:ln w="12700">
            <a:solidFill>
              <a:srgbClr val="028090"/>
            </a:solidFill>
            <a:prstDash val="solid"/>
          </a:ln>
        </p:spPr>
        <p:txBody>
          <a:bodyPr/>
          <a:lstStyle/>
          <a:p>
            <a:endParaRPr lang="en-US"/>
          </a:p>
        </p:txBody>
      </p:sp>
      <p:sp>
        <p:nvSpPr>
          <p:cNvPr id="20" name="Text 18"/>
          <p:cNvSpPr/>
          <p:nvPr/>
        </p:nvSpPr>
        <p:spPr>
          <a:xfrm>
            <a:off x="4892040" y="2057400"/>
            <a:ext cx="3977640" cy="320040"/>
          </a:xfrm>
          <a:prstGeom prst="rect">
            <a:avLst/>
          </a:prstGeom>
          <a:noFill/>
          <a:ln/>
        </p:spPr>
        <p:txBody>
          <a:bodyPr wrap="square" rtlCol="0" anchor="ctr"/>
          <a:lstStyle/>
          <a:p>
            <a:pPr marL="0" indent="0">
              <a:buNone/>
            </a:pPr>
            <a:r>
              <a:rPr lang="en-US" sz="1200" b="1" dirty="0">
                <a:solidFill>
                  <a:srgbClr val="023E5C"/>
                </a:solidFill>
                <a:latin typeface="Calibri" pitchFamily="34" charset="0"/>
                <a:ea typeface="Calibri" pitchFamily="34" charset="-122"/>
                <a:cs typeface="Calibri" pitchFamily="34" charset="-120"/>
              </a:rPr>
              <a:t>Goodness of fit:</a:t>
            </a:r>
            <a:endParaRPr lang="en-US" sz="1200" dirty="0"/>
          </a:p>
        </p:txBody>
      </p:sp>
      <p:sp>
        <p:nvSpPr>
          <p:cNvPr id="21" name="Text 19"/>
          <p:cNvSpPr/>
          <p:nvPr/>
        </p:nvSpPr>
        <p:spPr>
          <a:xfrm>
            <a:off x="4892040" y="2395728"/>
            <a:ext cx="3977640" cy="384048"/>
          </a:xfrm>
          <a:prstGeom prst="rect">
            <a:avLst/>
          </a:prstGeom>
          <a:noFill/>
          <a:ln/>
        </p:spPr>
        <p:txBody>
          <a:bodyPr wrap="square" rtlCol="0" anchor="ctr"/>
          <a:lstStyle/>
          <a:p>
            <a:pPr marL="0" indent="0">
              <a:buNone/>
            </a:pPr>
            <a:r>
              <a:rPr lang="en-US" sz="1100" dirty="0">
                <a:solidFill>
                  <a:srgbClr val="3D6470"/>
                </a:solidFill>
                <a:latin typeface="Calibri" pitchFamily="34" charset="0"/>
                <a:ea typeface="Calibri" pitchFamily="34" charset="-122"/>
                <a:cs typeface="Calibri" pitchFamily="34" charset="-120"/>
              </a:rPr>
              <a:t>R² — proportion of variance in outcome explained by model</a:t>
            </a:r>
            <a:endParaRPr lang="en-US" sz="1100" dirty="0"/>
          </a:p>
        </p:txBody>
      </p:sp>
      <p:sp>
        <p:nvSpPr>
          <p:cNvPr id="22" name="Shape 20"/>
          <p:cNvSpPr/>
          <p:nvPr/>
        </p:nvSpPr>
        <p:spPr>
          <a:xfrm>
            <a:off x="4709160" y="2971800"/>
            <a:ext cx="4251960" cy="822960"/>
          </a:xfrm>
          <a:prstGeom prst="rect">
            <a:avLst/>
          </a:prstGeom>
          <a:solidFill>
            <a:srgbClr val="E8F4F5"/>
          </a:solidFill>
          <a:ln w="12700">
            <a:solidFill>
              <a:srgbClr val="DDDDDD"/>
            </a:solidFill>
            <a:prstDash val="solid"/>
          </a:ln>
          <a:effectLst>
            <a:outerShdw blurRad="101600" dist="38100" dir="8100000" algn="bl" rotWithShape="0">
              <a:srgbClr val="000000">
                <a:alpha val="12000"/>
              </a:srgbClr>
            </a:outerShdw>
          </a:effectLst>
        </p:spPr>
        <p:txBody>
          <a:bodyPr/>
          <a:lstStyle/>
          <a:p>
            <a:endParaRPr lang="en-US"/>
          </a:p>
        </p:txBody>
      </p:sp>
      <p:sp>
        <p:nvSpPr>
          <p:cNvPr id="23" name="Shape 21"/>
          <p:cNvSpPr/>
          <p:nvPr/>
        </p:nvSpPr>
        <p:spPr>
          <a:xfrm>
            <a:off x="4709160" y="2971800"/>
            <a:ext cx="91440" cy="822960"/>
          </a:xfrm>
          <a:prstGeom prst="rect">
            <a:avLst/>
          </a:prstGeom>
          <a:solidFill>
            <a:srgbClr val="028090"/>
          </a:solidFill>
          <a:ln w="12700">
            <a:solidFill>
              <a:srgbClr val="028090"/>
            </a:solidFill>
            <a:prstDash val="solid"/>
          </a:ln>
        </p:spPr>
        <p:txBody>
          <a:bodyPr/>
          <a:lstStyle/>
          <a:p>
            <a:endParaRPr lang="en-US"/>
          </a:p>
        </p:txBody>
      </p:sp>
      <p:sp>
        <p:nvSpPr>
          <p:cNvPr id="24" name="Text 22"/>
          <p:cNvSpPr/>
          <p:nvPr/>
        </p:nvSpPr>
        <p:spPr>
          <a:xfrm>
            <a:off x="4892040" y="3017520"/>
            <a:ext cx="3977640" cy="320040"/>
          </a:xfrm>
          <a:prstGeom prst="rect">
            <a:avLst/>
          </a:prstGeom>
          <a:noFill/>
          <a:ln/>
        </p:spPr>
        <p:txBody>
          <a:bodyPr wrap="square" rtlCol="0" anchor="ctr"/>
          <a:lstStyle/>
          <a:p>
            <a:pPr marL="0" indent="0">
              <a:buNone/>
            </a:pPr>
            <a:r>
              <a:rPr lang="en-US" sz="1200" b="1" dirty="0">
                <a:solidFill>
                  <a:srgbClr val="023E5C"/>
                </a:solidFill>
                <a:latin typeface="Calibri" pitchFamily="34" charset="0"/>
                <a:ea typeface="Calibri" pitchFamily="34" charset="-122"/>
                <a:cs typeface="Calibri" pitchFamily="34" charset="-120"/>
              </a:rPr>
              <a:t>Adjusted R²:</a:t>
            </a:r>
            <a:endParaRPr lang="en-US" sz="1200" dirty="0"/>
          </a:p>
        </p:txBody>
      </p:sp>
      <p:sp>
        <p:nvSpPr>
          <p:cNvPr id="25" name="Text 23"/>
          <p:cNvSpPr/>
          <p:nvPr/>
        </p:nvSpPr>
        <p:spPr>
          <a:xfrm>
            <a:off x="4892040" y="3355848"/>
            <a:ext cx="3977640" cy="384048"/>
          </a:xfrm>
          <a:prstGeom prst="rect">
            <a:avLst/>
          </a:prstGeom>
          <a:noFill/>
          <a:ln/>
        </p:spPr>
        <p:txBody>
          <a:bodyPr wrap="square" rtlCol="0" anchor="ctr"/>
          <a:lstStyle/>
          <a:p>
            <a:pPr marL="0" indent="0">
              <a:buNone/>
            </a:pPr>
            <a:r>
              <a:rPr lang="en-US" sz="1100" dirty="0">
                <a:solidFill>
                  <a:srgbClr val="3D6470"/>
                </a:solidFill>
                <a:latin typeface="Calibri" pitchFamily="34" charset="0"/>
                <a:ea typeface="Calibri" pitchFamily="34" charset="-122"/>
                <a:cs typeface="Calibri" pitchFamily="34" charset="-120"/>
              </a:rPr>
              <a:t>Penalizes for adding unnecessary predictors</a:t>
            </a:r>
            <a:endParaRPr lang="en-US" sz="1100" dirty="0"/>
          </a:p>
        </p:txBody>
      </p:sp>
      <p:sp>
        <p:nvSpPr>
          <p:cNvPr id="26" name="Shape 24"/>
          <p:cNvSpPr/>
          <p:nvPr/>
        </p:nvSpPr>
        <p:spPr>
          <a:xfrm>
            <a:off x="4709160" y="3931920"/>
            <a:ext cx="4251960" cy="822960"/>
          </a:xfrm>
          <a:prstGeom prst="rect">
            <a:avLst/>
          </a:prstGeom>
          <a:solidFill>
            <a:srgbClr val="E8F4F5"/>
          </a:solidFill>
          <a:ln w="12700">
            <a:solidFill>
              <a:srgbClr val="DDDDDD"/>
            </a:solidFill>
            <a:prstDash val="solid"/>
          </a:ln>
          <a:effectLst>
            <a:outerShdw blurRad="101600" dist="38100" dir="8100000" algn="bl" rotWithShape="0">
              <a:srgbClr val="000000">
                <a:alpha val="12000"/>
              </a:srgbClr>
            </a:outerShdw>
          </a:effectLst>
        </p:spPr>
        <p:txBody>
          <a:bodyPr/>
          <a:lstStyle/>
          <a:p>
            <a:endParaRPr lang="en-US"/>
          </a:p>
        </p:txBody>
      </p:sp>
      <p:sp>
        <p:nvSpPr>
          <p:cNvPr id="27" name="Shape 25"/>
          <p:cNvSpPr/>
          <p:nvPr/>
        </p:nvSpPr>
        <p:spPr>
          <a:xfrm>
            <a:off x="4709160" y="3931920"/>
            <a:ext cx="91440" cy="822960"/>
          </a:xfrm>
          <a:prstGeom prst="rect">
            <a:avLst/>
          </a:prstGeom>
          <a:solidFill>
            <a:srgbClr val="028090"/>
          </a:solidFill>
          <a:ln w="12700">
            <a:solidFill>
              <a:srgbClr val="028090"/>
            </a:solidFill>
            <a:prstDash val="solid"/>
          </a:ln>
        </p:spPr>
        <p:txBody>
          <a:bodyPr/>
          <a:lstStyle/>
          <a:p>
            <a:endParaRPr lang="en-US"/>
          </a:p>
        </p:txBody>
      </p:sp>
      <p:sp>
        <p:nvSpPr>
          <p:cNvPr id="28" name="Text 26"/>
          <p:cNvSpPr/>
          <p:nvPr/>
        </p:nvSpPr>
        <p:spPr>
          <a:xfrm>
            <a:off x="4892040" y="3977640"/>
            <a:ext cx="3977640" cy="320040"/>
          </a:xfrm>
          <a:prstGeom prst="rect">
            <a:avLst/>
          </a:prstGeom>
          <a:noFill/>
          <a:ln/>
        </p:spPr>
        <p:txBody>
          <a:bodyPr wrap="square" rtlCol="0" anchor="ctr"/>
          <a:lstStyle/>
          <a:p>
            <a:pPr marL="0" indent="0">
              <a:buNone/>
            </a:pPr>
            <a:r>
              <a:rPr lang="en-US" sz="1200" b="1" dirty="0">
                <a:solidFill>
                  <a:srgbClr val="023E5C"/>
                </a:solidFill>
                <a:latin typeface="Calibri" pitchFamily="34" charset="0"/>
                <a:ea typeface="Calibri" pitchFamily="34" charset="-122"/>
                <a:cs typeface="Calibri" pitchFamily="34" charset="-120"/>
              </a:rPr>
              <a:t>Residuals:</a:t>
            </a:r>
            <a:endParaRPr lang="en-US" sz="1200" dirty="0"/>
          </a:p>
        </p:txBody>
      </p:sp>
      <p:sp>
        <p:nvSpPr>
          <p:cNvPr id="29" name="Text 27"/>
          <p:cNvSpPr/>
          <p:nvPr/>
        </p:nvSpPr>
        <p:spPr>
          <a:xfrm>
            <a:off x="4892040" y="4315968"/>
            <a:ext cx="3977640" cy="384048"/>
          </a:xfrm>
          <a:prstGeom prst="rect">
            <a:avLst/>
          </a:prstGeom>
          <a:noFill/>
          <a:ln/>
        </p:spPr>
        <p:txBody>
          <a:bodyPr wrap="square" rtlCol="0" anchor="ctr"/>
          <a:lstStyle/>
          <a:p>
            <a:pPr marL="0" indent="0">
              <a:buNone/>
            </a:pPr>
            <a:r>
              <a:rPr lang="en-US" sz="1100" dirty="0">
                <a:solidFill>
                  <a:srgbClr val="3D6470"/>
                </a:solidFill>
                <a:latin typeface="Calibri" pitchFamily="34" charset="0"/>
                <a:ea typeface="Calibri" pitchFamily="34" charset="-122"/>
                <a:cs typeface="Calibri" pitchFamily="34" charset="-120"/>
              </a:rPr>
              <a:t>ε = Y_observed − Y_predicted; should be normally distributed with mean 0</a:t>
            </a:r>
            <a:endParaRPr lang="en-US" sz="1100" dirty="0"/>
          </a:p>
        </p:txBody>
      </p:sp>
      <p:sp>
        <p:nvSpPr>
          <p:cNvPr id="30" name="Text 28"/>
          <p:cNvSpPr/>
          <p:nvPr/>
        </p:nvSpPr>
        <p:spPr>
          <a:xfrm>
            <a:off x="274320" y="4754880"/>
            <a:ext cx="8595360" cy="274320"/>
          </a:xfrm>
          <a:prstGeom prst="rect">
            <a:avLst/>
          </a:prstGeom>
          <a:noFill/>
          <a:ln/>
        </p:spPr>
        <p:txBody>
          <a:bodyPr wrap="square" rtlCol="0" anchor="ctr"/>
          <a:lstStyle/>
          <a:p>
            <a:pPr marL="0" indent="0" algn="ctr">
              <a:buNone/>
            </a:pPr>
            <a:r>
              <a:rPr lang="en-US" sz="1200" i="1" dirty="0">
                <a:solidFill>
                  <a:srgbClr val="3D6470"/>
                </a:solidFill>
                <a:latin typeface="Calibri" pitchFamily="34" charset="0"/>
                <a:ea typeface="Calibri" pitchFamily="34" charset="-122"/>
                <a:cs typeface="Calibri" pitchFamily="34" charset="-120"/>
              </a:rPr>
              <a:t>Example: SBP = 80 + 0.5(age) + 2.3(BMI) + 8.1(smoking) − 0.9(exercise_hrs/wk)</a:t>
            </a:r>
            <a:endParaRPr lang="en-US" sz="1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82296"/>
          </a:xfrm>
          <a:prstGeom prst="rect">
            <a:avLst/>
          </a:prstGeom>
          <a:solidFill>
            <a:srgbClr val="1E2761"/>
          </a:solidFill>
          <a:ln w="12700">
            <a:solidFill>
              <a:srgbClr val="1E2761"/>
            </a:solidFill>
            <a:prstDash val="solid"/>
          </a:ln>
        </p:spPr>
        <p:txBody>
          <a:bodyPr/>
          <a:lstStyle/>
          <a:p>
            <a:endParaRPr lang="en-US"/>
          </a:p>
        </p:txBody>
      </p:sp>
      <p:sp>
        <p:nvSpPr>
          <p:cNvPr id="3" name="Text 1"/>
          <p:cNvSpPr/>
          <p:nvPr/>
        </p:nvSpPr>
        <p:spPr>
          <a:xfrm>
            <a:off x="411480" y="137160"/>
            <a:ext cx="8321040" cy="658368"/>
          </a:xfrm>
          <a:prstGeom prst="rect">
            <a:avLst/>
          </a:prstGeom>
          <a:noFill/>
          <a:ln/>
        </p:spPr>
        <p:txBody>
          <a:bodyPr wrap="square" lIns="0" tIns="0" rIns="0" bIns="0" rtlCol="0" anchor="ctr"/>
          <a:lstStyle/>
          <a:p>
            <a:pPr marL="0" indent="0">
              <a:buNone/>
            </a:pPr>
            <a:r>
              <a:rPr lang="en-US" sz="2700" b="1" dirty="0">
                <a:solidFill>
                  <a:srgbClr val="1E2761"/>
                </a:solidFill>
                <a:latin typeface="Georgia" pitchFamily="34" charset="0"/>
                <a:ea typeface="Georgia" pitchFamily="34" charset="-122"/>
                <a:cs typeface="Georgia" pitchFamily="34" charset="-120"/>
              </a:rPr>
              <a:t>Multiple Linear Regression: Core Concepts</a:t>
            </a:r>
            <a:endParaRPr lang="en-US" sz="2700" dirty="0"/>
          </a:p>
        </p:txBody>
      </p:sp>
      <p:sp>
        <p:nvSpPr>
          <p:cNvPr id="4" name="Shape 2"/>
          <p:cNvSpPr/>
          <p:nvPr/>
        </p:nvSpPr>
        <p:spPr>
          <a:xfrm>
            <a:off x="365760" y="914400"/>
            <a:ext cx="8412480" cy="658368"/>
          </a:xfrm>
          <a:prstGeom prst="rect">
            <a:avLst/>
          </a:prstGeom>
          <a:solidFill>
            <a:srgbClr val="1E2761"/>
          </a:solidFill>
          <a:ln w="12700">
            <a:solidFill>
              <a:srgbClr val="1E2761"/>
            </a:solidFill>
            <a:prstDash val="solid"/>
          </a:ln>
        </p:spPr>
        <p:txBody>
          <a:bodyPr/>
          <a:lstStyle/>
          <a:p>
            <a:endParaRPr lang="en-US"/>
          </a:p>
        </p:txBody>
      </p:sp>
      <p:sp>
        <p:nvSpPr>
          <p:cNvPr id="5" name="Text 3"/>
          <p:cNvSpPr/>
          <p:nvPr/>
        </p:nvSpPr>
        <p:spPr>
          <a:xfrm>
            <a:off x="457200" y="950976"/>
            <a:ext cx="8229600" cy="585216"/>
          </a:xfrm>
          <a:prstGeom prst="rect">
            <a:avLst/>
          </a:prstGeom>
          <a:noFill/>
          <a:ln/>
        </p:spPr>
        <p:txBody>
          <a:bodyPr wrap="square" lIns="0" tIns="0" rIns="0" bIns="0" rtlCol="0" anchor="ctr"/>
          <a:lstStyle/>
          <a:p>
            <a:pPr marL="0" indent="0" algn="ctr">
              <a:buNone/>
            </a:pPr>
            <a:r>
              <a:rPr lang="en-US" sz="2200" b="1" dirty="0">
                <a:solidFill>
                  <a:srgbClr val="D4A843"/>
                </a:solidFill>
                <a:latin typeface="Georgia" pitchFamily="34" charset="0"/>
                <a:ea typeface="Georgia" pitchFamily="34" charset="-122"/>
                <a:cs typeface="Georgia" pitchFamily="34" charset="-120"/>
              </a:rPr>
              <a:t>Ŷ = B₀ + B₁X₁ + B₂X₂ + B₃X₃ + … + BₖXₖ + ε</a:t>
            </a:r>
            <a:endParaRPr lang="en-US" sz="2200" dirty="0"/>
          </a:p>
        </p:txBody>
      </p:sp>
      <p:sp>
        <p:nvSpPr>
          <p:cNvPr id="6" name="Shape 4"/>
          <p:cNvSpPr/>
          <p:nvPr/>
        </p:nvSpPr>
        <p:spPr>
          <a:xfrm>
            <a:off x="365760" y="1691640"/>
            <a:ext cx="1920240" cy="1280160"/>
          </a:xfrm>
          <a:prstGeom prst="rect">
            <a:avLst/>
          </a:prstGeom>
          <a:solidFill>
            <a:srgbClr val="1E2761"/>
          </a:solidFill>
          <a:ln w="12700">
            <a:solidFill>
              <a:srgbClr val="1E2761"/>
            </a:solidFill>
            <a:prstDash val="solid"/>
          </a:ln>
        </p:spPr>
        <p:txBody>
          <a:bodyPr/>
          <a:lstStyle/>
          <a:p>
            <a:endParaRPr lang="en-US"/>
          </a:p>
        </p:txBody>
      </p:sp>
      <p:sp>
        <p:nvSpPr>
          <p:cNvPr id="7" name="Text 5"/>
          <p:cNvSpPr/>
          <p:nvPr/>
        </p:nvSpPr>
        <p:spPr>
          <a:xfrm>
            <a:off x="365760" y="1783080"/>
            <a:ext cx="1920240" cy="731520"/>
          </a:xfrm>
          <a:prstGeom prst="rect">
            <a:avLst/>
          </a:prstGeom>
          <a:noFill/>
          <a:ln/>
        </p:spPr>
        <p:txBody>
          <a:bodyPr wrap="square" lIns="0" tIns="0" rIns="0" bIns="0" rtlCol="0" anchor="ctr"/>
          <a:lstStyle/>
          <a:p>
            <a:pPr marL="0" indent="0" algn="ctr">
              <a:buNone/>
            </a:pPr>
            <a:r>
              <a:rPr lang="en-US" sz="3400" b="1" dirty="0">
                <a:solidFill>
                  <a:srgbClr val="FFFFFF"/>
                </a:solidFill>
                <a:latin typeface="Georgia" pitchFamily="34" charset="0"/>
                <a:ea typeface="Georgia" pitchFamily="34" charset="-122"/>
                <a:cs typeface="Georgia" pitchFamily="34" charset="-120"/>
              </a:rPr>
              <a:t>R²</a:t>
            </a:r>
            <a:endParaRPr lang="en-US" sz="3400" dirty="0"/>
          </a:p>
        </p:txBody>
      </p:sp>
      <p:sp>
        <p:nvSpPr>
          <p:cNvPr id="8" name="Text 6"/>
          <p:cNvSpPr/>
          <p:nvPr/>
        </p:nvSpPr>
        <p:spPr>
          <a:xfrm>
            <a:off x="365760" y="2496312"/>
            <a:ext cx="1920240" cy="402336"/>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Variance explained</a:t>
            </a:r>
            <a:endParaRPr lang="en-US" sz="1100" dirty="0"/>
          </a:p>
          <a:p>
            <a:pPr marL="0" indent="0" algn="ctr">
              <a:buNone/>
            </a:pPr>
            <a:r>
              <a:rPr lang="en-US" sz="1100" dirty="0">
                <a:solidFill>
                  <a:srgbClr val="FFFFFF"/>
                </a:solidFill>
                <a:latin typeface="Calibri" pitchFamily="34" charset="0"/>
                <a:ea typeface="Calibri" pitchFamily="34" charset="-122"/>
                <a:cs typeface="Calibri" pitchFamily="34" charset="-120"/>
              </a:rPr>
              <a:t>by all IVs combined</a:t>
            </a:r>
            <a:endParaRPr lang="en-US" sz="1100" dirty="0"/>
          </a:p>
        </p:txBody>
      </p:sp>
      <p:sp>
        <p:nvSpPr>
          <p:cNvPr id="9" name="Shape 7"/>
          <p:cNvSpPr/>
          <p:nvPr/>
        </p:nvSpPr>
        <p:spPr>
          <a:xfrm>
            <a:off x="2377440" y="1691640"/>
            <a:ext cx="1920240" cy="1280160"/>
          </a:xfrm>
          <a:prstGeom prst="rect">
            <a:avLst/>
          </a:prstGeom>
          <a:solidFill>
            <a:srgbClr val="2E3F8F"/>
          </a:solidFill>
          <a:ln w="12700">
            <a:solidFill>
              <a:srgbClr val="2E3F8F"/>
            </a:solidFill>
            <a:prstDash val="solid"/>
          </a:ln>
        </p:spPr>
        <p:txBody>
          <a:bodyPr/>
          <a:lstStyle/>
          <a:p>
            <a:endParaRPr lang="en-US"/>
          </a:p>
        </p:txBody>
      </p:sp>
      <p:sp>
        <p:nvSpPr>
          <p:cNvPr id="10" name="Text 8"/>
          <p:cNvSpPr/>
          <p:nvPr/>
        </p:nvSpPr>
        <p:spPr>
          <a:xfrm>
            <a:off x="2377440" y="1783080"/>
            <a:ext cx="1920240" cy="731520"/>
          </a:xfrm>
          <a:prstGeom prst="rect">
            <a:avLst/>
          </a:prstGeom>
          <a:noFill/>
          <a:ln/>
        </p:spPr>
        <p:txBody>
          <a:bodyPr wrap="square" lIns="0" tIns="0" rIns="0" bIns="0" rtlCol="0" anchor="ctr"/>
          <a:lstStyle/>
          <a:p>
            <a:pPr marL="0" indent="0" algn="ctr">
              <a:buNone/>
            </a:pPr>
            <a:r>
              <a:rPr lang="en-US" sz="3400" b="1" dirty="0">
                <a:solidFill>
                  <a:srgbClr val="FFFFFF"/>
                </a:solidFill>
                <a:latin typeface="Georgia" pitchFamily="34" charset="0"/>
                <a:ea typeface="Georgia" pitchFamily="34" charset="-122"/>
                <a:cs typeface="Georgia" pitchFamily="34" charset="-120"/>
              </a:rPr>
              <a:t>β</a:t>
            </a:r>
            <a:endParaRPr lang="en-US" sz="3400" dirty="0"/>
          </a:p>
        </p:txBody>
      </p:sp>
      <p:sp>
        <p:nvSpPr>
          <p:cNvPr id="11" name="Text 9"/>
          <p:cNvSpPr/>
          <p:nvPr/>
        </p:nvSpPr>
        <p:spPr>
          <a:xfrm>
            <a:off x="2377440" y="2496312"/>
            <a:ext cx="1920240" cy="402336"/>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Standardised coefficient</a:t>
            </a:r>
            <a:endParaRPr lang="en-US" sz="1100" dirty="0"/>
          </a:p>
          <a:p>
            <a:pPr marL="0" indent="0" algn="ctr">
              <a:buNone/>
            </a:pPr>
            <a:r>
              <a:rPr lang="en-US" sz="1100" dirty="0">
                <a:solidFill>
                  <a:srgbClr val="FFFFFF"/>
                </a:solidFill>
                <a:latin typeface="Calibri" pitchFamily="34" charset="0"/>
                <a:ea typeface="Calibri" pitchFamily="34" charset="-122"/>
                <a:cs typeface="Calibri" pitchFamily="34" charset="-120"/>
              </a:rPr>
              <a:t>(SD units — compare IVs)</a:t>
            </a:r>
            <a:endParaRPr lang="en-US" sz="1100" dirty="0"/>
          </a:p>
        </p:txBody>
      </p:sp>
      <p:sp>
        <p:nvSpPr>
          <p:cNvPr id="12" name="Shape 10"/>
          <p:cNvSpPr/>
          <p:nvPr/>
        </p:nvSpPr>
        <p:spPr>
          <a:xfrm>
            <a:off x="4389120" y="1691640"/>
            <a:ext cx="1920240" cy="1280160"/>
          </a:xfrm>
          <a:prstGeom prst="rect">
            <a:avLst/>
          </a:prstGeom>
          <a:solidFill>
            <a:srgbClr val="2E8B72"/>
          </a:solidFill>
          <a:ln w="12700">
            <a:solidFill>
              <a:srgbClr val="2E8B72"/>
            </a:solidFill>
            <a:prstDash val="solid"/>
          </a:ln>
        </p:spPr>
        <p:txBody>
          <a:bodyPr/>
          <a:lstStyle/>
          <a:p>
            <a:endParaRPr lang="en-US"/>
          </a:p>
        </p:txBody>
      </p:sp>
      <p:sp>
        <p:nvSpPr>
          <p:cNvPr id="13" name="Text 11"/>
          <p:cNvSpPr/>
          <p:nvPr/>
        </p:nvSpPr>
        <p:spPr>
          <a:xfrm>
            <a:off x="4389120" y="1783080"/>
            <a:ext cx="1920240" cy="731520"/>
          </a:xfrm>
          <a:prstGeom prst="rect">
            <a:avLst/>
          </a:prstGeom>
          <a:noFill/>
          <a:ln/>
        </p:spPr>
        <p:txBody>
          <a:bodyPr wrap="square" lIns="0" tIns="0" rIns="0" bIns="0" rtlCol="0" anchor="ctr"/>
          <a:lstStyle/>
          <a:p>
            <a:pPr marL="0" indent="0" algn="ctr">
              <a:buNone/>
            </a:pPr>
            <a:r>
              <a:rPr lang="en-US" sz="3400" b="1" dirty="0">
                <a:solidFill>
                  <a:srgbClr val="FFFFFF"/>
                </a:solidFill>
                <a:latin typeface="Georgia" pitchFamily="34" charset="0"/>
                <a:ea typeface="Georgia" pitchFamily="34" charset="-122"/>
                <a:cs typeface="Georgia" pitchFamily="34" charset="-120"/>
              </a:rPr>
              <a:t>sr²</a:t>
            </a:r>
            <a:endParaRPr lang="en-US" sz="3400" dirty="0"/>
          </a:p>
        </p:txBody>
      </p:sp>
      <p:sp>
        <p:nvSpPr>
          <p:cNvPr id="14" name="Text 12"/>
          <p:cNvSpPr/>
          <p:nvPr/>
        </p:nvSpPr>
        <p:spPr>
          <a:xfrm>
            <a:off x="4389120" y="2496312"/>
            <a:ext cx="1920240" cy="402336"/>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Unique variance of</a:t>
            </a:r>
            <a:endParaRPr lang="en-US" sz="1100" dirty="0"/>
          </a:p>
          <a:p>
            <a:pPr marL="0" indent="0" algn="ctr">
              <a:buNone/>
            </a:pPr>
            <a:r>
              <a:rPr lang="en-US" sz="1100" dirty="0">
                <a:solidFill>
                  <a:srgbClr val="FFFFFF"/>
                </a:solidFill>
                <a:latin typeface="Calibri" pitchFamily="34" charset="0"/>
                <a:ea typeface="Calibri" pitchFamily="34" charset="-122"/>
                <a:cs typeface="Calibri" pitchFamily="34" charset="-120"/>
              </a:rPr>
              <a:t>each IV (semi-partial r²)</a:t>
            </a:r>
            <a:endParaRPr lang="en-US" sz="1100" dirty="0"/>
          </a:p>
        </p:txBody>
      </p:sp>
      <p:sp>
        <p:nvSpPr>
          <p:cNvPr id="15" name="Shape 13"/>
          <p:cNvSpPr/>
          <p:nvPr/>
        </p:nvSpPr>
        <p:spPr>
          <a:xfrm>
            <a:off x="6400800" y="1691640"/>
            <a:ext cx="1920240" cy="1280160"/>
          </a:xfrm>
          <a:prstGeom prst="rect">
            <a:avLst/>
          </a:prstGeom>
          <a:solidFill>
            <a:srgbClr val="6D2E46"/>
          </a:solidFill>
          <a:ln w="12700">
            <a:solidFill>
              <a:srgbClr val="6D2E46"/>
            </a:solidFill>
            <a:prstDash val="solid"/>
          </a:ln>
        </p:spPr>
        <p:txBody>
          <a:bodyPr/>
          <a:lstStyle/>
          <a:p>
            <a:endParaRPr lang="en-US"/>
          </a:p>
        </p:txBody>
      </p:sp>
      <p:sp>
        <p:nvSpPr>
          <p:cNvPr id="16" name="Text 14"/>
          <p:cNvSpPr/>
          <p:nvPr/>
        </p:nvSpPr>
        <p:spPr>
          <a:xfrm>
            <a:off x="6400800" y="1783080"/>
            <a:ext cx="1920240" cy="731520"/>
          </a:xfrm>
          <a:prstGeom prst="rect">
            <a:avLst/>
          </a:prstGeom>
          <a:noFill/>
          <a:ln/>
        </p:spPr>
        <p:txBody>
          <a:bodyPr wrap="square" lIns="0" tIns="0" rIns="0" bIns="0" rtlCol="0" anchor="ctr"/>
          <a:lstStyle/>
          <a:p>
            <a:pPr marL="0" indent="0" algn="ctr">
              <a:buNone/>
            </a:pPr>
            <a:r>
              <a:rPr lang="en-US" sz="3400" b="1" dirty="0">
                <a:solidFill>
                  <a:srgbClr val="FFFFFF"/>
                </a:solidFill>
                <a:latin typeface="Georgia" pitchFamily="34" charset="0"/>
                <a:ea typeface="Georgia" pitchFamily="34" charset="-122"/>
                <a:cs typeface="Georgia" pitchFamily="34" charset="-120"/>
              </a:rPr>
              <a:t>VIF</a:t>
            </a:r>
            <a:endParaRPr lang="en-US" sz="3400" dirty="0"/>
          </a:p>
        </p:txBody>
      </p:sp>
      <p:sp>
        <p:nvSpPr>
          <p:cNvPr id="17" name="Text 15"/>
          <p:cNvSpPr/>
          <p:nvPr/>
        </p:nvSpPr>
        <p:spPr>
          <a:xfrm>
            <a:off x="6400800" y="2496312"/>
            <a:ext cx="1920240" cy="402336"/>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Variance Inflation Factor</a:t>
            </a:r>
            <a:endParaRPr lang="en-US" sz="1100" dirty="0"/>
          </a:p>
          <a:p>
            <a:pPr marL="0" indent="0" algn="ctr">
              <a:buNone/>
            </a:pPr>
            <a:r>
              <a:rPr lang="en-US" sz="1100" dirty="0">
                <a:solidFill>
                  <a:srgbClr val="FFFFFF"/>
                </a:solidFill>
                <a:latin typeface="Calibri" pitchFamily="34" charset="0"/>
                <a:ea typeface="Calibri" pitchFamily="34" charset="-122"/>
                <a:cs typeface="Calibri" pitchFamily="34" charset="-120"/>
              </a:rPr>
              <a:t>&lt;5 acceptable; &gt;10 serious</a:t>
            </a:r>
            <a:endParaRPr lang="en-US" sz="1100" dirty="0"/>
          </a:p>
        </p:txBody>
      </p:sp>
      <p:sp>
        <p:nvSpPr>
          <p:cNvPr id="18" name="Text 16"/>
          <p:cNvSpPr/>
          <p:nvPr/>
        </p:nvSpPr>
        <p:spPr>
          <a:xfrm>
            <a:off x="411480" y="3108960"/>
            <a:ext cx="8321040" cy="3657600"/>
          </a:xfrm>
          <a:prstGeom prst="rect">
            <a:avLst/>
          </a:prstGeom>
          <a:noFill/>
          <a:ln/>
        </p:spPr>
        <p:txBody>
          <a:bodyPr wrap="square" rtlCol="0" anchor="t"/>
          <a:lstStyle/>
          <a:p>
            <a:pPr marL="342900" indent="-342900">
              <a:buSzPct val="100000"/>
              <a:buChar char="•"/>
            </a:pPr>
            <a:r>
              <a:rPr lang="en-US" sz="1300" b="1" dirty="0">
                <a:solidFill>
                  <a:srgbClr val="1A1A2E"/>
                </a:solidFill>
                <a:latin typeface="Calibri" pitchFamily="34" charset="0"/>
                <a:ea typeface="Calibri" pitchFamily="34" charset="-122"/>
                <a:cs typeface="Calibri" pitchFamily="34" charset="-120"/>
              </a:rPr>
              <a:t>Hierarchical entry (T&amp;F recommendation for confirmatory research):</a:t>
            </a:r>
            <a:endParaRPr lang="en-US" sz="1300" dirty="0"/>
          </a:p>
          <a:p>
            <a:pPr marL="685800" lvl="1" indent="-342900">
              <a:buSzPct val="100000"/>
              <a:buChar char="•"/>
            </a:pPr>
            <a:r>
              <a:rPr lang="en-US" sz="1300" dirty="0">
                <a:solidFill>
                  <a:srgbClr val="1A1A2E"/>
                </a:solidFill>
                <a:latin typeface="Calibri" pitchFamily="34" charset="0"/>
                <a:ea typeface="Calibri" pitchFamily="34" charset="-122"/>
                <a:cs typeface="Calibri" pitchFamily="34" charset="-120"/>
              </a:rPr>
              <a:t>Enter IVs in theoretically motivated blocks; ΔR² at each step tests added predictive power</a:t>
            </a:r>
            <a:endParaRPr lang="en-US" sz="1300" dirty="0"/>
          </a:p>
          <a:p>
            <a:pPr marL="342900" indent="-342900">
              <a:buSzPct val="100000"/>
              <a:buChar char="•"/>
            </a:pPr>
            <a:r>
              <a:rPr lang="en-US" sz="1300" b="1" dirty="0">
                <a:solidFill>
                  <a:srgbClr val="1A1A2E"/>
                </a:solidFill>
                <a:latin typeface="Calibri" pitchFamily="34" charset="0"/>
                <a:ea typeface="Calibri" pitchFamily="34" charset="-122"/>
                <a:cs typeface="Calibri" pitchFamily="34" charset="-120"/>
              </a:rPr>
              <a:t>Standard (simultaneous) entry:</a:t>
            </a:r>
            <a:endParaRPr lang="en-US" sz="1300" dirty="0"/>
          </a:p>
          <a:p>
            <a:pPr marL="685800" lvl="1" indent="-342900">
              <a:buSzPct val="100000"/>
              <a:buChar char="•"/>
            </a:pPr>
            <a:r>
              <a:rPr lang="en-US" sz="1300" dirty="0">
                <a:solidFill>
                  <a:srgbClr val="1A1A2E"/>
                </a:solidFill>
                <a:latin typeface="Calibri" pitchFamily="34" charset="0"/>
                <a:ea typeface="Calibri" pitchFamily="34" charset="-122"/>
                <a:cs typeface="Calibri" pitchFamily="34" charset="-120"/>
              </a:rPr>
              <a:t>All IVs entered at once; each assessed as if entered last — use when no a priori order</a:t>
            </a:r>
            <a:endParaRPr lang="en-US" sz="1300" dirty="0"/>
          </a:p>
          <a:p>
            <a:pPr marL="342900" indent="-342900">
              <a:buSzPct val="100000"/>
              <a:buChar char="•"/>
            </a:pPr>
            <a:r>
              <a:rPr lang="en-US" sz="1300" i="1" dirty="0">
                <a:solidFill>
                  <a:srgbClr val="1A1A2E"/>
                </a:solidFill>
                <a:latin typeface="Calibri" pitchFamily="34" charset="0"/>
                <a:ea typeface="Calibri" pitchFamily="34" charset="-122"/>
                <a:cs typeface="Calibri" pitchFamily="34" charset="-120"/>
              </a:rPr>
              <a:t>Avoid stepwise selection in confirmatory research — capitalises on sample-specific variance</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14">
    <p:bg>
      <p:bgPr>
        <a:solidFill>
          <a:srgbClr val="F0F7F8"/>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23E5C"/>
          </a:solidFill>
          <a:ln/>
        </p:spPr>
        <p:txBody>
          <a:bodyPr/>
          <a:lstStyle/>
          <a:p>
            <a:endParaRPr lang="en-US"/>
          </a:p>
        </p:txBody>
      </p:sp>
      <p:sp>
        <p:nvSpPr>
          <p:cNvPr id="3" name="Text 1"/>
          <p:cNvSpPr/>
          <p:nvPr/>
        </p:nvSpPr>
        <p:spPr>
          <a:xfrm>
            <a:off x="365760" y="0"/>
            <a:ext cx="8229600" cy="1005840"/>
          </a:xfrm>
          <a:prstGeom prst="rect">
            <a:avLst/>
          </a:prstGeom>
          <a:noFill/>
          <a:ln/>
        </p:spPr>
        <p:txBody>
          <a:bodyPr wrap="square" rtlCol="0" anchor="ctr"/>
          <a:lstStyle/>
          <a:p>
            <a:pPr marL="0" indent="0">
              <a:buNone/>
            </a:pPr>
            <a:r>
              <a:rPr lang="en-US" sz="2000" b="1" dirty="0">
                <a:solidFill>
                  <a:srgbClr val="FFFFFF"/>
                </a:solidFill>
                <a:latin typeface="Georgia" pitchFamily="34" charset="0"/>
                <a:ea typeface="Georgia" pitchFamily="34" charset="-122"/>
                <a:cs typeface="Georgia" pitchFamily="34" charset="-120"/>
              </a:rPr>
              <a:t>Logistic Regression — Most Common in Epidemiology</a:t>
            </a:r>
            <a:endParaRPr lang="en-US" sz="2000" dirty="0"/>
          </a:p>
        </p:txBody>
      </p:sp>
      <p:sp>
        <p:nvSpPr>
          <p:cNvPr id="4" name="Shape 2"/>
          <p:cNvSpPr/>
          <p:nvPr/>
        </p:nvSpPr>
        <p:spPr>
          <a:xfrm>
            <a:off x="274320" y="1097280"/>
            <a:ext cx="8595360" cy="685800"/>
          </a:xfrm>
          <a:prstGeom prst="rect">
            <a:avLst/>
          </a:prstGeom>
          <a:solidFill>
            <a:srgbClr val="028090"/>
          </a:solidFill>
          <a:ln w="12700">
            <a:solidFill>
              <a:srgbClr val="028090"/>
            </a:solidFill>
            <a:prstDash val="solid"/>
          </a:ln>
        </p:spPr>
        <p:txBody>
          <a:bodyPr/>
          <a:lstStyle/>
          <a:p>
            <a:endParaRPr lang="en-US"/>
          </a:p>
        </p:txBody>
      </p:sp>
      <p:sp>
        <p:nvSpPr>
          <p:cNvPr id="5" name="Text 3"/>
          <p:cNvSpPr/>
          <p:nvPr/>
        </p:nvSpPr>
        <p:spPr>
          <a:xfrm>
            <a:off x="274320" y="1097280"/>
            <a:ext cx="8595360" cy="6858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log[P/(1−P)] = β₀ + β₁X₁ + β₂X₂ + ... + βₖXₖ</a:t>
            </a:r>
            <a:endParaRPr lang="en-US" sz="1600" dirty="0"/>
          </a:p>
        </p:txBody>
      </p:sp>
      <p:sp>
        <p:nvSpPr>
          <p:cNvPr id="6" name="Shape 4"/>
          <p:cNvSpPr/>
          <p:nvPr/>
        </p:nvSpPr>
        <p:spPr>
          <a:xfrm>
            <a:off x="274320" y="1920240"/>
            <a:ext cx="8595360" cy="530352"/>
          </a:xfrm>
          <a:prstGeom prst="rect">
            <a:avLst/>
          </a:prstGeom>
          <a:solidFill>
            <a:srgbClr val="FFFFFF"/>
          </a:solidFill>
          <a:ln w="3810">
            <a:solidFill>
              <a:srgbClr val="DDDDDD"/>
            </a:solidFill>
            <a:prstDash val="solid"/>
          </a:ln>
        </p:spPr>
        <p:txBody>
          <a:bodyPr/>
          <a:lstStyle/>
          <a:p>
            <a:endParaRPr lang="en-US"/>
          </a:p>
        </p:txBody>
      </p:sp>
      <p:sp>
        <p:nvSpPr>
          <p:cNvPr id="7" name="Text 5"/>
          <p:cNvSpPr/>
          <p:nvPr/>
        </p:nvSpPr>
        <p:spPr>
          <a:xfrm>
            <a:off x="411480" y="1920240"/>
            <a:ext cx="1920240" cy="530352"/>
          </a:xfrm>
          <a:prstGeom prst="rect">
            <a:avLst/>
          </a:prstGeom>
          <a:noFill/>
          <a:ln/>
        </p:spPr>
        <p:txBody>
          <a:bodyPr wrap="square" rtlCol="0" anchor="ctr"/>
          <a:lstStyle/>
          <a:p>
            <a:pPr marL="0" indent="0">
              <a:buNone/>
            </a:pPr>
            <a:r>
              <a:rPr lang="en-US" sz="1200" b="1" dirty="0">
                <a:solidFill>
                  <a:srgbClr val="023E5C"/>
                </a:solidFill>
                <a:latin typeface="Calibri" pitchFamily="34" charset="0"/>
                <a:ea typeface="Calibri" pitchFamily="34" charset="-122"/>
                <a:cs typeface="Calibri" pitchFamily="34" charset="-120"/>
              </a:rPr>
              <a:t>Outcome:</a:t>
            </a:r>
            <a:endParaRPr lang="en-US" sz="1200" dirty="0"/>
          </a:p>
        </p:txBody>
      </p:sp>
      <p:sp>
        <p:nvSpPr>
          <p:cNvPr id="8" name="Text 6"/>
          <p:cNvSpPr/>
          <p:nvPr/>
        </p:nvSpPr>
        <p:spPr>
          <a:xfrm>
            <a:off x="2286000" y="1920240"/>
            <a:ext cx="6400800" cy="530352"/>
          </a:xfrm>
          <a:prstGeom prst="rect">
            <a:avLst/>
          </a:prstGeom>
          <a:noFill/>
          <a:ln/>
        </p:spPr>
        <p:txBody>
          <a:bodyPr wrap="square" rtlCol="0" anchor="ctr"/>
          <a:lstStyle/>
          <a:p>
            <a:pPr marL="0" indent="0">
              <a:buNone/>
            </a:pPr>
            <a:r>
              <a:rPr lang="en-US" sz="1200" dirty="0">
                <a:solidFill>
                  <a:srgbClr val="1A2E35"/>
                </a:solidFill>
                <a:latin typeface="Calibri" pitchFamily="34" charset="0"/>
                <a:ea typeface="Calibri" pitchFamily="34" charset="-122"/>
                <a:cs typeface="Calibri" pitchFamily="34" charset="-120"/>
              </a:rPr>
              <a:t>Binary (0/1): disease yes/no, death yes/no, outcome present/absent</a:t>
            </a:r>
            <a:endParaRPr lang="en-US" sz="1200" dirty="0"/>
          </a:p>
        </p:txBody>
      </p:sp>
      <p:sp>
        <p:nvSpPr>
          <p:cNvPr id="9" name="Shape 7"/>
          <p:cNvSpPr/>
          <p:nvPr/>
        </p:nvSpPr>
        <p:spPr>
          <a:xfrm>
            <a:off x="274320" y="2523744"/>
            <a:ext cx="8595360" cy="530352"/>
          </a:xfrm>
          <a:prstGeom prst="rect">
            <a:avLst/>
          </a:prstGeom>
          <a:solidFill>
            <a:srgbClr val="E8F4F5"/>
          </a:solidFill>
          <a:ln w="3810">
            <a:solidFill>
              <a:srgbClr val="DDDDDD"/>
            </a:solidFill>
            <a:prstDash val="solid"/>
          </a:ln>
        </p:spPr>
        <p:txBody>
          <a:bodyPr/>
          <a:lstStyle/>
          <a:p>
            <a:endParaRPr lang="en-US"/>
          </a:p>
        </p:txBody>
      </p:sp>
      <p:sp>
        <p:nvSpPr>
          <p:cNvPr id="10" name="Text 8"/>
          <p:cNvSpPr/>
          <p:nvPr/>
        </p:nvSpPr>
        <p:spPr>
          <a:xfrm>
            <a:off x="411480" y="2523744"/>
            <a:ext cx="1920240" cy="530352"/>
          </a:xfrm>
          <a:prstGeom prst="rect">
            <a:avLst/>
          </a:prstGeom>
          <a:noFill/>
          <a:ln/>
        </p:spPr>
        <p:txBody>
          <a:bodyPr wrap="square" rtlCol="0" anchor="ctr"/>
          <a:lstStyle/>
          <a:p>
            <a:pPr marL="0" indent="0">
              <a:buNone/>
            </a:pPr>
            <a:r>
              <a:rPr lang="en-US" sz="1200" b="1" dirty="0">
                <a:solidFill>
                  <a:srgbClr val="023E5C"/>
                </a:solidFill>
                <a:latin typeface="Calibri" pitchFamily="34" charset="0"/>
                <a:ea typeface="Calibri" pitchFamily="34" charset="-122"/>
                <a:cs typeface="Calibri" pitchFamily="34" charset="-120"/>
              </a:rPr>
              <a:t>Output:</a:t>
            </a:r>
            <a:endParaRPr lang="en-US" sz="1200" dirty="0"/>
          </a:p>
        </p:txBody>
      </p:sp>
      <p:sp>
        <p:nvSpPr>
          <p:cNvPr id="11" name="Text 9"/>
          <p:cNvSpPr/>
          <p:nvPr/>
        </p:nvSpPr>
        <p:spPr>
          <a:xfrm>
            <a:off x="2286000" y="2523744"/>
            <a:ext cx="6400800" cy="530352"/>
          </a:xfrm>
          <a:prstGeom prst="rect">
            <a:avLst/>
          </a:prstGeom>
          <a:noFill/>
          <a:ln/>
        </p:spPr>
        <p:txBody>
          <a:bodyPr wrap="square" rtlCol="0" anchor="ctr"/>
          <a:lstStyle/>
          <a:p>
            <a:pPr marL="0" indent="0">
              <a:buNone/>
            </a:pPr>
            <a:r>
              <a:rPr lang="en-US" sz="1200" dirty="0">
                <a:solidFill>
                  <a:srgbClr val="1A2E35"/>
                </a:solidFill>
                <a:latin typeface="Calibri" pitchFamily="34" charset="0"/>
                <a:ea typeface="Calibri" pitchFamily="34" charset="-122"/>
                <a:cs typeface="Calibri" pitchFamily="34" charset="-120"/>
              </a:rPr>
              <a:t>Log-odds (logit), but we exponentiate βs to get Odds Ratios (OR)</a:t>
            </a:r>
            <a:endParaRPr lang="en-US" sz="1200" dirty="0"/>
          </a:p>
        </p:txBody>
      </p:sp>
      <p:sp>
        <p:nvSpPr>
          <p:cNvPr id="12" name="Shape 10"/>
          <p:cNvSpPr/>
          <p:nvPr/>
        </p:nvSpPr>
        <p:spPr>
          <a:xfrm>
            <a:off x="274320" y="3127248"/>
            <a:ext cx="8595360" cy="530352"/>
          </a:xfrm>
          <a:prstGeom prst="rect">
            <a:avLst/>
          </a:prstGeom>
          <a:solidFill>
            <a:srgbClr val="FFFFFF"/>
          </a:solidFill>
          <a:ln w="3810">
            <a:solidFill>
              <a:srgbClr val="DDDDDD"/>
            </a:solidFill>
            <a:prstDash val="solid"/>
          </a:ln>
        </p:spPr>
        <p:txBody>
          <a:bodyPr/>
          <a:lstStyle/>
          <a:p>
            <a:endParaRPr lang="en-US"/>
          </a:p>
        </p:txBody>
      </p:sp>
      <p:sp>
        <p:nvSpPr>
          <p:cNvPr id="13" name="Text 11"/>
          <p:cNvSpPr/>
          <p:nvPr/>
        </p:nvSpPr>
        <p:spPr>
          <a:xfrm>
            <a:off x="411480" y="3127248"/>
            <a:ext cx="1920240" cy="530352"/>
          </a:xfrm>
          <a:prstGeom prst="rect">
            <a:avLst/>
          </a:prstGeom>
          <a:noFill/>
          <a:ln/>
        </p:spPr>
        <p:txBody>
          <a:bodyPr wrap="square" rtlCol="0" anchor="ctr"/>
          <a:lstStyle/>
          <a:p>
            <a:pPr marL="0" indent="0">
              <a:buNone/>
            </a:pPr>
            <a:r>
              <a:rPr lang="en-US" sz="1200" b="1" dirty="0">
                <a:solidFill>
                  <a:srgbClr val="023E5C"/>
                </a:solidFill>
                <a:latin typeface="Calibri" pitchFamily="34" charset="0"/>
                <a:ea typeface="Calibri" pitchFamily="34" charset="-122"/>
                <a:cs typeface="Calibri" pitchFamily="34" charset="-120"/>
              </a:rPr>
              <a:t>OR interpretation:</a:t>
            </a:r>
            <a:endParaRPr lang="en-US" sz="1200" dirty="0"/>
          </a:p>
        </p:txBody>
      </p:sp>
      <p:sp>
        <p:nvSpPr>
          <p:cNvPr id="14" name="Text 12"/>
          <p:cNvSpPr/>
          <p:nvPr/>
        </p:nvSpPr>
        <p:spPr>
          <a:xfrm>
            <a:off x="2286000" y="3127248"/>
            <a:ext cx="6400800" cy="530352"/>
          </a:xfrm>
          <a:prstGeom prst="rect">
            <a:avLst/>
          </a:prstGeom>
          <a:noFill/>
          <a:ln/>
        </p:spPr>
        <p:txBody>
          <a:bodyPr wrap="square" rtlCol="0" anchor="ctr"/>
          <a:lstStyle/>
          <a:p>
            <a:pPr marL="0" indent="0">
              <a:buNone/>
            </a:pPr>
            <a:r>
              <a:rPr lang="en-US" sz="1200" dirty="0">
                <a:solidFill>
                  <a:srgbClr val="1A2E35"/>
                </a:solidFill>
                <a:latin typeface="Calibri" pitchFamily="34" charset="0"/>
                <a:ea typeface="Calibri" pitchFamily="34" charset="-122"/>
                <a:cs typeface="Calibri" pitchFamily="34" charset="-120"/>
              </a:rPr>
              <a:t>OR=2.0 means the odds of the outcome are 2× higher per unit increase in X</a:t>
            </a:r>
            <a:endParaRPr lang="en-US" sz="1200" dirty="0"/>
          </a:p>
        </p:txBody>
      </p:sp>
      <p:sp>
        <p:nvSpPr>
          <p:cNvPr id="15" name="Shape 13"/>
          <p:cNvSpPr/>
          <p:nvPr/>
        </p:nvSpPr>
        <p:spPr>
          <a:xfrm>
            <a:off x="274320" y="3730752"/>
            <a:ext cx="8595360" cy="530352"/>
          </a:xfrm>
          <a:prstGeom prst="rect">
            <a:avLst/>
          </a:prstGeom>
          <a:solidFill>
            <a:srgbClr val="E8F4F5"/>
          </a:solidFill>
          <a:ln w="3810">
            <a:solidFill>
              <a:srgbClr val="DDDDDD"/>
            </a:solidFill>
            <a:prstDash val="solid"/>
          </a:ln>
        </p:spPr>
        <p:txBody>
          <a:bodyPr/>
          <a:lstStyle/>
          <a:p>
            <a:endParaRPr lang="en-US"/>
          </a:p>
        </p:txBody>
      </p:sp>
      <p:sp>
        <p:nvSpPr>
          <p:cNvPr id="16" name="Text 14"/>
          <p:cNvSpPr/>
          <p:nvPr/>
        </p:nvSpPr>
        <p:spPr>
          <a:xfrm>
            <a:off x="411480" y="3730752"/>
            <a:ext cx="1920240" cy="530352"/>
          </a:xfrm>
          <a:prstGeom prst="rect">
            <a:avLst/>
          </a:prstGeom>
          <a:noFill/>
          <a:ln/>
        </p:spPr>
        <p:txBody>
          <a:bodyPr wrap="square" rtlCol="0" anchor="ctr"/>
          <a:lstStyle/>
          <a:p>
            <a:pPr marL="0" indent="0">
              <a:buNone/>
            </a:pPr>
            <a:r>
              <a:rPr lang="en-US" sz="1200" b="1" dirty="0">
                <a:solidFill>
                  <a:srgbClr val="023E5C"/>
                </a:solidFill>
                <a:latin typeface="Calibri" pitchFamily="34" charset="0"/>
                <a:ea typeface="Calibri" pitchFamily="34" charset="-122"/>
                <a:cs typeface="Calibri" pitchFamily="34" charset="-120"/>
              </a:rPr>
              <a:t>Assumption:</a:t>
            </a:r>
            <a:endParaRPr lang="en-US" sz="1200" dirty="0"/>
          </a:p>
        </p:txBody>
      </p:sp>
      <p:sp>
        <p:nvSpPr>
          <p:cNvPr id="17" name="Text 15"/>
          <p:cNvSpPr/>
          <p:nvPr/>
        </p:nvSpPr>
        <p:spPr>
          <a:xfrm>
            <a:off x="2286000" y="3730752"/>
            <a:ext cx="6400800" cy="530352"/>
          </a:xfrm>
          <a:prstGeom prst="rect">
            <a:avLst/>
          </a:prstGeom>
          <a:noFill/>
          <a:ln/>
        </p:spPr>
        <p:txBody>
          <a:bodyPr wrap="square" rtlCol="0" anchor="ctr"/>
          <a:lstStyle/>
          <a:p>
            <a:pPr marL="0" indent="0">
              <a:buNone/>
            </a:pPr>
            <a:r>
              <a:rPr lang="en-US" sz="1200" dirty="0">
                <a:solidFill>
                  <a:srgbClr val="1A2E35"/>
                </a:solidFill>
                <a:latin typeface="Calibri" pitchFamily="34" charset="0"/>
                <a:ea typeface="Calibri" pitchFamily="34" charset="-122"/>
                <a:cs typeface="Calibri" pitchFamily="34" charset="-120"/>
              </a:rPr>
              <a:t>Log-linear relationship between predictors and log-odds; no multicollinearity</a:t>
            </a:r>
            <a:endParaRPr lang="en-US" sz="1200" dirty="0"/>
          </a:p>
        </p:txBody>
      </p:sp>
      <p:sp>
        <p:nvSpPr>
          <p:cNvPr id="18" name="Shape 16"/>
          <p:cNvSpPr/>
          <p:nvPr/>
        </p:nvSpPr>
        <p:spPr>
          <a:xfrm>
            <a:off x="274320" y="4334256"/>
            <a:ext cx="8595360" cy="530352"/>
          </a:xfrm>
          <a:prstGeom prst="rect">
            <a:avLst/>
          </a:prstGeom>
          <a:solidFill>
            <a:srgbClr val="FFFFFF"/>
          </a:solidFill>
          <a:ln w="3810">
            <a:solidFill>
              <a:srgbClr val="DDDDDD"/>
            </a:solidFill>
            <a:prstDash val="solid"/>
          </a:ln>
        </p:spPr>
        <p:txBody>
          <a:bodyPr/>
          <a:lstStyle/>
          <a:p>
            <a:endParaRPr lang="en-US"/>
          </a:p>
        </p:txBody>
      </p:sp>
      <p:sp>
        <p:nvSpPr>
          <p:cNvPr id="19" name="Text 17"/>
          <p:cNvSpPr/>
          <p:nvPr/>
        </p:nvSpPr>
        <p:spPr>
          <a:xfrm>
            <a:off x="411480" y="4334256"/>
            <a:ext cx="1920240" cy="530352"/>
          </a:xfrm>
          <a:prstGeom prst="rect">
            <a:avLst/>
          </a:prstGeom>
          <a:noFill/>
          <a:ln/>
        </p:spPr>
        <p:txBody>
          <a:bodyPr wrap="square" rtlCol="0" anchor="ctr"/>
          <a:lstStyle/>
          <a:p>
            <a:pPr marL="0" indent="0">
              <a:buNone/>
            </a:pPr>
            <a:r>
              <a:rPr lang="en-US" sz="1200" b="1" dirty="0">
                <a:solidFill>
                  <a:srgbClr val="023E5C"/>
                </a:solidFill>
                <a:latin typeface="Calibri" pitchFamily="34" charset="0"/>
                <a:ea typeface="Calibri" pitchFamily="34" charset="-122"/>
                <a:cs typeface="Calibri" pitchFamily="34" charset="-120"/>
              </a:rPr>
              <a:t>Model fit:</a:t>
            </a:r>
            <a:endParaRPr lang="en-US" sz="1200" dirty="0"/>
          </a:p>
        </p:txBody>
      </p:sp>
      <p:sp>
        <p:nvSpPr>
          <p:cNvPr id="20" name="Text 18"/>
          <p:cNvSpPr/>
          <p:nvPr/>
        </p:nvSpPr>
        <p:spPr>
          <a:xfrm>
            <a:off x="2286000" y="4334256"/>
            <a:ext cx="6400800" cy="530352"/>
          </a:xfrm>
          <a:prstGeom prst="rect">
            <a:avLst/>
          </a:prstGeom>
          <a:noFill/>
          <a:ln/>
        </p:spPr>
        <p:txBody>
          <a:bodyPr wrap="square" rtlCol="0" anchor="ctr"/>
          <a:lstStyle/>
          <a:p>
            <a:pPr marL="0" indent="0">
              <a:buNone/>
            </a:pPr>
            <a:r>
              <a:rPr lang="en-US" sz="1200" dirty="0">
                <a:solidFill>
                  <a:srgbClr val="1A2E35"/>
                </a:solidFill>
                <a:latin typeface="Calibri" pitchFamily="34" charset="0"/>
                <a:ea typeface="Calibri" pitchFamily="34" charset="-122"/>
                <a:cs typeface="Calibri" pitchFamily="34" charset="-120"/>
              </a:rPr>
              <a:t>Hosmer-Lemeshow test; AUC/ROC curve; pseudo-R² (Nagelkerke, Cox-Snell)</a:t>
            </a:r>
            <a:endParaRPr lang="en-US" sz="1200" dirty="0"/>
          </a:p>
        </p:txBody>
      </p:sp>
      <p:sp>
        <p:nvSpPr>
          <p:cNvPr id="21" name="Text 19"/>
          <p:cNvSpPr/>
          <p:nvPr/>
        </p:nvSpPr>
        <p:spPr>
          <a:xfrm>
            <a:off x="274320" y="4800600"/>
            <a:ext cx="8595360" cy="274320"/>
          </a:xfrm>
          <a:prstGeom prst="rect">
            <a:avLst/>
          </a:prstGeom>
          <a:noFill/>
          <a:ln/>
        </p:spPr>
        <p:txBody>
          <a:bodyPr wrap="square" rtlCol="0" anchor="ctr"/>
          <a:lstStyle/>
          <a:p>
            <a:pPr marL="0" indent="0" algn="ctr">
              <a:buNone/>
            </a:pPr>
            <a:r>
              <a:rPr lang="en-US" sz="1200" b="1" i="1" dirty="0">
                <a:solidFill>
                  <a:srgbClr val="028090"/>
                </a:solidFill>
                <a:latin typeface="Calibri" pitchFamily="34" charset="0"/>
                <a:ea typeface="Calibri" pitchFamily="34" charset="-122"/>
                <a:cs typeface="Calibri" pitchFamily="34" charset="-120"/>
              </a:rPr>
              <a:t>OR = e^β      e.g., β = 0.693 → OR = e^0.693 = 2.0  (doubling of odds)</a:t>
            </a:r>
            <a:endParaRPr lang="en-US" sz="1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82296"/>
          </a:xfrm>
          <a:prstGeom prst="rect">
            <a:avLst/>
          </a:prstGeom>
          <a:solidFill>
            <a:srgbClr val="1E2761"/>
          </a:solidFill>
          <a:ln w="12700">
            <a:solidFill>
              <a:srgbClr val="1E2761"/>
            </a:solidFill>
            <a:prstDash val="solid"/>
          </a:ln>
        </p:spPr>
        <p:txBody>
          <a:bodyPr/>
          <a:lstStyle/>
          <a:p>
            <a:endParaRPr lang="en-US"/>
          </a:p>
        </p:txBody>
      </p:sp>
      <p:sp>
        <p:nvSpPr>
          <p:cNvPr id="3" name="Text 1"/>
          <p:cNvSpPr/>
          <p:nvPr/>
        </p:nvSpPr>
        <p:spPr>
          <a:xfrm>
            <a:off x="411480" y="137160"/>
            <a:ext cx="8321040" cy="658368"/>
          </a:xfrm>
          <a:prstGeom prst="rect">
            <a:avLst/>
          </a:prstGeom>
          <a:noFill/>
          <a:ln/>
        </p:spPr>
        <p:txBody>
          <a:bodyPr wrap="square" lIns="0" tIns="0" rIns="0" bIns="0" rtlCol="0" anchor="ctr"/>
          <a:lstStyle/>
          <a:p>
            <a:pPr marL="0" indent="0">
              <a:buNone/>
            </a:pPr>
            <a:r>
              <a:rPr lang="en-US" sz="2700" b="1" dirty="0">
                <a:solidFill>
                  <a:srgbClr val="1E2761"/>
                </a:solidFill>
                <a:latin typeface="Georgia" pitchFamily="34" charset="0"/>
                <a:ea typeface="Georgia" pitchFamily="34" charset="-122"/>
                <a:cs typeface="Georgia" pitchFamily="34" charset="-120"/>
              </a:rPr>
              <a:t>Logistic Regression: Binary Outcomes in Public Health</a:t>
            </a:r>
            <a:endParaRPr lang="en-US" sz="2700" dirty="0"/>
          </a:p>
        </p:txBody>
      </p:sp>
      <p:sp>
        <p:nvSpPr>
          <p:cNvPr id="4" name="Text 2"/>
          <p:cNvSpPr/>
          <p:nvPr/>
        </p:nvSpPr>
        <p:spPr>
          <a:xfrm>
            <a:off x="411480" y="822960"/>
            <a:ext cx="8321040" cy="320040"/>
          </a:xfrm>
          <a:prstGeom prst="rect">
            <a:avLst/>
          </a:prstGeom>
          <a:noFill/>
          <a:ln/>
        </p:spPr>
        <p:txBody>
          <a:bodyPr wrap="square" lIns="0" tIns="0" rIns="0" bIns="0" rtlCol="0" anchor="ctr"/>
          <a:lstStyle/>
          <a:p>
            <a:pPr marL="0" indent="0">
              <a:buNone/>
            </a:pPr>
            <a:r>
              <a:rPr lang="en-US" sz="1300" i="1" dirty="0">
                <a:solidFill>
                  <a:srgbClr val="5C5F7A"/>
                </a:solidFill>
                <a:latin typeface="Calibri" pitchFamily="34" charset="0"/>
                <a:ea typeface="Calibri" pitchFamily="34" charset="-122"/>
                <a:cs typeface="Calibri" pitchFamily="34" charset="-120"/>
              </a:rPr>
              <a:t>The standard multivariable technique when the outcome is categorical</a:t>
            </a:r>
            <a:endParaRPr lang="en-US" sz="1300" dirty="0"/>
          </a:p>
        </p:txBody>
      </p:sp>
      <p:sp>
        <p:nvSpPr>
          <p:cNvPr id="5" name="Shape 3"/>
          <p:cNvSpPr/>
          <p:nvPr/>
        </p:nvSpPr>
        <p:spPr>
          <a:xfrm>
            <a:off x="365760" y="1170432"/>
            <a:ext cx="4069080" cy="1920240"/>
          </a:xfrm>
          <a:prstGeom prst="rect">
            <a:avLst/>
          </a:prstGeom>
          <a:solidFill>
            <a:srgbClr val="FFFFFF"/>
          </a:solidFill>
          <a:ln w="12700">
            <a:solidFill>
              <a:srgbClr val="DDE0F0"/>
            </a:solidFill>
            <a:prstDash val="solid"/>
          </a:ln>
          <a:effectLst>
            <a:outerShdw blurRad="76200" dist="25400" dir="8100000" algn="bl" rotWithShape="0">
              <a:srgbClr val="000000">
                <a:alpha val="10000"/>
              </a:srgbClr>
            </a:outerShdw>
          </a:effectLst>
        </p:spPr>
        <p:txBody>
          <a:bodyPr/>
          <a:lstStyle/>
          <a:p>
            <a:endParaRPr lang="en-US"/>
          </a:p>
        </p:txBody>
      </p:sp>
      <p:sp>
        <p:nvSpPr>
          <p:cNvPr id="6" name="Shape 4"/>
          <p:cNvSpPr/>
          <p:nvPr/>
        </p:nvSpPr>
        <p:spPr>
          <a:xfrm>
            <a:off x="365760" y="1170432"/>
            <a:ext cx="64008" cy="1920240"/>
          </a:xfrm>
          <a:prstGeom prst="rect">
            <a:avLst/>
          </a:prstGeom>
          <a:solidFill>
            <a:srgbClr val="1E2761"/>
          </a:solidFill>
          <a:ln w="12700">
            <a:solidFill>
              <a:srgbClr val="1E2761"/>
            </a:solidFill>
            <a:prstDash val="solid"/>
          </a:ln>
        </p:spPr>
        <p:txBody>
          <a:bodyPr/>
          <a:lstStyle/>
          <a:p>
            <a:endParaRPr lang="en-US"/>
          </a:p>
        </p:txBody>
      </p:sp>
      <p:sp>
        <p:nvSpPr>
          <p:cNvPr id="7" name="Text 5"/>
          <p:cNvSpPr/>
          <p:nvPr/>
        </p:nvSpPr>
        <p:spPr>
          <a:xfrm>
            <a:off x="512064" y="1243584"/>
            <a:ext cx="3867912" cy="347472"/>
          </a:xfrm>
          <a:prstGeom prst="rect">
            <a:avLst/>
          </a:prstGeom>
          <a:noFill/>
          <a:ln/>
        </p:spPr>
        <p:txBody>
          <a:bodyPr wrap="square" lIns="0" tIns="0" rIns="0" bIns="0" rtlCol="0" anchor="ctr"/>
          <a:lstStyle/>
          <a:p>
            <a:pPr marL="0" indent="0">
              <a:buNone/>
            </a:pPr>
            <a:r>
              <a:rPr lang="en-US" sz="1300" b="1" dirty="0">
                <a:solidFill>
                  <a:srgbClr val="1E2761"/>
                </a:solidFill>
                <a:latin typeface="Georgia" pitchFamily="34" charset="0"/>
                <a:ea typeface="Georgia" pitchFamily="34" charset="-122"/>
                <a:cs typeface="Georgia" pitchFamily="34" charset="-120"/>
              </a:rPr>
              <a:t>The Model</a:t>
            </a:r>
            <a:endParaRPr lang="en-US" sz="1300" dirty="0"/>
          </a:p>
        </p:txBody>
      </p:sp>
      <p:sp>
        <p:nvSpPr>
          <p:cNvPr id="8" name="Text 6"/>
          <p:cNvSpPr/>
          <p:nvPr/>
        </p:nvSpPr>
        <p:spPr>
          <a:xfrm>
            <a:off x="512064" y="1609344"/>
            <a:ext cx="3867912" cy="1389888"/>
          </a:xfrm>
          <a:prstGeom prst="rect">
            <a:avLst/>
          </a:prstGeom>
          <a:noFill/>
          <a:ln/>
        </p:spPr>
        <p:txBody>
          <a:bodyPr wrap="square" lIns="0" tIns="0" rIns="0" bIns="0" rtlCol="0" anchor="t"/>
          <a:lstStyle/>
          <a:p>
            <a:pPr marL="0" indent="0">
              <a:buNone/>
            </a:pPr>
            <a:r>
              <a:rPr lang="en-US" sz="1150" dirty="0">
                <a:solidFill>
                  <a:srgbClr val="1A1A2E"/>
                </a:solidFill>
                <a:latin typeface="Calibri" pitchFamily="34" charset="0"/>
                <a:ea typeface="Calibri" pitchFamily="34" charset="-122"/>
                <a:cs typeface="Calibri" pitchFamily="34" charset="-120"/>
              </a:rPr>
              <a:t>Models the log-odds of the outcome:</a:t>
            </a:r>
            <a:endParaRPr lang="en-US" sz="1150" dirty="0"/>
          </a:p>
          <a:p>
            <a:pPr marL="0" indent="0">
              <a:buNone/>
            </a:pPr>
            <a:endParaRPr lang="en-US" sz="1150" dirty="0"/>
          </a:p>
          <a:p>
            <a:pPr marL="0" indent="0">
              <a:buNone/>
            </a:pPr>
            <a:r>
              <a:rPr lang="en-US" sz="1150" dirty="0">
                <a:solidFill>
                  <a:srgbClr val="1A1A2E"/>
                </a:solidFill>
                <a:latin typeface="Calibri" pitchFamily="34" charset="0"/>
                <a:ea typeface="Calibri" pitchFamily="34" charset="-122"/>
                <a:cs typeface="Calibri" pitchFamily="34" charset="-120"/>
              </a:rPr>
              <a:t>log[p/(1−p)] = B₀ + B₁X₁ + B₂X₂ + …</a:t>
            </a:r>
            <a:endParaRPr lang="en-US" sz="1150" dirty="0"/>
          </a:p>
          <a:p>
            <a:pPr marL="0" indent="0">
              <a:buNone/>
            </a:pPr>
            <a:endParaRPr lang="en-US" sz="1150" dirty="0"/>
          </a:p>
          <a:p>
            <a:pPr marL="0" indent="0">
              <a:buNone/>
            </a:pPr>
            <a:r>
              <a:rPr lang="en-US" sz="1150" dirty="0">
                <a:solidFill>
                  <a:srgbClr val="1A1A2E"/>
                </a:solidFill>
                <a:latin typeface="Calibri" pitchFamily="34" charset="0"/>
                <a:ea typeface="Calibri" pitchFamily="34" charset="-122"/>
                <a:cs typeface="Calibri" pitchFamily="34" charset="-120"/>
              </a:rPr>
              <a:t>Exponentiating B gives the Odds Ratio (OR) for each predictor controlling for others.</a:t>
            </a:r>
            <a:endParaRPr lang="en-US" sz="1150" dirty="0"/>
          </a:p>
        </p:txBody>
      </p:sp>
      <p:sp>
        <p:nvSpPr>
          <p:cNvPr id="9" name="Shape 7"/>
          <p:cNvSpPr/>
          <p:nvPr/>
        </p:nvSpPr>
        <p:spPr>
          <a:xfrm>
            <a:off x="4617720" y="1170432"/>
            <a:ext cx="4069080" cy="1920240"/>
          </a:xfrm>
          <a:prstGeom prst="rect">
            <a:avLst/>
          </a:prstGeom>
          <a:solidFill>
            <a:srgbClr val="FFFFFF"/>
          </a:solidFill>
          <a:ln w="12700">
            <a:solidFill>
              <a:srgbClr val="DDE0F0"/>
            </a:solidFill>
            <a:prstDash val="solid"/>
          </a:ln>
          <a:effectLst>
            <a:outerShdw blurRad="76200" dist="25400" dir="8100000" algn="bl" rotWithShape="0">
              <a:srgbClr val="000000">
                <a:alpha val="10000"/>
              </a:srgbClr>
            </a:outerShdw>
          </a:effectLst>
        </p:spPr>
        <p:txBody>
          <a:bodyPr/>
          <a:lstStyle/>
          <a:p>
            <a:endParaRPr lang="en-US"/>
          </a:p>
        </p:txBody>
      </p:sp>
      <p:sp>
        <p:nvSpPr>
          <p:cNvPr id="10" name="Shape 8"/>
          <p:cNvSpPr/>
          <p:nvPr/>
        </p:nvSpPr>
        <p:spPr>
          <a:xfrm>
            <a:off x="4617720" y="1170432"/>
            <a:ext cx="64008" cy="1920240"/>
          </a:xfrm>
          <a:prstGeom prst="rect">
            <a:avLst/>
          </a:prstGeom>
          <a:solidFill>
            <a:srgbClr val="2E3F8F"/>
          </a:solidFill>
          <a:ln w="12700">
            <a:solidFill>
              <a:srgbClr val="2E3F8F"/>
            </a:solidFill>
            <a:prstDash val="solid"/>
          </a:ln>
        </p:spPr>
        <p:txBody>
          <a:bodyPr/>
          <a:lstStyle/>
          <a:p>
            <a:endParaRPr lang="en-US"/>
          </a:p>
        </p:txBody>
      </p:sp>
      <p:sp>
        <p:nvSpPr>
          <p:cNvPr id="11" name="Text 9"/>
          <p:cNvSpPr/>
          <p:nvPr/>
        </p:nvSpPr>
        <p:spPr>
          <a:xfrm>
            <a:off x="4764024" y="1243584"/>
            <a:ext cx="3867912" cy="347472"/>
          </a:xfrm>
          <a:prstGeom prst="rect">
            <a:avLst/>
          </a:prstGeom>
          <a:noFill/>
          <a:ln/>
        </p:spPr>
        <p:txBody>
          <a:bodyPr wrap="square" lIns="0" tIns="0" rIns="0" bIns="0" rtlCol="0" anchor="ctr"/>
          <a:lstStyle/>
          <a:p>
            <a:pPr marL="0" indent="0">
              <a:buNone/>
            </a:pPr>
            <a:r>
              <a:rPr lang="en-US" sz="1300" b="1" dirty="0">
                <a:solidFill>
                  <a:srgbClr val="2E3F8F"/>
                </a:solidFill>
                <a:latin typeface="Georgia" pitchFamily="34" charset="0"/>
                <a:ea typeface="Georgia" pitchFamily="34" charset="-122"/>
                <a:cs typeface="Georgia" pitchFamily="34" charset="-120"/>
              </a:rPr>
              <a:t>Key Outputs to Report</a:t>
            </a:r>
            <a:endParaRPr lang="en-US" sz="1300" dirty="0"/>
          </a:p>
        </p:txBody>
      </p:sp>
      <p:sp>
        <p:nvSpPr>
          <p:cNvPr id="12" name="Text 10"/>
          <p:cNvSpPr/>
          <p:nvPr/>
        </p:nvSpPr>
        <p:spPr>
          <a:xfrm>
            <a:off x="4764024" y="1609344"/>
            <a:ext cx="3867912" cy="1389888"/>
          </a:xfrm>
          <a:prstGeom prst="rect">
            <a:avLst/>
          </a:prstGeom>
          <a:noFill/>
          <a:ln/>
        </p:spPr>
        <p:txBody>
          <a:bodyPr wrap="square" lIns="0" tIns="0" rIns="0" bIns="0" rtlCol="0" anchor="t"/>
          <a:lstStyle/>
          <a:p>
            <a:pPr marL="0" indent="0">
              <a:buNone/>
            </a:pPr>
            <a:r>
              <a:rPr lang="en-US" sz="1150" dirty="0">
                <a:solidFill>
                  <a:srgbClr val="1A1A2E"/>
                </a:solidFill>
                <a:latin typeface="Calibri" pitchFamily="34" charset="0"/>
                <a:ea typeface="Calibri" pitchFamily="34" charset="-122"/>
                <a:cs typeface="Calibri" pitchFamily="34" charset="-120"/>
              </a:rPr>
              <a:t>• OR with 95% CI for each predictor</a:t>
            </a:r>
            <a:endParaRPr lang="en-US" sz="1150" dirty="0"/>
          </a:p>
          <a:p>
            <a:pPr marL="0" indent="0">
              <a:buNone/>
            </a:pPr>
            <a:r>
              <a:rPr lang="en-US" sz="1150" dirty="0">
                <a:solidFill>
                  <a:srgbClr val="1A1A2E"/>
                </a:solidFill>
                <a:latin typeface="Calibri" pitchFamily="34" charset="0"/>
                <a:ea typeface="Calibri" pitchFamily="34" charset="-122"/>
                <a:cs typeface="Calibri" pitchFamily="34" charset="-120"/>
              </a:rPr>
              <a:t>• Wald χ² and p-value</a:t>
            </a:r>
            <a:endParaRPr lang="en-US" sz="1150" dirty="0"/>
          </a:p>
          <a:p>
            <a:pPr marL="0" indent="0">
              <a:buNone/>
            </a:pPr>
            <a:r>
              <a:rPr lang="en-US" sz="1150" dirty="0">
                <a:solidFill>
                  <a:srgbClr val="1A1A2E"/>
                </a:solidFill>
                <a:latin typeface="Calibri" pitchFamily="34" charset="0"/>
                <a:ea typeface="Calibri" pitchFamily="34" charset="-122"/>
                <a:cs typeface="Calibri" pitchFamily="34" charset="-120"/>
              </a:rPr>
              <a:t>• Nagelkerke R² (pseudo effect size)</a:t>
            </a:r>
            <a:endParaRPr lang="en-US" sz="1150" dirty="0"/>
          </a:p>
          <a:p>
            <a:pPr marL="0" indent="0">
              <a:buNone/>
            </a:pPr>
            <a:r>
              <a:rPr lang="en-US" sz="1150" dirty="0">
                <a:solidFill>
                  <a:srgbClr val="1A1A2E"/>
                </a:solidFill>
                <a:latin typeface="Calibri" pitchFamily="34" charset="0"/>
                <a:ea typeface="Calibri" pitchFamily="34" charset="-122"/>
                <a:cs typeface="Calibri" pitchFamily="34" charset="-120"/>
              </a:rPr>
              <a:t>• Hosmer-Lemeshow goodness-of-fit</a:t>
            </a:r>
            <a:endParaRPr lang="en-US" sz="1150" dirty="0"/>
          </a:p>
          <a:p>
            <a:pPr marL="0" indent="0">
              <a:buNone/>
            </a:pPr>
            <a:r>
              <a:rPr lang="en-US" sz="1150" dirty="0">
                <a:solidFill>
                  <a:srgbClr val="1A1A2E"/>
                </a:solidFill>
                <a:latin typeface="Calibri" pitchFamily="34" charset="0"/>
                <a:ea typeface="Calibri" pitchFamily="34" charset="-122"/>
                <a:cs typeface="Calibri" pitchFamily="34" charset="-120"/>
              </a:rPr>
              <a:t>• Classification accuracy (sensitivity/specificity)</a:t>
            </a:r>
            <a:endParaRPr lang="en-US" sz="1150" dirty="0"/>
          </a:p>
        </p:txBody>
      </p:sp>
      <p:sp>
        <p:nvSpPr>
          <p:cNvPr id="13" name="Shape 11"/>
          <p:cNvSpPr/>
          <p:nvPr/>
        </p:nvSpPr>
        <p:spPr>
          <a:xfrm>
            <a:off x="365760" y="3200400"/>
            <a:ext cx="4069080" cy="1737360"/>
          </a:xfrm>
          <a:prstGeom prst="rect">
            <a:avLst/>
          </a:prstGeom>
          <a:solidFill>
            <a:srgbClr val="FFFFFF"/>
          </a:solidFill>
          <a:ln w="12700">
            <a:solidFill>
              <a:srgbClr val="DDE0F0"/>
            </a:solidFill>
            <a:prstDash val="solid"/>
          </a:ln>
          <a:effectLst>
            <a:outerShdw blurRad="76200" dist="25400" dir="8100000" algn="bl" rotWithShape="0">
              <a:srgbClr val="000000">
                <a:alpha val="10000"/>
              </a:srgbClr>
            </a:outerShdw>
          </a:effectLst>
        </p:spPr>
        <p:txBody>
          <a:bodyPr/>
          <a:lstStyle/>
          <a:p>
            <a:endParaRPr lang="en-US"/>
          </a:p>
        </p:txBody>
      </p:sp>
      <p:sp>
        <p:nvSpPr>
          <p:cNvPr id="14" name="Shape 12"/>
          <p:cNvSpPr/>
          <p:nvPr/>
        </p:nvSpPr>
        <p:spPr>
          <a:xfrm>
            <a:off x="365760" y="3200400"/>
            <a:ext cx="64008" cy="1737360"/>
          </a:xfrm>
          <a:prstGeom prst="rect">
            <a:avLst/>
          </a:prstGeom>
          <a:solidFill>
            <a:srgbClr val="2E8B72"/>
          </a:solidFill>
          <a:ln w="12700">
            <a:solidFill>
              <a:srgbClr val="2E8B72"/>
            </a:solidFill>
            <a:prstDash val="solid"/>
          </a:ln>
        </p:spPr>
        <p:txBody>
          <a:bodyPr/>
          <a:lstStyle/>
          <a:p>
            <a:endParaRPr lang="en-US"/>
          </a:p>
        </p:txBody>
      </p:sp>
      <p:sp>
        <p:nvSpPr>
          <p:cNvPr id="15" name="Text 13"/>
          <p:cNvSpPr/>
          <p:nvPr/>
        </p:nvSpPr>
        <p:spPr>
          <a:xfrm>
            <a:off x="512064" y="3273552"/>
            <a:ext cx="3867912" cy="347472"/>
          </a:xfrm>
          <a:prstGeom prst="rect">
            <a:avLst/>
          </a:prstGeom>
          <a:noFill/>
          <a:ln/>
        </p:spPr>
        <p:txBody>
          <a:bodyPr wrap="square" lIns="0" tIns="0" rIns="0" bIns="0" rtlCol="0" anchor="ctr"/>
          <a:lstStyle/>
          <a:p>
            <a:pPr marL="0" indent="0">
              <a:buNone/>
            </a:pPr>
            <a:r>
              <a:rPr lang="en-US" sz="1300" b="1" dirty="0">
                <a:solidFill>
                  <a:srgbClr val="2E8B72"/>
                </a:solidFill>
                <a:latin typeface="Georgia" pitchFamily="34" charset="0"/>
                <a:ea typeface="Georgia" pitchFamily="34" charset="-122"/>
                <a:cs typeface="Georgia" pitchFamily="34" charset="-120"/>
              </a:rPr>
              <a:t>Assumptions</a:t>
            </a:r>
            <a:endParaRPr lang="en-US" sz="1300" dirty="0"/>
          </a:p>
        </p:txBody>
      </p:sp>
      <p:sp>
        <p:nvSpPr>
          <p:cNvPr id="16" name="Text 14"/>
          <p:cNvSpPr/>
          <p:nvPr/>
        </p:nvSpPr>
        <p:spPr>
          <a:xfrm>
            <a:off x="512064" y="3639312"/>
            <a:ext cx="3867912" cy="1207008"/>
          </a:xfrm>
          <a:prstGeom prst="rect">
            <a:avLst/>
          </a:prstGeom>
          <a:noFill/>
          <a:ln/>
        </p:spPr>
        <p:txBody>
          <a:bodyPr wrap="square" lIns="0" tIns="0" rIns="0" bIns="0" rtlCol="0" anchor="t"/>
          <a:lstStyle/>
          <a:p>
            <a:pPr marL="0" indent="0">
              <a:buNone/>
            </a:pPr>
            <a:r>
              <a:rPr lang="en-US" sz="1150" dirty="0">
                <a:solidFill>
                  <a:srgbClr val="1A1A2E"/>
                </a:solidFill>
                <a:latin typeface="Calibri" pitchFamily="34" charset="0"/>
                <a:ea typeface="Calibri" pitchFamily="34" charset="-122"/>
                <a:cs typeface="Calibri" pitchFamily="34" charset="-120"/>
              </a:rPr>
              <a:t>• Linearity of log-odds (continuous IVs)</a:t>
            </a:r>
            <a:endParaRPr lang="en-US" sz="1150" dirty="0"/>
          </a:p>
          <a:p>
            <a:pPr marL="0" indent="0">
              <a:buNone/>
            </a:pPr>
            <a:r>
              <a:rPr lang="en-US" sz="1150" dirty="0">
                <a:solidFill>
                  <a:srgbClr val="1A1A2E"/>
                </a:solidFill>
                <a:latin typeface="Calibri" pitchFamily="34" charset="0"/>
                <a:ea typeface="Calibri" pitchFamily="34" charset="-122"/>
                <a:cs typeface="Calibri" pitchFamily="34" charset="-120"/>
              </a:rPr>
              <a:t>• No influential outliers</a:t>
            </a:r>
            <a:endParaRPr lang="en-US" sz="1150" dirty="0"/>
          </a:p>
          <a:p>
            <a:pPr marL="0" indent="0">
              <a:buNone/>
            </a:pPr>
            <a:r>
              <a:rPr lang="en-US" sz="1150" dirty="0">
                <a:solidFill>
                  <a:srgbClr val="1A1A2E"/>
                </a:solidFill>
                <a:latin typeface="Calibri" pitchFamily="34" charset="0"/>
                <a:ea typeface="Calibri" pitchFamily="34" charset="-122"/>
                <a:cs typeface="Calibri" pitchFamily="34" charset="-120"/>
              </a:rPr>
              <a:t>• No multicollinearity (VIF &lt; 5)</a:t>
            </a:r>
            <a:endParaRPr lang="en-US" sz="1150" dirty="0"/>
          </a:p>
          <a:p>
            <a:pPr marL="0" indent="0">
              <a:buNone/>
            </a:pPr>
            <a:r>
              <a:rPr lang="en-US" sz="1150" dirty="0">
                <a:solidFill>
                  <a:srgbClr val="1A1A2E"/>
                </a:solidFill>
                <a:latin typeface="Calibri" pitchFamily="34" charset="0"/>
                <a:ea typeface="Calibri" pitchFamily="34" charset="-122"/>
                <a:cs typeface="Calibri" pitchFamily="34" charset="-120"/>
              </a:rPr>
              <a:t>• Independence of observations</a:t>
            </a:r>
            <a:endParaRPr lang="en-US" sz="1150" dirty="0"/>
          </a:p>
          <a:p>
            <a:pPr marL="0" indent="0">
              <a:buNone/>
            </a:pPr>
            <a:r>
              <a:rPr lang="en-US" sz="1150" dirty="0">
                <a:solidFill>
                  <a:srgbClr val="1A1A2E"/>
                </a:solidFill>
                <a:latin typeface="Calibri" pitchFamily="34" charset="0"/>
                <a:ea typeface="Calibri" pitchFamily="34" charset="-122"/>
                <a:cs typeface="Calibri" pitchFamily="34" charset="-120"/>
              </a:rPr>
              <a:t>• Adequate sample: min 10 events per IV</a:t>
            </a:r>
            <a:endParaRPr lang="en-US" sz="1150" dirty="0"/>
          </a:p>
        </p:txBody>
      </p:sp>
      <p:sp>
        <p:nvSpPr>
          <p:cNvPr id="17" name="Shape 15"/>
          <p:cNvSpPr/>
          <p:nvPr/>
        </p:nvSpPr>
        <p:spPr>
          <a:xfrm>
            <a:off x="4617720" y="3200400"/>
            <a:ext cx="4069080" cy="1737360"/>
          </a:xfrm>
          <a:prstGeom prst="rect">
            <a:avLst/>
          </a:prstGeom>
          <a:solidFill>
            <a:srgbClr val="FFFFFF"/>
          </a:solidFill>
          <a:ln w="12700">
            <a:solidFill>
              <a:srgbClr val="DDE0F0"/>
            </a:solidFill>
            <a:prstDash val="solid"/>
          </a:ln>
          <a:effectLst>
            <a:outerShdw blurRad="76200" dist="25400" dir="8100000" algn="bl" rotWithShape="0">
              <a:srgbClr val="000000">
                <a:alpha val="10000"/>
              </a:srgbClr>
            </a:outerShdw>
          </a:effectLst>
        </p:spPr>
        <p:txBody>
          <a:bodyPr/>
          <a:lstStyle/>
          <a:p>
            <a:endParaRPr lang="en-US"/>
          </a:p>
        </p:txBody>
      </p:sp>
      <p:sp>
        <p:nvSpPr>
          <p:cNvPr id="18" name="Shape 16"/>
          <p:cNvSpPr/>
          <p:nvPr/>
        </p:nvSpPr>
        <p:spPr>
          <a:xfrm>
            <a:off x="4617720" y="3200400"/>
            <a:ext cx="64008" cy="1737360"/>
          </a:xfrm>
          <a:prstGeom prst="rect">
            <a:avLst/>
          </a:prstGeom>
          <a:solidFill>
            <a:srgbClr val="6D2E46"/>
          </a:solidFill>
          <a:ln w="12700">
            <a:solidFill>
              <a:srgbClr val="6D2E46"/>
            </a:solidFill>
            <a:prstDash val="solid"/>
          </a:ln>
        </p:spPr>
        <p:txBody>
          <a:bodyPr/>
          <a:lstStyle/>
          <a:p>
            <a:endParaRPr lang="en-US"/>
          </a:p>
        </p:txBody>
      </p:sp>
      <p:sp>
        <p:nvSpPr>
          <p:cNvPr id="19" name="Text 17"/>
          <p:cNvSpPr/>
          <p:nvPr/>
        </p:nvSpPr>
        <p:spPr>
          <a:xfrm>
            <a:off x="4764024" y="3273552"/>
            <a:ext cx="3867912" cy="347472"/>
          </a:xfrm>
          <a:prstGeom prst="rect">
            <a:avLst/>
          </a:prstGeom>
          <a:noFill/>
          <a:ln/>
        </p:spPr>
        <p:txBody>
          <a:bodyPr wrap="square" lIns="0" tIns="0" rIns="0" bIns="0" rtlCol="0" anchor="ctr"/>
          <a:lstStyle/>
          <a:p>
            <a:pPr marL="0" indent="0">
              <a:buNone/>
            </a:pPr>
            <a:r>
              <a:rPr lang="en-US" sz="1300" b="1" dirty="0">
                <a:solidFill>
                  <a:srgbClr val="6D2E46"/>
                </a:solidFill>
                <a:latin typeface="Georgia" pitchFamily="34" charset="0"/>
                <a:ea typeface="Georgia" pitchFamily="34" charset="-122"/>
                <a:cs typeface="Georgia" pitchFamily="34" charset="-120"/>
              </a:rPr>
              <a:t>PH Example</a:t>
            </a:r>
            <a:endParaRPr lang="en-US" sz="1300" dirty="0"/>
          </a:p>
        </p:txBody>
      </p:sp>
      <p:sp>
        <p:nvSpPr>
          <p:cNvPr id="20" name="Text 18"/>
          <p:cNvSpPr/>
          <p:nvPr/>
        </p:nvSpPr>
        <p:spPr>
          <a:xfrm>
            <a:off x="4764024" y="3639312"/>
            <a:ext cx="3867912" cy="1207008"/>
          </a:xfrm>
          <a:prstGeom prst="rect">
            <a:avLst/>
          </a:prstGeom>
          <a:noFill/>
          <a:ln/>
        </p:spPr>
        <p:txBody>
          <a:bodyPr wrap="square" lIns="0" tIns="0" rIns="0" bIns="0" rtlCol="0" anchor="t"/>
          <a:lstStyle/>
          <a:p>
            <a:pPr marL="0" indent="0">
              <a:buNone/>
            </a:pPr>
            <a:r>
              <a:rPr lang="en-US" sz="1150" dirty="0">
                <a:solidFill>
                  <a:srgbClr val="1A1A2E"/>
                </a:solidFill>
                <a:latin typeface="Calibri" pitchFamily="34" charset="0"/>
                <a:ea typeface="Calibri" pitchFamily="34" charset="-122"/>
                <a:cs typeface="Calibri" pitchFamily="34" charset="-120"/>
              </a:rPr>
              <a:t>Research Q: What predicts Type 2 Diabetes?</a:t>
            </a:r>
            <a:endParaRPr lang="en-US" sz="1150" dirty="0"/>
          </a:p>
          <a:p>
            <a:pPr marL="0" indent="0">
              <a:buNone/>
            </a:pPr>
            <a:r>
              <a:rPr lang="en-US" sz="1150" dirty="0">
                <a:solidFill>
                  <a:srgbClr val="1A1A2E"/>
                </a:solidFill>
                <a:latin typeface="Calibri" pitchFamily="34" charset="0"/>
                <a:ea typeface="Calibri" pitchFamily="34" charset="-122"/>
                <a:cs typeface="Calibri" pitchFamily="34" charset="-120"/>
              </a:rPr>
              <a:t>DV: Diabetes (yes=1 / no=0)</a:t>
            </a:r>
            <a:endParaRPr lang="en-US" sz="1150" dirty="0"/>
          </a:p>
          <a:p>
            <a:pPr marL="0" indent="0">
              <a:buNone/>
            </a:pPr>
            <a:r>
              <a:rPr lang="en-US" sz="1150" dirty="0">
                <a:solidFill>
                  <a:srgbClr val="1A1A2E"/>
                </a:solidFill>
                <a:latin typeface="Calibri" pitchFamily="34" charset="0"/>
                <a:ea typeface="Calibri" pitchFamily="34" charset="-122"/>
                <a:cs typeface="Calibri" pitchFamily="34" charset="-120"/>
              </a:rPr>
              <a:t>IVs: Age, BMI, family history, physical activity, diet score, SES</a:t>
            </a:r>
            <a:endParaRPr lang="en-US" sz="1150" dirty="0"/>
          </a:p>
          <a:p>
            <a:pPr marL="0" indent="0">
              <a:buNone/>
            </a:pPr>
            <a:r>
              <a:rPr lang="en-US" sz="1150" dirty="0">
                <a:solidFill>
                  <a:srgbClr val="1A1A2E"/>
                </a:solidFill>
                <a:latin typeface="Calibri" pitchFamily="34" charset="0"/>
                <a:ea typeface="Calibri" pitchFamily="34" charset="-122"/>
                <a:cs typeface="Calibri" pitchFamily="34" charset="-120"/>
              </a:rPr>
              <a:t>→ Adjusted OR for each after controlling all others</a:t>
            </a:r>
            <a:endParaRPr lang="en-US" sz="11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28090"/>
          </a:solidFill>
          <a:ln/>
        </p:spPr>
        <p:txBody>
          <a:bodyPr/>
          <a:lstStyle/>
          <a:p>
            <a:endParaRPr lang="en-US"/>
          </a:p>
        </p:txBody>
      </p:sp>
      <p:sp>
        <p:nvSpPr>
          <p:cNvPr id="3" name="Text 1"/>
          <p:cNvSpPr/>
          <p:nvPr/>
        </p:nvSpPr>
        <p:spPr>
          <a:xfrm>
            <a:off x="365760" y="0"/>
            <a:ext cx="8229600" cy="1005840"/>
          </a:xfrm>
          <a:prstGeom prst="rect">
            <a:avLst/>
          </a:prstGeom>
          <a:noFill/>
          <a:ln/>
        </p:spPr>
        <p:txBody>
          <a:bodyPr wrap="square" rtlCol="0" anchor="ctr"/>
          <a:lstStyle/>
          <a:p>
            <a:pPr marL="0" indent="0">
              <a:buNone/>
            </a:pPr>
            <a:r>
              <a:rPr lang="en-US" sz="2000" b="1" dirty="0">
                <a:solidFill>
                  <a:srgbClr val="FFFFFF"/>
                </a:solidFill>
                <a:latin typeface="Georgia" pitchFamily="34" charset="0"/>
                <a:ea typeface="Georgia" pitchFamily="34" charset="-122"/>
                <a:cs typeface="Georgia" pitchFamily="34" charset="-120"/>
              </a:rPr>
              <a:t>Poisson Regression &amp; Cox Proportional Hazards</a:t>
            </a:r>
            <a:endParaRPr lang="en-US" sz="2000" dirty="0"/>
          </a:p>
        </p:txBody>
      </p:sp>
      <p:sp>
        <p:nvSpPr>
          <p:cNvPr id="4" name="Shape 2"/>
          <p:cNvSpPr/>
          <p:nvPr/>
        </p:nvSpPr>
        <p:spPr>
          <a:xfrm>
            <a:off x="274320" y="1143000"/>
            <a:ext cx="4023360" cy="3749040"/>
          </a:xfrm>
          <a:prstGeom prst="rect">
            <a:avLst/>
          </a:prstGeom>
          <a:solidFill>
            <a:srgbClr val="E8F4F5"/>
          </a:solidFill>
          <a:ln w="12700">
            <a:solidFill>
              <a:srgbClr val="DDDDDD"/>
            </a:solidFill>
            <a:prstDash val="solid"/>
          </a:ln>
          <a:effectLst>
            <a:outerShdw blurRad="101600" dist="38100" dir="8100000" algn="bl" rotWithShape="0">
              <a:srgbClr val="000000">
                <a:alpha val="12000"/>
              </a:srgbClr>
            </a:outerShdw>
          </a:effectLst>
        </p:spPr>
        <p:txBody>
          <a:bodyPr/>
          <a:lstStyle/>
          <a:p>
            <a:endParaRPr lang="en-US"/>
          </a:p>
        </p:txBody>
      </p:sp>
      <p:sp>
        <p:nvSpPr>
          <p:cNvPr id="5" name="Shape 3"/>
          <p:cNvSpPr/>
          <p:nvPr/>
        </p:nvSpPr>
        <p:spPr>
          <a:xfrm>
            <a:off x="274320" y="1143000"/>
            <a:ext cx="4023360" cy="548640"/>
          </a:xfrm>
          <a:prstGeom prst="rect">
            <a:avLst/>
          </a:prstGeom>
          <a:solidFill>
            <a:srgbClr val="023E5C"/>
          </a:solidFill>
          <a:ln w="12700">
            <a:solidFill>
              <a:srgbClr val="023E5C"/>
            </a:solidFill>
            <a:prstDash val="solid"/>
          </a:ln>
        </p:spPr>
        <p:txBody>
          <a:bodyPr/>
          <a:lstStyle/>
          <a:p>
            <a:endParaRPr lang="en-US"/>
          </a:p>
        </p:txBody>
      </p:sp>
      <p:sp>
        <p:nvSpPr>
          <p:cNvPr id="6" name="Text 4"/>
          <p:cNvSpPr/>
          <p:nvPr/>
        </p:nvSpPr>
        <p:spPr>
          <a:xfrm>
            <a:off x="274320" y="1143000"/>
            <a:ext cx="4023360" cy="548640"/>
          </a:xfrm>
          <a:prstGeom prst="rect">
            <a:avLst/>
          </a:prstGeom>
          <a:noFill/>
          <a:ln/>
        </p:spPr>
        <p:txBody>
          <a:bodyPr wrap="square" rtlCol="0" anchor="ctr"/>
          <a:lstStyle/>
          <a:p>
            <a:pPr marL="0" indent="0" algn="ctr">
              <a:buNone/>
            </a:pPr>
            <a:r>
              <a:rPr lang="en-US" sz="1500" b="1" dirty="0">
                <a:solidFill>
                  <a:srgbClr val="FFFFFF"/>
                </a:solidFill>
                <a:latin typeface="Georgia" pitchFamily="34" charset="0"/>
                <a:ea typeface="Georgia" pitchFamily="34" charset="-122"/>
                <a:cs typeface="Georgia" pitchFamily="34" charset="-120"/>
              </a:rPr>
              <a:t>Poisson Regression</a:t>
            </a:r>
            <a:endParaRPr lang="en-US" sz="1500" dirty="0"/>
          </a:p>
        </p:txBody>
      </p:sp>
      <p:sp>
        <p:nvSpPr>
          <p:cNvPr id="7" name="Text 5"/>
          <p:cNvSpPr/>
          <p:nvPr/>
        </p:nvSpPr>
        <p:spPr>
          <a:xfrm>
            <a:off x="457200" y="1783080"/>
            <a:ext cx="3657600" cy="3017520"/>
          </a:xfrm>
          <a:prstGeom prst="rect">
            <a:avLst/>
          </a:prstGeom>
          <a:noFill/>
          <a:ln/>
        </p:spPr>
        <p:txBody>
          <a:bodyPr wrap="square" rtlCol="0" anchor="t"/>
          <a:lstStyle/>
          <a:p>
            <a:pPr marL="0" indent="0">
              <a:spcAft>
                <a:spcPts val="200"/>
              </a:spcAft>
              <a:buNone/>
            </a:pPr>
            <a:r>
              <a:rPr lang="en-US" sz="1200" b="1" dirty="0">
                <a:solidFill>
                  <a:srgbClr val="1A2E35"/>
                </a:solidFill>
                <a:latin typeface="Calibri" pitchFamily="34" charset="0"/>
                <a:ea typeface="Calibri" pitchFamily="34" charset="-122"/>
                <a:cs typeface="Calibri" pitchFamily="34" charset="-120"/>
              </a:rPr>
              <a:t>Use for: </a:t>
            </a:r>
            <a:r>
              <a:rPr lang="en-US" sz="1200" dirty="0">
                <a:solidFill>
                  <a:srgbClr val="1A2E35"/>
                </a:solidFill>
                <a:latin typeface="Calibri" pitchFamily="34" charset="0"/>
                <a:ea typeface="Calibri" pitchFamily="34" charset="-122"/>
                <a:cs typeface="Calibri" pitchFamily="34" charset="-120"/>
              </a:rPr>
              <a:t>Count outcomes (number of events per person-time)
</a:t>
            </a:r>
            <a:endParaRPr lang="en-US" sz="1200" dirty="0"/>
          </a:p>
          <a:p>
            <a:pPr marL="0" indent="0">
              <a:spcAft>
                <a:spcPts val="200"/>
              </a:spcAft>
              <a:buNone/>
            </a:pPr>
            <a:r>
              <a:rPr lang="en-US" sz="1200" b="1" dirty="0">
                <a:solidFill>
                  <a:srgbClr val="1A2E35"/>
                </a:solidFill>
                <a:latin typeface="Calibri" pitchFamily="34" charset="0"/>
                <a:ea typeface="Calibri" pitchFamily="34" charset="-122"/>
                <a:cs typeface="Calibri" pitchFamily="34" charset="-120"/>
              </a:rPr>
              <a:t>Formula: </a:t>
            </a:r>
            <a:r>
              <a:rPr lang="en-US" sz="1200" dirty="0">
                <a:solidFill>
                  <a:srgbClr val="1A2E35"/>
                </a:solidFill>
                <a:latin typeface="Calibri" pitchFamily="34" charset="0"/>
                <a:ea typeface="Calibri" pitchFamily="34" charset="-122"/>
                <a:cs typeface="Calibri" pitchFamily="34" charset="-120"/>
              </a:rPr>
              <a:t>log(count) = β₀ + β₁X₁ + offset
</a:t>
            </a:r>
            <a:endParaRPr lang="en-US" sz="1200" dirty="0"/>
          </a:p>
          <a:p>
            <a:pPr marL="0" indent="0">
              <a:spcAft>
                <a:spcPts val="200"/>
              </a:spcAft>
              <a:buNone/>
            </a:pPr>
            <a:r>
              <a:rPr lang="en-US" sz="1200" b="1" dirty="0">
                <a:solidFill>
                  <a:srgbClr val="1A2E35"/>
                </a:solidFill>
                <a:latin typeface="Calibri" pitchFamily="34" charset="0"/>
                <a:ea typeface="Calibri" pitchFamily="34" charset="-122"/>
                <a:cs typeface="Calibri" pitchFamily="34" charset="-120"/>
              </a:rPr>
              <a:t>Output: </a:t>
            </a:r>
            <a:r>
              <a:rPr lang="en-US" sz="1200" dirty="0">
                <a:solidFill>
                  <a:srgbClr val="1A2E35"/>
                </a:solidFill>
                <a:latin typeface="Calibri" pitchFamily="34" charset="0"/>
                <a:ea typeface="Calibri" pitchFamily="34" charset="-122"/>
                <a:cs typeface="Calibri" pitchFamily="34" charset="-120"/>
              </a:rPr>
              <a:t>Incidence Rate Ratio (IRR)
</a:t>
            </a:r>
            <a:endParaRPr lang="en-US" sz="1200" dirty="0"/>
          </a:p>
          <a:p>
            <a:pPr marL="0" indent="0">
              <a:spcAft>
                <a:spcPts val="200"/>
              </a:spcAft>
              <a:buNone/>
            </a:pPr>
            <a:r>
              <a:rPr lang="en-US" sz="1200" b="1" dirty="0">
                <a:solidFill>
                  <a:srgbClr val="1A2E35"/>
                </a:solidFill>
                <a:latin typeface="Calibri" pitchFamily="34" charset="0"/>
                <a:ea typeface="Calibri" pitchFamily="34" charset="-122"/>
                <a:cs typeface="Calibri" pitchFamily="34" charset="-120"/>
              </a:rPr>
              <a:t>Example: </a:t>
            </a:r>
            <a:r>
              <a:rPr lang="en-US" sz="1200" dirty="0">
                <a:solidFill>
                  <a:srgbClr val="1A2E35"/>
                </a:solidFill>
                <a:latin typeface="Calibri" pitchFamily="34" charset="0"/>
                <a:ea typeface="Calibri" pitchFamily="34" charset="-122"/>
                <a:cs typeface="Calibri" pitchFamily="34" charset="-120"/>
              </a:rPr>
              <a:t>Hospital readmissions, ED visits, injury counts
</a:t>
            </a:r>
            <a:endParaRPr lang="en-US" sz="1200" dirty="0"/>
          </a:p>
          <a:p>
            <a:pPr marL="0" indent="0">
              <a:spcAft>
                <a:spcPts val="200"/>
              </a:spcAft>
              <a:buNone/>
            </a:pPr>
            <a:r>
              <a:rPr lang="en-US" sz="1200" b="1" dirty="0">
                <a:solidFill>
                  <a:srgbClr val="1A2E35"/>
                </a:solidFill>
                <a:latin typeface="Calibri" pitchFamily="34" charset="0"/>
                <a:ea typeface="Calibri" pitchFamily="34" charset="-122"/>
                <a:cs typeface="Calibri" pitchFamily="34" charset="-120"/>
              </a:rPr>
              <a:t>Assumption: </a:t>
            </a:r>
            <a:r>
              <a:rPr lang="en-US" sz="1200" dirty="0">
                <a:solidFill>
                  <a:srgbClr val="1A2E35"/>
                </a:solidFill>
                <a:latin typeface="Calibri" pitchFamily="34" charset="0"/>
                <a:ea typeface="Calibri" pitchFamily="34" charset="-122"/>
                <a:cs typeface="Calibri" pitchFamily="34" charset="-120"/>
              </a:rPr>
              <a:t>Mean = Variance (use negative binomial if overdispersed)</a:t>
            </a:r>
            <a:endParaRPr lang="en-US" sz="1200" dirty="0"/>
          </a:p>
        </p:txBody>
      </p:sp>
      <p:sp>
        <p:nvSpPr>
          <p:cNvPr id="8" name="Shape 6"/>
          <p:cNvSpPr/>
          <p:nvPr/>
        </p:nvSpPr>
        <p:spPr>
          <a:xfrm>
            <a:off x="4846320" y="1143000"/>
            <a:ext cx="4023360" cy="3749040"/>
          </a:xfrm>
          <a:prstGeom prst="rect">
            <a:avLst/>
          </a:prstGeom>
          <a:solidFill>
            <a:srgbClr val="E8F4F5"/>
          </a:solidFill>
          <a:ln w="12700">
            <a:solidFill>
              <a:srgbClr val="DDDDDD"/>
            </a:solidFill>
            <a:prstDash val="solid"/>
          </a:ln>
          <a:effectLst>
            <a:outerShdw blurRad="101600" dist="38100" dir="8100000" algn="bl" rotWithShape="0">
              <a:srgbClr val="000000">
                <a:alpha val="12000"/>
              </a:srgbClr>
            </a:outerShdw>
          </a:effectLst>
        </p:spPr>
        <p:txBody>
          <a:bodyPr/>
          <a:lstStyle/>
          <a:p>
            <a:endParaRPr lang="en-US"/>
          </a:p>
        </p:txBody>
      </p:sp>
      <p:sp>
        <p:nvSpPr>
          <p:cNvPr id="9" name="Shape 7"/>
          <p:cNvSpPr/>
          <p:nvPr/>
        </p:nvSpPr>
        <p:spPr>
          <a:xfrm>
            <a:off x="4846320" y="1143000"/>
            <a:ext cx="4023360" cy="548640"/>
          </a:xfrm>
          <a:prstGeom prst="rect">
            <a:avLst/>
          </a:prstGeom>
          <a:solidFill>
            <a:srgbClr val="00A896"/>
          </a:solidFill>
          <a:ln w="12700">
            <a:solidFill>
              <a:srgbClr val="00A896"/>
            </a:solidFill>
            <a:prstDash val="solid"/>
          </a:ln>
        </p:spPr>
        <p:txBody>
          <a:bodyPr/>
          <a:lstStyle/>
          <a:p>
            <a:endParaRPr lang="en-US"/>
          </a:p>
        </p:txBody>
      </p:sp>
      <p:sp>
        <p:nvSpPr>
          <p:cNvPr id="10" name="Text 8"/>
          <p:cNvSpPr/>
          <p:nvPr/>
        </p:nvSpPr>
        <p:spPr>
          <a:xfrm>
            <a:off x="4846320" y="1143000"/>
            <a:ext cx="4023360" cy="548640"/>
          </a:xfrm>
          <a:prstGeom prst="rect">
            <a:avLst/>
          </a:prstGeom>
          <a:noFill/>
          <a:ln/>
        </p:spPr>
        <p:txBody>
          <a:bodyPr wrap="square" rtlCol="0" anchor="ctr"/>
          <a:lstStyle/>
          <a:p>
            <a:pPr marL="0" indent="0" algn="ctr">
              <a:buNone/>
            </a:pPr>
            <a:r>
              <a:rPr lang="en-US" sz="1500" b="1" dirty="0">
                <a:solidFill>
                  <a:srgbClr val="FFFFFF"/>
                </a:solidFill>
                <a:latin typeface="Georgia" pitchFamily="34" charset="0"/>
                <a:ea typeface="Georgia" pitchFamily="34" charset="-122"/>
                <a:cs typeface="Georgia" pitchFamily="34" charset="-120"/>
              </a:rPr>
              <a:t>Cox Proportional Hazards</a:t>
            </a:r>
            <a:endParaRPr lang="en-US" sz="1500" dirty="0"/>
          </a:p>
        </p:txBody>
      </p:sp>
      <p:sp>
        <p:nvSpPr>
          <p:cNvPr id="11" name="Text 9"/>
          <p:cNvSpPr/>
          <p:nvPr/>
        </p:nvSpPr>
        <p:spPr>
          <a:xfrm>
            <a:off x="5029200" y="1783080"/>
            <a:ext cx="3657600" cy="3017520"/>
          </a:xfrm>
          <a:prstGeom prst="rect">
            <a:avLst/>
          </a:prstGeom>
          <a:noFill/>
          <a:ln/>
        </p:spPr>
        <p:txBody>
          <a:bodyPr wrap="square" rtlCol="0" anchor="t"/>
          <a:lstStyle/>
          <a:p>
            <a:pPr marL="0" indent="0">
              <a:spcAft>
                <a:spcPts val="200"/>
              </a:spcAft>
              <a:buNone/>
            </a:pPr>
            <a:r>
              <a:rPr lang="en-US" sz="1200" b="1" dirty="0">
                <a:solidFill>
                  <a:srgbClr val="1A2E35"/>
                </a:solidFill>
                <a:latin typeface="Calibri" pitchFamily="34" charset="0"/>
                <a:ea typeface="Calibri" pitchFamily="34" charset="-122"/>
                <a:cs typeface="Calibri" pitchFamily="34" charset="-120"/>
              </a:rPr>
              <a:t>Use for: </a:t>
            </a:r>
            <a:r>
              <a:rPr lang="en-US" sz="1200" dirty="0">
                <a:solidFill>
                  <a:srgbClr val="1A2E35"/>
                </a:solidFill>
                <a:latin typeface="Calibri" pitchFamily="34" charset="0"/>
                <a:ea typeface="Calibri" pitchFamily="34" charset="-122"/>
                <a:cs typeface="Calibri" pitchFamily="34" charset="-120"/>
              </a:rPr>
              <a:t>Time-to-event data (survival analysis)
</a:t>
            </a:r>
            <a:endParaRPr lang="en-US" sz="1200" dirty="0"/>
          </a:p>
          <a:p>
            <a:pPr marL="0" indent="0">
              <a:spcAft>
                <a:spcPts val="200"/>
              </a:spcAft>
              <a:buNone/>
            </a:pPr>
            <a:r>
              <a:rPr lang="en-US" sz="1200" b="1" dirty="0">
                <a:solidFill>
                  <a:srgbClr val="1A2E35"/>
                </a:solidFill>
                <a:latin typeface="Calibri" pitchFamily="34" charset="0"/>
                <a:ea typeface="Calibri" pitchFamily="34" charset="-122"/>
                <a:cs typeface="Calibri" pitchFamily="34" charset="-120"/>
              </a:rPr>
              <a:t>Formula: </a:t>
            </a:r>
            <a:r>
              <a:rPr lang="en-US" sz="1200" dirty="0">
                <a:solidFill>
                  <a:srgbClr val="1A2E35"/>
                </a:solidFill>
                <a:latin typeface="Calibri" pitchFamily="34" charset="0"/>
                <a:ea typeface="Calibri" pitchFamily="34" charset="-122"/>
                <a:cs typeface="Calibri" pitchFamily="34" charset="-120"/>
              </a:rPr>
              <a:t>h(t) = h₀(t) × e^(β₁X₁ + β₂X₂)
</a:t>
            </a:r>
            <a:endParaRPr lang="en-US" sz="1200" dirty="0"/>
          </a:p>
          <a:p>
            <a:pPr marL="0" indent="0">
              <a:spcAft>
                <a:spcPts val="200"/>
              </a:spcAft>
              <a:buNone/>
            </a:pPr>
            <a:r>
              <a:rPr lang="en-US" sz="1200" b="1" dirty="0">
                <a:solidFill>
                  <a:srgbClr val="1A2E35"/>
                </a:solidFill>
                <a:latin typeface="Calibri" pitchFamily="34" charset="0"/>
                <a:ea typeface="Calibri" pitchFamily="34" charset="-122"/>
                <a:cs typeface="Calibri" pitchFamily="34" charset="-120"/>
              </a:rPr>
              <a:t>Output: </a:t>
            </a:r>
            <a:r>
              <a:rPr lang="en-US" sz="1200" dirty="0">
                <a:solidFill>
                  <a:srgbClr val="1A2E35"/>
                </a:solidFill>
                <a:latin typeface="Calibri" pitchFamily="34" charset="0"/>
                <a:ea typeface="Calibri" pitchFamily="34" charset="-122"/>
                <a:cs typeface="Calibri" pitchFamily="34" charset="-120"/>
              </a:rPr>
              <a:t>Hazard Ratio (HR)
</a:t>
            </a:r>
            <a:endParaRPr lang="en-US" sz="1200" dirty="0"/>
          </a:p>
          <a:p>
            <a:pPr marL="0" indent="0">
              <a:spcAft>
                <a:spcPts val="200"/>
              </a:spcAft>
              <a:buNone/>
            </a:pPr>
            <a:r>
              <a:rPr lang="en-US" sz="1200" b="1" dirty="0">
                <a:solidFill>
                  <a:srgbClr val="1A2E35"/>
                </a:solidFill>
                <a:latin typeface="Calibri" pitchFamily="34" charset="0"/>
                <a:ea typeface="Calibri" pitchFamily="34" charset="-122"/>
                <a:cs typeface="Calibri" pitchFamily="34" charset="-120"/>
              </a:rPr>
              <a:t>Example: </a:t>
            </a:r>
            <a:r>
              <a:rPr lang="en-US" sz="1200" dirty="0">
                <a:solidFill>
                  <a:srgbClr val="1A2E35"/>
                </a:solidFill>
                <a:latin typeface="Calibri" pitchFamily="34" charset="0"/>
                <a:ea typeface="Calibri" pitchFamily="34" charset="-122"/>
                <a:cs typeface="Calibri" pitchFamily="34" charset="-120"/>
              </a:rPr>
              <a:t>Time to death, remission, hospital discharge
</a:t>
            </a:r>
            <a:endParaRPr lang="en-US" sz="1200" dirty="0"/>
          </a:p>
          <a:p>
            <a:pPr marL="0" indent="0">
              <a:spcAft>
                <a:spcPts val="200"/>
              </a:spcAft>
              <a:buNone/>
            </a:pPr>
            <a:r>
              <a:rPr lang="en-US" sz="1200" b="1" dirty="0">
                <a:solidFill>
                  <a:srgbClr val="1A2E35"/>
                </a:solidFill>
                <a:latin typeface="Calibri" pitchFamily="34" charset="0"/>
                <a:ea typeface="Calibri" pitchFamily="34" charset="-122"/>
                <a:cs typeface="Calibri" pitchFamily="34" charset="-120"/>
              </a:rPr>
              <a:t>Advantage: </a:t>
            </a:r>
            <a:r>
              <a:rPr lang="en-US" sz="1200" dirty="0">
                <a:solidFill>
                  <a:srgbClr val="1A2E35"/>
                </a:solidFill>
                <a:latin typeface="Calibri" pitchFamily="34" charset="0"/>
                <a:ea typeface="Calibri" pitchFamily="34" charset="-122"/>
                <a:cs typeface="Calibri" pitchFamily="34" charset="-120"/>
              </a:rPr>
              <a:t>Handles censored observations (lost to follow-up)</a:t>
            </a:r>
            <a:endParaRPr lang="en-US" sz="12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2B45"/>
          </a:solidFill>
          <a:ln/>
        </p:spPr>
        <p:txBody>
          <a:bodyPr/>
          <a:lstStyle/>
          <a:p>
            <a:endParaRPr lang="en-US"/>
          </a:p>
        </p:txBody>
      </p:sp>
      <p:sp>
        <p:nvSpPr>
          <p:cNvPr id="3" name="Text 1"/>
          <p:cNvSpPr/>
          <p:nvPr/>
        </p:nvSpPr>
        <p:spPr>
          <a:xfrm>
            <a:off x="365760" y="0"/>
            <a:ext cx="8412480" cy="68580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Model Building Principles</a:t>
            </a:r>
            <a:endParaRPr lang="en-US" sz="2200" dirty="0"/>
          </a:p>
        </p:txBody>
      </p:sp>
      <p:sp>
        <p:nvSpPr>
          <p:cNvPr id="4" name="Shape 2"/>
          <p:cNvSpPr/>
          <p:nvPr/>
        </p:nvSpPr>
        <p:spPr>
          <a:xfrm>
            <a:off x="274320" y="822960"/>
            <a:ext cx="548640" cy="621792"/>
          </a:xfrm>
          <a:prstGeom prst="rect">
            <a:avLst/>
          </a:prstGeom>
          <a:solidFill>
            <a:srgbClr val="0E7C7B"/>
          </a:solidFill>
          <a:ln/>
        </p:spPr>
        <p:txBody>
          <a:bodyPr/>
          <a:lstStyle/>
          <a:p>
            <a:endParaRPr lang="en-US"/>
          </a:p>
        </p:txBody>
      </p:sp>
      <p:sp>
        <p:nvSpPr>
          <p:cNvPr id="5" name="Text 3"/>
          <p:cNvSpPr/>
          <p:nvPr/>
        </p:nvSpPr>
        <p:spPr>
          <a:xfrm>
            <a:off x="274320" y="822960"/>
            <a:ext cx="548640" cy="621792"/>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Shape 4"/>
          <p:cNvSpPr/>
          <p:nvPr/>
        </p:nvSpPr>
        <p:spPr>
          <a:xfrm>
            <a:off x="914400" y="822960"/>
            <a:ext cx="7863840" cy="621792"/>
          </a:xfrm>
          <a:prstGeom prst="rect">
            <a:avLst/>
          </a:prstGeom>
          <a:solidFill>
            <a:srgbClr val="FFFFFF"/>
          </a:solidFill>
          <a:ln/>
          <a:effectLst>
            <a:outerShdw blurRad="63500" dist="25400" dir="8100000" algn="bl" rotWithShape="0">
              <a:srgbClr val="000000">
                <a:alpha val="12000"/>
              </a:srgbClr>
            </a:outerShdw>
          </a:effectLst>
        </p:spPr>
        <p:txBody>
          <a:bodyPr/>
          <a:lstStyle/>
          <a:p>
            <a:endParaRPr lang="en-US"/>
          </a:p>
        </p:txBody>
      </p:sp>
      <p:sp>
        <p:nvSpPr>
          <p:cNvPr id="7" name="Text 5"/>
          <p:cNvSpPr/>
          <p:nvPr/>
        </p:nvSpPr>
        <p:spPr>
          <a:xfrm>
            <a:off x="1005840" y="859536"/>
            <a:ext cx="2560320" cy="274320"/>
          </a:xfrm>
          <a:prstGeom prst="rect">
            <a:avLst/>
          </a:prstGeom>
          <a:noFill/>
          <a:ln/>
        </p:spPr>
        <p:txBody>
          <a:bodyPr wrap="square" rtlCol="0" anchor="ctr"/>
          <a:lstStyle/>
          <a:p>
            <a:pPr marL="0" indent="0">
              <a:buNone/>
            </a:pPr>
            <a:r>
              <a:rPr lang="en-US" sz="1300" b="1" dirty="0">
                <a:solidFill>
                  <a:srgbClr val="0D2B45"/>
                </a:solidFill>
                <a:latin typeface="Calibri" pitchFamily="34" charset="0"/>
                <a:ea typeface="Calibri" pitchFamily="34" charset="-122"/>
                <a:cs typeface="Calibri" pitchFamily="34" charset="-120"/>
              </a:rPr>
              <a:t>Define Research Question</a:t>
            </a:r>
            <a:endParaRPr lang="en-US" sz="1300" dirty="0"/>
          </a:p>
        </p:txBody>
      </p:sp>
      <p:sp>
        <p:nvSpPr>
          <p:cNvPr id="8" name="Text 6"/>
          <p:cNvSpPr/>
          <p:nvPr/>
        </p:nvSpPr>
        <p:spPr>
          <a:xfrm>
            <a:off x="1005840" y="1124712"/>
            <a:ext cx="7635240" cy="292608"/>
          </a:xfrm>
          <a:prstGeom prst="rect">
            <a:avLst/>
          </a:prstGeom>
          <a:noFill/>
          <a:ln/>
        </p:spPr>
        <p:txBody>
          <a:bodyPr wrap="square" rtlCol="0" anchor="ctr"/>
          <a:lstStyle/>
          <a:p>
            <a:pPr marL="0" indent="0">
              <a:buNone/>
            </a:pPr>
            <a:r>
              <a:rPr lang="en-US" sz="1150" dirty="0">
                <a:solidFill>
                  <a:srgbClr val="64748B"/>
                </a:solidFill>
                <a:latin typeface="Calibri" pitchFamily="34" charset="0"/>
                <a:ea typeface="Calibri" pitchFamily="34" charset="-122"/>
                <a:cs typeface="Calibri" pitchFamily="34" charset="-120"/>
              </a:rPr>
              <a:t>Clearly specify outcome (Y) and main exposure (X). State whether goal is prediction or causal inference.</a:t>
            </a:r>
            <a:endParaRPr lang="en-US" sz="1150" dirty="0"/>
          </a:p>
        </p:txBody>
      </p:sp>
      <p:sp>
        <p:nvSpPr>
          <p:cNvPr id="9" name="Shape 7"/>
          <p:cNvSpPr/>
          <p:nvPr/>
        </p:nvSpPr>
        <p:spPr>
          <a:xfrm>
            <a:off x="274320" y="1627632"/>
            <a:ext cx="548640" cy="621792"/>
          </a:xfrm>
          <a:prstGeom prst="rect">
            <a:avLst/>
          </a:prstGeom>
          <a:solidFill>
            <a:srgbClr val="0E7C7B"/>
          </a:solidFill>
          <a:ln/>
        </p:spPr>
        <p:txBody>
          <a:bodyPr/>
          <a:lstStyle/>
          <a:p>
            <a:endParaRPr lang="en-US"/>
          </a:p>
        </p:txBody>
      </p:sp>
      <p:sp>
        <p:nvSpPr>
          <p:cNvPr id="10" name="Text 8"/>
          <p:cNvSpPr/>
          <p:nvPr/>
        </p:nvSpPr>
        <p:spPr>
          <a:xfrm>
            <a:off x="274320" y="1627632"/>
            <a:ext cx="548640" cy="621792"/>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1" name="Shape 9"/>
          <p:cNvSpPr/>
          <p:nvPr/>
        </p:nvSpPr>
        <p:spPr>
          <a:xfrm>
            <a:off x="914400" y="1627632"/>
            <a:ext cx="7863840" cy="621792"/>
          </a:xfrm>
          <a:prstGeom prst="rect">
            <a:avLst/>
          </a:prstGeom>
          <a:solidFill>
            <a:srgbClr val="E8F0F2"/>
          </a:solidFill>
          <a:ln/>
          <a:effectLst>
            <a:outerShdw blurRad="63500" dist="25400" dir="8100000" algn="bl" rotWithShape="0">
              <a:srgbClr val="000000">
                <a:alpha val="12000"/>
              </a:srgbClr>
            </a:outerShdw>
          </a:effectLst>
        </p:spPr>
        <p:txBody>
          <a:bodyPr/>
          <a:lstStyle/>
          <a:p>
            <a:endParaRPr lang="en-US"/>
          </a:p>
        </p:txBody>
      </p:sp>
      <p:sp>
        <p:nvSpPr>
          <p:cNvPr id="12" name="Text 10"/>
          <p:cNvSpPr/>
          <p:nvPr/>
        </p:nvSpPr>
        <p:spPr>
          <a:xfrm>
            <a:off x="1005840" y="1664208"/>
            <a:ext cx="2560320" cy="274320"/>
          </a:xfrm>
          <a:prstGeom prst="rect">
            <a:avLst/>
          </a:prstGeom>
          <a:noFill/>
          <a:ln/>
        </p:spPr>
        <p:txBody>
          <a:bodyPr wrap="square" rtlCol="0" anchor="ctr"/>
          <a:lstStyle/>
          <a:p>
            <a:pPr marL="0" indent="0">
              <a:buNone/>
            </a:pPr>
            <a:r>
              <a:rPr lang="en-US" sz="1300" b="1" dirty="0">
                <a:solidFill>
                  <a:srgbClr val="0D2B45"/>
                </a:solidFill>
                <a:latin typeface="Calibri" pitchFamily="34" charset="0"/>
                <a:ea typeface="Calibri" pitchFamily="34" charset="-122"/>
                <a:cs typeface="Calibri" pitchFamily="34" charset="-120"/>
              </a:rPr>
              <a:t>Select Candidate Variables</a:t>
            </a:r>
            <a:endParaRPr lang="en-US" sz="1300" dirty="0"/>
          </a:p>
        </p:txBody>
      </p:sp>
      <p:sp>
        <p:nvSpPr>
          <p:cNvPr id="13" name="Text 11"/>
          <p:cNvSpPr/>
          <p:nvPr/>
        </p:nvSpPr>
        <p:spPr>
          <a:xfrm>
            <a:off x="1005840" y="1929384"/>
            <a:ext cx="7635240" cy="292608"/>
          </a:xfrm>
          <a:prstGeom prst="rect">
            <a:avLst/>
          </a:prstGeom>
          <a:noFill/>
          <a:ln/>
        </p:spPr>
        <p:txBody>
          <a:bodyPr wrap="square" rtlCol="0" anchor="ctr"/>
          <a:lstStyle/>
          <a:p>
            <a:pPr marL="0" indent="0">
              <a:buNone/>
            </a:pPr>
            <a:r>
              <a:rPr lang="en-US" sz="1150" dirty="0">
                <a:solidFill>
                  <a:srgbClr val="64748B"/>
                </a:solidFill>
                <a:latin typeface="Calibri" pitchFamily="34" charset="0"/>
                <a:ea typeface="Calibri" pitchFamily="34" charset="-122"/>
                <a:cs typeface="Calibri" pitchFamily="34" charset="-120"/>
              </a:rPr>
              <a:t>Use subject-matter knowledge, directed acyclic graphs (DAGs), and prior literature. Avoid data-driven selection only.</a:t>
            </a:r>
            <a:endParaRPr lang="en-US" sz="1150" dirty="0"/>
          </a:p>
        </p:txBody>
      </p:sp>
      <p:sp>
        <p:nvSpPr>
          <p:cNvPr id="14" name="Shape 12"/>
          <p:cNvSpPr/>
          <p:nvPr/>
        </p:nvSpPr>
        <p:spPr>
          <a:xfrm>
            <a:off x="274320" y="2432304"/>
            <a:ext cx="548640" cy="621792"/>
          </a:xfrm>
          <a:prstGeom prst="rect">
            <a:avLst/>
          </a:prstGeom>
          <a:solidFill>
            <a:srgbClr val="0E7C7B"/>
          </a:solidFill>
          <a:ln/>
        </p:spPr>
        <p:txBody>
          <a:bodyPr/>
          <a:lstStyle/>
          <a:p>
            <a:endParaRPr lang="en-US"/>
          </a:p>
        </p:txBody>
      </p:sp>
      <p:sp>
        <p:nvSpPr>
          <p:cNvPr id="15" name="Text 13"/>
          <p:cNvSpPr/>
          <p:nvPr/>
        </p:nvSpPr>
        <p:spPr>
          <a:xfrm>
            <a:off x="274320" y="2432304"/>
            <a:ext cx="548640" cy="621792"/>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6" name="Shape 14"/>
          <p:cNvSpPr/>
          <p:nvPr/>
        </p:nvSpPr>
        <p:spPr>
          <a:xfrm>
            <a:off x="914400" y="2432304"/>
            <a:ext cx="7863840" cy="621792"/>
          </a:xfrm>
          <a:prstGeom prst="rect">
            <a:avLst/>
          </a:prstGeom>
          <a:solidFill>
            <a:srgbClr val="FFFFFF"/>
          </a:solidFill>
          <a:ln/>
          <a:effectLst>
            <a:outerShdw blurRad="63500" dist="25400" dir="8100000" algn="bl" rotWithShape="0">
              <a:srgbClr val="000000">
                <a:alpha val="12000"/>
              </a:srgbClr>
            </a:outerShdw>
          </a:effectLst>
        </p:spPr>
        <p:txBody>
          <a:bodyPr/>
          <a:lstStyle/>
          <a:p>
            <a:endParaRPr lang="en-US"/>
          </a:p>
        </p:txBody>
      </p:sp>
      <p:sp>
        <p:nvSpPr>
          <p:cNvPr id="17" name="Text 15"/>
          <p:cNvSpPr/>
          <p:nvPr/>
        </p:nvSpPr>
        <p:spPr>
          <a:xfrm>
            <a:off x="1005840" y="2468880"/>
            <a:ext cx="2560320" cy="274320"/>
          </a:xfrm>
          <a:prstGeom prst="rect">
            <a:avLst/>
          </a:prstGeom>
          <a:noFill/>
          <a:ln/>
        </p:spPr>
        <p:txBody>
          <a:bodyPr wrap="square" rtlCol="0" anchor="ctr"/>
          <a:lstStyle/>
          <a:p>
            <a:pPr marL="0" indent="0">
              <a:buNone/>
            </a:pPr>
            <a:r>
              <a:rPr lang="en-US" sz="1300" b="1" dirty="0">
                <a:solidFill>
                  <a:srgbClr val="0D2B45"/>
                </a:solidFill>
                <a:latin typeface="Calibri" pitchFamily="34" charset="0"/>
                <a:ea typeface="Calibri" pitchFamily="34" charset="-122"/>
                <a:cs typeface="Calibri" pitchFamily="34" charset="-120"/>
              </a:rPr>
              <a:t>Check Assumptions</a:t>
            </a:r>
            <a:endParaRPr lang="en-US" sz="1300" dirty="0"/>
          </a:p>
        </p:txBody>
      </p:sp>
      <p:sp>
        <p:nvSpPr>
          <p:cNvPr id="18" name="Text 16"/>
          <p:cNvSpPr/>
          <p:nvPr/>
        </p:nvSpPr>
        <p:spPr>
          <a:xfrm>
            <a:off x="1005840" y="2734056"/>
            <a:ext cx="7635240" cy="292608"/>
          </a:xfrm>
          <a:prstGeom prst="rect">
            <a:avLst/>
          </a:prstGeom>
          <a:noFill/>
          <a:ln/>
        </p:spPr>
        <p:txBody>
          <a:bodyPr wrap="square" rtlCol="0" anchor="ctr"/>
          <a:lstStyle/>
          <a:p>
            <a:pPr marL="0" indent="0">
              <a:buNone/>
            </a:pPr>
            <a:r>
              <a:rPr lang="en-US" sz="1150" dirty="0">
                <a:solidFill>
                  <a:srgbClr val="64748B"/>
                </a:solidFill>
                <a:latin typeface="Calibri" pitchFamily="34" charset="0"/>
                <a:ea typeface="Calibri" pitchFamily="34" charset="-122"/>
                <a:cs typeface="Calibri" pitchFamily="34" charset="-120"/>
              </a:rPr>
              <a:t>Linearity, independence, homoscedasticity, normality of residuals (OLS). Check multicollinearity (VIF &lt; 10).</a:t>
            </a:r>
            <a:endParaRPr lang="en-US" sz="1150" dirty="0"/>
          </a:p>
        </p:txBody>
      </p:sp>
      <p:sp>
        <p:nvSpPr>
          <p:cNvPr id="19" name="Shape 17"/>
          <p:cNvSpPr/>
          <p:nvPr/>
        </p:nvSpPr>
        <p:spPr>
          <a:xfrm>
            <a:off x="274320" y="3236976"/>
            <a:ext cx="548640" cy="621792"/>
          </a:xfrm>
          <a:prstGeom prst="rect">
            <a:avLst/>
          </a:prstGeom>
          <a:solidFill>
            <a:srgbClr val="0E7C7B"/>
          </a:solidFill>
          <a:ln/>
        </p:spPr>
        <p:txBody>
          <a:bodyPr/>
          <a:lstStyle/>
          <a:p>
            <a:endParaRPr lang="en-US"/>
          </a:p>
        </p:txBody>
      </p:sp>
      <p:sp>
        <p:nvSpPr>
          <p:cNvPr id="20" name="Text 18"/>
          <p:cNvSpPr/>
          <p:nvPr/>
        </p:nvSpPr>
        <p:spPr>
          <a:xfrm>
            <a:off x="274320" y="3236976"/>
            <a:ext cx="548640" cy="621792"/>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21" name="Shape 19"/>
          <p:cNvSpPr/>
          <p:nvPr/>
        </p:nvSpPr>
        <p:spPr>
          <a:xfrm>
            <a:off x="914400" y="3236976"/>
            <a:ext cx="7863840" cy="621792"/>
          </a:xfrm>
          <a:prstGeom prst="rect">
            <a:avLst/>
          </a:prstGeom>
          <a:solidFill>
            <a:srgbClr val="E8F0F2"/>
          </a:solidFill>
          <a:ln/>
          <a:effectLst>
            <a:outerShdw blurRad="63500" dist="25400" dir="8100000" algn="bl" rotWithShape="0">
              <a:srgbClr val="000000">
                <a:alpha val="12000"/>
              </a:srgbClr>
            </a:outerShdw>
          </a:effectLst>
        </p:spPr>
        <p:txBody>
          <a:bodyPr/>
          <a:lstStyle/>
          <a:p>
            <a:endParaRPr lang="en-US"/>
          </a:p>
        </p:txBody>
      </p:sp>
      <p:sp>
        <p:nvSpPr>
          <p:cNvPr id="22" name="Text 20"/>
          <p:cNvSpPr/>
          <p:nvPr/>
        </p:nvSpPr>
        <p:spPr>
          <a:xfrm>
            <a:off x="1005840" y="3273552"/>
            <a:ext cx="2560320" cy="274320"/>
          </a:xfrm>
          <a:prstGeom prst="rect">
            <a:avLst/>
          </a:prstGeom>
          <a:noFill/>
          <a:ln/>
        </p:spPr>
        <p:txBody>
          <a:bodyPr wrap="square" rtlCol="0" anchor="ctr"/>
          <a:lstStyle/>
          <a:p>
            <a:pPr marL="0" indent="0">
              <a:buNone/>
            </a:pPr>
            <a:r>
              <a:rPr lang="en-US" sz="1300" b="1" dirty="0">
                <a:solidFill>
                  <a:srgbClr val="0D2B45"/>
                </a:solidFill>
                <a:latin typeface="Calibri" pitchFamily="34" charset="0"/>
                <a:ea typeface="Calibri" pitchFamily="34" charset="-122"/>
                <a:cs typeface="Calibri" pitchFamily="34" charset="-120"/>
              </a:rPr>
              <a:t>Build &amp; Assess Model</a:t>
            </a:r>
            <a:endParaRPr lang="en-US" sz="1300" dirty="0"/>
          </a:p>
        </p:txBody>
      </p:sp>
      <p:sp>
        <p:nvSpPr>
          <p:cNvPr id="23" name="Text 21"/>
          <p:cNvSpPr/>
          <p:nvPr/>
        </p:nvSpPr>
        <p:spPr>
          <a:xfrm>
            <a:off x="1005840" y="3538728"/>
            <a:ext cx="7635240" cy="292608"/>
          </a:xfrm>
          <a:prstGeom prst="rect">
            <a:avLst/>
          </a:prstGeom>
          <a:noFill/>
          <a:ln/>
        </p:spPr>
        <p:txBody>
          <a:bodyPr wrap="square" rtlCol="0" anchor="ctr"/>
          <a:lstStyle/>
          <a:p>
            <a:pPr marL="0" indent="0">
              <a:buNone/>
            </a:pPr>
            <a:r>
              <a:rPr lang="en-US" sz="1150" dirty="0">
                <a:solidFill>
                  <a:srgbClr val="64748B"/>
                </a:solidFill>
                <a:latin typeface="Calibri" pitchFamily="34" charset="0"/>
                <a:ea typeface="Calibri" pitchFamily="34" charset="-122"/>
                <a:cs typeface="Calibri" pitchFamily="34" charset="-120"/>
              </a:rPr>
              <a:t>Crude model → adjusted model. Compare with likelihood ratio test, AIC/BIC, R², or pseudo-R².</a:t>
            </a:r>
            <a:endParaRPr lang="en-US" sz="1150" dirty="0"/>
          </a:p>
        </p:txBody>
      </p:sp>
      <p:sp>
        <p:nvSpPr>
          <p:cNvPr id="24" name="Shape 22"/>
          <p:cNvSpPr/>
          <p:nvPr/>
        </p:nvSpPr>
        <p:spPr>
          <a:xfrm>
            <a:off x="274320" y="4041648"/>
            <a:ext cx="548640" cy="621792"/>
          </a:xfrm>
          <a:prstGeom prst="rect">
            <a:avLst/>
          </a:prstGeom>
          <a:solidFill>
            <a:srgbClr val="0E7C7B"/>
          </a:solidFill>
          <a:ln/>
        </p:spPr>
        <p:txBody>
          <a:bodyPr/>
          <a:lstStyle/>
          <a:p>
            <a:endParaRPr lang="en-US"/>
          </a:p>
        </p:txBody>
      </p:sp>
      <p:sp>
        <p:nvSpPr>
          <p:cNvPr id="25" name="Text 23"/>
          <p:cNvSpPr/>
          <p:nvPr/>
        </p:nvSpPr>
        <p:spPr>
          <a:xfrm>
            <a:off x="274320" y="4041648"/>
            <a:ext cx="548640" cy="621792"/>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5</a:t>
            </a:r>
            <a:endParaRPr lang="en-US" sz="2000" dirty="0"/>
          </a:p>
        </p:txBody>
      </p:sp>
      <p:sp>
        <p:nvSpPr>
          <p:cNvPr id="26" name="Shape 24"/>
          <p:cNvSpPr/>
          <p:nvPr/>
        </p:nvSpPr>
        <p:spPr>
          <a:xfrm>
            <a:off x="914400" y="4041648"/>
            <a:ext cx="7863840" cy="621792"/>
          </a:xfrm>
          <a:prstGeom prst="rect">
            <a:avLst/>
          </a:prstGeom>
          <a:solidFill>
            <a:srgbClr val="FFFFFF"/>
          </a:solidFill>
          <a:ln/>
          <a:effectLst>
            <a:outerShdw blurRad="63500" dist="25400" dir="8100000" algn="bl" rotWithShape="0">
              <a:srgbClr val="000000">
                <a:alpha val="12000"/>
              </a:srgbClr>
            </a:outerShdw>
          </a:effectLst>
        </p:spPr>
        <p:txBody>
          <a:bodyPr/>
          <a:lstStyle/>
          <a:p>
            <a:endParaRPr lang="en-US"/>
          </a:p>
        </p:txBody>
      </p:sp>
      <p:sp>
        <p:nvSpPr>
          <p:cNvPr id="27" name="Text 25"/>
          <p:cNvSpPr/>
          <p:nvPr/>
        </p:nvSpPr>
        <p:spPr>
          <a:xfrm>
            <a:off x="1005840" y="4078224"/>
            <a:ext cx="2560320" cy="274320"/>
          </a:xfrm>
          <a:prstGeom prst="rect">
            <a:avLst/>
          </a:prstGeom>
          <a:noFill/>
          <a:ln/>
        </p:spPr>
        <p:txBody>
          <a:bodyPr wrap="square" rtlCol="0" anchor="ctr"/>
          <a:lstStyle/>
          <a:p>
            <a:pPr marL="0" indent="0">
              <a:buNone/>
            </a:pPr>
            <a:r>
              <a:rPr lang="en-US" sz="1300" b="1" dirty="0">
                <a:solidFill>
                  <a:srgbClr val="0D2B45"/>
                </a:solidFill>
                <a:latin typeface="Calibri" pitchFamily="34" charset="0"/>
                <a:ea typeface="Calibri" pitchFamily="34" charset="-122"/>
                <a:cs typeface="Calibri" pitchFamily="34" charset="-120"/>
              </a:rPr>
              <a:t>Interpret &amp; Report</a:t>
            </a:r>
            <a:endParaRPr lang="en-US" sz="1300" dirty="0"/>
          </a:p>
        </p:txBody>
      </p:sp>
      <p:sp>
        <p:nvSpPr>
          <p:cNvPr id="28" name="Text 26"/>
          <p:cNvSpPr/>
          <p:nvPr/>
        </p:nvSpPr>
        <p:spPr>
          <a:xfrm>
            <a:off x="1005840" y="4343400"/>
            <a:ext cx="7635240" cy="292608"/>
          </a:xfrm>
          <a:prstGeom prst="rect">
            <a:avLst/>
          </a:prstGeom>
          <a:noFill/>
          <a:ln/>
        </p:spPr>
        <p:txBody>
          <a:bodyPr wrap="square" rtlCol="0" anchor="ctr"/>
          <a:lstStyle/>
          <a:p>
            <a:pPr marL="0" indent="0">
              <a:buNone/>
            </a:pPr>
            <a:r>
              <a:rPr lang="en-US" sz="1150" dirty="0">
                <a:solidFill>
                  <a:srgbClr val="64748B"/>
                </a:solidFill>
                <a:latin typeface="Calibri" pitchFamily="34" charset="0"/>
                <a:ea typeface="Calibri" pitchFamily="34" charset="-122"/>
                <a:cs typeface="Calibri" pitchFamily="34" charset="-120"/>
              </a:rPr>
              <a:t>Report coefficients, ORs, or HRs with 95% CI. Describe confounding adjustment and model fit.</a:t>
            </a:r>
            <a:endParaRPr lang="en-US" sz="11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16">
    <p:bg>
      <p:bgPr>
        <a:solidFill>
          <a:srgbClr val="023E5C"/>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0A896"/>
          </a:solidFill>
          <a:ln/>
        </p:spPr>
        <p:txBody>
          <a:bodyPr/>
          <a:lstStyle/>
          <a:p>
            <a:endParaRPr lang="en-US"/>
          </a:p>
        </p:txBody>
      </p:sp>
      <p:sp>
        <p:nvSpPr>
          <p:cNvPr id="3" name="Shape 1"/>
          <p:cNvSpPr/>
          <p:nvPr/>
        </p:nvSpPr>
        <p:spPr>
          <a:xfrm>
            <a:off x="5486400" y="-457200"/>
            <a:ext cx="4572000" cy="4572000"/>
          </a:xfrm>
          <a:prstGeom prst="ellipse">
            <a:avLst/>
          </a:prstGeom>
          <a:solidFill>
            <a:srgbClr val="028090">
              <a:alpha val="25000"/>
            </a:srgbClr>
          </a:solidFill>
          <a:ln w="12700">
            <a:solidFill>
              <a:srgbClr val="028090">
                <a:alpha val="25000"/>
              </a:srgbClr>
            </a:solidFill>
            <a:prstDash val="solid"/>
          </a:ln>
        </p:spPr>
        <p:txBody>
          <a:bodyPr/>
          <a:lstStyle/>
          <a:p>
            <a:endParaRPr lang="en-US"/>
          </a:p>
        </p:txBody>
      </p:sp>
      <p:sp>
        <p:nvSpPr>
          <p:cNvPr id="4" name="Text 2"/>
          <p:cNvSpPr/>
          <p:nvPr/>
        </p:nvSpPr>
        <p:spPr>
          <a:xfrm>
            <a:off x="914400" y="1371600"/>
            <a:ext cx="7315200" cy="457200"/>
          </a:xfrm>
          <a:prstGeom prst="rect">
            <a:avLst/>
          </a:prstGeom>
          <a:noFill/>
          <a:ln/>
        </p:spPr>
        <p:txBody>
          <a:bodyPr wrap="square" rtlCol="0" anchor="ctr"/>
          <a:lstStyle/>
          <a:p>
            <a:pPr marL="0" indent="0" algn="ctr">
              <a:buNone/>
            </a:pPr>
            <a:r>
              <a:rPr lang="en-US" sz="1400" b="1" kern="0" spc="600" dirty="0">
                <a:solidFill>
                  <a:srgbClr val="00A896"/>
                </a:solidFill>
                <a:latin typeface="Calibri" pitchFamily="34" charset="0"/>
                <a:ea typeface="Calibri" pitchFamily="34" charset="-122"/>
                <a:cs typeface="Calibri" pitchFamily="34" charset="-120"/>
              </a:rPr>
              <a:t>PART 4</a:t>
            </a:r>
            <a:endParaRPr lang="en-US" sz="1400" dirty="0"/>
          </a:p>
        </p:txBody>
      </p:sp>
      <p:sp>
        <p:nvSpPr>
          <p:cNvPr id="5" name="Text 3"/>
          <p:cNvSpPr/>
          <p:nvPr/>
        </p:nvSpPr>
        <p:spPr>
          <a:xfrm>
            <a:off x="914400" y="1828800"/>
            <a:ext cx="7315200" cy="1645920"/>
          </a:xfrm>
          <a:prstGeom prst="rect">
            <a:avLst/>
          </a:prstGeom>
          <a:noFill/>
          <a:ln/>
        </p:spPr>
        <p:txBody>
          <a:bodyPr wrap="square" rtlCol="0" anchor="ctr"/>
          <a:lstStyle/>
          <a:p>
            <a:pPr marL="0" indent="0" algn="ctr">
              <a:buNone/>
            </a:pPr>
            <a:r>
              <a:rPr lang="en-US" sz="3800" b="1" dirty="0">
                <a:solidFill>
                  <a:srgbClr val="FFFFFF"/>
                </a:solidFill>
                <a:latin typeface="Georgia" pitchFamily="34" charset="0"/>
                <a:ea typeface="Georgia" pitchFamily="34" charset="-122"/>
                <a:cs typeface="Georgia" pitchFamily="34" charset="-120"/>
              </a:rPr>
              <a:t>Interpretation &amp;</a:t>
            </a:r>
            <a:endParaRPr lang="en-US" sz="3800" dirty="0"/>
          </a:p>
          <a:p>
            <a:pPr marL="0" indent="0" algn="ctr">
              <a:buNone/>
            </a:pPr>
            <a:r>
              <a:rPr lang="en-US" sz="3800" b="1" dirty="0">
                <a:solidFill>
                  <a:srgbClr val="FFFFFF"/>
                </a:solidFill>
                <a:latin typeface="Georgia" pitchFamily="34" charset="0"/>
                <a:ea typeface="Georgia" pitchFamily="34" charset="-122"/>
                <a:cs typeface="Georgia" pitchFamily="34" charset="-120"/>
              </a:rPr>
              <a:t>Practical Application</a:t>
            </a:r>
            <a:endParaRPr lang="en-US" sz="38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17">
    <p:bg>
      <p:bgPr>
        <a:solidFill>
          <a:srgbClr val="F0F7F8"/>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23E5C"/>
          </a:solidFill>
          <a:ln/>
        </p:spPr>
        <p:txBody>
          <a:bodyPr/>
          <a:lstStyle/>
          <a:p>
            <a:endParaRPr lang="en-US"/>
          </a:p>
        </p:txBody>
      </p:sp>
      <p:sp>
        <p:nvSpPr>
          <p:cNvPr id="3" name="Text 1"/>
          <p:cNvSpPr/>
          <p:nvPr/>
        </p:nvSpPr>
        <p:spPr>
          <a:xfrm>
            <a:off x="365760" y="0"/>
            <a:ext cx="8229600" cy="1005840"/>
          </a:xfrm>
          <a:prstGeom prst="rect">
            <a:avLst/>
          </a:prstGeom>
          <a:noFill/>
          <a:ln/>
        </p:spPr>
        <p:txBody>
          <a:bodyPr wrap="square" rtlCol="0" anchor="ctr"/>
          <a:lstStyle/>
          <a:p>
            <a:pPr marL="0" indent="0">
              <a:buNone/>
            </a:pPr>
            <a:r>
              <a:rPr lang="en-US" sz="2200" b="1" dirty="0">
                <a:solidFill>
                  <a:srgbClr val="FFFFFF"/>
                </a:solidFill>
                <a:latin typeface="Georgia" pitchFamily="34" charset="0"/>
                <a:ea typeface="Georgia" pitchFamily="34" charset="-122"/>
                <a:cs typeface="Georgia" pitchFamily="34" charset="-120"/>
              </a:rPr>
              <a:t>Reading a Regression Output Table</a:t>
            </a:r>
            <a:endParaRPr lang="en-US" sz="2200" dirty="0"/>
          </a:p>
        </p:txBody>
      </p:sp>
      <p:sp>
        <p:nvSpPr>
          <p:cNvPr id="4" name="Text 2"/>
          <p:cNvSpPr/>
          <p:nvPr/>
        </p:nvSpPr>
        <p:spPr>
          <a:xfrm>
            <a:off x="274320" y="1097280"/>
            <a:ext cx="8595360" cy="365760"/>
          </a:xfrm>
          <a:prstGeom prst="rect">
            <a:avLst/>
          </a:prstGeom>
          <a:noFill/>
          <a:ln/>
        </p:spPr>
        <p:txBody>
          <a:bodyPr wrap="square" rtlCol="0" anchor="ctr"/>
          <a:lstStyle/>
          <a:p>
            <a:pPr marL="0" indent="0">
              <a:buNone/>
            </a:pPr>
            <a:r>
              <a:rPr lang="en-US" sz="1200" i="1" dirty="0">
                <a:solidFill>
                  <a:srgbClr val="3D6470"/>
                </a:solidFill>
                <a:latin typeface="Calibri" pitchFamily="34" charset="0"/>
                <a:ea typeface="Calibri" pitchFamily="34" charset="-122"/>
                <a:cs typeface="Calibri" pitchFamily="34" charset="-120"/>
              </a:rPr>
              <a:t>Outcome: Hypertension (Yes/No) — Logistic Regression, N=2,450 adults</a:t>
            </a:r>
            <a:endParaRPr lang="en-US" sz="1200" dirty="0"/>
          </a:p>
        </p:txBody>
      </p:sp>
      <p:sp>
        <p:nvSpPr>
          <p:cNvPr id="5" name="Shape 3"/>
          <p:cNvSpPr/>
          <p:nvPr/>
        </p:nvSpPr>
        <p:spPr>
          <a:xfrm>
            <a:off x="274320" y="1508760"/>
            <a:ext cx="8595360" cy="438912"/>
          </a:xfrm>
          <a:prstGeom prst="rect">
            <a:avLst/>
          </a:prstGeom>
          <a:solidFill>
            <a:srgbClr val="028090"/>
          </a:solidFill>
          <a:ln w="12700">
            <a:solidFill>
              <a:srgbClr val="028090"/>
            </a:solidFill>
            <a:prstDash val="solid"/>
          </a:ln>
        </p:spPr>
        <p:txBody>
          <a:bodyPr/>
          <a:lstStyle/>
          <a:p>
            <a:endParaRPr lang="en-US"/>
          </a:p>
        </p:txBody>
      </p:sp>
      <p:sp>
        <p:nvSpPr>
          <p:cNvPr id="6" name="Text 4"/>
          <p:cNvSpPr/>
          <p:nvPr/>
        </p:nvSpPr>
        <p:spPr>
          <a:xfrm>
            <a:off x="274320" y="1508760"/>
            <a:ext cx="2560320" cy="438912"/>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Variable</a:t>
            </a:r>
            <a:endParaRPr lang="en-US" sz="1200" dirty="0"/>
          </a:p>
        </p:txBody>
      </p:sp>
      <p:sp>
        <p:nvSpPr>
          <p:cNvPr id="7" name="Text 5"/>
          <p:cNvSpPr/>
          <p:nvPr/>
        </p:nvSpPr>
        <p:spPr>
          <a:xfrm>
            <a:off x="2926080" y="1508760"/>
            <a:ext cx="1097280" cy="438912"/>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β (Coef.)</a:t>
            </a:r>
            <a:endParaRPr lang="en-US" sz="1200" dirty="0"/>
          </a:p>
        </p:txBody>
      </p:sp>
      <p:sp>
        <p:nvSpPr>
          <p:cNvPr id="8" name="Text 6"/>
          <p:cNvSpPr/>
          <p:nvPr/>
        </p:nvSpPr>
        <p:spPr>
          <a:xfrm>
            <a:off x="4114800" y="1508760"/>
            <a:ext cx="914400" cy="438912"/>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SE</a:t>
            </a:r>
            <a:endParaRPr lang="en-US" sz="1200" dirty="0"/>
          </a:p>
        </p:txBody>
      </p:sp>
      <p:sp>
        <p:nvSpPr>
          <p:cNvPr id="9" name="Text 7"/>
          <p:cNvSpPr/>
          <p:nvPr/>
        </p:nvSpPr>
        <p:spPr>
          <a:xfrm>
            <a:off x="5120640" y="1508760"/>
            <a:ext cx="914400" cy="438912"/>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p-value</a:t>
            </a:r>
            <a:endParaRPr lang="en-US" sz="1200" dirty="0"/>
          </a:p>
        </p:txBody>
      </p:sp>
      <p:sp>
        <p:nvSpPr>
          <p:cNvPr id="10" name="Text 8"/>
          <p:cNvSpPr/>
          <p:nvPr/>
        </p:nvSpPr>
        <p:spPr>
          <a:xfrm>
            <a:off x="6126480" y="1508760"/>
            <a:ext cx="2743200" cy="438912"/>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OR (95% CI)</a:t>
            </a:r>
            <a:endParaRPr lang="en-US" sz="1200" dirty="0"/>
          </a:p>
        </p:txBody>
      </p:sp>
      <p:sp>
        <p:nvSpPr>
          <p:cNvPr id="11" name="Shape 9"/>
          <p:cNvSpPr/>
          <p:nvPr/>
        </p:nvSpPr>
        <p:spPr>
          <a:xfrm>
            <a:off x="274320" y="1965960"/>
            <a:ext cx="8595360" cy="438912"/>
          </a:xfrm>
          <a:prstGeom prst="rect">
            <a:avLst/>
          </a:prstGeom>
          <a:solidFill>
            <a:srgbClr val="FFFFFF"/>
          </a:solidFill>
          <a:ln w="3810">
            <a:solidFill>
              <a:srgbClr val="DDDDDD"/>
            </a:solidFill>
            <a:prstDash val="solid"/>
          </a:ln>
        </p:spPr>
        <p:txBody>
          <a:bodyPr/>
          <a:lstStyle/>
          <a:p>
            <a:endParaRPr lang="en-US"/>
          </a:p>
        </p:txBody>
      </p:sp>
      <p:sp>
        <p:nvSpPr>
          <p:cNvPr id="12" name="Shape 10"/>
          <p:cNvSpPr/>
          <p:nvPr/>
        </p:nvSpPr>
        <p:spPr>
          <a:xfrm>
            <a:off x="274320" y="1965960"/>
            <a:ext cx="73152" cy="438912"/>
          </a:xfrm>
          <a:prstGeom prst="rect">
            <a:avLst/>
          </a:prstGeom>
          <a:solidFill>
            <a:srgbClr val="028090"/>
          </a:solidFill>
          <a:ln w="12700">
            <a:solidFill>
              <a:srgbClr val="028090"/>
            </a:solidFill>
            <a:prstDash val="solid"/>
          </a:ln>
        </p:spPr>
        <p:txBody>
          <a:bodyPr/>
          <a:lstStyle/>
          <a:p>
            <a:endParaRPr lang="en-US"/>
          </a:p>
        </p:txBody>
      </p:sp>
      <p:sp>
        <p:nvSpPr>
          <p:cNvPr id="13" name="Text 11"/>
          <p:cNvSpPr/>
          <p:nvPr/>
        </p:nvSpPr>
        <p:spPr>
          <a:xfrm>
            <a:off x="274320" y="1965960"/>
            <a:ext cx="2560320" cy="438912"/>
          </a:xfrm>
          <a:prstGeom prst="rect">
            <a:avLst/>
          </a:prstGeom>
          <a:noFill/>
          <a:ln/>
        </p:spPr>
        <p:txBody>
          <a:bodyPr wrap="square" rtlCol="0" anchor="ctr"/>
          <a:lstStyle/>
          <a:p>
            <a:pPr marL="0" indent="0">
              <a:buNone/>
            </a:pPr>
            <a:r>
              <a:rPr lang="en-US" sz="1200" b="1" dirty="0">
                <a:solidFill>
                  <a:srgbClr val="1A2E35"/>
                </a:solidFill>
                <a:latin typeface="Calibri" pitchFamily="34" charset="0"/>
                <a:ea typeface="Calibri" pitchFamily="34" charset="-122"/>
                <a:cs typeface="Calibri" pitchFamily="34" charset="-120"/>
              </a:rPr>
              <a:t>Age (per year)</a:t>
            </a:r>
            <a:endParaRPr lang="en-US" sz="1200" dirty="0"/>
          </a:p>
        </p:txBody>
      </p:sp>
      <p:sp>
        <p:nvSpPr>
          <p:cNvPr id="14" name="Text 12"/>
          <p:cNvSpPr/>
          <p:nvPr/>
        </p:nvSpPr>
        <p:spPr>
          <a:xfrm>
            <a:off x="2926080" y="1965960"/>
            <a:ext cx="1097280" cy="438912"/>
          </a:xfrm>
          <a:prstGeom prst="rect">
            <a:avLst/>
          </a:prstGeom>
          <a:noFill/>
          <a:ln/>
        </p:spPr>
        <p:txBody>
          <a:bodyPr wrap="square" rtlCol="0" anchor="ctr"/>
          <a:lstStyle/>
          <a:p>
            <a:pPr marL="0" indent="0">
              <a:buNone/>
            </a:pPr>
            <a:r>
              <a:rPr lang="en-US" sz="1200" dirty="0">
                <a:solidFill>
                  <a:srgbClr val="1A2E35"/>
                </a:solidFill>
                <a:latin typeface="Calibri" pitchFamily="34" charset="0"/>
                <a:ea typeface="Calibri" pitchFamily="34" charset="-122"/>
                <a:cs typeface="Calibri" pitchFamily="34" charset="-120"/>
              </a:rPr>
              <a:t>0.042</a:t>
            </a:r>
            <a:endParaRPr lang="en-US" sz="1200" dirty="0"/>
          </a:p>
        </p:txBody>
      </p:sp>
      <p:sp>
        <p:nvSpPr>
          <p:cNvPr id="15" name="Text 13"/>
          <p:cNvSpPr/>
          <p:nvPr/>
        </p:nvSpPr>
        <p:spPr>
          <a:xfrm>
            <a:off x="4114800" y="1965960"/>
            <a:ext cx="914400" cy="438912"/>
          </a:xfrm>
          <a:prstGeom prst="rect">
            <a:avLst/>
          </a:prstGeom>
          <a:noFill/>
          <a:ln/>
        </p:spPr>
        <p:txBody>
          <a:bodyPr wrap="square" rtlCol="0" anchor="ctr"/>
          <a:lstStyle/>
          <a:p>
            <a:pPr marL="0" indent="0">
              <a:buNone/>
            </a:pPr>
            <a:r>
              <a:rPr lang="en-US" sz="1200" dirty="0">
                <a:solidFill>
                  <a:srgbClr val="1A2E35"/>
                </a:solidFill>
                <a:latin typeface="Calibri" pitchFamily="34" charset="0"/>
                <a:ea typeface="Calibri" pitchFamily="34" charset="-122"/>
                <a:cs typeface="Calibri" pitchFamily="34" charset="-120"/>
              </a:rPr>
              <a:t>0.006</a:t>
            </a:r>
            <a:endParaRPr lang="en-US" sz="1200" dirty="0"/>
          </a:p>
        </p:txBody>
      </p:sp>
      <p:sp>
        <p:nvSpPr>
          <p:cNvPr id="16" name="Text 14"/>
          <p:cNvSpPr/>
          <p:nvPr/>
        </p:nvSpPr>
        <p:spPr>
          <a:xfrm>
            <a:off x="5120640" y="1965960"/>
            <a:ext cx="914400" cy="438912"/>
          </a:xfrm>
          <a:prstGeom prst="rect">
            <a:avLst/>
          </a:prstGeom>
          <a:noFill/>
          <a:ln/>
        </p:spPr>
        <p:txBody>
          <a:bodyPr wrap="square" rtlCol="0" anchor="ctr"/>
          <a:lstStyle/>
          <a:p>
            <a:pPr marL="0" indent="0">
              <a:buNone/>
            </a:pPr>
            <a:r>
              <a:rPr lang="en-US" sz="1200" dirty="0">
                <a:solidFill>
                  <a:srgbClr val="1A2E35"/>
                </a:solidFill>
                <a:latin typeface="Calibri" pitchFamily="34" charset="0"/>
                <a:ea typeface="Calibri" pitchFamily="34" charset="-122"/>
                <a:cs typeface="Calibri" pitchFamily="34" charset="-120"/>
              </a:rPr>
              <a:t>&lt;0.001</a:t>
            </a:r>
            <a:endParaRPr lang="en-US" sz="1200" dirty="0"/>
          </a:p>
        </p:txBody>
      </p:sp>
      <p:sp>
        <p:nvSpPr>
          <p:cNvPr id="17" name="Text 15"/>
          <p:cNvSpPr/>
          <p:nvPr/>
        </p:nvSpPr>
        <p:spPr>
          <a:xfrm>
            <a:off x="6126480" y="1965960"/>
            <a:ext cx="2743200" cy="438912"/>
          </a:xfrm>
          <a:prstGeom prst="rect">
            <a:avLst/>
          </a:prstGeom>
          <a:noFill/>
          <a:ln/>
        </p:spPr>
        <p:txBody>
          <a:bodyPr wrap="square" rtlCol="0" anchor="ctr"/>
          <a:lstStyle/>
          <a:p>
            <a:pPr marL="0" indent="0">
              <a:buNone/>
            </a:pPr>
            <a:r>
              <a:rPr lang="en-US" sz="1200" dirty="0">
                <a:solidFill>
                  <a:srgbClr val="1A2E35"/>
                </a:solidFill>
                <a:latin typeface="Calibri" pitchFamily="34" charset="0"/>
                <a:ea typeface="Calibri" pitchFamily="34" charset="-122"/>
                <a:cs typeface="Calibri" pitchFamily="34" charset="-120"/>
              </a:rPr>
              <a:t>1.04 (1.03–1.06)</a:t>
            </a:r>
            <a:endParaRPr lang="en-US" sz="1200" dirty="0"/>
          </a:p>
        </p:txBody>
      </p:sp>
      <p:sp>
        <p:nvSpPr>
          <p:cNvPr id="18" name="Shape 16"/>
          <p:cNvSpPr/>
          <p:nvPr/>
        </p:nvSpPr>
        <p:spPr>
          <a:xfrm>
            <a:off x="274320" y="2423160"/>
            <a:ext cx="8595360" cy="438912"/>
          </a:xfrm>
          <a:prstGeom prst="rect">
            <a:avLst/>
          </a:prstGeom>
          <a:solidFill>
            <a:srgbClr val="E8F4F5"/>
          </a:solidFill>
          <a:ln w="3810">
            <a:solidFill>
              <a:srgbClr val="DDDDDD"/>
            </a:solidFill>
            <a:prstDash val="solid"/>
          </a:ln>
        </p:spPr>
        <p:txBody>
          <a:bodyPr/>
          <a:lstStyle/>
          <a:p>
            <a:endParaRPr lang="en-US"/>
          </a:p>
        </p:txBody>
      </p:sp>
      <p:sp>
        <p:nvSpPr>
          <p:cNvPr id="19" name="Shape 17"/>
          <p:cNvSpPr/>
          <p:nvPr/>
        </p:nvSpPr>
        <p:spPr>
          <a:xfrm>
            <a:off x="274320" y="2423160"/>
            <a:ext cx="73152" cy="438912"/>
          </a:xfrm>
          <a:prstGeom prst="rect">
            <a:avLst/>
          </a:prstGeom>
          <a:solidFill>
            <a:srgbClr val="028090"/>
          </a:solidFill>
          <a:ln w="12700">
            <a:solidFill>
              <a:srgbClr val="028090"/>
            </a:solidFill>
            <a:prstDash val="solid"/>
          </a:ln>
        </p:spPr>
        <p:txBody>
          <a:bodyPr/>
          <a:lstStyle/>
          <a:p>
            <a:endParaRPr lang="en-US"/>
          </a:p>
        </p:txBody>
      </p:sp>
      <p:sp>
        <p:nvSpPr>
          <p:cNvPr id="20" name="Text 18"/>
          <p:cNvSpPr/>
          <p:nvPr/>
        </p:nvSpPr>
        <p:spPr>
          <a:xfrm>
            <a:off x="274320" y="2423160"/>
            <a:ext cx="2560320" cy="438912"/>
          </a:xfrm>
          <a:prstGeom prst="rect">
            <a:avLst/>
          </a:prstGeom>
          <a:noFill/>
          <a:ln/>
        </p:spPr>
        <p:txBody>
          <a:bodyPr wrap="square" rtlCol="0" anchor="ctr"/>
          <a:lstStyle/>
          <a:p>
            <a:pPr marL="0" indent="0">
              <a:buNone/>
            </a:pPr>
            <a:r>
              <a:rPr lang="en-US" sz="1200" b="1" dirty="0">
                <a:solidFill>
                  <a:srgbClr val="1A2E35"/>
                </a:solidFill>
                <a:latin typeface="Calibri" pitchFamily="34" charset="0"/>
                <a:ea typeface="Calibri" pitchFamily="34" charset="-122"/>
                <a:cs typeface="Calibri" pitchFamily="34" charset="-120"/>
              </a:rPr>
              <a:t>BMI (per kg/m²)</a:t>
            </a:r>
            <a:endParaRPr lang="en-US" sz="1200" dirty="0"/>
          </a:p>
        </p:txBody>
      </p:sp>
      <p:sp>
        <p:nvSpPr>
          <p:cNvPr id="21" name="Text 19"/>
          <p:cNvSpPr/>
          <p:nvPr/>
        </p:nvSpPr>
        <p:spPr>
          <a:xfrm>
            <a:off x="2926080" y="2423160"/>
            <a:ext cx="1097280" cy="438912"/>
          </a:xfrm>
          <a:prstGeom prst="rect">
            <a:avLst/>
          </a:prstGeom>
          <a:noFill/>
          <a:ln/>
        </p:spPr>
        <p:txBody>
          <a:bodyPr wrap="square" rtlCol="0" anchor="ctr"/>
          <a:lstStyle/>
          <a:p>
            <a:pPr marL="0" indent="0">
              <a:buNone/>
            </a:pPr>
            <a:r>
              <a:rPr lang="en-US" sz="1200" dirty="0">
                <a:solidFill>
                  <a:srgbClr val="1A2E35"/>
                </a:solidFill>
                <a:latin typeface="Calibri" pitchFamily="34" charset="0"/>
                <a:ea typeface="Calibri" pitchFamily="34" charset="-122"/>
                <a:cs typeface="Calibri" pitchFamily="34" charset="-120"/>
              </a:rPr>
              <a:t>0.071</a:t>
            </a:r>
            <a:endParaRPr lang="en-US" sz="1200" dirty="0"/>
          </a:p>
        </p:txBody>
      </p:sp>
      <p:sp>
        <p:nvSpPr>
          <p:cNvPr id="22" name="Text 20"/>
          <p:cNvSpPr/>
          <p:nvPr/>
        </p:nvSpPr>
        <p:spPr>
          <a:xfrm>
            <a:off x="4114800" y="2423160"/>
            <a:ext cx="914400" cy="438912"/>
          </a:xfrm>
          <a:prstGeom prst="rect">
            <a:avLst/>
          </a:prstGeom>
          <a:noFill/>
          <a:ln/>
        </p:spPr>
        <p:txBody>
          <a:bodyPr wrap="square" rtlCol="0" anchor="ctr"/>
          <a:lstStyle/>
          <a:p>
            <a:pPr marL="0" indent="0">
              <a:buNone/>
            </a:pPr>
            <a:r>
              <a:rPr lang="en-US" sz="1200" dirty="0">
                <a:solidFill>
                  <a:srgbClr val="1A2E35"/>
                </a:solidFill>
                <a:latin typeface="Calibri" pitchFamily="34" charset="0"/>
                <a:ea typeface="Calibri" pitchFamily="34" charset="-122"/>
                <a:cs typeface="Calibri" pitchFamily="34" charset="-120"/>
              </a:rPr>
              <a:t>0.012</a:t>
            </a:r>
            <a:endParaRPr lang="en-US" sz="1200" dirty="0"/>
          </a:p>
        </p:txBody>
      </p:sp>
      <p:sp>
        <p:nvSpPr>
          <p:cNvPr id="23" name="Text 21"/>
          <p:cNvSpPr/>
          <p:nvPr/>
        </p:nvSpPr>
        <p:spPr>
          <a:xfrm>
            <a:off x="5120640" y="2423160"/>
            <a:ext cx="914400" cy="438912"/>
          </a:xfrm>
          <a:prstGeom prst="rect">
            <a:avLst/>
          </a:prstGeom>
          <a:noFill/>
          <a:ln/>
        </p:spPr>
        <p:txBody>
          <a:bodyPr wrap="square" rtlCol="0" anchor="ctr"/>
          <a:lstStyle/>
          <a:p>
            <a:pPr marL="0" indent="0">
              <a:buNone/>
            </a:pPr>
            <a:r>
              <a:rPr lang="en-US" sz="1200" dirty="0">
                <a:solidFill>
                  <a:srgbClr val="1A2E35"/>
                </a:solidFill>
                <a:latin typeface="Calibri" pitchFamily="34" charset="0"/>
                <a:ea typeface="Calibri" pitchFamily="34" charset="-122"/>
                <a:cs typeface="Calibri" pitchFamily="34" charset="-120"/>
              </a:rPr>
              <a:t>&lt;0.001</a:t>
            </a:r>
            <a:endParaRPr lang="en-US" sz="1200" dirty="0"/>
          </a:p>
        </p:txBody>
      </p:sp>
      <p:sp>
        <p:nvSpPr>
          <p:cNvPr id="24" name="Text 22"/>
          <p:cNvSpPr/>
          <p:nvPr/>
        </p:nvSpPr>
        <p:spPr>
          <a:xfrm>
            <a:off x="6126480" y="2423160"/>
            <a:ext cx="2743200" cy="438912"/>
          </a:xfrm>
          <a:prstGeom prst="rect">
            <a:avLst/>
          </a:prstGeom>
          <a:noFill/>
          <a:ln/>
        </p:spPr>
        <p:txBody>
          <a:bodyPr wrap="square" rtlCol="0" anchor="ctr"/>
          <a:lstStyle/>
          <a:p>
            <a:pPr marL="0" indent="0">
              <a:buNone/>
            </a:pPr>
            <a:r>
              <a:rPr lang="en-US" sz="1200" dirty="0">
                <a:solidFill>
                  <a:srgbClr val="1A2E35"/>
                </a:solidFill>
                <a:latin typeface="Calibri" pitchFamily="34" charset="0"/>
                <a:ea typeface="Calibri" pitchFamily="34" charset="-122"/>
                <a:cs typeface="Calibri" pitchFamily="34" charset="-120"/>
              </a:rPr>
              <a:t>1.07 (1.05–1.10)</a:t>
            </a:r>
            <a:endParaRPr lang="en-US" sz="1200" dirty="0"/>
          </a:p>
        </p:txBody>
      </p:sp>
      <p:sp>
        <p:nvSpPr>
          <p:cNvPr id="25" name="Shape 23"/>
          <p:cNvSpPr/>
          <p:nvPr/>
        </p:nvSpPr>
        <p:spPr>
          <a:xfrm>
            <a:off x="274320" y="2880360"/>
            <a:ext cx="8595360" cy="438912"/>
          </a:xfrm>
          <a:prstGeom prst="rect">
            <a:avLst/>
          </a:prstGeom>
          <a:solidFill>
            <a:srgbClr val="FFFFFF"/>
          </a:solidFill>
          <a:ln w="3810">
            <a:solidFill>
              <a:srgbClr val="DDDDDD"/>
            </a:solidFill>
            <a:prstDash val="solid"/>
          </a:ln>
        </p:spPr>
        <p:txBody>
          <a:bodyPr/>
          <a:lstStyle/>
          <a:p>
            <a:endParaRPr lang="en-US"/>
          </a:p>
        </p:txBody>
      </p:sp>
      <p:sp>
        <p:nvSpPr>
          <p:cNvPr id="26" name="Shape 24"/>
          <p:cNvSpPr/>
          <p:nvPr/>
        </p:nvSpPr>
        <p:spPr>
          <a:xfrm>
            <a:off x="274320" y="2880360"/>
            <a:ext cx="73152" cy="438912"/>
          </a:xfrm>
          <a:prstGeom prst="rect">
            <a:avLst/>
          </a:prstGeom>
          <a:solidFill>
            <a:srgbClr val="028090"/>
          </a:solidFill>
          <a:ln w="12700">
            <a:solidFill>
              <a:srgbClr val="028090"/>
            </a:solidFill>
            <a:prstDash val="solid"/>
          </a:ln>
        </p:spPr>
        <p:txBody>
          <a:bodyPr/>
          <a:lstStyle/>
          <a:p>
            <a:endParaRPr lang="en-US"/>
          </a:p>
        </p:txBody>
      </p:sp>
      <p:sp>
        <p:nvSpPr>
          <p:cNvPr id="27" name="Text 25"/>
          <p:cNvSpPr/>
          <p:nvPr/>
        </p:nvSpPr>
        <p:spPr>
          <a:xfrm>
            <a:off x="274320" y="2880360"/>
            <a:ext cx="2560320" cy="438912"/>
          </a:xfrm>
          <a:prstGeom prst="rect">
            <a:avLst/>
          </a:prstGeom>
          <a:noFill/>
          <a:ln/>
        </p:spPr>
        <p:txBody>
          <a:bodyPr wrap="square" rtlCol="0" anchor="ctr"/>
          <a:lstStyle/>
          <a:p>
            <a:pPr marL="0" indent="0">
              <a:buNone/>
            </a:pPr>
            <a:r>
              <a:rPr lang="en-US" sz="1200" b="1" dirty="0">
                <a:solidFill>
                  <a:srgbClr val="1A2E35"/>
                </a:solidFill>
                <a:latin typeface="Calibri" pitchFamily="34" charset="0"/>
                <a:ea typeface="Calibri" pitchFamily="34" charset="-122"/>
                <a:cs typeface="Calibri" pitchFamily="34" charset="-120"/>
              </a:rPr>
              <a:t>Smoking (yes vs no)</a:t>
            </a:r>
            <a:endParaRPr lang="en-US" sz="1200" dirty="0"/>
          </a:p>
        </p:txBody>
      </p:sp>
      <p:sp>
        <p:nvSpPr>
          <p:cNvPr id="28" name="Text 26"/>
          <p:cNvSpPr/>
          <p:nvPr/>
        </p:nvSpPr>
        <p:spPr>
          <a:xfrm>
            <a:off x="2926080" y="2880360"/>
            <a:ext cx="1097280" cy="438912"/>
          </a:xfrm>
          <a:prstGeom prst="rect">
            <a:avLst/>
          </a:prstGeom>
          <a:noFill/>
          <a:ln/>
        </p:spPr>
        <p:txBody>
          <a:bodyPr wrap="square" rtlCol="0" anchor="ctr"/>
          <a:lstStyle/>
          <a:p>
            <a:pPr marL="0" indent="0">
              <a:buNone/>
            </a:pPr>
            <a:r>
              <a:rPr lang="en-US" sz="1200" dirty="0">
                <a:solidFill>
                  <a:srgbClr val="1A2E35"/>
                </a:solidFill>
                <a:latin typeface="Calibri" pitchFamily="34" charset="0"/>
                <a:ea typeface="Calibri" pitchFamily="34" charset="-122"/>
                <a:cs typeface="Calibri" pitchFamily="34" charset="-120"/>
              </a:rPr>
              <a:t>0.588</a:t>
            </a:r>
            <a:endParaRPr lang="en-US" sz="1200" dirty="0"/>
          </a:p>
        </p:txBody>
      </p:sp>
      <p:sp>
        <p:nvSpPr>
          <p:cNvPr id="29" name="Text 27"/>
          <p:cNvSpPr/>
          <p:nvPr/>
        </p:nvSpPr>
        <p:spPr>
          <a:xfrm>
            <a:off x="4114800" y="2880360"/>
            <a:ext cx="914400" cy="438912"/>
          </a:xfrm>
          <a:prstGeom prst="rect">
            <a:avLst/>
          </a:prstGeom>
          <a:noFill/>
          <a:ln/>
        </p:spPr>
        <p:txBody>
          <a:bodyPr wrap="square" rtlCol="0" anchor="ctr"/>
          <a:lstStyle/>
          <a:p>
            <a:pPr marL="0" indent="0">
              <a:buNone/>
            </a:pPr>
            <a:r>
              <a:rPr lang="en-US" sz="1200" dirty="0">
                <a:solidFill>
                  <a:srgbClr val="1A2E35"/>
                </a:solidFill>
                <a:latin typeface="Calibri" pitchFamily="34" charset="0"/>
                <a:ea typeface="Calibri" pitchFamily="34" charset="-122"/>
                <a:cs typeface="Calibri" pitchFamily="34" charset="-120"/>
              </a:rPr>
              <a:t>0.098</a:t>
            </a:r>
            <a:endParaRPr lang="en-US" sz="1200" dirty="0"/>
          </a:p>
        </p:txBody>
      </p:sp>
      <p:sp>
        <p:nvSpPr>
          <p:cNvPr id="30" name="Text 28"/>
          <p:cNvSpPr/>
          <p:nvPr/>
        </p:nvSpPr>
        <p:spPr>
          <a:xfrm>
            <a:off x="5120640" y="2880360"/>
            <a:ext cx="914400" cy="438912"/>
          </a:xfrm>
          <a:prstGeom prst="rect">
            <a:avLst/>
          </a:prstGeom>
          <a:noFill/>
          <a:ln/>
        </p:spPr>
        <p:txBody>
          <a:bodyPr wrap="square" rtlCol="0" anchor="ctr"/>
          <a:lstStyle/>
          <a:p>
            <a:pPr marL="0" indent="0">
              <a:buNone/>
            </a:pPr>
            <a:r>
              <a:rPr lang="en-US" sz="1200" dirty="0">
                <a:solidFill>
                  <a:srgbClr val="1A2E35"/>
                </a:solidFill>
                <a:latin typeface="Calibri" pitchFamily="34" charset="0"/>
                <a:ea typeface="Calibri" pitchFamily="34" charset="-122"/>
                <a:cs typeface="Calibri" pitchFamily="34" charset="-120"/>
              </a:rPr>
              <a:t>&lt;0.001</a:t>
            </a:r>
            <a:endParaRPr lang="en-US" sz="1200" dirty="0"/>
          </a:p>
        </p:txBody>
      </p:sp>
      <p:sp>
        <p:nvSpPr>
          <p:cNvPr id="31" name="Text 29"/>
          <p:cNvSpPr/>
          <p:nvPr/>
        </p:nvSpPr>
        <p:spPr>
          <a:xfrm>
            <a:off x="6126480" y="2880360"/>
            <a:ext cx="2743200" cy="438912"/>
          </a:xfrm>
          <a:prstGeom prst="rect">
            <a:avLst/>
          </a:prstGeom>
          <a:noFill/>
          <a:ln/>
        </p:spPr>
        <p:txBody>
          <a:bodyPr wrap="square" rtlCol="0" anchor="ctr"/>
          <a:lstStyle/>
          <a:p>
            <a:pPr marL="0" indent="0">
              <a:buNone/>
            </a:pPr>
            <a:r>
              <a:rPr lang="en-US" sz="1200" dirty="0">
                <a:solidFill>
                  <a:srgbClr val="1A2E35"/>
                </a:solidFill>
                <a:latin typeface="Calibri" pitchFamily="34" charset="0"/>
                <a:ea typeface="Calibri" pitchFamily="34" charset="-122"/>
                <a:cs typeface="Calibri" pitchFamily="34" charset="-120"/>
              </a:rPr>
              <a:t>1.80 (1.49–2.18)</a:t>
            </a:r>
            <a:endParaRPr lang="en-US" sz="1200" dirty="0"/>
          </a:p>
        </p:txBody>
      </p:sp>
      <p:sp>
        <p:nvSpPr>
          <p:cNvPr id="32" name="Shape 30"/>
          <p:cNvSpPr/>
          <p:nvPr/>
        </p:nvSpPr>
        <p:spPr>
          <a:xfrm>
            <a:off x="274320" y="3337560"/>
            <a:ext cx="8595360" cy="438912"/>
          </a:xfrm>
          <a:prstGeom prst="rect">
            <a:avLst/>
          </a:prstGeom>
          <a:solidFill>
            <a:srgbClr val="E8F4F5"/>
          </a:solidFill>
          <a:ln w="3810">
            <a:solidFill>
              <a:srgbClr val="DDDDDD"/>
            </a:solidFill>
            <a:prstDash val="solid"/>
          </a:ln>
        </p:spPr>
        <p:txBody>
          <a:bodyPr/>
          <a:lstStyle/>
          <a:p>
            <a:endParaRPr lang="en-US"/>
          </a:p>
        </p:txBody>
      </p:sp>
      <p:sp>
        <p:nvSpPr>
          <p:cNvPr id="33" name="Shape 31"/>
          <p:cNvSpPr/>
          <p:nvPr/>
        </p:nvSpPr>
        <p:spPr>
          <a:xfrm>
            <a:off x="274320" y="3337560"/>
            <a:ext cx="73152" cy="438912"/>
          </a:xfrm>
          <a:prstGeom prst="rect">
            <a:avLst/>
          </a:prstGeom>
          <a:solidFill>
            <a:srgbClr val="028090"/>
          </a:solidFill>
          <a:ln w="12700">
            <a:solidFill>
              <a:srgbClr val="028090"/>
            </a:solidFill>
            <a:prstDash val="solid"/>
          </a:ln>
        </p:spPr>
        <p:txBody>
          <a:bodyPr/>
          <a:lstStyle/>
          <a:p>
            <a:endParaRPr lang="en-US"/>
          </a:p>
        </p:txBody>
      </p:sp>
      <p:sp>
        <p:nvSpPr>
          <p:cNvPr id="34" name="Text 32"/>
          <p:cNvSpPr/>
          <p:nvPr/>
        </p:nvSpPr>
        <p:spPr>
          <a:xfrm>
            <a:off x="274320" y="3337560"/>
            <a:ext cx="2560320" cy="438912"/>
          </a:xfrm>
          <a:prstGeom prst="rect">
            <a:avLst/>
          </a:prstGeom>
          <a:noFill/>
          <a:ln/>
        </p:spPr>
        <p:txBody>
          <a:bodyPr wrap="square" rtlCol="0" anchor="ctr"/>
          <a:lstStyle/>
          <a:p>
            <a:pPr marL="0" indent="0">
              <a:buNone/>
            </a:pPr>
            <a:r>
              <a:rPr lang="en-US" sz="1200" b="1" dirty="0">
                <a:solidFill>
                  <a:srgbClr val="1A2E35"/>
                </a:solidFill>
                <a:latin typeface="Calibri" pitchFamily="34" charset="0"/>
                <a:ea typeface="Calibri" pitchFamily="34" charset="-122"/>
                <a:cs typeface="Calibri" pitchFamily="34" charset="-120"/>
              </a:rPr>
              <a:t>Physical Activity (hrs/wk)</a:t>
            </a:r>
            <a:endParaRPr lang="en-US" sz="1200" dirty="0"/>
          </a:p>
        </p:txBody>
      </p:sp>
      <p:sp>
        <p:nvSpPr>
          <p:cNvPr id="35" name="Text 33"/>
          <p:cNvSpPr/>
          <p:nvPr/>
        </p:nvSpPr>
        <p:spPr>
          <a:xfrm>
            <a:off x="2926080" y="3337560"/>
            <a:ext cx="1097280" cy="438912"/>
          </a:xfrm>
          <a:prstGeom prst="rect">
            <a:avLst/>
          </a:prstGeom>
          <a:noFill/>
          <a:ln/>
        </p:spPr>
        <p:txBody>
          <a:bodyPr wrap="square" rtlCol="0" anchor="ctr"/>
          <a:lstStyle/>
          <a:p>
            <a:pPr marL="0" indent="0">
              <a:buNone/>
            </a:pPr>
            <a:r>
              <a:rPr lang="en-US" sz="1200" dirty="0">
                <a:solidFill>
                  <a:srgbClr val="1A2E35"/>
                </a:solidFill>
                <a:latin typeface="Calibri" pitchFamily="34" charset="0"/>
                <a:ea typeface="Calibri" pitchFamily="34" charset="-122"/>
                <a:cs typeface="Calibri" pitchFamily="34" charset="-120"/>
              </a:rPr>
              <a:t>−0.110</a:t>
            </a:r>
            <a:endParaRPr lang="en-US" sz="1200" dirty="0"/>
          </a:p>
        </p:txBody>
      </p:sp>
      <p:sp>
        <p:nvSpPr>
          <p:cNvPr id="36" name="Text 34"/>
          <p:cNvSpPr/>
          <p:nvPr/>
        </p:nvSpPr>
        <p:spPr>
          <a:xfrm>
            <a:off x="4114800" y="3337560"/>
            <a:ext cx="914400" cy="438912"/>
          </a:xfrm>
          <a:prstGeom prst="rect">
            <a:avLst/>
          </a:prstGeom>
          <a:noFill/>
          <a:ln/>
        </p:spPr>
        <p:txBody>
          <a:bodyPr wrap="square" rtlCol="0" anchor="ctr"/>
          <a:lstStyle/>
          <a:p>
            <a:pPr marL="0" indent="0">
              <a:buNone/>
            </a:pPr>
            <a:r>
              <a:rPr lang="en-US" sz="1200" dirty="0">
                <a:solidFill>
                  <a:srgbClr val="1A2E35"/>
                </a:solidFill>
                <a:latin typeface="Calibri" pitchFamily="34" charset="0"/>
                <a:ea typeface="Calibri" pitchFamily="34" charset="-122"/>
                <a:cs typeface="Calibri" pitchFamily="34" charset="-120"/>
              </a:rPr>
              <a:t>0.035</a:t>
            </a:r>
            <a:endParaRPr lang="en-US" sz="1200" dirty="0"/>
          </a:p>
        </p:txBody>
      </p:sp>
      <p:sp>
        <p:nvSpPr>
          <p:cNvPr id="37" name="Text 35"/>
          <p:cNvSpPr/>
          <p:nvPr/>
        </p:nvSpPr>
        <p:spPr>
          <a:xfrm>
            <a:off x="5120640" y="3337560"/>
            <a:ext cx="914400" cy="438912"/>
          </a:xfrm>
          <a:prstGeom prst="rect">
            <a:avLst/>
          </a:prstGeom>
          <a:noFill/>
          <a:ln/>
        </p:spPr>
        <p:txBody>
          <a:bodyPr wrap="square" rtlCol="0" anchor="ctr"/>
          <a:lstStyle/>
          <a:p>
            <a:pPr marL="0" indent="0">
              <a:buNone/>
            </a:pPr>
            <a:r>
              <a:rPr lang="en-US" sz="1200" dirty="0">
                <a:solidFill>
                  <a:srgbClr val="1A2E35"/>
                </a:solidFill>
                <a:latin typeface="Calibri" pitchFamily="34" charset="0"/>
                <a:ea typeface="Calibri" pitchFamily="34" charset="-122"/>
                <a:cs typeface="Calibri" pitchFamily="34" charset="-120"/>
              </a:rPr>
              <a:t>0.002</a:t>
            </a:r>
            <a:endParaRPr lang="en-US" sz="1200" dirty="0"/>
          </a:p>
        </p:txBody>
      </p:sp>
      <p:sp>
        <p:nvSpPr>
          <p:cNvPr id="38" name="Text 36"/>
          <p:cNvSpPr/>
          <p:nvPr/>
        </p:nvSpPr>
        <p:spPr>
          <a:xfrm>
            <a:off x="6126480" y="3337560"/>
            <a:ext cx="2743200" cy="438912"/>
          </a:xfrm>
          <a:prstGeom prst="rect">
            <a:avLst/>
          </a:prstGeom>
          <a:noFill/>
          <a:ln/>
        </p:spPr>
        <p:txBody>
          <a:bodyPr wrap="square" rtlCol="0" anchor="ctr"/>
          <a:lstStyle/>
          <a:p>
            <a:pPr marL="0" indent="0">
              <a:buNone/>
            </a:pPr>
            <a:r>
              <a:rPr lang="en-US" sz="1200" dirty="0">
                <a:solidFill>
                  <a:srgbClr val="1A2E35"/>
                </a:solidFill>
                <a:latin typeface="Calibri" pitchFamily="34" charset="0"/>
                <a:ea typeface="Calibri" pitchFamily="34" charset="-122"/>
                <a:cs typeface="Calibri" pitchFamily="34" charset="-120"/>
              </a:rPr>
              <a:t>0.90 (0.84–0.96)</a:t>
            </a:r>
            <a:endParaRPr lang="en-US" sz="1200" dirty="0"/>
          </a:p>
        </p:txBody>
      </p:sp>
      <p:sp>
        <p:nvSpPr>
          <p:cNvPr id="39" name="Shape 37"/>
          <p:cNvSpPr/>
          <p:nvPr/>
        </p:nvSpPr>
        <p:spPr>
          <a:xfrm>
            <a:off x="274320" y="3794760"/>
            <a:ext cx="8595360" cy="438912"/>
          </a:xfrm>
          <a:prstGeom prst="rect">
            <a:avLst/>
          </a:prstGeom>
          <a:solidFill>
            <a:srgbClr val="FFFFFF"/>
          </a:solidFill>
          <a:ln w="3810">
            <a:solidFill>
              <a:srgbClr val="DDDDDD"/>
            </a:solidFill>
            <a:prstDash val="solid"/>
          </a:ln>
        </p:spPr>
        <p:txBody>
          <a:bodyPr/>
          <a:lstStyle/>
          <a:p>
            <a:endParaRPr lang="en-US"/>
          </a:p>
        </p:txBody>
      </p:sp>
      <p:sp>
        <p:nvSpPr>
          <p:cNvPr id="40" name="Text 38"/>
          <p:cNvSpPr/>
          <p:nvPr/>
        </p:nvSpPr>
        <p:spPr>
          <a:xfrm>
            <a:off x="274320" y="3794760"/>
            <a:ext cx="2560320" cy="438912"/>
          </a:xfrm>
          <a:prstGeom prst="rect">
            <a:avLst/>
          </a:prstGeom>
          <a:noFill/>
          <a:ln/>
        </p:spPr>
        <p:txBody>
          <a:bodyPr wrap="square" rtlCol="0" anchor="ctr"/>
          <a:lstStyle/>
          <a:p>
            <a:pPr marL="0" indent="0">
              <a:buNone/>
            </a:pPr>
            <a:r>
              <a:rPr lang="en-US" sz="1200" b="1" dirty="0">
                <a:solidFill>
                  <a:srgbClr val="1A2E35"/>
                </a:solidFill>
                <a:latin typeface="Calibri" pitchFamily="34" charset="0"/>
                <a:ea typeface="Calibri" pitchFamily="34" charset="-122"/>
                <a:cs typeface="Calibri" pitchFamily="34" charset="-120"/>
              </a:rPr>
              <a:t>Alcohol (drinks/wk)</a:t>
            </a:r>
            <a:endParaRPr lang="en-US" sz="1200" dirty="0"/>
          </a:p>
        </p:txBody>
      </p:sp>
      <p:sp>
        <p:nvSpPr>
          <p:cNvPr id="41" name="Text 39"/>
          <p:cNvSpPr/>
          <p:nvPr/>
        </p:nvSpPr>
        <p:spPr>
          <a:xfrm>
            <a:off x="2926080" y="3794760"/>
            <a:ext cx="1097280" cy="438912"/>
          </a:xfrm>
          <a:prstGeom prst="rect">
            <a:avLst/>
          </a:prstGeom>
          <a:noFill/>
          <a:ln/>
        </p:spPr>
        <p:txBody>
          <a:bodyPr wrap="square" rtlCol="0" anchor="ctr"/>
          <a:lstStyle/>
          <a:p>
            <a:pPr marL="0" indent="0">
              <a:buNone/>
            </a:pPr>
            <a:r>
              <a:rPr lang="en-US" sz="1200" dirty="0">
                <a:solidFill>
                  <a:srgbClr val="1A2E35"/>
                </a:solidFill>
                <a:latin typeface="Calibri" pitchFamily="34" charset="0"/>
                <a:ea typeface="Calibri" pitchFamily="34" charset="-122"/>
                <a:cs typeface="Calibri" pitchFamily="34" charset="-120"/>
              </a:rPr>
              <a:t>0.025</a:t>
            </a:r>
            <a:endParaRPr lang="en-US" sz="1200" dirty="0"/>
          </a:p>
        </p:txBody>
      </p:sp>
      <p:sp>
        <p:nvSpPr>
          <p:cNvPr id="42" name="Text 40"/>
          <p:cNvSpPr/>
          <p:nvPr/>
        </p:nvSpPr>
        <p:spPr>
          <a:xfrm>
            <a:off x="4114800" y="3794760"/>
            <a:ext cx="914400" cy="438912"/>
          </a:xfrm>
          <a:prstGeom prst="rect">
            <a:avLst/>
          </a:prstGeom>
          <a:noFill/>
          <a:ln/>
        </p:spPr>
        <p:txBody>
          <a:bodyPr wrap="square" rtlCol="0" anchor="ctr"/>
          <a:lstStyle/>
          <a:p>
            <a:pPr marL="0" indent="0">
              <a:buNone/>
            </a:pPr>
            <a:r>
              <a:rPr lang="en-US" sz="1200" dirty="0">
                <a:solidFill>
                  <a:srgbClr val="1A2E35"/>
                </a:solidFill>
                <a:latin typeface="Calibri" pitchFamily="34" charset="0"/>
                <a:ea typeface="Calibri" pitchFamily="34" charset="-122"/>
                <a:cs typeface="Calibri" pitchFamily="34" charset="-120"/>
              </a:rPr>
              <a:t>0.019</a:t>
            </a:r>
            <a:endParaRPr lang="en-US" sz="1200" dirty="0"/>
          </a:p>
        </p:txBody>
      </p:sp>
      <p:sp>
        <p:nvSpPr>
          <p:cNvPr id="43" name="Text 41"/>
          <p:cNvSpPr/>
          <p:nvPr/>
        </p:nvSpPr>
        <p:spPr>
          <a:xfrm>
            <a:off x="5120640" y="3794760"/>
            <a:ext cx="914400" cy="438912"/>
          </a:xfrm>
          <a:prstGeom prst="rect">
            <a:avLst/>
          </a:prstGeom>
          <a:noFill/>
          <a:ln/>
        </p:spPr>
        <p:txBody>
          <a:bodyPr wrap="square" rtlCol="0" anchor="ctr"/>
          <a:lstStyle/>
          <a:p>
            <a:pPr marL="0" indent="0">
              <a:buNone/>
            </a:pPr>
            <a:r>
              <a:rPr lang="en-US" sz="1200" dirty="0">
                <a:solidFill>
                  <a:srgbClr val="1A2E35"/>
                </a:solidFill>
                <a:latin typeface="Calibri" pitchFamily="34" charset="0"/>
                <a:ea typeface="Calibri" pitchFamily="34" charset="-122"/>
                <a:cs typeface="Calibri" pitchFamily="34" charset="-120"/>
              </a:rPr>
              <a:t>0.19</a:t>
            </a:r>
            <a:endParaRPr lang="en-US" sz="1200" dirty="0"/>
          </a:p>
        </p:txBody>
      </p:sp>
      <p:sp>
        <p:nvSpPr>
          <p:cNvPr id="44" name="Text 42"/>
          <p:cNvSpPr/>
          <p:nvPr/>
        </p:nvSpPr>
        <p:spPr>
          <a:xfrm>
            <a:off x="6126480" y="3794760"/>
            <a:ext cx="2743200" cy="438912"/>
          </a:xfrm>
          <a:prstGeom prst="rect">
            <a:avLst/>
          </a:prstGeom>
          <a:noFill/>
          <a:ln/>
        </p:spPr>
        <p:txBody>
          <a:bodyPr wrap="square" rtlCol="0" anchor="ctr"/>
          <a:lstStyle/>
          <a:p>
            <a:pPr marL="0" indent="0">
              <a:buNone/>
            </a:pPr>
            <a:r>
              <a:rPr lang="en-US" sz="1200" dirty="0">
                <a:solidFill>
                  <a:srgbClr val="1A2E35"/>
                </a:solidFill>
                <a:latin typeface="Calibri" pitchFamily="34" charset="0"/>
                <a:ea typeface="Calibri" pitchFamily="34" charset="-122"/>
                <a:cs typeface="Calibri" pitchFamily="34" charset="-120"/>
              </a:rPr>
              <a:t>1.03 (0.99–1.07)</a:t>
            </a:r>
            <a:endParaRPr lang="en-US" sz="1200" dirty="0"/>
          </a:p>
        </p:txBody>
      </p:sp>
      <p:sp>
        <p:nvSpPr>
          <p:cNvPr id="45" name="Shape 43"/>
          <p:cNvSpPr/>
          <p:nvPr/>
        </p:nvSpPr>
        <p:spPr>
          <a:xfrm>
            <a:off x="274320" y="4251960"/>
            <a:ext cx="8595360" cy="438912"/>
          </a:xfrm>
          <a:prstGeom prst="rect">
            <a:avLst/>
          </a:prstGeom>
          <a:solidFill>
            <a:srgbClr val="E8F4F5"/>
          </a:solidFill>
          <a:ln w="3810">
            <a:solidFill>
              <a:srgbClr val="DDDDDD"/>
            </a:solidFill>
            <a:prstDash val="solid"/>
          </a:ln>
        </p:spPr>
        <p:txBody>
          <a:bodyPr/>
          <a:lstStyle/>
          <a:p>
            <a:endParaRPr lang="en-US"/>
          </a:p>
        </p:txBody>
      </p:sp>
      <p:sp>
        <p:nvSpPr>
          <p:cNvPr id="46" name="Shape 44"/>
          <p:cNvSpPr/>
          <p:nvPr/>
        </p:nvSpPr>
        <p:spPr>
          <a:xfrm>
            <a:off x="274320" y="4251960"/>
            <a:ext cx="73152" cy="438912"/>
          </a:xfrm>
          <a:prstGeom prst="rect">
            <a:avLst/>
          </a:prstGeom>
          <a:solidFill>
            <a:srgbClr val="028090"/>
          </a:solidFill>
          <a:ln w="12700">
            <a:solidFill>
              <a:srgbClr val="028090"/>
            </a:solidFill>
            <a:prstDash val="solid"/>
          </a:ln>
        </p:spPr>
        <p:txBody>
          <a:bodyPr/>
          <a:lstStyle/>
          <a:p>
            <a:endParaRPr lang="en-US"/>
          </a:p>
        </p:txBody>
      </p:sp>
      <p:sp>
        <p:nvSpPr>
          <p:cNvPr id="47" name="Text 45"/>
          <p:cNvSpPr/>
          <p:nvPr/>
        </p:nvSpPr>
        <p:spPr>
          <a:xfrm>
            <a:off x="274320" y="4251960"/>
            <a:ext cx="2560320" cy="438912"/>
          </a:xfrm>
          <a:prstGeom prst="rect">
            <a:avLst/>
          </a:prstGeom>
          <a:noFill/>
          <a:ln/>
        </p:spPr>
        <p:txBody>
          <a:bodyPr wrap="square" rtlCol="0" anchor="ctr"/>
          <a:lstStyle/>
          <a:p>
            <a:pPr marL="0" indent="0">
              <a:buNone/>
            </a:pPr>
            <a:r>
              <a:rPr lang="en-US" sz="1200" b="1" dirty="0">
                <a:solidFill>
                  <a:srgbClr val="1A2E35"/>
                </a:solidFill>
                <a:latin typeface="Calibri" pitchFamily="34" charset="0"/>
                <a:ea typeface="Calibri" pitchFamily="34" charset="-122"/>
                <a:cs typeface="Calibri" pitchFamily="34" charset="-120"/>
              </a:rPr>
              <a:t>Sex (Female vs Male)</a:t>
            </a:r>
            <a:endParaRPr lang="en-US" sz="1200" dirty="0"/>
          </a:p>
        </p:txBody>
      </p:sp>
      <p:sp>
        <p:nvSpPr>
          <p:cNvPr id="48" name="Text 46"/>
          <p:cNvSpPr/>
          <p:nvPr/>
        </p:nvSpPr>
        <p:spPr>
          <a:xfrm>
            <a:off x="2926080" y="4251960"/>
            <a:ext cx="1097280" cy="438912"/>
          </a:xfrm>
          <a:prstGeom prst="rect">
            <a:avLst/>
          </a:prstGeom>
          <a:noFill/>
          <a:ln/>
        </p:spPr>
        <p:txBody>
          <a:bodyPr wrap="square" rtlCol="0" anchor="ctr"/>
          <a:lstStyle/>
          <a:p>
            <a:pPr marL="0" indent="0">
              <a:buNone/>
            </a:pPr>
            <a:r>
              <a:rPr lang="en-US" sz="1200" dirty="0">
                <a:solidFill>
                  <a:srgbClr val="1A2E35"/>
                </a:solidFill>
                <a:latin typeface="Calibri" pitchFamily="34" charset="0"/>
                <a:ea typeface="Calibri" pitchFamily="34" charset="-122"/>
                <a:cs typeface="Calibri" pitchFamily="34" charset="-120"/>
              </a:rPr>
              <a:t>−0.198</a:t>
            </a:r>
            <a:endParaRPr lang="en-US" sz="1200" dirty="0"/>
          </a:p>
        </p:txBody>
      </p:sp>
      <p:sp>
        <p:nvSpPr>
          <p:cNvPr id="49" name="Text 47"/>
          <p:cNvSpPr/>
          <p:nvPr/>
        </p:nvSpPr>
        <p:spPr>
          <a:xfrm>
            <a:off x="4114800" y="4251960"/>
            <a:ext cx="914400" cy="438912"/>
          </a:xfrm>
          <a:prstGeom prst="rect">
            <a:avLst/>
          </a:prstGeom>
          <a:noFill/>
          <a:ln/>
        </p:spPr>
        <p:txBody>
          <a:bodyPr wrap="square" rtlCol="0" anchor="ctr"/>
          <a:lstStyle/>
          <a:p>
            <a:pPr marL="0" indent="0">
              <a:buNone/>
            </a:pPr>
            <a:r>
              <a:rPr lang="en-US" sz="1200" dirty="0">
                <a:solidFill>
                  <a:srgbClr val="1A2E35"/>
                </a:solidFill>
                <a:latin typeface="Calibri" pitchFamily="34" charset="0"/>
                <a:ea typeface="Calibri" pitchFamily="34" charset="-122"/>
                <a:cs typeface="Calibri" pitchFamily="34" charset="-120"/>
              </a:rPr>
              <a:t>0.087</a:t>
            </a:r>
            <a:endParaRPr lang="en-US" sz="1200" dirty="0"/>
          </a:p>
        </p:txBody>
      </p:sp>
      <p:sp>
        <p:nvSpPr>
          <p:cNvPr id="50" name="Text 48"/>
          <p:cNvSpPr/>
          <p:nvPr/>
        </p:nvSpPr>
        <p:spPr>
          <a:xfrm>
            <a:off x="5120640" y="4251960"/>
            <a:ext cx="914400" cy="438912"/>
          </a:xfrm>
          <a:prstGeom prst="rect">
            <a:avLst/>
          </a:prstGeom>
          <a:noFill/>
          <a:ln/>
        </p:spPr>
        <p:txBody>
          <a:bodyPr wrap="square" rtlCol="0" anchor="ctr"/>
          <a:lstStyle/>
          <a:p>
            <a:pPr marL="0" indent="0">
              <a:buNone/>
            </a:pPr>
            <a:r>
              <a:rPr lang="en-US" sz="1200" dirty="0">
                <a:solidFill>
                  <a:srgbClr val="1A2E35"/>
                </a:solidFill>
                <a:latin typeface="Calibri" pitchFamily="34" charset="0"/>
                <a:ea typeface="Calibri" pitchFamily="34" charset="-122"/>
                <a:cs typeface="Calibri" pitchFamily="34" charset="-120"/>
              </a:rPr>
              <a:t>0.023</a:t>
            </a:r>
            <a:endParaRPr lang="en-US" sz="1200" dirty="0"/>
          </a:p>
        </p:txBody>
      </p:sp>
      <p:sp>
        <p:nvSpPr>
          <p:cNvPr id="51" name="Text 49"/>
          <p:cNvSpPr/>
          <p:nvPr/>
        </p:nvSpPr>
        <p:spPr>
          <a:xfrm>
            <a:off x="6126480" y="4251960"/>
            <a:ext cx="2743200" cy="438912"/>
          </a:xfrm>
          <a:prstGeom prst="rect">
            <a:avLst/>
          </a:prstGeom>
          <a:noFill/>
          <a:ln/>
        </p:spPr>
        <p:txBody>
          <a:bodyPr wrap="square" rtlCol="0" anchor="ctr"/>
          <a:lstStyle/>
          <a:p>
            <a:pPr marL="0" indent="0">
              <a:buNone/>
            </a:pPr>
            <a:r>
              <a:rPr lang="en-US" sz="1200" dirty="0">
                <a:solidFill>
                  <a:srgbClr val="1A2E35"/>
                </a:solidFill>
                <a:latin typeface="Calibri" pitchFamily="34" charset="0"/>
                <a:ea typeface="Calibri" pitchFamily="34" charset="-122"/>
                <a:cs typeface="Calibri" pitchFamily="34" charset="-120"/>
              </a:rPr>
              <a:t>0.82 (0.69–0.97)</a:t>
            </a:r>
            <a:endParaRPr lang="en-US" sz="1200" dirty="0"/>
          </a:p>
        </p:txBody>
      </p:sp>
      <p:sp>
        <p:nvSpPr>
          <p:cNvPr id="52" name="Text 50"/>
          <p:cNvSpPr/>
          <p:nvPr/>
        </p:nvSpPr>
        <p:spPr>
          <a:xfrm>
            <a:off x="274320" y="4754880"/>
            <a:ext cx="8595360" cy="274320"/>
          </a:xfrm>
          <a:prstGeom prst="rect">
            <a:avLst/>
          </a:prstGeom>
          <a:noFill/>
          <a:ln/>
        </p:spPr>
        <p:txBody>
          <a:bodyPr wrap="square" rtlCol="0" anchor="ctr"/>
          <a:lstStyle/>
          <a:p>
            <a:pPr marL="0" indent="0">
              <a:buNone/>
            </a:pPr>
            <a:r>
              <a:rPr lang="en-US" sz="1000" i="1" dirty="0">
                <a:solidFill>
                  <a:srgbClr val="3D6470"/>
                </a:solidFill>
                <a:latin typeface="Calibri" pitchFamily="34" charset="0"/>
                <a:ea typeface="Calibri" pitchFamily="34" charset="-122"/>
                <a:cs typeface="Calibri" pitchFamily="34" charset="-120"/>
              </a:rPr>
              <a:t>Alcohol p=0.19 — not statistically significant; teal bar = significant at p&lt;0.05</a:t>
            </a:r>
            <a:endParaRPr lang="en-US" sz="10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28090"/>
          </a:solidFill>
          <a:ln/>
        </p:spPr>
        <p:txBody>
          <a:bodyPr/>
          <a:lstStyle/>
          <a:p>
            <a:endParaRPr lang="en-US"/>
          </a:p>
        </p:txBody>
      </p:sp>
      <p:sp>
        <p:nvSpPr>
          <p:cNvPr id="3" name="Text 1"/>
          <p:cNvSpPr/>
          <p:nvPr/>
        </p:nvSpPr>
        <p:spPr>
          <a:xfrm>
            <a:off x="365760" y="0"/>
            <a:ext cx="8229600" cy="1005840"/>
          </a:xfrm>
          <a:prstGeom prst="rect">
            <a:avLst/>
          </a:prstGeom>
          <a:noFill/>
          <a:ln/>
        </p:spPr>
        <p:txBody>
          <a:bodyPr wrap="square" rtlCol="0" anchor="ctr"/>
          <a:lstStyle/>
          <a:p>
            <a:pPr marL="0" indent="0">
              <a:buNone/>
            </a:pPr>
            <a:r>
              <a:rPr lang="en-US" sz="2000" b="1" dirty="0">
                <a:solidFill>
                  <a:srgbClr val="FFFFFF"/>
                </a:solidFill>
                <a:latin typeface="Georgia" pitchFamily="34" charset="0"/>
                <a:ea typeface="Georgia" pitchFamily="34" charset="-122"/>
                <a:cs typeface="Georgia" pitchFamily="34" charset="-120"/>
              </a:rPr>
              <a:t>Interpreting Odds Ratios &amp; Confidence Intervals</a:t>
            </a:r>
            <a:endParaRPr lang="en-US" sz="2000" dirty="0"/>
          </a:p>
        </p:txBody>
      </p:sp>
      <p:sp>
        <p:nvSpPr>
          <p:cNvPr id="4" name="Text 2"/>
          <p:cNvSpPr/>
          <p:nvPr/>
        </p:nvSpPr>
        <p:spPr>
          <a:xfrm>
            <a:off x="274320" y="1097280"/>
            <a:ext cx="8229600" cy="365760"/>
          </a:xfrm>
          <a:prstGeom prst="rect">
            <a:avLst/>
          </a:prstGeom>
          <a:noFill/>
          <a:ln/>
        </p:spPr>
        <p:txBody>
          <a:bodyPr wrap="square" rtlCol="0" anchor="ctr"/>
          <a:lstStyle/>
          <a:p>
            <a:pPr marL="0" indent="0">
              <a:buNone/>
            </a:pPr>
            <a:r>
              <a:rPr lang="en-US" sz="1400" b="1" dirty="0">
                <a:solidFill>
                  <a:srgbClr val="023E5C"/>
                </a:solidFill>
                <a:latin typeface="Calibri" pitchFamily="34" charset="0"/>
                <a:ea typeface="Calibri" pitchFamily="34" charset="-122"/>
                <a:cs typeface="Calibri" pitchFamily="34" charset="-120"/>
              </a:rPr>
              <a:t>Forest Plot (Visual Interpretation)</a:t>
            </a:r>
            <a:endParaRPr lang="en-US" sz="1400" dirty="0"/>
          </a:p>
        </p:txBody>
      </p:sp>
      <p:sp>
        <p:nvSpPr>
          <p:cNvPr id="5" name="Shape 3"/>
          <p:cNvSpPr/>
          <p:nvPr/>
        </p:nvSpPr>
        <p:spPr>
          <a:xfrm>
            <a:off x="4114800" y="1508760"/>
            <a:ext cx="0" cy="2926080"/>
          </a:xfrm>
          <a:prstGeom prst="line">
            <a:avLst/>
          </a:prstGeom>
          <a:noFill/>
          <a:ln w="19050">
            <a:solidFill>
              <a:srgbClr val="7BA7B0"/>
            </a:solidFill>
            <a:prstDash val="dash"/>
          </a:ln>
        </p:spPr>
        <p:txBody>
          <a:bodyPr/>
          <a:lstStyle/>
          <a:p>
            <a:endParaRPr lang="en-US"/>
          </a:p>
        </p:txBody>
      </p:sp>
      <p:sp>
        <p:nvSpPr>
          <p:cNvPr id="6" name="Text 4"/>
          <p:cNvSpPr/>
          <p:nvPr/>
        </p:nvSpPr>
        <p:spPr>
          <a:xfrm>
            <a:off x="3657600" y="4434840"/>
            <a:ext cx="914400" cy="457200"/>
          </a:xfrm>
          <a:prstGeom prst="rect">
            <a:avLst/>
          </a:prstGeom>
          <a:noFill/>
          <a:ln/>
        </p:spPr>
        <p:txBody>
          <a:bodyPr wrap="square" rtlCol="0" anchor="ctr"/>
          <a:lstStyle/>
          <a:p>
            <a:pPr marL="0" indent="0" algn="ctr">
              <a:buNone/>
            </a:pPr>
            <a:r>
              <a:rPr lang="en-US" sz="1000" dirty="0">
                <a:solidFill>
                  <a:srgbClr val="7BA7B0"/>
                </a:solidFill>
                <a:latin typeface="Calibri" pitchFamily="34" charset="0"/>
                <a:ea typeface="Calibri" pitchFamily="34" charset="-122"/>
                <a:cs typeface="Calibri" pitchFamily="34" charset="-120"/>
              </a:rPr>
              <a:t>OR = 1.0</a:t>
            </a:r>
            <a:endParaRPr lang="en-US" sz="1000" dirty="0"/>
          </a:p>
          <a:p>
            <a:pPr marL="0" indent="0" algn="ctr">
              <a:buNone/>
            </a:pPr>
            <a:r>
              <a:rPr lang="en-US" sz="1000" dirty="0">
                <a:solidFill>
                  <a:srgbClr val="7BA7B0"/>
                </a:solidFill>
                <a:latin typeface="Calibri" pitchFamily="34" charset="0"/>
                <a:ea typeface="Calibri" pitchFamily="34" charset="-122"/>
                <a:cs typeface="Calibri" pitchFamily="34" charset="-120"/>
              </a:rPr>
              <a:t>(Null)</a:t>
            </a:r>
            <a:endParaRPr lang="en-US" sz="1000" dirty="0"/>
          </a:p>
        </p:txBody>
      </p:sp>
      <p:sp>
        <p:nvSpPr>
          <p:cNvPr id="7" name="Text 5"/>
          <p:cNvSpPr/>
          <p:nvPr/>
        </p:nvSpPr>
        <p:spPr>
          <a:xfrm>
            <a:off x="5029200" y="1508760"/>
            <a:ext cx="2286000" cy="320040"/>
          </a:xfrm>
          <a:prstGeom prst="rect">
            <a:avLst/>
          </a:prstGeom>
          <a:noFill/>
          <a:ln/>
        </p:spPr>
        <p:txBody>
          <a:bodyPr wrap="square" rtlCol="0" anchor="ctr"/>
          <a:lstStyle/>
          <a:p>
            <a:pPr marL="0" indent="0">
              <a:buNone/>
            </a:pPr>
            <a:r>
              <a:rPr lang="en-US" sz="1100" i="1" dirty="0">
                <a:solidFill>
                  <a:srgbClr val="023E5C"/>
                </a:solidFill>
                <a:latin typeface="Calibri" pitchFamily="34" charset="0"/>
                <a:ea typeface="Calibri" pitchFamily="34" charset="-122"/>
                <a:cs typeface="Calibri" pitchFamily="34" charset="-120"/>
              </a:rPr>
              <a:t>↑ Increased Risk</a:t>
            </a:r>
            <a:endParaRPr lang="en-US" sz="1100" dirty="0"/>
          </a:p>
        </p:txBody>
      </p:sp>
      <p:sp>
        <p:nvSpPr>
          <p:cNvPr id="8" name="Text 6"/>
          <p:cNvSpPr/>
          <p:nvPr/>
        </p:nvSpPr>
        <p:spPr>
          <a:xfrm>
            <a:off x="1828800" y="1508760"/>
            <a:ext cx="2011680" cy="320040"/>
          </a:xfrm>
          <a:prstGeom prst="rect">
            <a:avLst/>
          </a:prstGeom>
          <a:noFill/>
          <a:ln/>
        </p:spPr>
        <p:txBody>
          <a:bodyPr wrap="square" rtlCol="0" anchor="ctr"/>
          <a:lstStyle/>
          <a:p>
            <a:pPr marL="0" indent="0">
              <a:buNone/>
            </a:pPr>
            <a:r>
              <a:rPr lang="en-US" sz="1100" i="1" dirty="0">
                <a:solidFill>
                  <a:srgbClr val="023E5C"/>
                </a:solidFill>
                <a:latin typeface="Calibri" pitchFamily="34" charset="0"/>
                <a:ea typeface="Calibri" pitchFamily="34" charset="-122"/>
                <a:cs typeface="Calibri" pitchFamily="34" charset="-120"/>
              </a:rPr>
              <a:t>↓ Decreased Risk</a:t>
            </a:r>
            <a:endParaRPr lang="en-US" sz="1100" dirty="0"/>
          </a:p>
        </p:txBody>
      </p:sp>
      <p:sp>
        <p:nvSpPr>
          <p:cNvPr id="9" name="Text 7"/>
          <p:cNvSpPr/>
          <p:nvPr/>
        </p:nvSpPr>
        <p:spPr>
          <a:xfrm>
            <a:off x="274320" y="1965960"/>
            <a:ext cx="2103120" cy="384048"/>
          </a:xfrm>
          <a:prstGeom prst="rect">
            <a:avLst/>
          </a:prstGeom>
          <a:noFill/>
          <a:ln/>
        </p:spPr>
        <p:txBody>
          <a:bodyPr wrap="square" rtlCol="0" anchor="ctr"/>
          <a:lstStyle/>
          <a:p>
            <a:pPr marL="0" indent="0">
              <a:buNone/>
            </a:pPr>
            <a:r>
              <a:rPr lang="en-US" sz="1200" dirty="0">
                <a:solidFill>
                  <a:srgbClr val="1A2E35"/>
                </a:solidFill>
                <a:latin typeface="Calibri" pitchFamily="34" charset="0"/>
                <a:ea typeface="Calibri" pitchFamily="34" charset="-122"/>
                <a:cs typeface="Calibri" pitchFamily="34" charset="-120"/>
              </a:rPr>
              <a:t>Age (per yr)</a:t>
            </a:r>
            <a:endParaRPr lang="en-US" sz="1200" dirty="0"/>
          </a:p>
        </p:txBody>
      </p:sp>
      <p:sp>
        <p:nvSpPr>
          <p:cNvPr id="10" name="Shape 8"/>
          <p:cNvSpPr/>
          <p:nvPr/>
        </p:nvSpPr>
        <p:spPr>
          <a:xfrm>
            <a:off x="4175150" y="2157984"/>
            <a:ext cx="60350" cy="0"/>
          </a:xfrm>
          <a:prstGeom prst="line">
            <a:avLst/>
          </a:prstGeom>
          <a:noFill/>
          <a:ln w="25400">
            <a:solidFill>
              <a:srgbClr val="023E5C"/>
            </a:solidFill>
            <a:prstDash val="solid"/>
          </a:ln>
        </p:spPr>
        <p:txBody>
          <a:bodyPr/>
          <a:lstStyle/>
          <a:p>
            <a:endParaRPr lang="en-US"/>
          </a:p>
        </p:txBody>
      </p:sp>
      <p:sp>
        <p:nvSpPr>
          <p:cNvPr id="11" name="Shape 9"/>
          <p:cNvSpPr/>
          <p:nvPr/>
        </p:nvSpPr>
        <p:spPr>
          <a:xfrm>
            <a:off x="4112971" y="2075688"/>
            <a:ext cx="164592" cy="164592"/>
          </a:xfrm>
          <a:prstGeom prst="ellipse">
            <a:avLst/>
          </a:prstGeom>
          <a:solidFill>
            <a:srgbClr val="023E5C"/>
          </a:solidFill>
          <a:ln w="12700">
            <a:solidFill>
              <a:srgbClr val="023E5C"/>
            </a:solidFill>
            <a:prstDash val="solid"/>
          </a:ln>
        </p:spPr>
        <p:txBody>
          <a:bodyPr/>
          <a:lstStyle/>
          <a:p>
            <a:endParaRPr lang="en-US"/>
          </a:p>
        </p:txBody>
      </p:sp>
      <p:sp>
        <p:nvSpPr>
          <p:cNvPr id="12" name="Text 10"/>
          <p:cNvSpPr/>
          <p:nvPr/>
        </p:nvSpPr>
        <p:spPr>
          <a:xfrm>
            <a:off x="7818120" y="1965960"/>
            <a:ext cx="1280160" cy="384048"/>
          </a:xfrm>
          <a:prstGeom prst="rect">
            <a:avLst/>
          </a:prstGeom>
          <a:noFill/>
          <a:ln/>
        </p:spPr>
        <p:txBody>
          <a:bodyPr wrap="square" rtlCol="0" anchor="ctr"/>
          <a:lstStyle/>
          <a:p>
            <a:pPr marL="0" indent="0">
              <a:buNone/>
            </a:pPr>
            <a:r>
              <a:rPr lang="en-US" sz="1000" dirty="0">
                <a:solidFill>
                  <a:srgbClr val="3D6470"/>
                </a:solidFill>
                <a:latin typeface="Calibri" pitchFamily="34" charset="0"/>
                <a:ea typeface="Calibri" pitchFamily="34" charset="-122"/>
                <a:cs typeface="Calibri" pitchFamily="34" charset="-120"/>
              </a:rPr>
              <a:t>1.04 (1.03–1.06)</a:t>
            </a:r>
            <a:endParaRPr lang="en-US" sz="1000" dirty="0"/>
          </a:p>
        </p:txBody>
      </p:sp>
      <p:sp>
        <p:nvSpPr>
          <p:cNvPr id="13" name="Text 11"/>
          <p:cNvSpPr/>
          <p:nvPr/>
        </p:nvSpPr>
        <p:spPr>
          <a:xfrm>
            <a:off x="274320" y="2468880"/>
            <a:ext cx="2103120" cy="384048"/>
          </a:xfrm>
          <a:prstGeom prst="rect">
            <a:avLst/>
          </a:prstGeom>
          <a:noFill/>
          <a:ln/>
        </p:spPr>
        <p:txBody>
          <a:bodyPr wrap="square" rtlCol="0" anchor="ctr"/>
          <a:lstStyle/>
          <a:p>
            <a:pPr marL="0" indent="0">
              <a:buNone/>
            </a:pPr>
            <a:r>
              <a:rPr lang="en-US" sz="1200" dirty="0">
                <a:solidFill>
                  <a:srgbClr val="1A2E35"/>
                </a:solidFill>
                <a:latin typeface="Calibri" pitchFamily="34" charset="0"/>
                <a:ea typeface="Calibri" pitchFamily="34" charset="-122"/>
                <a:cs typeface="Calibri" pitchFamily="34" charset="-120"/>
              </a:rPr>
              <a:t>Smoking</a:t>
            </a:r>
            <a:endParaRPr lang="en-US" sz="1200" dirty="0"/>
          </a:p>
        </p:txBody>
      </p:sp>
      <p:sp>
        <p:nvSpPr>
          <p:cNvPr id="14" name="Shape 12"/>
          <p:cNvSpPr/>
          <p:nvPr/>
        </p:nvSpPr>
        <p:spPr>
          <a:xfrm>
            <a:off x="5100523" y="2660904"/>
            <a:ext cx="1388059" cy="0"/>
          </a:xfrm>
          <a:prstGeom prst="line">
            <a:avLst/>
          </a:prstGeom>
          <a:noFill/>
          <a:ln w="25400">
            <a:solidFill>
              <a:srgbClr val="023E5C"/>
            </a:solidFill>
            <a:prstDash val="solid"/>
          </a:ln>
        </p:spPr>
        <p:txBody>
          <a:bodyPr/>
          <a:lstStyle/>
          <a:p>
            <a:endParaRPr lang="en-US"/>
          </a:p>
        </p:txBody>
      </p:sp>
      <p:sp>
        <p:nvSpPr>
          <p:cNvPr id="15" name="Shape 13"/>
          <p:cNvSpPr/>
          <p:nvPr/>
        </p:nvSpPr>
        <p:spPr>
          <a:xfrm>
            <a:off x="5641848" y="2578608"/>
            <a:ext cx="164592" cy="164592"/>
          </a:xfrm>
          <a:prstGeom prst="ellipse">
            <a:avLst/>
          </a:prstGeom>
          <a:solidFill>
            <a:srgbClr val="023E5C"/>
          </a:solidFill>
          <a:ln w="12700">
            <a:solidFill>
              <a:srgbClr val="023E5C"/>
            </a:solidFill>
            <a:prstDash val="solid"/>
          </a:ln>
        </p:spPr>
        <p:txBody>
          <a:bodyPr/>
          <a:lstStyle/>
          <a:p>
            <a:endParaRPr lang="en-US"/>
          </a:p>
        </p:txBody>
      </p:sp>
      <p:sp>
        <p:nvSpPr>
          <p:cNvPr id="16" name="Text 14"/>
          <p:cNvSpPr/>
          <p:nvPr/>
        </p:nvSpPr>
        <p:spPr>
          <a:xfrm>
            <a:off x="7818120" y="2468880"/>
            <a:ext cx="1280160" cy="384048"/>
          </a:xfrm>
          <a:prstGeom prst="rect">
            <a:avLst/>
          </a:prstGeom>
          <a:noFill/>
          <a:ln/>
        </p:spPr>
        <p:txBody>
          <a:bodyPr wrap="square" rtlCol="0" anchor="ctr"/>
          <a:lstStyle/>
          <a:p>
            <a:pPr marL="0" indent="0">
              <a:buNone/>
            </a:pPr>
            <a:r>
              <a:rPr lang="en-US" sz="1000" dirty="0">
                <a:solidFill>
                  <a:srgbClr val="3D6470"/>
                </a:solidFill>
                <a:latin typeface="Calibri" pitchFamily="34" charset="0"/>
                <a:ea typeface="Calibri" pitchFamily="34" charset="-122"/>
                <a:cs typeface="Calibri" pitchFamily="34" charset="-120"/>
              </a:rPr>
              <a:t>1.8 (1.49–2.18)</a:t>
            </a:r>
            <a:endParaRPr lang="en-US" sz="1000" dirty="0"/>
          </a:p>
        </p:txBody>
      </p:sp>
      <p:sp>
        <p:nvSpPr>
          <p:cNvPr id="17" name="Text 15"/>
          <p:cNvSpPr/>
          <p:nvPr/>
        </p:nvSpPr>
        <p:spPr>
          <a:xfrm>
            <a:off x="274320" y="2971800"/>
            <a:ext cx="2103120" cy="384048"/>
          </a:xfrm>
          <a:prstGeom prst="rect">
            <a:avLst/>
          </a:prstGeom>
          <a:noFill/>
          <a:ln/>
        </p:spPr>
        <p:txBody>
          <a:bodyPr wrap="square" rtlCol="0" anchor="ctr"/>
          <a:lstStyle/>
          <a:p>
            <a:pPr marL="0" indent="0">
              <a:buNone/>
            </a:pPr>
            <a:r>
              <a:rPr lang="en-US" sz="1200" dirty="0">
                <a:solidFill>
                  <a:srgbClr val="1A2E35"/>
                </a:solidFill>
                <a:latin typeface="Calibri" pitchFamily="34" charset="0"/>
                <a:ea typeface="Calibri" pitchFamily="34" charset="-122"/>
                <a:cs typeface="Calibri" pitchFamily="34" charset="-120"/>
              </a:rPr>
              <a:t>Phys. Activity</a:t>
            </a:r>
            <a:endParaRPr lang="en-US" sz="1200" dirty="0"/>
          </a:p>
        </p:txBody>
      </p:sp>
      <p:sp>
        <p:nvSpPr>
          <p:cNvPr id="18" name="Shape 16"/>
          <p:cNvSpPr/>
          <p:nvPr/>
        </p:nvSpPr>
        <p:spPr>
          <a:xfrm>
            <a:off x="3792931" y="3163824"/>
            <a:ext cx="241402" cy="0"/>
          </a:xfrm>
          <a:prstGeom prst="line">
            <a:avLst/>
          </a:prstGeom>
          <a:noFill/>
          <a:ln w="25400">
            <a:solidFill>
              <a:srgbClr val="00A896"/>
            </a:solidFill>
            <a:prstDash val="solid"/>
          </a:ln>
        </p:spPr>
        <p:txBody>
          <a:bodyPr/>
          <a:lstStyle/>
          <a:p>
            <a:endParaRPr lang="en-US"/>
          </a:p>
        </p:txBody>
      </p:sp>
      <p:sp>
        <p:nvSpPr>
          <p:cNvPr id="19" name="Shape 17"/>
          <p:cNvSpPr/>
          <p:nvPr/>
        </p:nvSpPr>
        <p:spPr>
          <a:xfrm>
            <a:off x="3831336" y="3081528"/>
            <a:ext cx="164592" cy="164592"/>
          </a:xfrm>
          <a:prstGeom prst="ellipse">
            <a:avLst/>
          </a:prstGeom>
          <a:solidFill>
            <a:srgbClr val="00A896"/>
          </a:solidFill>
          <a:ln w="12700">
            <a:solidFill>
              <a:srgbClr val="00A896"/>
            </a:solidFill>
            <a:prstDash val="solid"/>
          </a:ln>
        </p:spPr>
        <p:txBody>
          <a:bodyPr/>
          <a:lstStyle/>
          <a:p>
            <a:endParaRPr lang="en-US"/>
          </a:p>
        </p:txBody>
      </p:sp>
      <p:sp>
        <p:nvSpPr>
          <p:cNvPr id="20" name="Text 18"/>
          <p:cNvSpPr/>
          <p:nvPr/>
        </p:nvSpPr>
        <p:spPr>
          <a:xfrm>
            <a:off x="7818120" y="2971800"/>
            <a:ext cx="1280160" cy="384048"/>
          </a:xfrm>
          <a:prstGeom prst="rect">
            <a:avLst/>
          </a:prstGeom>
          <a:noFill/>
          <a:ln/>
        </p:spPr>
        <p:txBody>
          <a:bodyPr wrap="square" rtlCol="0" anchor="ctr"/>
          <a:lstStyle/>
          <a:p>
            <a:pPr marL="0" indent="0">
              <a:buNone/>
            </a:pPr>
            <a:r>
              <a:rPr lang="en-US" sz="1000" dirty="0">
                <a:solidFill>
                  <a:srgbClr val="3D6470"/>
                </a:solidFill>
                <a:latin typeface="Calibri" pitchFamily="34" charset="0"/>
                <a:ea typeface="Calibri" pitchFamily="34" charset="-122"/>
                <a:cs typeface="Calibri" pitchFamily="34" charset="-120"/>
              </a:rPr>
              <a:t>0.9 (0.84–0.96)</a:t>
            </a:r>
            <a:endParaRPr lang="en-US" sz="1000" dirty="0"/>
          </a:p>
        </p:txBody>
      </p:sp>
      <p:sp>
        <p:nvSpPr>
          <p:cNvPr id="21" name="Text 19"/>
          <p:cNvSpPr/>
          <p:nvPr/>
        </p:nvSpPr>
        <p:spPr>
          <a:xfrm>
            <a:off x="274320" y="3474720"/>
            <a:ext cx="2103120" cy="384048"/>
          </a:xfrm>
          <a:prstGeom prst="rect">
            <a:avLst/>
          </a:prstGeom>
          <a:noFill/>
          <a:ln/>
        </p:spPr>
        <p:txBody>
          <a:bodyPr wrap="square" rtlCol="0" anchor="ctr"/>
          <a:lstStyle/>
          <a:p>
            <a:pPr marL="0" indent="0">
              <a:buNone/>
            </a:pPr>
            <a:r>
              <a:rPr lang="en-US" sz="1200" dirty="0">
                <a:solidFill>
                  <a:srgbClr val="1A2E35"/>
                </a:solidFill>
                <a:latin typeface="Calibri" pitchFamily="34" charset="0"/>
                <a:ea typeface="Calibri" pitchFamily="34" charset="-122"/>
                <a:cs typeface="Calibri" pitchFamily="34" charset="-120"/>
              </a:rPr>
              <a:t>Alcohol</a:t>
            </a:r>
            <a:endParaRPr lang="en-US" sz="1200" dirty="0"/>
          </a:p>
        </p:txBody>
      </p:sp>
      <p:sp>
        <p:nvSpPr>
          <p:cNvPr id="22" name="Shape 20"/>
          <p:cNvSpPr/>
          <p:nvPr/>
        </p:nvSpPr>
        <p:spPr>
          <a:xfrm>
            <a:off x="4094683" y="3666744"/>
            <a:ext cx="160934" cy="0"/>
          </a:xfrm>
          <a:prstGeom prst="line">
            <a:avLst/>
          </a:prstGeom>
          <a:noFill/>
          <a:ln w="25400">
            <a:solidFill>
              <a:srgbClr val="7BA7B0"/>
            </a:solidFill>
            <a:prstDash val="solid"/>
          </a:ln>
        </p:spPr>
        <p:txBody>
          <a:bodyPr/>
          <a:lstStyle/>
          <a:p>
            <a:endParaRPr lang="en-US"/>
          </a:p>
        </p:txBody>
      </p:sp>
      <p:sp>
        <p:nvSpPr>
          <p:cNvPr id="23" name="Shape 21"/>
          <p:cNvSpPr/>
          <p:nvPr/>
        </p:nvSpPr>
        <p:spPr>
          <a:xfrm>
            <a:off x="4092854" y="3584448"/>
            <a:ext cx="164592" cy="164592"/>
          </a:xfrm>
          <a:prstGeom prst="ellipse">
            <a:avLst/>
          </a:prstGeom>
          <a:solidFill>
            <a:srgbClr val="7BA7B0"/>
          </a:solidFill>
          <a:ln w="12700">
            <a:solidFill>
              <a:srgbClr val="7BA7B0"/>
            </a:solidFill>
            <a:prstDash val="solid"/>
          </a:ln>
        </p:spPr>
        <p:txBody>
          <a:bodyPr/>
          <a:lstStyle/>
          <a:p>
            <a:endParaRPr lang="en-US"/>
          </a:p>
        </p:txBody>
      </p:sp>
      <p:sp>
        <p:nvSpPr>
          <p:cNvPr id="24" name="Text 22"/>
          <p:cNvSpPr/>
          <p:nvPr/>
        </p:nvSpPr>
        <p:spPr>
          <a:xfrm>
            <a:off x="7818120" y="3474720"/>
            <a:ext cx="1280160" cy="384048"/>
          </a:xfrm>
          <a:prstGeom prst="rect">
            <a:avLst/>
          </a:prstGeom>
          <a:noFill/>
          <a:ln/>
        </p:spPr>
        <p:txBody>
          <a:bodyPr wrap="square" rtlCol="0" anchor="ctr"/>
          <a:lstStyle/>
          <a:p>
            <a:pPr marL="0" indent="0">
              <a:buNone/>
            </a:pPr>
            <a:r>
              <a:rPr lang="en-US" sz="1000" dirty="0">
                <a:solidFill>
                  <a:srgbClr val="3D6470"/>
                </a:solidFill>
                <a:latin typeface="Calibri" pitchFamily="34" charset="0"/>
                <a:ea typeface="Calibri" pitchFamily="34" charset="-122"/>
                <a:cs typeface="Calibri" pitchFamily="34" charset="-120"/>
              </a:rPr>
              <a:t>1.03 (0.99–1.07)</a:t>
            </a:r>
            <a:endParaRPr lang="en-US" sz="1000" dirty="0"/>
          </a:p>
        </p:txBody>
      </p:sp>
      <p:sp>
        <p:nvSpPr>
          <p:cNvPr id="25" name="Text 23"/>
          <p:cNvSpPr/>
          <p:nvPr/>
        </p:nvSpPr>
        <p:spPr>
          <a:xfrm>
            <a:off x="274320" y="3977640"/>
            <a:ext cx="2103120" cy="384048"/>
          </a:xfrm>
          <a:prstGeom prst="rect">
            <a:avLst/>
          </a:prstGeom>
          <a:noFill/>
          <a:ln/>
        </p:spPr>
        <p:txBody>
          <a:bodyPr wrap="square" rtlCol="0" anchor="ctr"/>
          <a:lstStyle/>
          <a:p>
            <a:pPr marL="0" indent="0">
              <a:buNone/>
            </a:pPr>
            <a:r>
              <a:rPr lang="en-US" sz="1200" dirty="0">
                <a:solidFill>
                  <a:srgbClr val="1A2E35"/>
                </a:solidFill>
                <a:latin typeface="Calibri" pitchFamily="34" charset="0"/>
                <a:ea typeface="Calibri" pitchFamily="34" charset="-122"/>
                <a:cs typeface="Calibri" pitchFamily="34" charset="-120"/>
              </a:rPr>
              <a:t>Female sex</a:t>
            </a:r>
            <a:endParaRPr lang="en-US" sz="1200" dirty="0"/>
          </a:p>
        </p:txBody>
      </p:sp>
      <p:sp>
        <p:nvSpPr>
          <p:cNvPr id="26" name="Shape 24"/>
          <p:cNvSpPr/>
          <p:nvPr/>
        </p:nvSpPr>
        <p:spPr>
          <a:xfrm>
            <a:off x="3491179" y="4169664"/>
            <a:ext cx="563270" cy="0"/>
          </a:xfrm>
          <a:prstGeom prst="line">
            <a:avLst/>
          </a:prstGeom>
          <a:noFill/>
          <a:ln w="25400">
            <a:solidFill>
              <a:srgbClr val="00A896"/>
            </a:solidFill>
            <a:prstDash val="solid"/>
          </a:ln>
        </p:spPr>
        <p:txBody>
          <a:bodyPr/>
          <a:lstStyle/>
          <a:p>
            <a:endParaRPr lang="en-US"/>
          </a:p>
        </p:txBody>
      </p:sp>
      <p:sp>
        <p:nvSpPr>
          <p:cNvPr id="27" name="Shape 25"/>
          <p:cNvSpPr/>
          <p:nvPr/>
        </p:nvSpPr>
        <p:spPr>
          <a:xfrm>
            <a:off x="3670402" y="4087368"/>
            <a:ext cx="164592" cy="164592"/>
          </a:xfrm>
          <a:prstGeom prst="ellipse">
            <a:avLst/>
          </a:prstGeom>
          <a:solidFill>
            <a:srgbClr val="00A896"/>
          </a:solidFill>
          <a:ln w="12700">
            <a:solidFill>
              <a:srgbClr val="00A896"/>
            </a:solidFill>
            <a:prstDash val="solid"/>
          </a:ln>
        </p:spPr>
        <p:txBody>
          <a:bodyPr/>
          <a:lstStyle/>
          <a:p>
            <a:endParaRPr lang="en-US"/>
          </a:p>
        </p:txBody>
      </p:sp>
      <p:sp>
        <p:nvSpPr>
          <p:cNvPr id="28" name="Text 26"/>
          <p:cNvSpPr/>
          <p:nvPr/>
        </p:nvSpPr>
        <p:spPr>
          <a:xfrm>
            <a:off x="7818120" y="3977640"/>
            <a:ext cx="1280160" cy="384048"/>
          </a:xfrm>
          <a:prstGeom prst="rect">
            <a:avLst/>
          </a:prstGeom>
          <a:noFill/>
          <a:ln/>
        </p:spPr>
        <p:txBody>
          <a:bodyPr wrap="square" rtlCol="0" anchor="ctr"/>
          <a:lstStyle/>
          <a:p>
            <a:pPr marL="0" indent="0">
              <a:buNone/>
            </a:pPr>
            <a:r>
              <a:rPr lang="en-US" sz="1000" dirty="0">
                <a:solidFill>
                  <a:srgbClr val="3D6470"/>
                </a:solidFill>
                <a:latin typeface="Calibri" pitchFamily="34" charset="0"/>
                <a:ea typeface="Calibri" pitchFamily="34" charset="-122"/>
                <a:cs typeface="Calibri" pitchFamily="34" charset="-120"/>
              </a:rPr>
              <a:t>0.82 (0.69–0.97)</a:t>
            </a:r>
            <a:endParaRPr lang="en-US" sz="1000" dirty="0"/>
          </a:p>
        </p:txBody>
      </p:sp>
      <p:sp>
        <p:nvSpPr>
          <p:cNvPr id="29" name="Shape 27"/>
          <p:cNvSpPr/>
          <p:nvPr/>
        </p:nvSpPr>
        <p:spPr>
          <a:xfrm>
            <a:off x="274320" y="4526280"/>
            <a:ext cx="8595360" cy="457200"/>
          </a:xfrm>
          <a:prstGeom prst="rect">
            <a:avLst/>
          </a:prstGeom>
          <a:solidFill>
            <a:srgbClr val="E8F4F5"/>
          </a:solidFill>
          <a:ln w="12700">
            <a:solidFill>
              <a:srgbClr val="DDDDDD"/>
            </a:solidFill>
            <a:prstDash val="solid"/>
          </a:ln>
        </p:spPr>
        <p:txBody>
          <a:bodyPr/>
          <a:lstStyle/>
          <a:p>
            <a:endParaRPr lang="en-US"/>
          </a:p>
        </p:txBody>
      </p:sp>
      <p:sp>
        <p:nvSpPr>
          <p:cNvPr id="30" name="Text 28"/>
          <p:cNvSpPr/>
          <p:nvPr/>
        </p:nvSpPr>
        <p:spPr>
          <a:xfrm>
            <a:off x="274320" y="4526280"/>
            <a:ext cx="8595360" cy="457200"/>
          </a:xfrm>
          <a:prstGeom prst="rect">
            <a:avLst/>
          </a:prstGeom>
          <a:noFill/>
          <a:ln/>
        </p:spPr>
        <p:txBody>
          <a:bodyPr wrap="square" rtlCol="0" anchor="ctr"/>
          <a:lstStyle/>
          <a:p>
            <a:pPr marL="0" indent="0" algn="ctr">
              <a:buNone/>
            </a:pPr>
            <a:r>
              <a:rPr lang="en-US" sz="1200" dirty="0">
                <a:solidFill>
                  <a:srgbClr val="023E5C"/>
                </a:solidFill>
                <a:latin typeface="Calibri" pitchFamily="34" charset="0"/>
                <a:ea typeface="Calibri" pitchFamily="34" charset="-122"/>
                <a:cs typeface="Calibri" pitchFamily="34" charset="-120"/>
              </a:rPr>
              <a:t>If 95% CI crosses 1.0 → not statistically significant at α=0.05   |   Wider CI = less precise estimate</a:t>
            </a:r>
            <a:endParaRPr lang="en-US" sz="12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19">
    <p:bg>
      <p:bgPr>
        <a:solidFill>
          <a:srgbClr val="023E5C"/>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2C39A"/>
          </a:solidFill>
          <a:ln/>
        </p:spPr>
        <p:txBody>
          <a:bodyPr/>
          <a:lstStyle/>
          <a:p>
            <a:endParaRPr lang="en-US"/>
          </a:p>
        </p:txBody>
      </p:sp>
      <p:sp>
        <p:nvSpPr>
          <p:cNvPr id="3" name="Shape 1"/>
          <p:cNvSpPr/>
          <p:nvPr/>
        </p:nvSpPr>
        <p:spPr>
          <a:xfrm>
            <a:off x="5486400" y="-457200"/>
            <a:ext cx="4572000" cy="4572000"/>
          </a:xfrm>
          <a:prstGeom prst="ellipse">
            <a:avLst/>
          </a:prstGeom>
          <a:solidFill>
            <a:srgbClr val="028090">
              <a:alpha val="25000"/>
            </a:srgbClr>
          </a:solidFill>
          <a:ln w="12700">
            <a:solidFill>
              <a:srgbClr val="028090">
                <a:alpha val="25000"/>
              </a:srgbClr>
            </a:solidFill>
            <a:prstDash val="solid"/>
          </a:ln>
        </p:spPr>
        <p:txBody>
          <a:bodyPr/>
          <a:lstStyle/>
          <a:p>
            <a:endParaRPr lang="en-US"/>
          </a:p>
        </p:txBody>
      </p:sp>
      <p:sp>
        <p:nvSpPr>
          <p:cNvPr id="4" name="Text 2"/>
          <p:cNvSpPr/>
          <p:nvPr/>
        </p:nvSpPr>
        <p:spPr>
          <a:xfrm>
            <a:off x="914400" y="1371600"/>
            <a:ext cx="7315200" cy="457200"/>
          </a:xfrm>
          <a:prstGeom prst="rect">
            <a:avLst/>
          </a:prstGeom>
          <a:noFill/>
          <a:ln/>
        </p:spPr>
        <p:txBody>
          <a:bodyPr wrap="square" rtlCol="0" anchor="ctr"/>
          <a:lstStyle/>
          <a:p>
            <a:pPr marL="0" indent="0" algn="ctr">
              <a:buNone/>
            </a:pPr>
            <a:r>
              <a:rPr lang="en-US" sz="1400" b="1" kern="0" spc="600" dirty="0">
                <a:solidFill>
                  <a:srgbClr val="02C39A"/>
                </a:solidFill>
                <a:latin typeface="Calibri" pitchFamily="34" charset="0"/>
                <a:ea typeface="Calibri" pitchFamily="34" charset="-122"/>
                <a:cs typeface="Calibri" pitchFamily="34" charset="-120"/>
              </a:rPr>
              <a:t>PART 5</a:t>
            </a:r>
            <a:endParaRPr lang="en-US" sz="1400" dirty="0"/>
          </a:p>
        </p:txBody>
      </p:sp>
      <p:sp>
        <p:nvSpPr>
          <p:cNvPr id="5" name="Text 3"/>
          <p:cNvSpPr/>
          <p:nvPr/>
        </p:nvSpPr>
        <p:spPr>
          <a:xfrm>
            <a:off x="914400" y="1828800"/>
            <a:ext cx="7315200" cy="1645920"/>
          </a:xfrm>
          <a:prstGeom prst="rect">
            <a:avLst/>
          </a:prstGeom>
          <a:noFill/>
          <a:ln/>
        </p:spPr>
        <p:txBody>
          <a:bodyPr wrap="square" rtlCol="0" anchor="ctr"/>
          <a:lstStyle/>
          <a:p>
            <a:pPr marL="0" indent="0" algn="ctr">
              <a:buNone/>
            </a:pPr>
            <a:r>
              <a:rPr lang="en-US" sz="3800" b="1" dirty="0">
                <a:solidFill>
                  <a:srgbClr val="FFFFFF"/>
                </a:solidFill>
                <a:latin typeface="Georgia" pitchFamily="34" charset="0"/>
                <a:ea typeface="Georgia" pitchFamily="34" charset="-122"/>
                <a:cs typeface="Georgia" pitchFamily="34" charset="-120"/>
              </a:rPr>
              <a:t>Assumptions,</a:t>
            </a:r>
            <a:endParaRPr lang="en-US" sz="3800" dirty="0"/>
          </a:p>
          <a:p>
            <a:pPr marL="0" indent="0" algn="ctr">
              <a:buNone/>
            </a:pPr>
            <a:r>
              <a:rPr lang="en-US" sz="3800" b="1" dirty="0">
                <a:solidFill>
                  <a:srgbClr val="FFFFFF"/>
                </a:solidFill>
                <a:latin typeface="Georgia" pitchFamily="34" charset="0"/>
                <a:ea typeface="Georgia" pitchFamily="34" charset="-122"/>
                <a:cs typeface="Georgia" pitchFamily="34" charset="-120"/>
              </a:rPr>
              <a:t>Limitations &amp; Summary</a:t>
            </a:r>
            <a:endParaRPr lang="en-US" sz="38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20">
    <p:bg>
      <p:bgPr>
        <a:solidFill>
          <a:srgbClr val="F0F7F8"/>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23E5C"/>
          </a:solidFill>
          <a:ln/>
        </p:spPr>
        <p:txBody>
          <a:bodyPr/>
          <a:lstStyle/>
          <a:p>
            <a:endParaRPr lang="en-US"/>
          </a:p>
        </p:txBody>
      </p:sp>
      <p:sp>
        <p:nvSpPr>
          <p:cNvPr id="3" name="Text 1"/>
          <p:cNvSpPr/>
          <p:nvPr/>
        </p:nvSpPr>
        <p:spPr>
          <a:xfrm>
            <a:off x="365760" y="0"/>
            <a:ext cx="8229600" cy="1005840"/>
          </a:xfrm>
          <a:prstGeom prst="rect">
            <a:avLst/>
          </a:prstGeom>
          <a:noFill/>
          <a:ln/>
        </p:spPr>
        <p:txBody>
          <a:bodyPr wrap="square" rtlCol="0" anchor="ctr"/>
          <a:lstStyle/>
          <a:p>
            <a:pPr marL="0" indent="0">
              <a:buNone/>
            </a:pPr>
            <a:r>
              <a:rPr lang="en-US" sz="2200" b="1" dirty="0">
                <a:solidFill>
                  <a:srgbClr val="FFFFFF"/>
                </a:solidFill>
                <a:latin typeface="Georgia" pitchFamily="34" charset="0"/>
                <a:ea typeface="Georgia" pitchFamily="34" charset="-122"/>
                <a:cs typeface="Georgia" pitchFamily="34" charset="-120"/>
              </a:rPr>
              <a:t>Key Assumptions of Regression Models</a:t>
            </a:r>
            <a:endParaRPr lang="en-US" sz="2200" dirty="0"/>
          </a:p>
        </p:txBody>
      </p:sp>
      <p:sp>
        <p:nvSpPr>
          <p:cNvPr id="4" name="Shape 2"/>
          <p:cNvSpPr/>
          <p:nvPr/>
        </p:nvSpPr>
        <p:spPr>
          <a:xfrm>
            <a:off x="274320" y="1143000"/>
            <a:ext cx="4160520" cy="1600200"/>
          </a:xfrm>
          <a:prstGeom prst="rect">
            <a:avLst/>
          </a:prstGeom>
          <a:solidFill>
            <a:srgbClr val="FFFFFF"/>
          </a:solidFill>
          <a:ln w="12700">
            <a:solidFill>
              <a:srgbClr val="DDDDDD"/>
            </a:solidFill>
            <a:prstDash val="solid"/>
          </a:ln>
          <a:effectLst>
            <a:outerShdw blurRad="101600" dist="38100" dir="8100000" algn="bl" rotWithShape="0">
              <a:srgbClr val="000000">
                <a:alpha val="12000"/>
              </a:srgbClr>
            </a:outerShdw>
          </a:effectLst>
        </p:spPr>
        <p:txBody>
          <a:bodyPr/>
          <a:lstStyle/>
          <a:p>
            <a:endParaRPr lang="en-US"/>
          </a:p>
        </p:txBody>
      </p:sp>
      <p:sp>
        <p:nvSpPr>
          <p:cNvPr id="5" name="Shape 3"/>
          <p:cNvSpPr/>
          <p:nvPr/>
        </p:nvSpPr>
        <p:spPr>
          <a:xfrm>
            <a:off x="411480" y="1280160"/>
            <a:ext cx="411480" cy="411480"/>
          </a:xfrm>
          <a:prstGeom prst="ellipse">
            <a:avLst/>
          </a:prstGeom>
          <a:solidFill>
            <a:srgbClr val="028090"/>
          </a:solidFill>
          <a:ln w="12700">
            <a:solidFill>
              <a:srgbClr val="028090"/>
            </a:solidFill>
            <a:prstDash val="solid"/>
          </a:ln>
        </p:spPr>
        <p:txBody>
          <a:bodyPr/>
          <a:lstStyle/>
          <a:p>
            <a:endParaRPr lang="en-US"/>
          </a:p>
        </p:txBody>
      </p:sp>
      <p:sp>
        <p:nvSpPr>
          <p:cNvPr id="6" name="Text 4"/>
          <p:cNvSpPr/>
          <p:nvPr/>
        </p:nvSpPr>
        <p:spPr>
          <a:xfrm>
            <a:off x="411480" y="1280160"/>
            <a:ext cx="411480" cy="41148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914400" y="1252728"/>
            <a:ext cx="3383280" cy="411480"/>
          </a:xfrm>
          <a:prstGeom prst="rect">
            <a:avLst/>
          </a:prstGeom>
          <a:noFill/>
          <a:ln/>
        </p:spPr>
        <p:txBody>
          <a:bodyPr wrap="square" rtlCol="0" anchor="ctr"/>
          <a:lstStyle/>
          <a:p>
            <a:pPr marL="0" indent="0">
              <a:buNone/>
            </a:pPr>
            <a:r>
              <a:rPr lang="en-US" sz="1300" b="1" dirty="0">
                <a:solidFill>
                  <a:srgbClr val="023E5C"/>
                </a:solidFill>
                <a:latin typeface="Calibri" pitchFamily="34" charset="0"/>
                <a:ea typeface="Calibri" pitchFamily="34" charset="-122"/>
                <a:cs typeface="Calibri" pitchFamily="34" charset="-120"/>
              </a:rPr>
              <a:t>No Perfect Multicollinearity</a:t>
            </a:r>
            <a:endParaRPr lang="en-US" sz="1300" dirty="0"/>
          </a:p>
        </p:txBody>
      </p:sp>
      <p:sp>
        <p:nvSpPr>
          <p:cNvPr id="8" name="Text 6"/>
          <p:cNvSpPr/>
          <p:nvPr/>
        </p:nvSpPr>
        <p:spPr>
          <a:xfrm>
            <a:off x="411480" y="1737360"/>
            <a:ext cx="3886200" cy="914400"/>
          </a:xfrm>
          <a:prstGeom prst="rect">
            <a:avLst/>
          </a:prstGeom>
          <a:noFill/>
          <a:ln/>
        </p:spPr>
        <p:txBody>
          <a:bodyPr wrap="square" rtlCol="0" anchor="t"/>
          <a:lstStyle/>
          <a:p>
            <a:pPr marL="0" indent="0">
              <a:buNone/>
            </a:pPr>
            <a:r>
              <a:rPr lang="en-US" sz="1100" dirty="0">
                <a:solidFill>
                  <a:srgbClr val="3D6470"/>
                </a:solidFill>
                <a:latin typeface="Calibri" pitchFamily="34" charset="0"/>
                <a:ea typeface="Calibri" pitchFamily="34" charset="-122"/>
                <a:cs typeface="Calibri" pitchFamily="34" charset="-120"/>
              </a:rPr>
              <a:t>Predictors should not be highly correlated with each other. Check VIF (&gt;10 = problem). Multicollinearity inflates standard errors, making estimates unstable.</a:t>
            </a:r>
            <a:endParaRPr lang="en-US" sz="1100" dirty="0"/>
          </a:p>
        </p:txBody>
      </p:sp>
      <p:sp>
        <p:nvSpPr>
          <p:cNvPr id="9" name="Shape 7"/>
          <p:cNvSpPr/>
          <p:nvPr/>
        </p:nvSpPr>
        <p:spPr>
          <a:xfrm>
            <a:off x="4709160" y="1143000"/>
            <a:ext cx="4160520" cy="1600200"/>
          </a:xfrm>
          <a:prstGeom prst="rect">
            <a:avLst/>
          </a:prstGeom>
          <a:solidFill>
            <a:srgbClr val="FFFFFF"/>
          </a:solidFill>
          <a:ln w="12700">
            <a:solidFill>
              <a:srgbClr val="DDDDDD"/>
            </a:solidFill>
            <a:prstDash val="solid"/>
          </a:ln>
          <a:effectLst>
            <a:outerShdw blurRad="101600" dist="38100" dir="8100000" algn="bl" rotWithShape="0">
              <a:srgbClr val="000000">
                <a:alpha val="12000"/>
              </a:srgbClr>
            </a:outerShdw>
          </a:effectLst>
        </p:spPr>
        <p:txBody>
          <a:bodyPr/>
          <a:lstStyle/>
          <a:p>
            <a:endParaRPr lang="en-US"/>
          </a:p>
        </p:txBody>
      </p:sp>
      <p:sp>
        <p:nvSpPr>
          <p:cNvPr id="10" name="Shape 8"/>
          <p:cNvSpPr/>
          <p:nvPr/>
        </p:nvSpPr>
        <p:spPr>
          <a:xfrm>
            <a:off x="4846320" y="1280160"/>
            <a:ext cx="411480" cy="411480"/>
          </a:xfrm>
          <a:prstGeom prst="ellipse">
            <a:avLst/>
          </a:prstGeom>
          <a:solidFill>
            <a:srgbClr val="028090"/>
          </a:solidFill>
          <a:ln w="12700">
            <a:solidFill>
              <a:srgbClr val="028090"/>
            </a:solidFill>
            <a:prstDash val="solid"/>
          </a:ln>
        </p:spPr>
        <p:txBody>
          <a:bodyPr/>
          <a:lstStyle/>
          <a:p>
            <a:endParaRPr lang="en-US"/>
          </a:p>
        </p:txBody>
      </p:sp>
      <p:sp>
        <p:nvSpPr>
          <p:cNvPr id="11" name="Text 9"/>
          <p:cNvSpPr/>
          <p:nvPr/>
        </p:nvSpPr>
        <p:spPr>
          <a:xfrm>
            <a:off x="4846320" y="1280160"/>
            <a:ext cx="411480" cy="41148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p:nvPr/>
        </p:nvSpPr>
        <p:spPr>
          <a:xfrm>
            <a:off x="5349240" y="1252728"/>
            <a:ext cx="3383280" cy="411480"/>
          </a:xfrm>
          <a:prstGeom prst="rect">
            <a:avLst/>
          </a:prstGeom>
          <a:noFill/>
          <a:ln/>
        </p:spPr>
        <p:txBody>
          <a:bodyPr wrap="square" rtlCol="0" anchor="ctr"/>
          <a:lstStyle/>
          <a:p>
            <a:pPr marL="0" indent="0">
              <a:buNone/>
            </a:pPr>
            <a:r>
              <a:rPr lang="en-US" sz="1300" b="1" dirty="0">
                <a:solidFill>
                  <a:srgbClr val="023E5C"/>
                </a:solidFill>
                <a:latin typeface="Calibri" pitchFamily="34" charset="0"/>
                <a:ea typeface="Calibri" pitchFamily="34" charset="-122"/>
                <a:cs typeface="Calibri" pitchFamily="34" charset="-120"/>
              </a:rPr>
              <a:t>Correct Model Specification</a:t>
            </a:r>
            <a:endParaRPr lang="en-US" sz="1300" dirty="0"/>
          </a:p>
        </p:txBody>
      </p:sp>
      <p:sp>
        <p:nvSpPr>
          <p:cNvPr id="13" name="Text 11"/>
          <p:cNvSpPr/>
          <p:nvPr/>
        </p:nvSpPr>
        <p:spPr>
          <a:xfrm>
            <a:off x="4846320" y="1737360"/>
            <a:ext cx="3886200" cy="914400"/>
          </a:xfrm>
          <a:prstGeom prst="rect">
            <a:avLst/>
          </a:prstGeom>
          <a:noFill/>
          <a:ln/>
        </p:spPr>
        <p:txBody>
          <a:bodyPr wrap="square" rtlCol="0" anchor="t"/>
          <a:lstStyle/>
          <a:p>
            <a:pPr marL="0" indent="0">
              <a:buNone/>
            </a:pPr>
            <a:r>
              <a:rPr lang="en-US" sz="1100" dirty="0">
                <a:solidFill>
                  <a:srgbClr val="3D6470"/>
                </a:solidFill>
                <a:latin typeface="Calibri" pitchFamily="34" charset="0"/>
                <a:ea typeface="Calibri" pitchFamily="34" charset="-122"/>
                <a:cs typeface="Calibri" pitchFamily="34" charset="-120"/>
              </a:rPr>
              <a:t>The correct predictors are included. Omitting important confounders = omitted variable bias. Including irrelevant variables reduces precision.</a:t>
            </a:r>
            <a:endParaRPr lang="en-US" sz="1100" dirty="0"/>
          </a:p>
        </p:txBody>
      </p:sp>
      <p:sp>
        <p:nvSpPr>
          <p:cNvPr id="14" name="Shape 12"/>
          <p:cNvSpPr/>
          <p:nvPr/>
        </p:nvSpPr>
        <p:spPr>
          <a:xfrm>
            <a:off x="274320" y="2971800"/>
            <a:ext cx="4160520" cy="1600200"/>
          </a:xfrm>
          <a:prstGeom prst="rect">
            <a:avLst/>
          </a:prstGeom>
          <a:solidFill>
            <a:srgbClr val="FFFFFF"/>
          </a:solidFill>
          <a:ln w="12700">
            <a:solidFill>
              <a:srgbClr val="DDDDDD"/>
            </a:solidFill>
            <a:prstDash val="solid"/>
          </a:ln>
          <a:effectLst>
            <a:outerShdw blurRad="101600" dist="38100" dir="8100000" algn="bl" rotWithShape="0">
              <a:srgbClr val="000000">
                <a:alpha val="12000"/>
              </a:srgbClr>
            </a:outerShdw>
          </a:effectLst>
        </p:spPr>
        <p:txBody>
          <a:bodyPr/>
          <a:lstStyle/>
          <a:p>
            <a:endParaRPr lang="en-US"/>
          </a:p>
        </p:txBody>
      </p:sp>
      <p:sp>
        <p:nvSpPr>
          <p:cNvPr id="15" name="Shape 13"/>
          <p:cNvSpPr/>
          <p:nvPr/>
        </p:nvSpPr>
        <p:spPr>
          <a:xfrm>
            <a:off x="411480" y="3108960"/>
            <a:ext cx="411480" cy="411480"/>
          </a:xfrm>
          <a:prstGeom prst="ellipse">
            <a:avLst/>
          </a:prstGeom>
          <a:solidFill>
            <a:srgbClr val="028090"/>
          </a:solidFill>
          <a:ln w="12700">
            <a:solidFill>
              <a:srgbClr val="028090"/>
            </a:solidFill>
            <a:prstDash val="solid"/>
          </a:ln>
        </p:spPr>
        <p:txBody>
          <a:bodyPr/>
          <a:lstStyle/>
          <a:p>
            <a:endParaRPr lang="en-US"/>
          </a:p>
        </p:txBody>
      </p:sp>
      <p:sp>
        <p:nvSpPr>
          <p:cNvPr id="16" name="Text 14"/>
          <p:cNvSpPr/>
          <p:nvPr/>
        </p:nvSpPr>
        <p:spPr>
          <a:xfrm>
            <a:off x="411480" y="3108960"/>
            <a:ext cx="411480" cy="41148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p:nvPr/>
        </p:nvSpPr>
        <p:spPr>
          <a:xfrm>
            <a:off x="914400" y="3081528"/>
            <a:ext cx="3383280" cy="411480"/>
          </a:xfrm>
          <a:prstGeom prst="rect">
            <a:avLst/>
          </a:prstGeom>
          <a:noFill/>
          <a:ln/>
        </p:spPr>
        <p:txBody>
          <a:bodyPr wrap="square" rtlCol="0" anchor="ctr"/>
          <a:lstStyle/>
          <a:p>
            <a:pPr marL="0" indent="0">
              <a:buNone/>
            </a:pPr>
            <a:r>
              <a:rPr lang="en-US" sz="1300" b="1" dirty="0">
                <a:solidFill>
                  <a:srgbClr val="023E5C"/>
                </a:solidFill>
                <a:latin typeface="Calibri" pitchFamily="34" charset="0"/>
                <a:ea typeface="Calibri" pitchFamily="34" charset="-122"/>
                <a:cs typeface="Calibri" pitchFamily="34" charset="-120"/>
              </a:rPr>
              <a:t>Independence of Observations</a:t>
            </a:r>
            <a:endParaRPr lang="en-US" sz="1300" dirty="0"/>
          </a:p>
        </p:txBody>
      </p:sp>
      <p:sp>
        <p:nvSpPr>
          <p:cNvPr id="18" name="Text 16"/>
          <p:cNvSpPr/>
          <p:nvPr/>
        </p:nvSpPr>
        <p:spPr>
          <a:xfrm>
            <a:off x="411480" y="3566160"/>
            <a:ext cx="3886200" cy="914400"/>
          </a:xfrm>
          <a:prstGeom prst="rect">
            <a:avLst/>
          </a:prstGeom>
          <a:noFill/>
          <a:ln/>
        </p:spPr>
        <p:txBody>
          <a:bodyPr wrap="square" rtlCol="0" anchor="t"/>
          <a:lstStyle/>
          <a:p>
            <a:pPr marL="0" indent="0">
              <a:buNone/>
            </a:pPr>
            <a:r>
              <a:rPr lang="en-US" sz="1100" dirty="0">
                <a:solidFill>
                  <a:srgbClr val="3D6470"/>
                </a:solidFill>
                <a:latin typeface="Calibri" pitchFamily="34" charset="0"/>
                <a:ea typeface="Calibri" pitchFamily="34" charset="-122"/>
                <a:cs typeface="Calibri" pitchFamily="34" charset="-120"/>
              </a:rPr>
              <a:t>Observations must be independent. Violations occur in clustered data (patients in hospitals), repeated measures, family-based studies. Use mixed models or GEE.</a:t>
            </a:r>
            <a:endParaRPr lang="en-US" sz="1100" dirty="0"/>
          </a:p>
        </p:txBody>
      </p:sp>
      <p:sp>
        <p:nvSpPr>
          <p:cNvPr id="19" name="Shape 17"/>
          <p:cNvSpPr/>
          <p:nvPr/>
        </p:nvSpPr>
        <p:spPr>
          <a:xfrm>
            <a:off x="4709160" y="2971800"/>
            <a:ext cx="4160520" cy="1600200"/>
          </a:xfrm>
          <a:prstGeom prst="rect">
            <a:avLst/>
          </a:prstGeom>
          <a:solidFill>
            <a:srgbClr val="FFFFFF"/>
          </a:solidFill>
          <a:ln w="12700">
            <a:solidFill>
              <a:srgbClr val="DDDDDD"/>
            </a:solidFill>
            <a:prstDash val="solid"/>
          </a:ln>
          <a:effectLst>
            <a:outerShdw blurRad="101600" dist="38100" dir="8100000" algn="bl" rotWithShape="0">
              <a:srgbClr val="000000">
                <a:alpha val="12000"/>
              </a:srgbClr>
            </a:outerShdw>
          </a:effectLst>
        </p:spPr>
        <p:txBody>
          <a:bodyPr/>
          <a:lstStyle/>
          <a:p>
            <a:endParaRPr lang="en-US"/>
          </a:p>
        </p:txBody>
      </p:sp>
      <p:sp>
        <p:nvSpPr>
          <p:cNvPr id="20" name="Shape 18"/>
          <p:cNvSpPr/>
          <p:nvPr/>
        </p:nvSpPr>
        <p:spPr>
          <a:xfrm>
            <a:off x="4846320" y="3108960"/>
            <a:ext cx="411480" cy="411480"/>
          </a:xfrm>
          <a:prstGeom prst="ellipse">
            <a:avLst/>
          </a:prstGeom>
          <a:solidFill>
            <a:srgbClr val="028090"/>
          </a:solidFill>
          <a:ln w="12700">
            <a:solidFill>
              <a:srgbClr val="028090"/>
            </a:solidFill>
            <a:prstDash val="solid"/>
          </a:ln>
        </p:spPr>
        <p:txBody>
          <a:bodyPr/>
          <a:lstStyle/>
          <a:p>
            <a:endParaRPr lang="en-US"/>
          </a:p>
        </p:txBody>
      </p:sp>
      <p:sp>
        <p:nvSpPr>
          <p:cNvPr id="21" name="Text 19"/>
          <p:cNvSpPr/>
          <p:nvPr/>
        </p:nvSpPr>
        <p:spPr>
          <a:xfrm>
            <a:off x="4846320" y="3108960"/>
            <a:ext cx="411480" cy="41148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2" name="Text 20"/>
          <p:cNvSpPr/>
          <p:nvPr/>
        </p:nvSpPr>
        <p:spPr>
          <a:xfrm>
            <a:off x="5349240" y="3081528"/>
            <a:ext cx="3383280" cy="411480"/>
          </a:xfrm>
          <a:prstGeom prst="rect">
            <a:avLst/>
          </a:prstGeom>
          <a:noFill/>
          <a:ln/>
        </p:spPr>
        <p:txBody>
          <a:bodyPr wrap="square" rtlCol="0" anchor="ctr"/>
          <a:lstStyle/>
          <a:p>
            <a:pPr marL="0" indent="0">
              <a:buNone/>
            </a:pPr>
            <a:r>
              <a:rPr lang="en-US" sz="1300" b="1" dirty="0">
                <a:solidFill>
                  <a:srgbClr val="023E5C"/>
                </a:solidFill>
                <a:latin typeface="Calibri" pitchFamily="34" charset="0"/>
                <a:ea typeface="Calibri" pitchFamily="34" charset="-122"/>
                <a:cs typeface="Calibri" pitchFamily="34" charset="-120"/>
              </a:rPr>
              <a:t>Adequate Sample Size</a:t>
            </a:r>
            <a:endParaRPr lang="en-US" sz="1300" dirty="0"/>
          </a:p>
        </p:txBody>
      </p:sp>
      <p:sp>
        <p:nvSpPr>
          <p:cNvPr id="23" name="Text 21"/>
          <p:cNvSpPr/>
          <p:nvPr/>
        </p:nvSpPr>
        <p:spPr>
          <a:xfrm>
            <a:off x="4846320" y="3566160"/>
            <a:ext cx="3886200" cy="914400"/>
          </a:xfrm>
          <a:prstGeom prst="rect">
            <a:avLst/>
          </a:prstGeom>
          <a:noFill/>
          <a:ln/>
        </p:spPr>
        <p:txBody>
          <a:bodyPr wrap="square" rtlCol="0" anchor="t"/>
          <a:lstStyle/>
          <a:p>
            <a:pPr marL="0" indent="0">
              <a:buNone/>
            </a:pPr>
            <a:r>
              <a:rPr lang="en-US" sz="1100" dirty="0">
                <a:solidFill>
                  <a:srgbClr val="3D6470"/>
                </a:solidFill>
                <a:latin typeface="Calibri" pitchFamily="34" charset="0"/>
                <a:ea typeface="Calibri" pitchFamily="34" charset="-122"/>
                <a:cs typeface="Calibri" pitchFamily="34" charset="-120"/>
              </a:rPr>
              <a:t>Rule of thumb: 10 events per variable (EPV) for logistic regression. Too few events = overfitting, unstable estimates, spurious associations.</a:t>
            </a:r>
            <a:endParaRPr lang="en-US" sz="11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28090"/>
          </a:solidFill>
          <a:ln/>
        </p:spPr>
        <p:txBody>
          <a:bodyPr/>
          <a:lstStyle/>
          <a:p>
            <a:endParaRPr lang="en-US"/>
          </a:p>
        </p:txBody>
      </p:sp>
      <p:sp>
        <p:nvSpPr>
          <p:cNvPr id="3" name="Text 1"/>
          <p:cNvSpPr/>
          <p:nvPr/>
        </p:nvSpPr>
        <p:spPr>
          <a:xfrm>
            <a:off x="365760" y="0"/>
            <a:ext cx="8229600" cy="1005840"/>
          </a:xfrm>
          <a:prstGeom prst="rect">
            <a:avLst/>
          </a:prstGeom>
          <a:noFill/>
          <a:ln/>
        </p:spPr>
        <p:txBody>
          <a:bodyPr wrap="square" rtlCol="0" anchor="ctr"/>
          <a:lstStyle/>
          <a:p>
            <a:pPr marL="0" indent="0">
              <a:buNone/>
            </a:pPr>
            <a:r>
              <a:rPr lang="en-US" sz="2200" b="1" dirty="0">
                <a:solidFill>
                  <a:srgbClr val="FFFFFF"/>
                </a:solidFill>
                <a:latin typeface="Georgia" pitchFamily="34" charset="0"/>
                <a:ea typeface="Georgia" pitchFamily="34" charset="-122"/>
                <a:cs typeface="Georgia" pitchFamily="34" charset="-120"/>
              </a:rPr>
              <a:t>Common Pitfalls in Multivariable Analysis</a:t>
            </a:r>
            <a:endParaRPr lang="en-US" sz="2200" dirty="0"/>
          </a:p>
        </p:txBody>
      </p:sp>
      <p:sp>
        <p:nvSpPr>
          <p:cNvPr id="4" name="Shape 2"/>
          <p:cNvSpPr/>
          <p:nvPr/>
        </p:nvSpPr>
        <p:spPr>
          <a:xfrm>
            <a:off x="274320" y="1097280"/>
            <a:ext cx="4160520" cy="411480"/>
          </a:xfrm>
          <a:prstGeom prst="rect">
            <a:avLst/>
          </a:prstGeom>
          <a:solidFill>
            <a:srgbClr val="CC3333"/>
          </a:solidFill>
          <a:ln w="12700">
            <a:solidFill>
              <a:srgbClr val="CC3333"/>
            </a:solidFill>
            <a:prstDash val="solid"/>
          </a:ln>
        </p:spPr>
        <p:txBody>
          <a:bodyPr/>
          <a:lstStyle/>
          <a:p>
            <a:endParaRPr lang="en-US"/>
          </a:p>
        </p:txBody>
      </p:sp>
      <p:sp>
        <p:nvSpPr>
          <p:cNvPr id="5" name="Text 3"/>
          <p:cNvSpPr/>
          <p:nvPr/>
        </p:nvSpPr>
        <p:spPr>
          <a:xfrm>
            <a:off x="274320" y="1097280"/>
            <a:ext cx="4160520" cy="41148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  Don't Do This</a:t>
            </a:r>
            <a:endParaRPr lang="en-US" sz="1300" dirty="0"/>
          </a:p>
        </p:txBody>
      </p:sp>
      <p:sp>
        <p:nvSpPr>
          <p:cNvPr id="6" name="Shape 4"/>
          <p:cNvSpPr/>
          <p:nvPr/>
        </p:nvSpPr>
        <p:spPr>
          <a:xfrm>
            <a:off x="4709160" y="1097280"/>
            <a:ext cx="4160520" cy="411480"/>
          </a:xfrm>
          <a:prstGeom prst="rect">
            <a:avLst/>
          </a:prstGeom>
          <a:solidFill>
            <a:srgbClr val="2C7A3F"/>
          </a:solidFill>
          <a:ln w="12700">
            <a:solidFill>
              <a:srgbClr val="2C7A3F"/>
            </a:solidFill>
            <a:prstDash val="solid"/>
          </a:ln>
        </p:spPr>
        <p:txBody>
          <a:bodyPr/>
          <a:lstStyle/>
          <a:p>
            <a:endParaRPr lang="en-US"/>
          </a:p>
        </p:txBody>
      </p:sp>
      <p:sp>
        <p:nvSpPr>
          <p:cNvPr id="7" name="Text 5"/>
          <p:cNvSpPr/>
          <p:nvPr/>
        </p:nvSpPr>
        <p:spPr>
          <a:xfrm>
            <a:off x="4709160" y="1097280"/>
            <a:ext cx="4160520" cy="41148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  Do This Instead</a:t>
            </a:r>
            <a:endParaRPr lang="en-US" sz="1300" dirty="0"/>
          </a:p>
        </p:txBody>
      </p:sp>
      <p:sp>
        <p:nvSpPr>
          <p:cNvPr id="8" name="Shape 6"/>
          <p:cNvSpPr/>
          <p:nvPr/>
        </p:nvSpPr>
        <p:spPr>
          <a:xfrm>
            <a:off x="274320" y="1600200"/>
            <a:ext cx="4160520" cy="566928"/>
          </a:xfrm>
          <a:prstGeom prst="rect">
            <a:avLst/>
          </a:prstGeom>
          <a:solidFill>
            <a:srgbClr val="FEF2F2"/>
          </a:solidFill>
          <a:ln w="6350">
            <a:solidFill>
              <a:srgbClr val="FFCCCC"/>
            </a:solidFill>
            <a:prstDash val="solid"/>
          </a:ln>
        </p:spPr>
        <p:txBody>
          <a:bodyPr/>
          <a:lstStyle/>
          <a:p>
            <a:endParaRPr lang="en-US"/>
          </a:p>
        </p:txBody>
      </p:sp>
      <p:sp>
        <p:nvSpPr>
          <p:cNvPr id="9" name="Text 7"/>
          <p:cNvSpPr/>
          <p:nvPr/>
        </p:nvSpPr>
        <p:spPr>
          <a:xfrm>
            <a:off x="411480" y="1600200"/>
            <a:ext cx="3931920" cy="566928"/>
          </a:xfrm>
          <a:prstGeom prst="rect">
            <a:avLst/>
          </a:prstGeom>
          <a:noFill/>
          <a:ln/>
        </p:spPr>
        <p:txBody>
          <a:bodyPr wrap="square" rtlCol="0" anchor="ctr"/>
          <a:lstStyle/>
          <a:p>
            <a:pPr marL="0" indent="0">
              <a:buNone/>
            </a:pPr>
            <a:r>
              <a:rPr lang="en-US" sz="1200" dirty="0">
                <a:solidFill>
                  <a:srgbClr val="882222"/>
                </a:solidFill>
                <a:latin typeface="Calibri" pitchFamily="34" charset="0"/>
                <a:ea typeface="Calibri" pitchFamily="34" charset="-122"/>
                <a:cs typeface="Calibri" pitchFamily="34" charset="-120"/>
              </a:rPr>
              <a:t>Adjusting for mediators</a:t>
            </a:r>
            <a:endParaRPr lang="en-US" sz="1200" dirty="0"/>
          </a:p>
        </p:txBody>
      </p:sp>
      <p:sp>
        <p:nvSpPr>
          <p:cNvPr id="10" name="Shape 8"/>
          <p:cNvSpPr/>
          <p:nvPr/>
        </p:nvSpPr>
        <p:spPr>
          <a:xfrm>
            <a:off x="4709160" y="1600200"/>
            <a:ext cx="4160520" cy="566928"/>
          </a:xfrm>
          <a:prstGeom prst="rect">
            <a:avLst/>
          </a:prstGeom>
          <a:solidFill>
            <a:srgbClr val="F0FDF4"/>
          </a:solidFill>
          <a:ln w="6350">
            <a:solidFill>
              <a:srgbClr val="BBDDCC"/>
            </a:solidFill>
            <a:prstDash val="solid"/>
          </a:ln>
        </p:spPr>
        <p:txBody>
          <a:bodyPr/>
          <a:lstStyle/>
          <a:p>
            <a:endParaRPr lang="en-US"/>
          </a:p>
        </p:txBody>
      </p:sp>
      <p:sp>
        <p:nvSpPr>
          <p:cNvPr id="11" name="Text 9"/>
          <p:cNvSpPr/>
          <p:nvPr/>
        </p:nvSpPr>
        <p:spPr>
          <a:xfrm>
            <a:off x="4846320" y="1600200"/>
            <a:ext cx="3931920" cy="566928"/>
          </a:xfrm>
          <a:prstGeom prst="rect">
            <a:avLst/>
          </a:prstGeom>
          <a:noFill/>
          <a:ln/>
        </p:spPr>
        <p:txBody>
          <a:bodyPr wrap="square" rtlCol="0" anchor="ctr"/>
          <a:lstStyle/>
          <a:p>
            <a:pPr marL="0" indent="0">
              <a:buNone/>
            </a:pPr>
            <a:r>
              <a:rPr lang="en-US" sz="1200" dirty="0">
                <a:solidFill>
                  <a:srgbClr val="1A4731"/>
                </a:solidFill>
                <a:latin typeface="Calibri" pitchFamily="34" charset="0"/>
                <a:ea typeface="Calibri" pitchFamily="34" charset="-122"/>
                <a:cs typeface="Calibri" pitchFamily="34" charset="-120"/>
              </a:rPr>
              <a:t>Identify causal pathway FIRST; do not adjust for variables on the causal pathway</a:t>
            </a:r>
            <a:endParaRPr lang="en-US" sz="1200" dirty="0"/>
          </a:p>
        </p:txBody>
      </p:sp>
      <p:sp>
        <p:nvSpPr>
          <p:cNvPr id="12" name="Shape 10"/>
          <p:cNvSpPr/>
          <p:nvPr/>
        </p:nvSpPr>
        <p:spPr>
          <a:xfrm>
            <a:off x="274320" y="2258568"/>
            <a:ext cx="4160520" cy="566928"/>
          </a:xfrm>
          <a:prstGeom prst="rect">
            <a:avLst/>
          </a:prstGeom>
          <a:solidFill>
            <a:srgbClr val="FDE8E8"/>
          </a:solidFill>
          <a:ln w="6350">
            <a:solidFill>
              <a:srgbClr val="FFCCCC"/>
            </a:solidFill>
            <a:prstDash val="solid"/>
          </a:ln>
        </p:spPr>
        <p:txBody>
          <a:bodyPr/>
          <a:lstStyle/>
          <a:p>
            <a:endParaRPr lang="en-US"/>
          </a:p>
        </p:txBody>
      </p:sp>
      <p:sp>
        <p:nvSpPr>
          <p:cNvPr id="13" name="Text 11"/>
          <p:cNvSpPr/>
          <p:nvPr/>
        </p:nvSpPr>
        <p:spPr>
          <a:xfrm>
            <a:off x="411480" y="2258568"/>
            <a:ext cx="3931920" cy="566928"/>
          </a:xfrm>
          <a:prstGeom prst="rect">
            <a:avLst/>
          </a:prstGeom>
          <a:noFill/>
          <a:ln/>
        </p:spPr>
        <p:txBody>
          <a:bodyPr wrap="square" rtlCol="0" anchor="ctr"/>
          <a:lstStyle/>
          <a:p>
            <a:pPr marL="0" indent="0">
              <a:buNone/>
            </a:pPr>
            <a:r>
              <a:rPr lang="en-US" sz="1200" dirty="0">
                <a:solidFill>
                  <a:srgbClr val="882222"/>
                </a:solidFill>
                <a:latin typeface="Calibri" pitchFamily="34" charset="0"/>
                <a:ea typeface="Calibri" pitchFamily="34" charset="-122"/>
                <a:cs typeface="Calibri" pitchFamily="34" charset="-120"/>
              </a:rPr>
              <a:t>Stepwise variable selection</a:t>
            </a:r>
            <a:endParaRPr lang="en-US" sz="1200" dirty="0"/>
          </a:p>
        </p:txBody>
      </p:sp>
      <p:sp>
        <p:nvSpPr>
          <p:cNvPr id="14" name="Shape 12"/>
          <p:cNvSpPr/>
          <p:nvPr/>
        </p:nvSpPr>
        <p:spPr>
          <a:xfrm>
            <a:off x="4709160" y="2258568"/>
            <a:ext cx="4160520" cy="566928"/>
          </a:xfrm>
          <a:prstGeom prst="rect">
            <a:avLst/>
          </a:prstGeom>
          <a:solidFill>
            <a:srgbClr val="DCFCE7"/>
          </a:solidFill>
          <a:ln w="6350">
            <a:solidFill>
              <a:srgbClr val="BBDDCC"/>
            </a:solidFill>
            <a:prstDash val="solid"/>
          </a:ln>
        </p:spPr>
        <p:txBody>
          <a:bodyPr/>
          <a:lstStyle/>
          <a:p>
            <a:endParaRPr lang="en-US"/>
          </a:p>
        </p:txBody>
      </p:sp>
      <p:sp>
        <p:nvSpPr>
          <p:cNvPr id="15" name="Text 13"/>
          <p:cNvSpPr/>
          <p:nvPr/>
        </p:nvSpPr>
        <p:spPr>
          <a:xfrm>
            <a:off x="4846320" y="2258568"/>
            <a:ext cx="3931920" cy="566928"/>
          </a:xfrm>
          <a:prstGeom prst="rect">
            <a:avLst/>
          </a:prstGeom>
          <a:noFill/>
          <a:ln/>
        </p:spPr>
        <p:txBody>
          <a:bodyPr wrap="square" rtlCol="0" anchor="ctr"/>
          <a:lstStyle/>
          <a:p>
            <a:pPr marL="0" indent="0">
              <a:buNone/>
            </a:pPr>
            <a:r>
              <a:rPr lang="en-US" sz="1200" dirty="0">
                <a:solidFill>
                  <a:srgbClr val="1A4731"/>
                </a:solidFill>
                <a:latin typeface="Calibri" pitchFamily="34" charset="0"/>
                <a:ea typeface="Calibri" pitchFamily="34" charset="-122"/>
                <a:cs typeface="Calibri" pitchFamily="34" charset="-120"/>
              </a:rPr>
              <a:t>Use theory-driven (a priori) variable selection based on DAGs and prior literature</a:t>
            </a:r>
            <a:endParaRPr lang="en-US" sz="1200" dirty="0"/>
          </a:p>
        </p:txBody>
      </p:sp>
      <p:sp>
        <p:nvSpPr>
          <p:cNvPr id="16" name="Shape 14"/>
          <p:cNvSpPr/>
          <p:nvPr/>
        </p:nvSpPr>
        <p:spPr>
          <a:xfrm>
            <a:off x="274320" y="2916936"/>
            <a:ext cx="4160520" cy="566928"/>
          </a:xfrm>
          <a:prstGeom prst="rect">
            <a:avLst/>
          </a:prstGeom>
          <a:solidFill>
            <a:srgbClr val="FEF2F2"/>
          </a:solidFill>
          <a:ln w="6350">
            <a:solidFill>
              <a:srgbClr val="FFCCCC"/>
            </a:solidFill>
            <a:prstDash val="solid"/>
          </a:ln>
        </p:spPr>
        <p:txBody>
          <a:bodyPr/>
          <a:lstStyle/>
          <a:p>
            <a:endParaRPr lang="en-US"/>
          </a:p>
        </p:txBody>
      </p:sp>
      <p:sp>
        <p:nvSpPr>
          <p:cNvPr id="17" name="Text 15"/>
          <p:cNvSpPr/>
          <p:nvPr/>
        </p:nvSpPr>
        <p:spPr>
          <a:xfrm>
            <a:off x="411480" y="2916936"/>
            <a:ext cx="3931920" cy="566928"/>
          </a:xfrm>
          <a:prstGeom prst="rect">
            <a:avLst/>
          </a:prstGeom>
          <a:noFill/>
          <a:ln/>
        </p:spPr>
        <p:txBody>
          <a:bodyPr wrap="square" rtlCol="0" anchor="ctr"/>
          <a:lstStyle/>
          <a:p>
            <a:pPr marL="0" indent="0">
              <a:buNone/>
            </a:pPr>
            <a:r>
              <a:rPr lang="en-US" sz="1200" dirty="0">
                <a:solidFill>
                  <a:srgbClr val="882222"/>
                </a:solidFill>
                <a:latin typeface="Calibri" pitchFamily="34" charset="0"/>
                <a:ea typeface="Calibri" pitchFamily="34" charset="-122"/>
                <a:cs typeface="Calibri" pitchFamily="34" charset="-120"/>
              </a:rPr>
              <a:t>Ignoring missing data</a:t>
            </a:r>
            <a:endParaRPr lang="en-US" sz="1200" dirty="0"/>
          </a:p>
        </p:txBody>
      </p:sp>
      <p:sp>
        <p:nvSpPr>
          <p:cNvPr id="18" name="Shape 16"/>
          <p:cNvSpPr/>
          <p:nvPr/>
        </p:nvSpPr>
        <p:spPr>
          <a:xfrm>
            <a:off x="4709160" y="2916936"/>
            <a:ext cx="4160520" cy="566928"/>
          </a:xfrm>
          <a:prstGeom prst="rect">
            <a:avLst/>
          </a:prstGeom>
          <a:solidFill>
            <a:srgbClr val="F0FDF4"/>
          </a:solidFill>
          <a:ln w="6350">
            <a:solidFill>
              <a:srgbClr val="BBDDCC"/>
            </a:solidFill>
            <a:prstDash val="solid"/>
          </a:ln>
        </p:spPr>
        <p:txBody>
          <a:bodyPr/>
          <a:lstStyle/>
          <a:p>
            <a:endParaRPr lang="en-US"/>
          </a:p>
        </p:txBody>
      </p:sp>
      <p:sp>
        <p:nvSpPr>
          <p:cNvPr id="19" name="Text 17"/>
          <p:cNvSpPr/>
          <p:nvPr/>
        </p:nvSpPr>
        <p:spPr>
          <a:xfrm>
            <a:off x="4846320" y="2916936"/>
            <a:ext cx="3931920" cy="566928"/>
          </a:xfrm>
          <a:prstGeom prst="rect">
            <a:avLst/>
          </a:prstGeom>
          <a:noFill/>
          <a:ln/>
        </p:spPr>
        <p:txBody>
          <a:bodyPr wrap="square" rtlCol="0" anchor="ctr"/>
          <a:lstStyle/>
          <a:p>
            <a:pPr marL="0" indent="0">
              <a:buNone/>
            </a:pPr>
            <a:r>
              <a:rPr lang="en-US" sz="1200" dirty="0">
                <a:solidFill>
                  <a:srgbClr val="1A4731"/>
                </a:solidFill>
                <a:latin typeface="Calibri" pitchFamily="34" charset="0"/>
                <a:ea typeface="Calibri" pitchFamily="34" charset="-122"/>
                <a:cs typeface="Calibri" pitchFamily="34" charset="-120"/>
              </a:rPr>
              <a:t>Report missingness patterns; use multiple imputation where appropriate</a:t>
            </a:r>
            <a:endParaRPr lang="en-US" sz="1200" dirty="0"/>
          </a:p>
        </p:txBody>
      </p:sp>
      <p:sp>
        <p:nvSpPr>
          <p:cNvPr id="20" name="Shape 18"/>
          <p:cNvSpPr/>
          <p:nvPr/>
        </p:nvSpPr>
        <p:spPr>
          <a:xfrm>
            <a:off x="274320" y="3575304"/>
            <a:ext cx="4160520" cy="566928"/>
          </a:xfrm>
          <a:prstGeom prst="rect">
            <a:avLst/>
          </a:prstGeom>
          <a:solidFill>
            <a:srgbClr val="FDE8E8"/>
          </a:solidFill>
          <a:ln w="6350">
            <a:solidFill>
              <a:srgbClr val="FFCCCC"/>
            </a:solidFill>
            <a:prstDash val="solid"/>
          </a:ln>
        </p:spPr>
        <p:txBody>
          <a:bodyPr/>
          <a:lstStyle/>
          <a:p>
            <a:endParaRPr lang="en-US"/>
          </a:p>
        </p:txBody>
      </p:sp>
      <p:sp>
        <p:nvSpPr>
          <p:cNvPr id="21" name="Text 19"/>
          <p:cNvSpPr/>
          <p:nvPr/>
        </p:nvSpPr>
        <p:spPr>
          <a:xfrm>
            <a:off x="411480" y="3575304"/>
            <a:ext cx="3931920" cy="566928"/>
          </a:xfrm>
          <a:prstGeom prst="rect">
            <a:avLst/>
          </a:prstGeom>
          <a:noFill/>
          <a:ln/>
        </p:spPr>
        <p:txBody>
          <a:bodyPr wrap="square" rtlCol="0" anchor="ctr"/>
          <a:lstStyle/>
          <a:p>
            <a:pPr marL="0" indent="0">
              <a:buNone/>
            </a:pPr>
            <a:r>
              <a:rPr lang="en-US" sz="1200" dirty="0">
                <a:solidFill>
                  <a:srgbClr val="882222"/>
                </a:solidFill>
                <a:latin typeface="Calibri" pitchFamily="34" charset="0"/>
                <a:ea typeface="Calibri" pitchFamily="34" charset="-122"/>
                <a:cs typeface="Calibri" pitchFamily="34" charset="-120"/>
              </a:rPr>
              <a:t>Extrapolation beyond data range</a:t>
            </a:r>
            <a:endParaRPr lang="en-US" sz="1200" dirty="0"/>
          </a:p>
        </p:txBody>
      </p:sp>
      <p:sp>
        <p:nvSpPr>
          <p:cNvPr id="22" name="Shape 20"/>
          <p:cNvSpPr/>
          <p:nvPr/>
        </p:nvSpPr>
        <p:spPr>
          <a:xfrm>
            <a:off x="4709160" y="3575304"/>
            <a:ext cx="4160520" cy="566928"/>
          </a:xfrm>
          <a:prstGeom prst="rect">
            <a:avLst/>
          </a:prstGeom>
          <a:solidFill>
            <a:srgbClr val="DCFCE7"/>
          </a:solidFill>
          <a:ln w="6350">
            <a:solidFill>
              <a:srgbClr val="BBDDCC"/>
            </a:solidFill>
            <a:prstDash val="solid"/>
          </a:ln>
        </p:spPr>
        <p:txBody>
          <a:bodyPr/>
          <a:lstStyle/>
          <a:p>
            <a:endParaRPr lang="en-US"/>
          </a:p>
        </p:txBody>
      </p:sp>
      <p:sp>
        <p:nvSpPr>
          <p:cNvPr id="23" name="Text 21"/>
          <p:cNvSpPr/>
          <p:nvPr/>
        </p:nvSpPr>
        <p:spPr>
          <a:xfrm>
            <a:off x="4846320" y="3575304"/>
            <a:ext cx="3931920" cy="566928"/>
          </a:xfrm>
          <a:prstGeom prst="rect">
            <a:avLst/>
          </a:prstGeom>
          <a:noFill/>
          <a:ln/>
        </p:spPr>
        <p:txBody>
          <a:bodyPr wrap="square" rtlCol="0" anchor="ctr"/>
          <a:lstStyle/>
          <a:p>
            <a:pPr marL="0" indent="0">
              <a:buNone/>
            </a:pPr>
            <a:r>
              <a:rPr lang="en-US" sz="1200" dirty="0">
                <a:solidFill>
                  <a:srgbClr val="1A4731"/>
                </a:solidFill>
                <a:latin typeface="Calibri" pitchFamily="34" charset="0"/>
                <a:ea typeface="Calibri" pitchFamily="34" charset="-122"/>
                <a:cs typeface="Calibri" pitchFamily="34" charset="-120"/>
              </a:rPr>
              <a:t>Interpret model predictions only within the range of observed data</a:t>
            </a:r>
            <a:endParaRPr lang="en-US" sz="1200" dirty="0"/>
          </a:p>
        </p:txBody>
      </p:sp>
      <p:sp>
        <p:nvSpPr>
          <p:cNvPr id="24" name="Shape 22"/>
          <p:cNvSpPr/>
          <p:nvPr/>
        </p:nvSpPr>
        <p:spPr>
          <a:xfrm>
            <a:off x="274320" y="4233672"/>
            <a:ext cx="4160520" cy="566928"/>
          </a:xfrm>
          <a:prstGeom prst="rect">
            <a:avLst/>
          </a:prstGeom>
          <a:solidFill>
            <a:srgbClr val="FEF2F2"/>
          </a:solidFill>
          <a:ln w="6350">
            <a:solidFill>
              <a:srgbClr val="FFCCCC"/>
            </a:solidFill>
            <a:prstDash val="solid"/>
          </a:ln>
        </p:spPr>
        <p:txBody>
          <a:bodyPr/>
          <a:lstStyle/>
          <a:p>
            <a:endParaRPr lang="en-US"/>
          </a:p>
        </p:txBody>
      </p:sp>
      <p:sp>
        <p:nvSpPr>
          <p:cNvPr id="25" name="Text 23"/>
          <p:cNvSpPr/>
          <p:nvPr/>
        </p:nvSpPr>
        <p:spPr>
          <a:xfrm>
            <a:off x="411480" y="4233672"/>
            <a:ext cx="3931920" cy="566928"/>
          </a:xfrm>
          <a:prstGeom prst="rect">
            <a:avLst/>
          </a:prstGeom>
          <a:noFill/>
          <a:ln/>
        </p:spPr>
        <p:txBody>
          <a:bodyPr wrap="square" rtlCol="0" anchor="ctr"/>
          <a:lstStyle/>
          <a:p>
            <a:pPr marL="0" indent="0">
              <a:buNone/>
            </a:pPr>
            <a:r>
              <a:rPr lang="en-US" sz="1200" dirty="0">
                <a:solidFill>
                  <a:srgbClr val="882222"/>
                </a:solidFill>
                <a:latin typeface="Calibri" pitchFamily="34" charset="0"/>
                <a:ea typeface="Calibri" pitchFamily="34" charset="-122"/>
                <a:cs typeface="Calibri" pitchFamily="34" charset="-120"/>
              </a:rPr>
              <a:t>Overfitting (too many variables)</a:t>
            </a:r>
            <a:endParaRPr lang="en-US" sz="1200" dirty="0"/>
          </a:p>
        </p:txBody>
      </p:sp>
      <p:sp>
        <p:nvSpPr>
          <p:cNvPr id="26" name="Shape 24"/>
          <p:cNvSpPr/>
          <p:nvPr/>
        </p:nvSpPr>
        <p:spPr>
          <a:xfrm>
            <a:off x="4709160" y="4233672"/>
            <a:ext cx="4160520" cy="566928"/>
          </a:xfrm>
          <a:prstGeom prst="rect">
            <a:avLst/>
          </a:prstGeom>
          <a:solidFill>
            <a:srgbClr val="F0FDF4"/>
          </a:solidFill>
          <a:ln w="6350">
            <a:solidFill>
              <a:srgbClr val="BBDDCC"/>
            </a:solidFill>
            <a:prstDash val="solid"/>
          </a:ln>
        </p:spPr>
        <p:txBody>
          <a:bodyPr/>
          <a:lstStyle/>
          <a:p>
            <a:endParaRPr lang="en-US"/>
          </a:p>
        </p:txBody>
      </p:sp>
      <p:sp>
        <p:nvSpPr>
          <p:cNvPr id="27" name="Text 25"/>
          <p:cNvSpPr/>
          <p:nvPr/>
        </p:nvSpPr>
        <p:spPr>
          <a:xfrm>
            <a:off x="4846320" y="4233672"/>
            <a:ext cx="3931920" cy="566928"/>
          </a:xfrm>
          <a:prstGeom prst="rect">
            <a:avLst/>
          </a:prstGeom>
          <a:noFill/>
          <a:ln/>
        </p:spPr>
        <p:txBody>
          <a:bodyPr wrap="square" rtlCol="0" anchor="ctr"/>
          <a:lstStyle/>
          <a:p>
            <a:pPr marL="0" indent="0">
              <a:buNone/>
            </a:pPr>
            <a:r>
              <a:rPr lang="en-US" sz="1200" dirty="0">
                <a:solidFill>
                  <a:srgbClr val="1A4731"/>
                </a:solidFill>
                <a:latin typeface="Calibri" pitchFamily="34" charset="0"/>
                <a:ea typeface="Calibri" pitchFamily="34" charset="-122"/>
                <a:cs typeface="Calibri" pitchFamily="34" charset="-120"/>
              </a:rPr>
              <a:t>Follow EPV rule; validate model on separate dataset or use cross-validation</a:t>
            </a:r>
            <a:endParaRPr lang="en-US" sz="12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22">
    <p:bg>
      <p:bgPr>
        <a:solidFill>
          <a:srgbClr val="F0F7F8"/>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23E5C"/>
          </a:solidFill>
          <a:ln/>
        </p:spPr>
        <p:txBody>
          <a:bodyPr/>
          <a:lstStyle/>
          <a:p>
            <a:endParaRPr lang="en-US"/>
          </a:p>
        </p:txBody>
      </p:sp>
      <p:sp>
        <p:nvSpPr>
          <p:cNvPr id="3" name="Text 1"/>
          <p:cNvSpPr/>
          <p:nvPr/>
        </p:nvSpPr>
        <p:spPr>
          <a:xfrm>
            <a:off x="365760" y="0"/>
            <a:ext cx="8229600" cy="1005840"/>
          </a:xfrm>
          <a:prstGeom prst="rect">
            <a:avLst/>
          </a:prstGeom>
          <a:noFill/>
          <a:ln/>
        </p:spPr>
        <p:txBody>
          <a:bodyPr wrap="square" rtlCol="0" anchor="ctr"/>
          <a:lstStyle/>
          <a:p>
            <a:pPr marL="0" indent="0">
              <a:buNone/>
            </a:pPr>
            <a:r>
              <a:rPr lang="en-US" sz="1900" b="1" dirty="0">
                <a:solidFill>
                  <a:srgbClr val="FFFFFF"/>
                </a:solidFill>
                <a:latin typeface="Georgia" pitchFamily="34" charset="0"/>
                <a:ea typeface="Georgia" pitchFamily="34" charset="-122"/>
                <a:cs typeface="Georgia" pitchFamily="34" charset="-120"/>
              </a:rPr>
              <a:t>Directed Acyclic Graphs (DAGs) — A Tool for Variable Selection</a:t>
            </a:r>
            <a:endParaRPr lang="en-US" sz="1900" dirty="0"/>
          </a:p>
        </p:txBody>
      </p:sp>
      <p:sp>
        <p:nvSpPr>
          <p:cNvPr id="4" name="Text 2"/>
          <p:cNvSpPr/>
          <p:nvPr/>
        </p:nvSpPr>
        <p:spPr>
          <a:xfrm>
            <a:off x="274320" y="1097280"/>
            <a:ext cx="8595360" cy="411480"/>
          </a:xfrm>
          <a:prstGeom prst="rect">
            <a:avLst/>
          </a:prstGeom>
          <a:noFill/>
          <a:ln/>
        </p:spPr>
        <p:txBody>
          <a:bodyPr wrap="square" rtlCol="0" anchor="ctr"/>
          <a:lstStyle/>
          <a:p>
            <a:pPr marL="0" indent="0">
              <a:buNone/>
            </a:pPr>
            <a:r>
              <a:rPr lang="en-US" sz="1400" b="1" dirty="0">
                <a:solidFill>
                  <a:srgbClr val="023E5C"/>
                </a:solidFill>
                <a:latin typeface="Calibri" pitchFamily="34" charset="0"/>
                <a:ea typeface="Calibri" pitchFamily="34" charset="-122"/>
                <a:cs typeface="Calibri" pitchFamily="34" charset="-120"/>
              </a:rPr>
              <a:t>DAGs help us decide WHAT to adjust for — and what NOT to adjust for.</a:t>
            </a:r>
            <a:endParaRPr lang="en-US" sz="1400" dirty="0"/>
          </a:p>
        </p:txBody>
      </p:sp>
      <p:sp>
        <p:nvSpPr>
          <p:cNvPr id="5" name="Shape 3"/>
          <p:cNvSpPr/>
          <p:nvPr/>
        </p:nvSpPr>
        <p:spPr>
          <a:xfrm>
            <a:off x="106555" y="1763129"/>
            <a:ext cx="1155468" cy="632573"/>
          </a:xfrm>
          <a:prstGeom prst="rect">
            <a:avLst/>
          </a:prstGeom>
          <a:solidFill>
            <a:srgbClr val="028090"/>
          </a:solidFill>
          <a:ln w="12700">
            <a:solidFill>
              <a:srgbClr val="028090"/>
            </a:solidFill>
            <a:prstDash val="solid"/>
          </a:ln>
          <a:effectLst>
            <a:outerShdw blurRad="101600" dist="38100" dir="8100000" algn="bl" rotWithShape="0">
              <a:srgbClr val="000000">
                <a:alpha val="12000"/>
              </a:srgbClr>
            </a:outerShdw>
          </a:effectLst>
        </p:spPr>
        <p:txBody>
          <a:bodyPr/>
          <a:lstStyle/>
          <a:p>
            <a:endParaRPr lang="en-US"/>
          </a:p>
        </p:txBody>
      </p:sp>
      <p:sp>
        <p:nvSpPr>
          <p:cNvPr id="6" name="Text 4"/>
          <p:cNvSpPr/>
          <p:nvPr/>
        </p:nvSpPr>
        <p:spPr>
          <a:xfrm>
            <a:off x="-75571" y="1764414"/>
            <a:ext cx="1645920" cy="59436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Socioeconomic</a:t>
            </a:r>
            <a:endParaRPr lang="en-US" sz="1000" dirty="0"/>
          </a:p>
          <a:p>
            <a:pPr marL="0" indent="0" algn="ctr">
              <a:buNone/>
            </a:pPr>
            <a:r>
              <a:rPr lang="en-US" sz="1000" b="1" dirty="0">
                <a:solidFill>
                  <a:srgbClr val="FFFFFF"/>
                </a:solidFill>
                <a:latin typeface="Calibri" pitchFamily="34" charset="0"/>
                <a:ea typeface="Calibri" pitchFamily="34" charset="-122"/>
                <a:cs typeface="Calibri" pitchFamily="34" charset="-120"/>
              </a:rPr>
              <a:t>Status (SES)</a:t>
            </a:r>
            <a:endParaRPr lang="en-US" sz="1000" dirty="0"/>
          </a:p>
        </p:txBody>
      </p:sp>
      <p:sp>
        <p:nvSpPr>
          <p:cNvPr id="7" name="Shape 5"/>
          <p:cNvSpPr/>
          <p:nvPr/>
        </p:nvSpPr>
        <p:spPr>
          <a:xfrm>
            <a:off x="3200400" y="2103120"/>
            <a:ext cx="1645920" cy="594360"/>
          </a:xfrm>
          <a:prstGeom prst="rect">
            <a:avLst/>
          </a:prstGeom>
          <a:solidFill>
            <a:srgbClr val="023E5C"/>
          </a:solidFill>
          <a:ln w="12700">
            <a:solidFill>
              <a:srgbClr val="023E5C"/>
            </a:solidFill>
            <a:prstDash val="solid"/>
          </a:ln>
          <a:effectLst>
            <a:outerShdw blurRad="101600" dist="38100" dir="8100000" algn="bl" rotWithShape="0">
              <a:srgbClr val="000000">
                <a:alpha val="12000"/>
              </a:srgbClr>
            </a:outerShdw>
          </a:effectLst>
        </p:spPr>
        <p:txBody>
          <a:bodyPr/>
          <a:lstStyle/>
          <a:p>
            <a:endParaRPr lang="en-US"/>
          </a:p>
        </p:txBody>
      </p:sp>
      <p:sp>
        <p:nvSpPr>
          <p:cNvPr id="8" name="Text 6"/>
          <p:cNvSpPr/>
          <p:nvPr/>
        </p:nvSpPr>
        <p:spPr>
          <a:xfrm>
            <a:off x="3200400" y="2103120"/>
            <a:ext cx="1645920" cy="59436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Smoking</a:t>
            </a:r>
            <a:endParaRPr lang="en-US" sz="1000" dirty="0"/>
          </a:p>
        </p:txBody>
      </p:sp>
      <p:sp>
        <p:nvSpPr>
          <p:cNvPr id="9" name="Shape 7"/>
          <p:cNvSpPr/>
          <p:nvPr/>
        </p:nvSpPr>
        <p:spPr>
          <a:xfrm>
            <a:off x="3200400" y="3657600"/>
            <a:ext cx="1645920" cy="499292"/>
          </a:xfrm>
          <a:prstGeom prst="rect">
            <a:avLst/>
          </a:prstGeom>
          <a:solidFill>
            <a:srgbClr val="7BA7B0"/>
          </a:solidFill>
          <a:ln w="12700">
            <a:solidFill>
              <a:srgbClr val="7BA7B0"/>
            </a:solidFill>
            <a:prstDash val="solid"/>
          </a:ln>
          <a:effectLst>
            <a:outerShdw blurRad="101600" dist="38100" dir="8100000" algn="bl" rotWithShape="0">
              <a:srgbClr val="000000">
                <a:alpha val="12000"/>
              </a:srgbClr>
            </a:outerShdw>
          </a:effectLst>
        </p:spPr>
        <p:txBody>
          <a:bodyPr/>
          <a:lstStyle/>
          <a:p>
            <a:endParaRPr lang="en-US"/>
          </a:p>
        </p:txBody>
      </p:sp>
      <p:sp>
        <p:nvSpPr>
          <p:cNvPr id="10" name="Text 8"/>
          <p:cNvSpPr/>
          <p:nvPr/>
        </p:nvSpPr>
        <p:spPr>
          <a:xfrm>
            <a:off x="3200400" y="3657600"/>
            <a:ext cx="1645920" cy="59436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Diet Quality</a:t>
            </a:r>
            <a:endParaRPr lang="en-US" sz="1000" dirty="0"/>
          </a:p>
        </p:txBody>
      </p:sp>
      <p:sp>
        <p:nvSpPr>
          <p:cNvPr id="11" name="Shape 9"/>
          <p:cNvSpPr/>
          <p:nvPr/>
        </p:nvSpPr>
        <p:spPr>
          <a:xfrm>
            <a:off x="5486400" y="2834640"/>
            <a:ext cx="1645920" cy="594360"/>
          </a:xfrm>
          <a:prstGeom prst="rect">
            <a:avLst/>
          </a:prstGeom>
          <a:solidFill>
            <a:srgbClr val="00A896"/>
          </a:solidFill>
          <a:ln w="12700">
            <a:solidFill>
              <a:srgbClr val="00A896"/>
            </a:solidFill>
            <a:prstDash val="solid"/>
          </a:ln>
          <a:effectLst>
            <a:outerShdw blurRad="101600" dist="38100" dir="8100000" algn="bl" rotWithShape="0">
              <a:srgbClr val="000000">
                <a:alpha val="12000"/>
              </a:srgbClr>
            </a:outerShdw>
          </a:effectLst>
        </p:spPr>
        <p:txBody>
          <a:bodyPr/>
          <a:lstStyle/>
          <a:p>
            <a:endParaRPr lang="en-US"/>
          </a:p>
        </p:txBody>
      </p:sp>
      <p:sp>
        <p:nvSpPr>
          <p:cNvPr id="12" name="Text 10"/>
          <p:cNvSpPr/>
          <p:nvPr/>
        </p:nvSpPr>
        <p:spPr>
          <a:xfrm>
            <a:off x="5486400" y="2834640"/>
            <a:ext cx="1645920" cy="59436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BMI</a:t>
            </a:r>
            <a:endParaRPr lang="en-US" sz="1000" dirty="0"/>
          </a:p>
        </p:txBody>
      </p:sp>
      <p:sp>
        <p:nvSpPr>
          <p:cNvPr id="13" name="Shape 11"/>
          <p:cNvSpPr/>
          <p:nvPr/>
        </p:nvSpPr>
        <p:spPr>
          <a:xfrm>
            <a:off x="7315200" y="2834640"/>
            <a:ext cx="1645920" cy="594360"/>
          </a:xfrm>
          <a:prstGeom prst="rect">
            <a:avLst/>
          </a:prstGeom>
          <a:solidFill>
            <a:srgbClr val="CC3333"/>
          </a:solidFill>
          <a:ln w="12700">
            <a:solidFill>
              <a:srgbClr val="CC3333"/>
            </a:solidFill>
            <a:prstDash val="solid"/>
          </a:ln>
          <a:effectLst>
            <a:outerShdw blurRad="101600" dist="38100" dir="8100000" algn="bl" rotWithShape="0">
              <a:srgbClr val="000000">
                <a:alpha val="12000"/>
              </a:srgbClr>
            </a:outerShdw>
          </a:effectLst>
        </p:spPr>
        <p:txBody>
          <a:bodyPr/>
          <a:lstStyle/>
          <a:p>
            <a:endParaRPr lang="en-US"/>
          </a:p>
        </p:txBody>
      </p:sp>
      <p:sp>
        <p:nvSpPr>
          <p:cNvPr id="14" name="Text 12"/>
          <p:cNvSpPr/>
          <p:nvPr/>
        </p:nvSpPr>
        <p:spPr>
          <a:xfrm>
            <a:off x="7315200" y="2834640"/>
            <a:ext cx="1645920" cy="59436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Cardiovascular</a:t>
            </a:r>
            <a:endParaRPr lang="en-US" sz="1000" dirty="0"/>
          </a:p>
          <a:p>
            <a:pPr marL="0" indent="0" algn="ctr">
              <a:buNone/>
            </a:pPr>
            <a:r>
              <a:rPr lang="en-US" sz="1000" b="1" dirty="0">
                <a:solidFill>
                  <a:srgbClr val="FFFFFF"/>
                </a:solidFill>
                <a:latin typeface="Calibri" pitchFamily="34" charset="0"/>
                <a:ea typeface="Calibri" pitchFamily="34" charset="-122"/>
                <a:cs typeface="Calibri" pitchFamily="34" charset="-120"/>
              </a:rPr>
              <a:t>Disease</a:t>
            </a:r>
            <a:endParaRPr lang="en-US" sz="1000" dirty="0"/>
          </a:p>
        </p:txBody>
      </p:sp>
      <p:sp>
        <p:nvSpPr>
          <p:cNvPr id="15" name="Shape 13"/>
          <p:cNvSpPr/>
          <p:nvPr/>
        </p:nvSpPr>
        <p:spPr>
          <a:xfrm>
            <a:off x="1188720" y="2395728"/>
            <a:ext cx="2011680" cy="0"/>
          </a:xfrm>
          <a:prstGeom prst="line">
            <a:avLst/>
          </a:prstGeom>
          <a:noFill/>
          <a:ln w="19050">
            <a:solidFill>
              <a:srgbClr val="3D6470"/>
            </a:solidFill>
            <a:prstDash val="solid"/>
          </a:ln>
        </p:spPr>
        <p:txBody>
          <a:bodyPr/>
          <a:lstStyle/>
          <a:p>
            <a:endParaRPr lang="en-US"/>
          </a:p>
        </p:txBody>
      </p:sp>
      <p:sp>
        <p:nvSpPr>
          <p:cNvPr id="16" name="Shape 14"/>
          <p:cNvSpPr/>
          <p:nvPr/>
        </p:nvSpPr>
        <p:spPr>
          <a:xfrm>
            <a:off x="1188720" y="2395728"/>
            <a:ext cx="2011680" cy="1554480"/>
          </a:xfrm>
          <a:prstGeom prst="line">
            <a:avLst/>
          </a:prstGeom>
          <a:noFill/>
          <a:ln w="19050">
            <a:solidFill>
              <a:srgbClr val="3D6470"/>
            </a:solidFill>
            <a:prstDash val="solid"/>
          </a:ln>
        </p:spPr>
        <p:txBody>
          <a:bodyPr/>
          <a:lstStyle/>
          <a:p>
            <a:endParaRPr lang="en-US"/>
          </a:p>
        </p:txBody>
      </p:sp>
      <p:sp>
        <p:nvSpPr>
          <p:cNvPr id="17" name="Shape 15"/>
          <p:cNvSpPr/>
          <p:nvPr/>
        </p:nvSpPr>
        <p:spPr>
          <a:xfrm>
            <a:off x="4846320" y="2395728"/>
            <a:ext cx="640080" cy="740664"/>
          </a:xfrm>
          <a:prstGeom prst="line">
            <a:avLst/>
          </a:prstGeom>
          <a:noFill/>
          <a:ln w="19050">
            <a:solidFill>
              <a:srgbClr val="3D6470"/>
            </a:solidFill>
            <a:prstDash val="solid"/>
          </a:ln>
        </p:spPr>
        <p:txBody>
          <a:bodyPr/>
          <a:lstStyle/>
          <a:p>
            <a:endParaRPr lang="en-US"/>
          </a:p>
        </p:txBody>
      </p:sp>
      <p:sp>
        <p:nvSpPr>
          <p:cNvPr id="18" name="Shape 16"/>
          <p:cNvSpPr/>
          <p:nvPr/>
        </p:nvSpPr>
        <p:spPr>
          <a:xfrm flipV="1">
            <a:off x="4846320" y="3429000"/>
            <a:ext cx="640052" cy="521208"/>
          </a:xfrm>
          <a:prstGeom prst="line">
            <a:avLst/>
          </a:prstGeom>
          <a:noFill/>
          <a:ln w="19050">
            <a:solidFill>
              <a:srgbClr val="3D6470"/>
            </a:solidFill>
            <a:prstDash val="solid"/>
          </a:ln>
        </p:spPr>
        <p:txBody>
          <a:bodyPr/>
          <a:lstStyle/>
          <a:p>
            <a:endParaRPr lang="en-US"/>
          </a:p>
        </p:txBody>
      </p:sp>
      <p:sp>
        <p:nvSpPr>
          <p:cNvPr id="19" name="Shape 17"/>
          <p:cNvSpPr/>
          <p:nvPr/>
        </p:nvSpPr>
        <p:spPr>
          <a:xfrm>
            <a:off x="7132320" y="3136392"/>
            <a:ext cx="182880" cy="0"/>
          </a:xfrm>
          <a:prstGeom prst="line">
            <a:avLst/>
          </a:prstGeom>
          <a:noFill/>
          <a:ln w="19050">
            <a:solidFill>
              <a:srgbClr val="3D6470"/>
            </a:solidFill>
            <a:prstDash val="solid"/>
          </a:ln>
        </p:spPr>
        <p:txBody>
          <a:bodyPr/>
          <a:lstStyle/>
          <a:p>
            <a:endParaRPr lang="en-US"/>
          </a:p>
        </p:txBody>
      </p:sp>
      <p:sp>
        <p:nvSpPr>
          <p:cNvPr id="20" name="Shape 18"/>
          <p:cNvSpPr/>
          <p:nvPr/>
        </p:nvSpPr>
        <p:spPr>
          <a:xfrm>
            <a:off x="4023360" y="2694458"/>
            <a:ext cx="0" cy="963142"/>
          </a:xfrm>
          <a:prstGeom prst="line">
            <a:avLst/>
          </a:prstGeom>
          <a:noFill/>
          <a:ln w="19050">
            <a:solidFill>
              <a:srgbClr val="3D6470"/>
            </a:solidFill>
            <a:prstDash val="solid"/>
          </a:ln>
        </p:spPr>
        <p:txBody>
          <a:bodyPr/>
          <a:lstStyle/>
          <a:p>
            <a:endParaRPr lang="en-US"/>
          </a:p>
        </p:txBody>
      </p:sp>
      <p:sp>
        <p:nvSpPr>
          <p:cNvPr id="21" name="Text 19"/>
          <p:cNvSpPr/>
          <p:nvPr/>
        </p:nvSpPr>
        <p:spPr>
          <a:xfrm>
            <a:off x="274320" y="4281055"/>
            <a:ext cx="8595360" cy="0"/>
          </a:xfrm>
          <a:prstGeom prst="rect">
            <a:avLst/>
          </a:prstGeom>
          <a:noFill/>
          <a:ln/>
        </p:spPr>
        <p:txBody>
          <a:bodyPr wrap="square" rtlCol="0" anchor="ctr"/>
          <a:lstStyle/>
          <a:p>
            <a:pPr marL="0" indent="0">
              <a:buNone/>
            </a:pPr>
            <a:r>
              <a:rPr lang="en-US" sz="1200" dirty="0">
                <a:solidFill>
                  <a:srgbClr val="000000"/>
                </a:solidFill>
              </a:rPr>
              <a:t>→ Adjust for confounders (common causes of both exposure &amp; outcome)</a:t>
            </a:r>
            <a:endParaRPr lang="en-US" sz="1200" dirty="0"/>
          </a:p>
        </p:txBody>
      </p:sp>
      <p:sp>
        <p:nvSpPr>
          <p:cNvPr id="22" name="Text 20"/>
          <p:cNvSpPr/>
          <p:nvPr/>
        </p:nvSpPr>
        <p:spPr>
          <a:xfrm>
            <a:off x="274320" y="4676664"/>
            <a:ext cx="8595360" cy="0"/>
          </a:xfrm>
          <a:prstGeom prst="rect">
            <a:avLst/>
          </a:prstGeom>
          <a:noFill/>
          <a:ln/>
        </p:spPr>
        <p:txBody>
          <a:bodyPr wrap="square" rtlCol="0" anchor="ctr"/>
          <a:lstStyle/>
          <a:p>
            <a:pPr marL="0" indent="0">
              <a:buNone/>
            </a:pPr>
            <a:r>
              <a:rPr lang="en-US" sz="1200" dirty="0">
                <a:solidFill>
                  <a:srgbClr val="000000"/>
                </a:solidFill>
              </a:rPr>
              <a:t>→ Do NOT adjust for mediators (variables on the causal pathway)</a:t>
            </a:r>
            <a:endParaRPr lang="en-US" sz="1200" dirty="0"/>
          </a:p>
        </p:txBody>
      </p:sp>
      <p:sp>
        <p:nvSpPr>
          <p:cNvPr id="23" name="Text 21"/>
          <p:cNvSpPr/>
          <p:nvPr/>
        </p:nvSpPr>
        <p:spPr>
          <a:xfrm>
            <a:off x="274320" y="4469979"/>
            <a:ext cx="8595360" cy="0"/>
          </a:xfrm>
          <a:prstGeom prst="rect">
            <a:avLst/>
          </a:prstGeom>
          <a:noFill/>
          <a:ln/>
        </p:spPr>
        <p:txBody>
          <a:bodyPr wrap="square" rtlCol="0" anchor="ctr"/>
          <a:lstStyle/>
          <a:p>
            <a:pPr marL="0" indent="0">
              <a:buNone/>
            </a:pPr>
            <a:r>
              <a:rPr lang="en-US" sz="1200" dirty="0">
                <a:solidFill>
                  <a:srgbClr val="000000"/>
                </a:solidFill>
              </a:rPr>
              <a:t>→ Do NOT adjust for colliders (variables caused by both E and O)</a:t>
            </a:r>
            <a:endParaRPr lang="en-US" sz="1200" dirty="0"/>
          </a:p>
        </p:txBody>
      </p:sp>
      <p:sp>
        <p:nvSpPr>
          <p:cNvPr id="24" name="Text 22"/>
          <p:cNvSpPr/>
          <p:nvPr/>
        </p:nvSpPr>
        <p:spPr>
          <a:xfrm>
            <a:off x="274320" y="4856634"/>
            <a:ext cx="8595360" cy="0"/>
          </a:xfrm>
          <a:prstGeom prst="rect">
            <a:avLst/>
          </a:prstGeom>
          <a:noFill/>
          <a:ln/>
        </p:spPr>
        <p:txBody>
          <a:bodyPr wrap="square" rtlCol="0" anchor="ctr"/>
          <a:lstStyle/>
          <a:p>
            <a:pPr marL="0" indent="0">
              <a:buNone/>
            </a:pPr>
            <a:r>
              <a:rPr lang="en-US" sz="1200" dirty="0">
                <a:solidFill>
                  <a:srgbClr val="000000"/>
                </a:solidFill>
              </a:rPr>
              <a:t>→ Use DAGitty.net to draw and analyze your causal model</a:t>
            </a:r>
            <a:endParaRPr lang="en-US" sz="1200" dirty="0"/>
          </a:p>
        </p:txBody>
      </p:sp>
      <p:sp>
        <p:nvSpPr>
          <p:cNvPr id="25" name="Text 23"/>
          <p:cNvSpPr/>
          <p:nvPr/>
        </p:nvSpPr>
        <p:spPr>
          <a:xfrm>
            <a:off x="-75571" y="4767084"/>
            <a:ext cx="9287583" cy="502920"/>
          </a:xfrm>
          <a:prstGeom prst="rect">
            <a:avLst/>
          </a:prstGeom>
          <a:noFill/>
          <a:ln/>
        </p:spPr>
        <p:txBody>
          <a:bodyPr wrap="square" rtlCol="0" anchor="ctr"/>
          <a:lstStyle/>
          <a:p>
            <a:pPr marL="0" indent="0">
              <a:buNone/>
            </a:pPr>
            <a:r>
              <a:rPr lang="en-US" sz="1200" b="1" dirty="0">
                <a:solidFill>
                  <a:srgbClr val="1A2E35"/>
                </a:solidFill>
                <a:latin typeface="Calibri" pitchFamily="34" charset="0"/>
                <a:ea typeface="Calibri" pitchFamily="34" charset="-122"/>
                <a:cs typeface="Calibri" pitchFamily="34" charset="-120"/>
              </a:rPr>
              <a:t>Key rules: </a:t>
            </a:r>
            <a:r>
              <a:rPr lang="en-US" sz="1200" dirty="0">
                <a:solidFill>
                  <a:srgbClr val="1A2E35"/>
                </a:solidFill>
                <a:latin typeface="Calibri" pitchFamily="34" charset="0"/>
                <a:ea typeface="Calibri" pitchFamily="34" charset="-122"/>
                <a:cs typeface="Calibri" pitchFamily="34" charset="-120"/>
              </a:rPr>
              <a:t>(1) Adjust for confounders  (2) Do NOT adjust for mediators  (3) Do NOT adjust for colliders  </a:t>
            </a:r>
            <a:r>
              <a:rPr lang="en-US" sz="1200" i="1" dirty="0">
                <a:solidFill>
                  <a:srgbClr val="1A2E35"/>
                </a:solidFill>
                <a:latin typeface="Calibri" pitchFamily="34" charset="0"/>
                <a:ea typeface="Calibri" pitchFamily="34" charset="-122"/>
                <a:cs typeface="Calibri" pitchFamily="34" charset="-120"/>
              </a:rPr>
              <a:t>(4) Use DAGitty.net to draw and verify model</a:t>
            </a:r>
            <a:endParaRPr lang="en-US" sz="12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28090"/>
          </a:solidFill>
          <a:ln/>
        </p:spPr>
        <p:txBody>
          <a:bodyPr/>
          <a:lstStyle/>
          <a:p>
            <a:endParaRPr lang="en-US"/>
          </a:p>
        </p:txBody>
      </p:sp>
      <p:sp>
        <p:nvSpPr>
          <p:cNvPr id="3" name="Text 1"/>
          <p:cNvSpPr/>
          <p:nvPr/>
        </p:nvSpPr>
        <p:spPr>
          <a:xfrm>
            <a:off x="365760" y="0"/>
            <a:ext cx="8229600" cy="1005840"/>
          </a:xfrm>
          <a:prstGeom prst="rect">
            <a:avLst/>
          </a:prstGeom>
          <a:noFill/>
          <a:ln/>
        </p:spPr>
        <p:txBody>
          <a:bodyPr wrap="square" rtlCol="0" anchor="ctr"/>
          <a:lstStyle/>
          <a:p>
            <a:pPr marL="0" indent="0">
              <a:buNone/>
            </a:pPr>
            <a:r>
              <a:rPr lang="en-US" sz="2000" b="1" dirty="0">
                <a:solidFill>
                  <a:srgbClr val="FFFFFF"/>
                </a:solidFill>
                <a:latin typeface="Georgia" pitchFamily="34" charset="0"/>
                <a:ea typeface="Georgia" pitchFamily="34" charset="-122"/>
                <a:cs typeface="Georgia" pitchFamily="34" charset="-120"/>
              </a:rPr>
              <a:t>Reporting Multivariable Analysis — Best Practices</a:t>
            </a:r>
            <a:endParaRPr lang="en-US" sz="2000" dirty="0"/>
          </a:p>
        </p:txBody>
      </p:sp>
      <p:sp>
        <p:nvSpPr>
          <p:cNvPr id="4" name="Text 2"/>
          <p:cNvSpPr/>
          <p:nvPr/>
        </p:nvSpPr>
        <p:spPr>
          <a:xfrm>
            <a:off x="274320" y="1143000"/>
            <a:ext cx="8595360" cy="411480"/>
          </a:xfrm>
          <a:prstGeom prst="rect">
            <a:avLst/>
          </a:prstGeom>
          <a:noFill/>
          <a:ln/>
        </p:spPr>
        <p:txBody>
          <a:bodyPr wrap="square" rtlCol="0" anchor="ctr"/>
          <a:lstStyle/>
          <a:p>
            <a:pPr marL="0" indent="0">
              <a:buNone/>
            </a:pPr>
            <a:r>
              <a:rPr lang="en-US" sz="1400" b="1" dirty="0">
                <a:solidFill>
                  <a:srgbClr val="023E5C"/>
                </a:solidFill>
                <a:latin typeface="Calibri" pitchFamily="34" charset="0"/>
                <a:ea typeface="Calibri" pitchFamily="34" charset="-122"/>
                <a:cs typeface="Calibri" pitchFamily="34" charset="-120"/>
              </a:rPr>
              <a:t>Reporting Checklist</a:t>
            </a:r>
            <a:endParaRPr lang="en-US" sz="1400" dirty="0"/>
          </a:p>
        </p:txBody>
      </p:sp>
      <p:sp>
        <p:nvSpPr>
          <p:cNvPr id="5" name="Shape 3"/>
          <p:cNvSpPr/>
          <p:nvPr/>
        </p:nvSpPr>
        <p:spPr>
          <a:xfrm>
            <a:off x="274320" y="1600200"/>
            <a:ext cx="8595360" cy="384048"/>
          </a:xfrm>
          <a:prstGeom prst="rect">
            <a:avLst/>
          </a:prstGeom>
          <a:solidFill>
            <a:srgbClr val="E8F4F5"/>
          </a:solidFill>
          <a:ln w="3810">
            <a:solidFill>
              <a:srgbClr val="DDDDDD"/>
            </a:solidFill>
            <a:prstDash val="solid"/>
          </a:ln>
        </p:spPr>
        <p:txBody>
          <a:bodyPr/>
          <a:lstStyle/>
          <a:p>
            <a:endParaRPr lang="en-US"/>
          </a:p>
        </p:txBody>
      </p:sp>
      <p:sp>
        <p:nvSpPr>
          <p:cNvPr id="6" name="Shape 4"/>
          <p:cNvSpPr/>
          <p:nvPr/>
        </p:nvSpPr>
        <p:spPr>
          <a:xfrm>
            <a:off x="347472" y="1673352"/>
            <a:ext cx="237744" cy="237744"/>
          </a:xfrm>
          <a:prstGeom prst="ellipse">
            <a:avLst/>
          </a:prstGeom>
          <a:solidFill>
            <a:srgbClr val="02C39A"/>
          </a:solidFill>
          <a:ln w="12700">
            <a:solidFill>
              <a:srgbClr val="02C39A"/>
            </a:solidFill>
            <a:prstDash val="solid"/>
          </a:ln>
        </p:spPr>
        <p:txBody>
          <a:bodyPr/>
          <a:lstStyle/>
          <a:p>
            <a:endParaRPr lang="en-US"/>
          </a:p>
        </p:txBody>
      </p:sp>
      <p:sp>
        <p:nvSpPr>
          <p:cNvPr id="7" name="Text 5"/>
          <p:cNvSpPr/>
          <p:nvPr/>
        </p:nvSpPr>
        <p:spPr>
          <a:xfrm>
            <a:off x="347472" y="1673352"/>
            <a:ext cx="237744" cy="237744"/>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8" name="Text 6"/>
          <p:cNvSpPr/>
          <p:nvPr/>
        </p:nvSpPr>
        <p:spPr>
          <a:xfrm>
            <a:off x="685800" y="1600200"/>
            <a:ext cx="8092440" cy="384048"/>
          </a:xfrm>
          <a:prstGeom prst="rect">
            <a:avLst/>
          </a:prstGeom>
          <a:noFill/>
          <a:ln/>
        </p:spPr>
        <p:txBody>
          <a:bodyPr wrap="square" rtlCol="0" anchor="ctr"/>
          <a:lstStyle/>
          <a:p>
            <a:pPr marL="0" indent="0">
              <a:buNone/>
            </a:pPr>
            <a:r>
              <a:rPr lang="en-US" sz="1200" dirty="0">
                <a:solidFill>
                  <a:srgbClr val="1A2E35"/>
                </a:solidFill>
                <a:latin typeface="Calibri" pitchFamily="34" charset="0"/>
                <a:ea typeface="Calibri" pitchFamily="34" charset="-122"/>
                <a:cs typeface="Calibri" pitchFamily="34" charset="-120"/>
              </a:rPr>
              <a:t>State the regression model used and justify the choice</a:t>
            </a:r>
            <a:endParaRPr lang="en-US" sz="1200" dirty="0"/>
          </a:p>
        </p:txBody>
      </p:sp>
      <p:sp>
        <p:nvSpPr>
          <p:cNvPr id="9" name="Shape 7"/>
          <p:cNvSpPr/>
          <p:nvPr/>
        </p:nvSpPr>
        <p:spPr>
          <a:xfrm>
            <a:off x="274320" y="2020824"/>
            <a:ext cx="8595360" cy="384048"/>
          </a:xfrm>
          <a:prstGeom prst="rect">
            <a:avLst/>
          </a:prstGeom>
          <a:solidFill>
            <a:srgbClr val="FFFFFF"/>
          </a:solidFill>
          <a:ln w="3810">
            <a:solidFill>
              <a:srgbClr val="DDDDDD"/>
            </a:solidFill>
            <a:prstDash val="solid"/>
          </a:ln>
        </p:spPr>
        <p:txBody>
          <a:bodyPr/>
          <a:lstStyle/>
          <a:p>
            <a:endParaRPr lang="en-US"/>
          </a:p>
        </p:txBody>
      </p:sp>
      <p:sp>
        <p:nvSpPr>
          <p:cNvPr id="10" name="Shape 8"/>
          <p:cNvSpPr/>
          <p:nvPr/>
        </p:nvSpPr>
        <p:spPr>
          <a:xfrm>
            <a:off x="347472" y="2093976"/>
            <a:ext cx="237744" cy="237744"/>
          </a:xfrm>
          <a:prstGeom prst="ellipse">
            <a:avLst/>
          </a:prstGeom>
          <a:solidFill>
            <a:srgbClr val="02C39A"/>
          </a:solidFill>
          <a:ln w="12700">
            <a:solidFill>
              <a:srgbClr val="02C39A"/>
            </a:solidFill>
            <a:prstDash val="solid"/>
          </a:ln>
        </p:spPr>
        <p:txBody>
          <a:bodyPr/>
          <a:lstStyle/>
          <a:p>
            <a:endParaRPr lang="en-US"/>
          </a:p>
        </p:txBody>
      </p:sp>
      <p:sp>
        <p:nvSpPr>
          <p:cNvPr id="11" name="Text 9"/>
          <p:cNvSpPr/>
          <p:nvPr/>
        </p:nvSpPr>
        <p:spPr>
          <a:xfrm>
            <a:off x="347472" y="2093976"/>
            <a:ext cx="237744" cy="237744"/>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12" name="Text 10"/>
          <p:cNvSpPr/>
          <p:nvPr/>
        </p:nvSpPr>
        <p:spPr>
          <a:xfrm>
            <a:off x="685800" y="2020824"/>
            <a:ext cx="8092440" cy="384048"/>
          </a:xfrm>
          <a:prstGeom prst="rect">
            <a:avLst/>
          </a:prstGeom>
          <a:noFill/>
          <a:ln/>
        </p:spPr>
        <p:txBody>
          <a:bodyPr wrap="square" rtlCol="0" anchor="ctr"/>
          <a:lstStyle/>
          <a:p>
            <a:pPr marL="0" indent="0">
              <a:buNone/>
            </a:pPr>
            <a:r>
              <a:rPr lang="en-US" sz="1200" dirty="0">
                <a:solidFill>
                  <a:srgbClr val="1A2E35"/>
                </a:solidFill>
                <a:latin typeface="Calibri" pitchFamily="34" charset="0"/>
                <a:ea typeface="Calibri" pitchFamily="34" charset="-122"/>
                <a:cs typeface="Calibri" pitchFamily="34" charset="-120"/>
              </a:rPr>
              <a:t>Report both unadjusted (crude) AND adjusted estimates</a:t>
            </a:r>
            <a:endParaRPr lang="en-US" sz="1200" dirty="0"/>
          </a:p>
        </p:txBody>
      </p:sp>
      <p:sp>
        <p:nvSpPr>
          <p:cNvPr id="13" name="Shape 11"/>
          <p:cNvSpPr/>
          <p:nvPr/>
        </p:nvSpPr>
        <p:spPr>
          <a:xfrm>
            <a:off x="274320" y="2441448"/>
            <a:ext cx="8595360" cy="384048"/>
          </a:xfrm>
          <a:prstGeom prst="rect">
            <a:avLst/>
          </a:prstGeom>
          <a:solidFill>
            <a:srgbClr val="E8F4F5"/>
          </a:solidFill>
          <a:ln w="3810">
            <a:solidFill>
              <a:srgbClr val="DDDDDD"/>
            </a:solidFill>
            <a:prstDash val="solid"/>
          </a:ln>
        </p:spPr>
        <p:txBody>
          <a:bodyPr/>
          <a:lstStyle/>
          <a:p>
            <a:endParaRPr lang="en-US"/>
          </a:p>
        </p:txBody>
      </p:sp>
      <p:sp>
        <p:nvSpPr>
          <p:cNvPr id="14" name="Shape 12"/>
          <p:cNvSpPr/>
          <p:nvPr/>
        </p:nvSpPr>
        <p:spPr>
          <a:xfrm>
            <a:off x="347472" y="2514600"/>
            <a:ext cx="237744" cy="237744"/>
          </a:xfrm>
          <a:prstGeom prst="ellipse">
            <a:avLst/>
          </a:prstGeom>
          <a:solidFill>
            <a:srgbClr val="02C39A"/>
          </a:solidFill>
          <a:ln w="12700">
            <a:solidFill>
              <a:srgbClr val="02C39A"/>
            </a:solidFill>
            <a:prstDash val="solid"/>
          </a:ln>
        </p:spPr>
        <p:txBody>
          <a:bodyPr/>
          <a:lstStyle/>
          <a:p>
            <a:endParaRPr lang="en-US"/>
          </a:p>
        </p:txBody>
      </p:sp>
      <p:sp>
        <p:nvSpPr>
          <p:cNvPr id="15" name="Text 13"/>
          <p:cNvSpPr/>
          <p:nvPr/>
        </p:nvSpPr>
        <p:spPr>
          <a:xfrm>
            <a:off x="347472" y="2514600"/>
            <a:ext cx="237744" cy="237744"/>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16" name="Text 14"/>
          <p:cNvSpPr/>
          <p:nvPr/>
        </p:nvSpPr>
        <p:spPr>
          <a:xfrm>
            <a:off x="685800" y="2441448"/>
            <a:ext cx="8092440" cy="384048"/>
          </a:xfrm>
          <a:prstGeom prst="rect">
            <a:avLst/>
          </a:prstGeom>
          <a:noFill/>
          <a:ln/>
        </p:spPr>
        <p:txBody>
          <a:bodyPr wrap="square" rtlCol="0" anchor="ctr"/>
          <a:lstStyle/>
          <a:p>
            <a:pPr marL="0" indent="0">
              <a:buNone/>
            </a:pPr>
            <a:r>
              <a:rPr lang="en-US" sz="1200" dirty="0">
                <a:solidFill>
                  <a:srgbClr val="1A2E35"/>
                </a:solidFill>
                <a:latin typeface="Calibri" pitchFamily="34" charset="0"/>
                <a:ea typeface="Calibri" pitchFamily="34" charset="-122"/>
                <a:cs typeface="Calibri" pitchFamily="34" charset="-120"/>
              </a:rPr>
              <a:t>List all variables included and rationale (DAG, literature)</a:t>
            </a:r>
            <a:endParaRPr lang="en-US" sz="1200" dirty="0"/>
          </a:p>
        </p:txBody>
      </p:sp>
      <p:sp>
        <p:nvSpPr>
          <p:cNvPr id="17" name="Shape 15"/>
          <p:cNvSpPr/>
          <p:nvPr/>
        </p:nvSpPr>
        <p:spPr>
          <a:xfrm>
            <a:off x="274320" y="2862072"/>
            <a:ext cx="8595360" cy="384048"/>
          </a:xfrm>
          <a:prstGeom prst="rect">
            <a:avLst/>
          </a:prstGeom>
          <a:solidFill>
            <a:srgbClr val="FFFFFF"/>
          </a:solidFill>
          <a:ln w="3810">
            <a:solidFill>
              <a:srgbClr val="DDDDDD"/>
            </a:solidFill>
            <a:prstDash val="solid"/>
          </a:ln>
        </p:spPr>
        <p:txBody>
          <a:bodyPr/>
          <a:lstStyle/>
          <a:p>
            <a:endParaRPr lang="en-US"/>
          </a:p>
        </p:txBody>
      </p:sp>
      <p:sp>
        <p:nvSpPr>
          <p:cNvPr id="18" name="Shape 16"/>
          <p:cNvSpPr/>
          <p:nvPr/>
        </p:nvSpPr>
        <p:spPr>
          <a:xfrm>
            <a:off x="347472" y="2935224"/>
            <a:ext cx="237744" cy="237744"/>
          </a:xfrm>
          <a:prstGeom prst="ellipse">
            <a:avLst/>
          </a:prstGeom>
          <a:solidFill>
            <a:srgbClr val="02C39A"/>
          </a:solidFill>
          <a:ln w="12700">
            <a:solidFill>
              <a:srgbClr val="02C39A"/>
            </a:solidFill>
            <a:prstDash val="solid"/>
          </a:ln>
        </p:spPr>
        <p:txBody>
          <a:bodyPr/>
          <a:lstStyle/>
          <a:p>
            <a:endParaRPr lang="en-US"/>
          </a:p>
        </p:txBody>
      </p:sp>
      <p:sp>
        <p:nvSpPr>
          <p:cNvPr id="19" name="Text 17"/>
          <p:cNvSpPr/>
          <p:nvPr/>
        </p:nvSpPr>
        <p:spPr>
          <a:xfrm>
            <a:off x="347472" y="2935224"/>
            <a:ext cx="237744" cy="237744"/>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20" name="Text 18"/>
          <p:cNvSpPr/>
          <p:nvPr/>
        </p:nvSpPr>
        <p:spPr>
          <a:xfrm>
            <a:off x="685800" y="2862072"/>
            <a:ext cx="8092440" cy="384048"/>
          </a:xfrm>
          <a:prstGeom prst="rect">
            <a:avLst/>
          </a:prstGeom>
          <a:noFill/>
          <a:ln/>
        </p:spPr>
        <p:txBody>
          <a:bodyPr wrap="square" rtlCol="0" anchor="ctr"/>
          <a:lstStyle/>
          <a:p>
            <a:pPr marL="0" indent="0">
              <a:buNone/>
            </a:pPr>
            <a:r>
              <a:rPr lang="en-US" sz="1200" dirty="0">
                <a:solidFill>
                  <a:srgbClr val="1A2E35"/>
                </a:solidFill>
                <a:latin typeface="Calibri" pitchFamily="34" charset="0"/>
                <a:ea typeface="Calibri" pitchFamily="34" charset="-122"/>
                <a:cs typeface="Calibri" pitchFamily="34" charset="-120"/>
              </a:rPr>
              <a:t>Report sample size, number of events, missing data</a:t>
            </a:r>
            <a:endParaRPr lang="en-US" sz="1200" dirty="0"/>
          </a:p>
        </p:txBody>
      </p:sp>
      <p:sp>
        <p:nvSpPr>
          <p:cNvPr id="21" name="Shape 19"/>
          <p:cNvSpPr/>
          <p:nvPr/>
        </p:nvSpPr>
        <p:spPr>
          <a:xfrm>
            <a:off x="274320" y="3282696"/>
            <a:ext cx="8595360" cy="384048"/>
          </a:xfrm>
          <a:prstGeom prst="rect">
            <a:avLst/>
          </a:prstGeom>
          <a:solidFill>
            <a:srgbClr val="E8F4F5"/>
          </a:solidFill>
          <a:ln w="3810">
            <a:solidFill>
              <a:srgbClr val="DDDDDD"/>
            </a:solidFill>
            <a:prstDash val="solid"/>
          </a:ln>
        </p:spPr>
        <p:txBody>
          <a:bodyPr/>
          <a:lstStyle/>
          <a:p>
            <a:endParaRPr lang="en-US"/>
          </a:p>
        </p:txBody>
      </p:sp>
      <p:sp>
        <p:nvSpPr>
          <p:cNvPr id="22" name="Shape 20"/>
          <p:cNvSpPr/>
          <p:nvPr/>
        </p:nvSpPr>
        <p:spPr>
          <a:xfrm>
            <a:off x="347472" y="3355848"/>
            <a:ext cx="237744" cy="237744"/>
          </a:xfrm>
          <a:prstGeom prst="ellipse">
            <a:avLst/>
          </a:prstGeom>
          <a:solidFill>
            <a:srgbClr val="02C39A"/>
          </a:solidFill>
          <a:ln w="12700">
            <a:solidFill>
              <a:srgbClr val="02C39A"/>
            </a:solidFill>
            <a:prstDash val="solid"/>
          </a:ln>
        </p:spPr>
        <p:txBody>
          <a:bodyPr/>
          <a:lstStyle/>
          <a:p>
            <a:endParaRPr lang="en-US"/>
          </a:p>
        </p:txBody>
      </p:sp>
      <p:sp>
        <p:nvSpPr>
          <p:cNvPr id="23" name="Text 21"/>
          <p:cNvSpPr/>
          <p:nvPr/>
        </p:nvSpPr>
        <p:spPr>
          <a:xfrm>
            <a:off x="347472" y="3355848"/>
            <a:ext cx="237744" cy="237744"/>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24" name="Text 22"/>
          <p:cNvSpPr/>
          <p:nvPr/>
        </p:nvSpPr>
        <p:spPr>
          <a:xfrm>
            <a:off x="685800" y="3282696"/>
            <a:ext cx="8092440" cy="384048"/>
          </a:xfrm>
          <a:prstGeom prst="rect">
            <a:avLst/>
          </a:prstGeom>
          <a:noFill/>
          <a:ln/>
        </p:spPr>
        <p:txBody>
          <a:bodyPr wrap="square" rtlCol="0" anchor="ctr"/>
          <a:lstStyle/>
          <a:p>
            <a:pPr marL="0" indent="0">
              <a:buNone/>
            </a:pPr>
            <a:r>
              <a:rPr lang="en-US" sz="1200" dirty="0">
                <a:solidFill>
                  <a:srgbClr val="1A2E35"/>
                </a:solidFill>
                <a:latin typeface="Calibri" pitchFamily="34" charset="0"/>
                <a:ea typeface="Calibri" pitchFamily="34" charset="-122"/>
                <a:cs typeface="Calibri" pitchFamily="34" charset="-120"/>
              </a:rPr>
              <a:t>Present effect estimates with 95% confidence intervals</a:t>
            </a:r>
            <a:endParaRPr lang="en-US" sz="1200" dirty="0"/>
          </a:p>
        </p:txBody>
      </p:sp>
      <p:sp>
        <p:nvSpPr>
          <p:cNvPr id="25" name="Shape 23"/>
          <p:cNvSpPr/>
          <p:nvPr/>
        </p:nvSpPr>
        <p:spPr>
          <a:xfrm>
            <a:off x="274320" y="3703320"/>
            <a:ext cx="8595360" cy="384048"/>
          </a:xfrm>
          <a:prstGeom prst="rect">
            <a:avLst/>
          </a:prstGeom>
          <a:solidFill>
            <a:srgbClr val="FFFFFF"/>
          </a:solidFill>
          <a:ln w="3810">
            <a:solidFill>
              <a:srgbClr val="DDDDDD"/>
            </a:solidFill>
            <a:prstDash val="solid"/>
          </a:ln>
        </p:spPr>
        <p:txBody>
          <a:bodyPr/>
          <a:lstStyle/>
          <a:p>
            <a:endParaRPr lang="en-US"/>
          </a:p>
        </p:txBody>
      </p:sp>
      <p:sp>
        <p:nvSpPr>
          <p:cNvPr id="26" name="Shape 24"/>
          <p:cNvSpPr/>
          <p:nvPr/>
        </p:nvSpPr>
        <p:spPr>
          <a:xfrm>
            <a:off x="347472" y="3776472"/>
            <a:ext cx="237744" cy="237744"/>
          </a:xfrm>
          <a:prstGeom prst="ellipse">
            <a:avLst/>
          </a:prstGeom>
          <a:solidFill>
            <a:srgbClr val="02C39A"/>
          </a:solidFill>
          <a:ln w="12700">
            <a:solidFill>
              <a:srgbClr val="02C39A"/>
            </a:solidFill>
            <a:prstDash val="solid"/>
          </a:ln>
        </p:spPr>
        <p:txBody>
          <a:bodyPr/>
          <a:lstStyle/>
          <a:p>
            <a:endParaRPr lang="en-US"/>
          </a:p>
        </p:txBody>
      </p:sp>
      <p:sp>
        <p:nvSpPr>
          <p:cNvPr id="27" name="Text 25"/>
          <p:cNvSpPr/>
          <p:nvPr/>
        </p:nvSpPr>
        <p:spPr>
          <a:xfrm>
            <a:off x="347472" y="3776472"/>
            <a:ext cx="237744" cy="237744"/>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28" name="Text 26"/>
          <p:cNvSpPr/>
          <p:nvPr/>
        </p:nvSpPr>
        <p:spPr>
          <a:xfrm>
            <a:off x="685800" y="3703320"/>
            <a:ext cx="8092440" cy="384048"/>
          </a:xfrm>
          <a:prstGeom prst="rect">
            <a:avLst/>
          </a:prstGeom>
          <a:noFill/>
          <a:ln/>
        </p:spPr>
        <p:txBody>
          <a:bodyPr wrap="square" rtlCol="0" anchor="ctr"/>
          <a:lstStyle/>
          <a:p>
            <a:pPr marL="0" indent="0">
              <a:buNone/>
            </a:pPr>
            <a:r>
              <a:rPr lang="en-US" sz="1200" dirty="0">
                <a:solidFill>
                  <a:srgbClr val="1A2E35"/>
                </a:solidFill>
                <a:latin typeface="Calibri" pitchFamily="34" charset="0"/>
                <a:ea typeface="Calibri" pitchFamily="34" charset="-122"/>
                <a:cs typeface="Calibri" pitchFamily="34" charset="-120"/>
              </a:rPr>
              <a:t>Report model fit statistics (R², AUC, Hosmer-Lemeshow)</a:t>
            </a:r>
            <a:endParaRPr lang="en-US" sz="1200" dirty="0"/>
          </a:p>
        </p:txBody>
      </p:sp>
      <p:sp>
        <p:nvSpPr>
          <p:cNvPr id="29" name="Shape 27"/>
          <p:cNvSpPr/>
          <p:nvPr/>
        </p:nvSpPr>
        <p:spPr>
          <a:xfrm>
            <a:off x="274320" y="4123944"/>
            <a:ext cx="8595360" cy="384048"/>
          </a:xfrm>
          <a:prstGeom prst="rect">
            <a:avLst/>
          </a:prstGeom>
          <a:solidFill>
            <a:srgbClr val="E8F4F5"/>
          </a:solidFill>
          <a:ln w="3810">
            <a:solidFill>
              <a:srgbClr val="DDDDDD"/>
            </a:solidFill>
            <a:prstDash val="solid"/>
          </a:ln>
        </p:spPr>
        <p:txBody>
          <a:bodyPr/>
          <a:lstStyle/>
          <a:p>
            <a:endParaRPr lang="en-US"/>
          </a:p>
        </p:txBody>
      </p:sp>
      <p:sp>
        <p:nvSpPr>
          <p:cNvPr id="30" name="Shape 28"/>
          <p:cNvSpPr/>
          <p:nvPr/>
        </p:nvSpPr>
        <p:spPr>
          <a:xfrm>
            <a:off x="347472" y="4197096"/>
            <a:ext cx="237744" cy="237744"/>
          </a:xfrm>
          <a:prstGeom prst="ellipse">
            <a:avLst/>
          </a:prstGeom>
          <a:solidFill>
            <a:srgbClr val="02C39A"/>
          </a:solidFill>
          <a:ln w="12700">
            <a:solidFill>
              <a:srgbClr val="02C39A"/>
            </a:solidFill>
            <a:prstDash val="solid"/>
          </a:ln>
        </p:spPr>
        <p:txBody>
          <a:bodyPr/>
          <a:lstStyle/>
          <a:p>
            <a:endParaRPr lang="en-US"/>
          </a:p>
        </p:txBody>
      </p:sp>
      <p:sp>
        <p:nvSpPr>
          <p:cNvPr id="31" name="Text 29"/>
          <p:cNvSpPr/>
          <p:nvPr/>
        </p:nvSpPr>
        <p:spPr>
          <a:xfrm>
            <a:off x="347472" y="4197096"/>
            <a:ext cx="237744" cy="237744"/>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32" name="Text 30"/>
          <p:cNvSpPr/>
          <p:nvPr/>
        </p:nvSpPr>
        <p:spPr>
          <a:xfrm>
            <a:off x="685800" y="4123944"/>
            <a:ext cx="8092440" cy="384048"/>
          </a:xfrm>
          <a:prstGeom prst="rect">
            <a:avLst/>
          </a:prstGeom>
          <a:noFill/>
          <a:ln/>
        </p:spPr>
        <p:txBody>
          <a:bodyPr wrap="square" rtlCol="0" anchor="ctr"/>
          <a:lstStyle/>
          <a:p>
            <a:pPr marL="0" indent="0">
              <a:buNone/>
            </a:pPr>
            <a:r>
              <a:rPr lang="en-US" sz="1200" dirty="0">
                <a:solidFill>
                  <a:srgbClr val="1A2E35"/>
                </a:solidFill>
                <a:latin typeface="Calibri" pitchFamily="34" charset="0"/>
                <a:ea typeface="Calibri" pitchFamily="34" charset="-122"/>
                <a:cs typeface="Calibri" pitchFamily="34" charset="-120"/>
              </a:rPr>
              <a:t>Describe how missing data were handled</a:t>
            </a:r>
            <a:endParaRPr lang="en-US" sz="1200" dirty="0"/>
          </a:p>
        </p:txBody>
      </p:sp>
      <p:sp>
        <p:nvSpPr>
          <p:cNvPr id="33" name="Shape 31"/>
          <p:cNvSpPr/>
          <p:nvPr/>
        </p:nvSpPr>
        <p:spPr>
          <a:xfrm>
            <a:off x="274320" y="4544568"/>
            <a:ext cx="8595360" cy="384048"/>
          </a:xfrm>
          <a:prstGeom prst="rect">
            <a:avLst/>
          </a:prstGeom>
          <a:solidFill>
            <a:srgbClr val="FFFFFF"/>
          </a:solidFill>
          <a:ln w="3810">
            <a:solidFill>
              <a:srgbClr val="DDDDDD"/>
            </a:solidFill>
            <a:prstDash val="solid"/>
          </a:ln>
        </p:spPr>
        <p:txBody>
          <a:bodyPr/>
          <a:lstStyle/>
          <a:p>
            <a:endParaRPr lang="en-US"/>
          </a:p>
        </p:txBody>
      </p:sp>
      <p:sp>
        <p:nvSpPr>
          <p:cNvPr id="34" name="Shape 32"/>
          <p:cNvSpPr/>
          <p:nvPr/>
        </p:nvSpPr>
        <p:spPr>
          <a:xfrm>
            <a:off x="347472" y="4617720"/>
            <a:ext cx="237744" cy="237744"/>
          </a:xfrm>
          <a:prstGeom prst="ellipse">
            <a:avLst/>
          </a:prstGeom>
          <a:solidFill>
            <a:srgbClr val="02C39A"/>
          </a:solidFill>
          <a:ln w="12700">
            <a:solidFill>
              <a:srgbClr val="02C39A"/>
            </a:solidFill>
            <a:prstDash val="solid"/>
          </a:ln>
        </p:spPr>
        <p:txBody>
          <a:bodyPr/>
          <a:lstStyle/>
          <a:p>
            <a:endParaRPr lang="en-US"/>
          </a:p>
        </p:txBody>
      </p:sp>
      <p:sp>
        <p:nvSpPr>
          <p:cNvPr id="35" name="Text 33"/>
          <p:cNvSpPr/>
          <p:nvPr/>
        </p:nvSpPr>
        <p:spPr>
          <a:xfrm>
            <a:off x="347472" y="4617720"/>
            <a:ext cx="237744" cy="237744"/>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36" name="Text 34"/>
          <p:cNvSpPr/>
          <p:nvPr/>
        </p:nvSpPr>
        <p:spPr>
          <a:xfrm>
            <a:off x="685800" y="4544568"/>
            <a:ext cx="8092440" cy="384048"/>
          </a:xfrm>
          <a:prstGeom prst="rect">
            <a:avLst/>
          </a:prstGeom>
          <a:noFill/>
          <a:ln/>
        </p:spPr>
        <p:txBody>
          <a:bodyPr wrap="square" rtlCol="0" anchor="ctr"/>
          <a:lstStyle/>
          <a:p>
            <a:pPr marL="0" indent="0">
              <a:buNone/>
            </a:pPr>
            <a:r>
              <a:rPr lang="en-US" sz="1200" dirty="0">
                <a:solidFill>
                  <a:srgbClr val="1A2E35"/>
                </a:solidFill>
                <a:latin typeface="Calibri" pitchFamily="34" charset="0"/>
                <a:ea typeface="Calibri" pitchFamily="34" charset="-122"/>
                <a:cs typeface="Calibri" pitchFamily="34" charset="-120"/>
              </a:rPr>
              <a:t>Conduct and report sensitivity analyses</a:t>
            </a:r>
            <a:endParaRPr lang="en-US" sz="1200" dirty="0"/>
          </a:p>
        </p:txBody>
      </p:sp>
      <p:sp>
        <p:nvSpPr>
          <p:cNvPr id="37" name="Text 35"/>
          <p:cNvSpPr/>
          <p:nvPr/>
        </p:nvSpPr>
        <p:spPr>
          <a:xfrm>
            <a:off x="274320" y="4846320"/>
            <a:ext cx="8595360" cy="228600"/>
          </a:xfrm>
          <a:prstGeom prst="rect">
            <a:avLst/>
          </a:prstGeom>
          <a:noFill/>
          <a:ln/>
        </p:spPr>
        <p:txBody>
          <a:bodyPr wrap="square" rtlCol="0" anchor="ctr"/>
          <a:lstStyle/>
          <a:p>
            <a:pPr marL="0" indent="0" algn="ctr">
              <a:buNone/>
            </a:pPr>
            <a:r>
              <a:rPr lang="en-US" sz="1000" i="1" dirty="0">
                <a:solidFill>
                  <a:srgbClr val="3D6470"/>
                </a:solidFill>
                <a:latin typeface="Calibri" pitchFamily="34" charset="0"/>
                <a:ea typeface="Calibri" pitchFamily="34" charset="-122"/>
                <a:cs typeface="Calibri" pitchFamily="34" charset="-120"/>
              </a:rPr>
              <a:t>Follow STROBE guidelines for observational studies | CONSORT for RCTs | TRIPOD for prediction models</a:t>
            </a:r>
            <a:endParaRPr lang="en-US" sz="10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82296"/>
          </a:xfrm>
          <a:prstGeom prst="rect">
            <a:avLst/>
          </a:prstGeom>
          <a:solidFill>
            <a:srgbClr val="1E2761"/>
          </a:solidFill>
          <a:ln w="12700">
            <a:solidFill>
              <a:srgbClr val="1E2761"/>
            </a:solidFill>
            <a:prstDash val="solid"/>
          </a:ln>
        </p:spPr>
        <p:txBody>
          <a:bodyPr/>
          <a:lstStyle/>
          <a:p>
            <a:endParaRPr lang="en-US"/>
          </a:p>
        </p:txBody>
      </p:sp>
      <p:sp>
        <p:nvSpPr>
          <p:cNvPr id="3" name="Text 1"/>
          <p:cNvSpPr/>
          <p:nvPr/>
        </p:nvSpPr>
        <p:spPr>
          <a:xfrm>
            <a:off x="411480" y="137160"/>
            <a:ext cx="8321040" cy="658368"/>
          </a:xfrm>
          <a:prstGeom prst="rect">
            <a:avLst/>
          </a:prstGeom>
          <a:noFill/>
          <a:ln/>
        </p:spPr>
        <p:txBody>
          <a:bodyPr wrap="square" lIns="0" tIns="0" rIns="0" bIns="0" rtlCol="0" anchor="ctr"/>
          <a:lstStyle/>
          <a:p>
            <a:pPr marL="0" indent="0">
              <a:buNone/>
            </a:pPr>
            <a:r>
              <a:rPr lang="en-US" sz="2700" b="1" dirty="0">
                <a:solidFill>
                  <a:srgbClr val="1E2761"/>
                </a:solidFill>
                <a:latin typeface="Georgia" pitchFamily="34" charset="0"/>
                <a:ea typeface="Georgia" pitchFamily="34" charset="-122"/>
                <a:cs typeface="Georgia" pitchFamily="34" charset="-120"/>
              </a:rPr>
              <a:t>Reporting Multivariable Analysis Results</a:t>
            </a:r>
            <a:endParaRPr lang="en-US" sz="2700" dirty="0"/>
          </a:p>
        </p:txBody>
      </p:sp>
      <p:sp>
        <p:nvSpPr>
          <p:cNvPr id="4" name="Text 2"/>
          <p:cNvSpPr/>
          <p:nvPr/>
        </p:nvSpPr>
        <p:spPr>
          <a:xfrm>
            <a:off x="411480" y="822960"/>
            <a:ext cx="8321040" cy="320040"/>
          </a:xfrm>
          <a:prstGeom prst="rect">
            <a:avLst/>
          </a:prstGeom>
          <a:noFill/>
          <a:ln/>
        </p:spPr>
        <p:txBody>
          <a:bodyPr wrap="square" lIns="0" tIns="0" rIns="0" bIns="0" rtlCol="0" anchor="ctr"/>
          <a:lstStyle/>
          <a:p>
            <a:pPr marL="0" indent="0">
              <a:buNone/>
            </a:pPr>
            <a:r>
              <a:rPr lang="en-US" sz="1300" i="1" dirty="0">
                <a:solidFill>
                  <a:srgbClr val="5C5F7A"/>
                </a:solidFill>
                <a:latin typeface="Calibri" pitchFamily="34" charset="0"/>
                <a:ea typeface="Calibri" pitchFamily="34" charset="-122"/>
                <a:cs typeface="Calibri" pitchFamily="34" charset="-120"/>
              </a:rPr>
              <a:t>What must appear in a well-written public health manuscript (APA 7 / STROBE guidelines)</a:t>
            </a:r>
            <a:endParaRPr lang="en-US" sz="1300" dirty="0"/>
          </a:p>
        </p:txBody>
      </p:sp>
      <p:graphicFrame>
        <p:nvGraphicFramePr>
          <p:cNvPr id="14" name="Table 0"/>
          <p:cNvGraphicFramePr>
            <a:graphicFrameLocks noGrp="1"/>
          </p:cNvGraphicFramePr>
          <p:nvPr/>
        </p:nvGraphicFramePr>
        <p:xfrm>
          <a:off x="274320" y="1170432"/>
          <a:ext cx="8595360" cy="3657600"/>
        </p:xfrm>
        <a:graphic>
          <a:graphicData uri="http://schemas.openxmlformats.org/drawingml/2006/table">
            <a:tbl>
              <a:tblPr/>
              <a:tblGrid>
                <a:gridCol w="173736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gridCol w="3931920">
                  <a:extLst>
                    <a:ext uri="{9D8B030D-6E8A-4147-A177-3AD203B41FA5}">
                      <a16:colId xmlns:a16="http://schemas.microsoft.com/office/drawing/2014/main" val="20002"/>
                    </a:ext>
                  </a:extLst>
                </a:gridCol>
              </a:tblGrid>
              <a:tr h="457200">
                <a:tc>
                  <a:txBody>
                    <a:bodyPr/>
                    <a:lstStyle/>
                    <a:p>
                      <a:pPr marL="0" indent="0" algn="l">
                        <a:buNone/>
                      </a:pPr>
                      <a:r>
                        <a:rPr lang="en-US" sz="1150" b="1" dirty="0">
                          <a:solidFill>
                            <a:srgbClr val="FFFFFF"/>
                          </a:solidFill>
                          <a:latin typeface="Calibri" pitchFamily="34" charset="0"/>
                          <a:ea typeface="Calibri" pitchFamily="34" charset="-122"/>
                          <a:cs typeface="Calibri" pitchFamily="34" charset="-120"/>
                        </a:rPr>
                        <a:t>Element</a:t>
                      </a:r>
                      <a:endParaRPr lang="en-US" sz="1150" dirty="0">
                        <a:latin typeface="Calibri" charset="0"/>
                        <a:ea typeface="Calibri" charset="0"/>
                        <a:cs typeface="Calibri" charset="0"/>
                      </a:endParaRPr>
                    </a:p>
                  </a:txBody>
                  <a:tcPr anchor="ctr">
                    <a:lnL w="6350" cap="flat" cmpd="sng" algn="ctr">
                      <a:solidFill>
                        <a:srgbClr val="DDE0F0"/>
                      </a:solidFill>
                      <a:prstDash val="solid"/>
                      <a:round/>
                      <a:headEnd type="none" w="med" len="med"/>
                      <a:tailEnd type="none" w="med" len="med"/>
                    </a:lnL>
                    <a:lnR w="6350" cap="flat" cmpd="sng" algn="ctr">
                      <a:solidFill>
                        <a:srgbClr val="DDE0F0"/>
                      </a:solidFill>
                      <a:prstDash val="solid"/>
                      <a:round/>
                      <a:headEnd type="none" w="med" len="med"/>
                      <a:tailEnd type="none" w="med" len="med"/>
                    </a:lnR>
                    <a:lnT w="6350" cap="flat" cmpd="sng" algn="ctr">
                      <a:solidFill>
                        <a:srgbClr val="DDE0F0"/>
                      </a:solidFill>
                      <a:prstDash val="solid"/>
                      <a:round/>
                      <a:headEnd type="none" w="med" len="med"/>
                      <a:tailEnd type="none" w="med" len="med"/>
                    </a:lnT>
                    <a:lnB w="6350" cap="flat" cmpd="sng" algn="ctr">
                      <a:solidFill>
                        <a:srgbClr val="DDE0F0"/>
                      </a:solidFill>
                      <a:prstDash val="solid"/>
                      <a:round/>
                      <a:headEnd type="none" w="med" len="med"/>
                      <a:tailEnd type="none" w="med" len="med"/>
                    </a:lnB>
                    <a:solidFill>
                      <a:srgbClr val="1E2761"/>
                    </a:solidFill>
                  </a:tcPr>
                </a:tc>
                <a:tc>
                  <a:txBody>
                    <a:bodyPr/>
                    <a:lstStyle/>
                    <a:p>
                      <a:pPr marL="0" indent="0" algn="l">
                        <a:buNone/>
                      </a:pPr>
                      <a:r>
                        <a:rPr lang="en-US" sz="1150" b="1" dirty="0">
                          <a:solidFill>
                            <a:srgbClr val="FFFFFF"/>
                          </a:solidFill>
                          <a:latin typeface="Calibri" pitchFamily="34" charset="0"/>
                          <a:ea typeface="Calibri" pitchFamily="34" charset="-122"/>
                          <a:cs typeface="Calibri" pitchFamily="34" charset="-120"/>
                        </a:rPr>
                        <a:t>What to Report</a:t>
                      </a:r>
                      <a:endParaRPr lang="en-US" sz="1150" dirty="0">
                        <a:latin typeface="Calibri" charset="0"/>
                        <a:ea typeface="Calibri" charset="0"/>
                        <a:cs typeface="Calibri" charset="0"/>
                      </a:endParaRPr>
                    </a:p>
                  </a:txBody>
                  <a:tcPr anchor="ctr">
                    <a:lnL w="6350" cap="flat" cmpd="sng" algn="ctr">
                      <a:solidFill>
                        <a:srgbClr val="DDE0F0"/>
                      </a:solidFill>
                      <a:prstDash val="solid"/>
                      <a:round/>
                      <a:headEnd type="none" w="med" len="med"/>
                      <a:tailEnd type="none" w="med" len="med"/>
                    </a:lnL>
                    <a:lnR w="6350" cap="flat" cmpd="sng" algn="ctr">
                      <a:solidFill>
                        <a:srgbClr val="DDE0F0"/>
                      </a:solidFill>
                      <a:prstDash val="solid"/>
                      <a:round/>
                      <a:headEnd type="none" w="med" len="med"/>
                      <a:tailEnd type="none" w="med" len="med"/>
                    </a:lnR>
                    <a:lnT w="6350" cap="flat" cmpd="sng" algn="ctr">
                      <a:solidFill>
                        <a:srgbClr val="DDE0F0"/>
                      </a:solidFill>
                      <a:prstDash val="solid"/>
                      <a:round/>
                      <a:headEnd type="none" w="med" len="med"/>
                      <a:tailEnd type="none" w="med" len="med"/>
                    </a:lnT>
                    <a:lnB w="6350" cap="flat" cmpd="sng" algn="ctr">
                      <a:solidFill>
                        <a:srgbClr val="DDE0F0"/>
                      </a:solidFill>
                      <a:prstDash val="solid"/>
                      <a:round/>
                      <a:headEnd type="none" w="med" len="med"/>
                      <a:tailEnd type="none" w="med" len="med"/>
                    </a:lnB>
                    <a:solidFill>
                      <a:srgbClr val="1E2761"/>
                    </a:solidFill>
                  </a:tcPr>
                </a:tc>
                <a:tc>
                  <a:txBody>
                    <a:bodyPr/>
                    <a:lstStyle/>
                    <a:p>
                      <a:pPr marL="0" indent="0" algn="l">
                        <a:buNone/>
                      </a:pPr>
                      <a:r>
                        <a:rPr lang="en-US" sz="1150" b="1" dirty="0">
                          <a:solidFill>
                            <a:srgbClr val="FFFFFF"/>
                          </a:solidFill>
                          <a:latin typeface="Calibri" pitchFamily="34" charset="0"/>
                          <a:ea typeface="Calibri" pitchFamily="34" charset="-122"/>
                          <a:cs typeface="Calibri" pitchFamily="34" charset="-120"/>
                        </a:rPr>
                        <a:t>Example Text</a:t>
                      </a:r>
                      <a:endParaRPr lang="en-US" sz="1150" dirty="0">
                        <a:latin typeface="Calibri" charset="0"/>
                        <a:ea typeface="Calibri" charset="0"/>
                        <a:cs typeface="Calibri" charset="0"/>
                      </a:endParaRPr>
                    </a:p>
                  </a:txBody>
                  <a:tcPr anchor="ctr">
                    <a:lnL w="6350" cap="flat" cmpd="sng" algn="ctr">
                      <a:solidFill>
                        <a:srgbClr val="DDE0F0"/>
                      </a:solidFill>
                      <a:prstDash val="solid"/>
                      <a:round/>
                      <a:headEnd type="none" w="med" len="med"/>
                      <a:tailEnd type="none" w="med" len="med"/>
                    </a:lnL>
                    <a:lnR w="6350" cap="flat" cmpd="sng" algn="ctr">
                      <a:solidFill>
                        <a:srgbClr val="DDE0F0"/>
                      </a:solidFill>
                      <a:prstDash val="solid"/>
                      <a:round/>
                      <a:headEnd type="none" w="med" len="med"/>
                      <a:tailEnd type="none" w="med" len="med"/>
                    </a:lnR>
                    <a:lnT w="6350" cap="flat" cmpd="sng" algn="ctr">
                      <a:solidFill>
                        <a:srgbClr val="DDE0F0"/>
                      </a:solidFill>
                      <a:prstDash val="solid"/>
                      <a:round/>
                      <a:headEnd type="none" w="med" len="med"/>
                      <a:tailEnd type="none" w="med" len="med"/>
                    </a:lnT>
                    <a:lnB w="6350" cap="flat" cmpd="sng" algn="ctr">
                      <a:solidFill>
                        <a:srgbClr val="DDE0F0"/>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457200">
                <a:tc>
                  <a:txBody>
                    <a:bodyPr/>
                    <a:lstStyle/>
                    <a:p>
                      <a:pPr marL="0" indent="0" algn="l">
                        <a:buNone/>
                      </a:pPr>
                      <a:r>
                        <a:rPr lang="en-US" sz="1150" dirty="0">
                          <a:solidFill>
                            <a:srgbClr val="000000"/>
                          </a:solidFill>
                          <a:latin typeface="Calibri" pitchFamily="34" charset="0"/>
                          <a:ea typeface="Calibri" pitchFamily="34" charset="-122"/>
                          <a:cs typeface="Calibri" pitchFamily="34" charset="-120"/>
                        </a:rPr>
                        <a:t>Sample &amp; missing</a:t>
                      </a:r>
                      <a:endParaRPr lang="en-US" sz="1150" dirty="0">
                        <a:latin typeface="Calibri" charset="0"/>
                        <a:ea typeface="Calibri" charset="0"/>
                        <a:cs typeface="Calibri" charset="0"/>
                      </a:endParaRPr>
                    </a:p>
                  </a:txBody>
                  <a:tcPr anchor="ctr">
                    <a:lnL w="6350" cap="flat" cmpd="sng" algn="ctr">
                      <a:solidFill>
                        <a:srgbClr val="DDE0F0"/>
                      </a:solidFill>
                      <a:prstDash val="solid"/>
                      <a:round/>
                      <a:headEnd type="none" w="med" len="med"/>
                      <a:tailEnd type="none" w="med" len="med"/>
                    </a:lnL>
                    <a:lnR w="6350" cap="flat" cmpd="sng" algn="ctr">
                      <a:solidFill>
                        <a:srgbClr val="DDE0F0"/>
                      </a:solidFill>
                      <a:prstDash val="solid"/>
                      <a:round/>
                      <a:headEnd type="none" w="med" len="med"/>
                      <a:tailEnd type="none" w="med" len="med"/>
                    </a:lnR>
                    <a:lnT w="6350" cap="flat" cmpd="sng" algn="ctr">
                      <a:solidFill>
                        <a:srgbClr val="DDE0F0"/>
                      </a:solidFill>
                      <a:prstDash val="solid"/>
                      <a:round/>
                      <a:headEnd type="none" w="med" len="med"/>
                      <a:tailEnd type="none" w="med" len="med"/>
                    </a:lnT>
                    <a:lnB w="6350" cap="flat" cmpd="sng" algn="ctr">
                      <a:solidFill>
                        <a:srgbClr val="DDE0F0"/>
                      </a:solidFill>
                      <a:prstDash val="solid"/>
                      <a:round/>
                      <a:headEnd type="none" w="med" len="med"/>
                      <a:tailEnd type="none" w="med" len="med"/>
                    </a:lnB>
                    <a:solidFill>
                      <a:srgbClr val="FFFFFF"/>
                    </a:solidFill>
                  </a:tcPr>
                </a:tc>
                <a:tc>
                  <a:txBody>
                    <a:bodyPr/>
                    <a:lstStyle/>
                    <a:p>
                      <a:pPr marL="0" indent="0" algn="l">
                        <a:buNone/>
                      </a:pPr>
                      <a:r>
                        <a:rPr lang="en-US" sz="1150" dirty="0">
                          <a:solidFill>
                            <a:srgbClr val="000000"/>
                          </a:solidFill>
                          <a:latin typeface="Calibri" pitchFamily="34" charset="0"/>
                          <a:ea typeface="Calibri" pitchFamily="34" charset="-122"/>
                          <a:cs typeface="Calibri" pitchFamily="34" charset="-120"/>
                        </a:rPr>
                        <a:t>N, % missing, imputation method</a:t>
                      </a:r>
                      <a:endParaRPr lang="en-US" sz="1150" dirty="0">
                        <a:latin typeface="Calibri" charset="0"/>
                        <a:ea typeface="Calibri" charset="0"/>
                        <a:cs typeface="Calibri" charset="0"/>
                      </a:endParaRPr>
                    </a:p>
                  </a:txBody>
                  <a:tcPr anchor="ctr">
                    <a:lnL w="6350" cap="flat" cmpd="sng" algn="ctr">
                      <a:solidFill>
                        <a:srgbClr val="DDE0F0"/>
                      </a:solidFill>
                      <a:prstDash val="solid"/>
                      <a:round/>
                      <a:headEnd type="none" w="med" len="med"/>
                      <a:tailEnd type="none" w="med" len="med"/>
                    </a:lnL>
                    <a:lnR w="6350" cap="flat" cmpd="sng" algn="ctr">
                      <a:solidFill>
                        <a:srgbClr val="DDE0F0"/>
                      </a:solidFill>
                      <a:prstDash val="solid"/>
                      <a:round/>
                      <a:headEnd type="none" w="med" len="med"/>
                      <a:tailEnd type="none" w="med" len="med"/>
                    </a:lnR>
                    <a:lnT w="6350" cap="flat" cmpd="sng" algn="ctr">
                      <a:solidFill>
                        <a:srgbClr val="DDE0F0"/>
                      </a:solidFill>
                      <a:prstDash val="solid"/>
                      <a:round/>
                      <a:headEnd type="none" w="med" len="med"/>
                      <a:tailEnd type="none" w="med" len="med"/>
                    </a:lnT>
                    <a:lnB w="6350" cap="flat" cmpd="sng" algn="ctr">
                      <a:solidFill>
                        <a:srgbClr val="DDE0F0"/>
                      </a:solidFill>
                      <a:prstDash val="solid"/>
                      <a:round/>
                      <a:headEnd type="none" w="med" len="med"/>
                      <a:tailEnd type="none" w="med" len="med"/>
                    </a:lnB>
                    <a:solidFill>
                      <a:srgbClr val="FFFFFF"/>
                    </a:solidFill>
                  </a:tcPr>
                </a:tc>
                <a:tc>
                  <a:txBody>
                    <a:bodyPr/>
                    <a:lstStyle/>
                    <a:p>
                      <a:pPr marL="0" indent="0" algn="l">
                        <a:buNone/>
                      </a:pPr>
                      <a:r>
                        <a:rPr lang="en-US" sz="1150" dirty="0">
                          <a:solidFill>
                            <a:srgbClr val="000000"/>
                          </a:solidFill>
                          <a:latin typeface="Calibri" pitchFamily="34" charset="0"/>
                          <a:ea typeface="Calibri" pitchFamily="34" charset="-122"/>
                          <a:cs typeface="Calibri" pitchFamily="34" charset="-120"/>
                        </a:rPr>
                        <a:t>N=520; 3.1% missing, multiply imputed (m=20, Rubin's rules)</a:t>
                      </a:r>
                      <a:endParaRPr lang="en-US" sz="1150" dirty="0">
                        <a:latin typeface="Calibri" charset="0"/>
                        <a:ea typeface="Calibri" charset="0"/>
                        <a:cs typeface="Calibri" charset="0"/>
                      </a:endParaRPr>
                    </a:p>
                  </a:txBody>
                  <a:tcPr anchor="ctr">
                    <a:lnL w="6350" cap="flat" cmpd="sng" algn="ctr">
                      <a:solidFill>
                        <a:srgbClr val="DDE0F0"/>
                      </a:solidFill>
                      <a:prstDash val="solid"/>
                      <a:round/>
                      <a:headEnd type="none" w="med" len="med"/>
                      <a:tailEnd type="none" w="med" len="med"/>
                    </a:lnL>
                    <a:lnR w="6350" cap="flat" cmpd="sng" algn="ctr">
                      <a:solidFill>
                        <a:srgbClr val="DDE0F0"/>
                      </a:solidFill>
                      <a:prstDash val="solid"/>
                      <a:round/>
                      <a:headEnd type="none" w="med" len="med"/>
                      <a:tailEnd type="none" w="med" len="med"/>
                    </a:lnR>
                    <a:lnT w="6350" cap="flat" cmpd="sng" algn="ctr">
                      <a:solidFill>
                        <a:srgbClr val="DDE0F0"/>
                      </a:solidFill>
                      <a:prstDash val="solid"/>
                      <a:round/>
                      <a:headEnd type="none" w="med" len="med"/>
                      <a:tailEnd type="none" w="med" len="med"/>
                    </a:lnT>
                    <a:lnB w="6350" cap="flat" cmpd="sng" algn="ctr">
                      <a:solidFill>
                        <a:srgbClr val="DDE0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lgn="l">
                        <a:buNone/>
                      </a:pPr>
                      <a:r>
                        <a:rPr lang="en-US" sz="1150" dirty="0">
                          <a:solidFill>
                            <a:srgbClr val="000000"/>
                          </a:solidFill>
                          <a:latin typeface="Calibri" pitchFamily="34" charset="0"/>
                          <a:ea typeface="Calibri" pitchFamily="34" charset="-122"/>
                          <a:cs typeface="Calibri" pitchFamily="34" charset="-120"/>
                        </a:rPr>
                        <a:t>Assumption checks</a:t>
                      </a:r>
                      <a:endParaRPr lang="en-US" sz="1150" dirty="0">
                        <a:latin typeface="Calibri" charset="0"/>
                        <a:ea typeface="Calibri" charset="0"/>
                        <a:cs typeface="Calibri" charset="0"/>
                      </a:endParaRPr>
                    </a:p>
                  </a:txBody>
                  <a:tcPr anchor="ctr">
                    <a:lnL w="6350" cap="flat" cmpd="sng" algn="ctr">
                      <a:solidFill>
                        <a:srgbClr val="DDE0F0"/>
                      </a:solidFill>
                      <a:prstDash val="solid"/>
                      <a:round/>
                      <a:headEnd type="none" w="med" len="med"/>
                      <a:tailEnd type="none" w="med" len="med"/>
                    </a:lnL>
                    <a:lnR w="6350" cap="flat" cmpd="sng" algn="ctr">
                      <a:solidFill>
                        <a:srgbClr val="DDE0F0"/>
                      </a:solidFill>
                      <a:prstDash val="solid"/>
                      <a:round/>
                      <a:headEnd type="none" w="med" len="med"/>
                      <a:tailEnd type="none" w="med" len="med"/>
                    </a:lnR>
                    <a:lnT w="6350" cap="flat" cmpd="sng" algn="ctr">
                      <a:solidFill>
                        <a:srgbClr val="DDE0F0"/>
                      </a:solidFill>
                      <a:prstDash val="solid"/>
                      <a:round/>
                      <a:headEnd type="none" w="med" len="med"/>
                      <a:tailEnd type="none" w="med" len="med"/>
                    </a:lnT>
                    <a:lnB w="6350" cap="flat" cmpd="sng" algn="ctr">
                      <a:solidFill>
                        <a:srgbClr val="DDE0F0"/>
                      </a:solidFill>
                      <a:prstDash val="solid"/>
                      <a:round/>
                      <a:headEnd type="none" w="med" len="med"/>
                      <a:tailEnd type="none" w="med" len="med"/>
                    </a:lnB>
                    <a:solidFill>
                      <a:srgbClr val="FFFFFF"/>
                    </a:solidFill>
                  </a:tcPr>
                </a:tc>
                <a:tc>
                  <a:txBody>
                    <a:bodyPr/>
                    <a:lstStyle/>
                    <a:p>
                      <a:pPr marL="0" indent="0" algn="l">
                        <a:buNone/>
                      </a:pPr>
                      <a:r>
                        <a:rPr lang="en-US" sz="1150" dirty="0">
                          <a:solidFill>
                            <a:srgbClr val="000000"/>
                          </a:solidFill>
                          <a:latin typeface="Calibri" pitchFamily="34" charset="0"/>
                          <a:ea typeface="Calibri" pitchFamily="34" charset="-122"/>
                          <a:cs typeface="Calibri" pitchFamily="34" charset="-120"/>
                        </a:rPr>
                        <a:t>Normality, VIF, outlier diagnostics</a:t>
                      </a:r>
                      <a:endParaRPr lang="en-US" sz="1150" dirty="0">
                        <a:latin typeface="Calibri" charset="0"/>
                        <a:ea typeface="Calibri" charset="0"/>
                        <a:cs typeface="Calibri" charset="0"/>
                      </a:endParaRPr>
                    </a:p>
                  </a:txBody>
                  <a:tcPr anchor="ctr">
                    <a:lnL w="6350" cap="flat" cmpd="sng" algn="ctr">
                      <a:solidFill>
                        <a:srgbClr val="DDE0F0"/>
                      </a:solidFill>
                      <a:prstDash val="solid"/>
                      <a:round/>
                      <a:headEnd type="none" w="med" len="med"/>
                      <a:tailEnd type="none" w="med" len="med"/>
                    </a:lnL>
                    <a:lnR w="6350" cap="flat" cmpd="sng" algn="ctr">
                      <a:solidFill>
                        <a:srgbClr val="DDE0F0"/>
                      </a:solidFill>
                      <a:prstDash val="solid"/>
                      <a:round/>
                      <a:headEnd type="none" w="med" len="med"/>
                      <a:tailEnd type="none" w="med" len="med"/>
                    </a:lnR>
                    <a:lnT w="6350" cap="flat" cmpd="sng" algn="ctr">
                      <a:solidFill>
                        <a:srgbClr val="DDE0F0"/>
                      </a:solidFill>
                      <a:prstDash val="solid"/>
                      <a:round/>
                      <a:headEnd type="none" w="med" len="med"/>
                      <a:tailEnd type="none" w="med" len="med"/>
                    </a:lnT>
                    <a:lnB w="6350" cap="flat" cmpd="sng" algn="ctr">
                      <a:solidFill>
                        <a:srgbClr val="DDE0F0"/>
                      </a:solidFill>
                      <a:prstDash val="solid"/>
                      <a:round/>
                      <a:headEnd type="none" w="med" len="med"/>
                      <a:tailEnd type="none" w="med" len="med"/>
                    </a:lnB>
                    <a:solidFill>
                      <a:srgbClr val="FFFFFF"/>
                    </a:solidFill>
                  </a:tcPr>
                </a:tc>
                <a:tc>
                  <a:txBody>
                    <a:bodyPr/>
                    <a:lstStyle/>
                    <a:p>
                      <a:pPr marL="0" indent="0" algn="l">
                        <a:buNone/>
                      </a:pPr>
                      <a:r>
                        <a:rPr lang="en-US" sz="1150" dirty="0">
                          <a:solidFill>
                            <a:srgbClr val="000000"/>
                          </a:solidFill>
                          <a:latin typeface="Calibri" pitchFamily="34" charset="0"/>
                          <a:ea typeface="Calibri" pitchFamily="34" charset="-122"/>
                          <a:cs typeface="Calibri" pitchFamily="34" charset="-120"/>
                        </a:rPr>
                        <a:t>VIF range 1.2–2.4; 2 influential cases removed (Cook's D&gt;1)</a:t>
                      </a:r>
                      <a:endParaRPr lang="en-US" sz="1150" dirty="0">
                        <a:latin typeface="Calibri" charset="0"/>
                        <a:ea typeface="Calibri" charset="0"/>
                        <a:cs typeface="Calibri" charset="0"/>
                      </a:endParaRPr>
                    </a:p>
                  </a:txBody>
                  <a:tcPr anchor="ctr">
                    <a:lnL w="6350" cap="flat" cmpd="sng" algn="ctr">
                      <a:solidFill>
                        <a:srgbClr val="DDE0F0"/>
                      </a:solidFill>
                      <a:prstDash val="solid"/>
                      <a:round/>
                      <a:headEnd type="none" w="med" len="med"/>
                      <a:tailEnd type="none" w="med" len="med"/>
                    </a:lnL>
                    <a:lnR w="6350" cap="flat" cmpd="sng" algn="ctr">
                      <a:solidFill>
                        <a:srgbClr val="DDE0F0"/>
                      </a:solidFill>
                      <a:prstDash val="solid"/>
                      <a:round/>
                      <a:headEnd type="none" w="med" len="med"/>
                      <a:tailEnd type="none" w="med" len="med"/>
                    </a:lnR>
                    <a:lnT w="6350" cap="flat" cmpd="sng" algn="ctr">
                      <a:solidFill>
                        <a:srgbClr val="DDE0F0"/>
                      </a:solidFill>
                      <a:prstDash val="solid"/>
                      <a:round/>
                      <a:headEnd type="none" w="med" len="med"/>
                      <a:tailEnd type="none" w="med" len="med"/>
                    </a:lnT>
                    <a:lnB w="6350" cap="flat" cmpd="sng" algn="ctr">
                      <a:solidFill>
                        <a:srgbClr val="DDE0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57200">
                <a:tc>
                  <a:txBody>
                    <a:bodyPr/>
                    <a:lstStyle/>
                    <a:p>
                      <a:pPr marL="0" indent="0" algn="l">
                        <a:buNone/>
                      </a:pPr>
                      <a:r>
                        <a:rPr lang="en-US" sz="1150" dirty="0">
                          <a:solidFill>
                            <a:srgbClr val="000000"/>
                          </a:solidFill>
                          <a:latin typeface="Calibri" pitchFamily="34" charset="0"/>
                          <a:ea typeface="Calibri" pitchFamily="34" charset="-122"/>
                          <a:cs typeface="Calibri" pitchFamily="34" charset="-120"/>
                        </a:rPr>
                        <a:t>Model specification</a:t>
                      </a:r>
                      <a:endParaRPr lang="en-US" sz="1150" dirty="0">
                        <a:latin typeface="Calibri" charset="0"/>
                        <a:ea typeface="Calibri" charset="0"/>
                        <a:cs typeface="Calibri" charset="0"/>
                      </a:endParaRPr>
                    </a:p>
                  </a:txBody>
                  <a:tcPr anchor="ctr">
                    <a:lnL w="6350" cap="flat" cmpd="sng" algn="ctr">
                      <a:solidFill>
                        <a:srgbClr val="DDE0F0"/>
                      </a:solidFill>
                      <a:prstDash val="solid"/>
                      <a:round/>
                      <a:headEnd type="none" w="med" len="med"/>
                      <a:tailEnd type="none" w="med" len="med"/>
                    </a:lnL>
                    <a:lnR w="6350" cap="flat" cmpd="sng" algn="ctr">
                      <a:solidFill>
                        <a:srgbClr val="DDE0F0"/>
                      </a:solidFill>
                      <a:prstDash val="solid"/>
                      <a:round/>
                      <a:headEnd type="none" w="med" len="med"/>
                      <a:tailEnd type="none" w="med" len="med"/>
                    </a:lnR>
                    <a:lnT w="6350" cap="flat" cmpd="sng" algn="ctr">
                      <a:solidFill>
                        <a:srgbClr val="DDE0F0"/>
                      </a:solidFill>
                      <a:prstDash val="solid"/>
                      <a:round/>
                      <a:headEnd type="none" w="med" len="med"/>
                      <a:tailEnd type="none" w="med" len="med"/>
                    </a:lnT>
                    <a:lnB w="6350" cap="flat" cmpd="sng" algn="ctr">
                      <a:solidFill>
                        <a:srgbClr val="DDE0F0"/>
                      </a:solidFill>
                      <a:prstDash val="solid"/>
                      <a:round/>
                      <a:headEnd type="none" w="med" len="med"/>
                      <a:tailEnd type="none" w="med" len="med"/>
                    </a:lnB>
                    <a:solidFill>
                      <a:srgbClr val="FFFFFF"/>
                    </a:solidFill>
                  </a:tcPr>
                </a:tc>
                <a:tc>
                  <a:txBody>
                    <a:bodyPr/>
                    <a:lstStyle/>
                    <a:p>
                      <a:pPr marL="0" indent="0" algn="l">
                        <a:buNone/>
                      </a:pPr>
                      <a:r>
                        <a:rPr lang="en-US" sz="1150" dirty="0">
                          <a:solidFill>
                            <a:srgbClr val="000000"/>
                          </a:solidFill>
                          <a:latin typeface="Calibri" pitchFamily="34" charset="0"/>
                          <a:ea typeface="Calibri" pitchFamily="34" charset="-122"/>
                          <a:cs typeface="Calibri" pitchFamily="34" charset="-120"/>
                        </a:rPr>
                        <a:t>Entry method, blocks, rationale</a:t>
                      </a:r>
                      <a:endParaRPr lang="en-US" sz="1150" dirty="0">
                        <a:latin typeface="Calibri" charset="0"/>
                        <a:ea typeface="Calibri" charset="0"/>
                        <a:cs typeface="Calibri" charset="0"/>
                      </a:endParaRPr>
                    </a:p>
                  </a:txBody>
                  <a:tcPr anchor="ctr">
                    <a:lnL w="6350" cap="flat" cmpd="sng" algn="ctr">
                      <a:solidFill>
                        <a:srgbClr val="DDE0F0"/>
                      </a:solidFill>
                      <a:prstDash val="solid"/>
                      <a:round/>
                      <a:headEnd type="none" w="med" len="med"/>
                      <a:tailEnd type="none" w="med" len="med"/>
                    </a:lnL>
                    <a:lnR w="6350" cap="flat" cmpd="sng" algn="ctr">
                      <a:solidFill>
                        <a:srgbClr val="DDE0F0"/>
                      </a:solidFill>
                      <a:prstDash val="solid"/>
                      <a:round/>
                      <a:headEnd type="none" w="med" len="med"/>
                      <a:tailEnd type="none" w="med" len="med"/>
                    </a:lnR>
                    <a:lnT w="6350" cap="flat" cmpd="sng" algn="ctr">
                      <a:solidFill>
                        <a:srgbClr val="DDE0F0"/>
                      </a:solidFill>
                      <a:prstDash val="solid"/>
                      <a:round/>
                      <a:headEnd type="none" w="med" len="med"/>
                      <a:tailEnd type="none" w="med" len="med"/>
                    </a:lnT>
                    <a:lnB w="6350" cap="flat" cmpd="sng" algn="ctr">
                      <a:solidFill>
                        <a:srgbClr val="DDE0F0"/>
                      </a:solidFill>
                      <a:prstDash val="solid"/>
                      <a:round/>
                      <a:headEnd type="none" w="med" len="med"/>
                      <a:tailEnd type="none" w="med" len="med"/>
                    </a:lnB>
                    <a:solidFill>
                      <a:srgbClr val="FFFFFF"/>
                    </a:solidFill>
                  </a:tcPr>
                </a:tc>
                <a:tc>
                  <a:txBody>
                    <a:bodyPr/>
                    <a:lstStyle/>
                    <a:p>
                      <a:pPr marL="0" indent="0" algn="l">
                        <a:buNone/>
                      </a:pPr>
                      <a:r>
                        <a:rPr lang="en-US" sz="1150" dirty="0">
                          <a:solidFill>
                            <a:srgbClr val="000000"/>
                          </a:solidFill>
                          <a:latin typeface="Calibri" pitchFamily="34" charset="0"/>
                          <a:ea typeface="Calibri" pitchFamily="34" charset="-122"/>
                          <a:cs typeface="Calibri" pitchFamily="34" charset="-120"/>
                        </a:rPr>
                        <a:t>Hierarchical: Block 1 demographics, Block 2 lifestyle factors</a:t>
                      </a:r>
                      <a:endParaRPr lang="en-US" sz="1150" dirty="0">
                        <a:latin typeface="Calibri" charset="0"/>
                        <a:ea typeface="Calibri" charset="0"/>
                        <a:cs typeface="Calibri" charset="0"/>
                      </a:endParaRPr>
                    </a:p>
                  </a:txBody>
                  <a:tcPr anchor="ctr">
                    <a:lnL w="6350" cap="flat" cmpd="sng" algn="ctr">
                      <a:solidFill>
                        <a:srgbClr val="DDE0F0"/>
                      </a:solidFill>
                      <a:prstDash val="solid"/>
                      <a:round/>
                      <a:headEnd type="none" w="med" len="med"/>
                      <a:tailEnd type="none" w="med" len="med"/>
                    </a:lnL>
                    <a:lnR w="6350" cap="flat" cmpd="sng" algn="ctr">
                      <a:solidFill>
                        <a:srgbClr val="DDE0F0"/>
                      </a:solidFill>
                      <a:prstDash val="solid"/>
                      <a:round/>
                      <a:headEnd type="none" w="med" len="med"/>
                      <a:tailEnd type="none" w="med" len="med"/>
                    </a:lnR>
                    <a:lnT w="6350" cap="flat" cmpd="sng" algn="ctr">
                      <a:solidFill>
                        <a:srgbClr val="DDE0F0"/>
                      </a:solidFill>
                      <a:prstDash val="solid"/>
                      <a:round/>
                      <a:headEnd type="none" w="med" len="med"/>
                      <a:tailEnd type="none" w="med" len="med"/>
                    </a:lnT>
                    <a:lnB w="6350" cap="flat" cmpd="sng" algn="ctr">
                      <a:solidFill>
                        <a:srgbClr val="DDE0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lgn="l">
                        <a:buNone/>
                      </a:pPr>
                      <a:r>
                        <a:rPr lang="en-US" sz="1150" dirty="0">
                          <a:solidFill>
                            <a:srgbClr val="000000"/>
                          </a:solidFill>
                          <a:latin typeface="Calibri" pitchFamily="34" charset="0"/>
                          <a:ea typeface="Calibri" pitchFamily="34" charset="-122"/>
                          <a:cs typeface="Calibri" pitchFamily="34" charset="-120"/>
                        </a:rPr>
                        <a:t>Overall model fit</a:t>
                      </a:r>
                      <a:endParaRPr lang="en-US" sz="1150" dirty="0">
                        <a:latin typeface="Calibri" charset="0"/>
                        <a:ea typeface="Calibri" charset="0"/>
                        <a:cs typeface="Calibri" charset="0"/>
                      </a:endParaRPr>
                    </a:p>
                  </a:txBody>
                  <a:tcPr anchor="ctr">
                    <a:lnL w="6350" cap="flat" cmpd="sng" algn="ctr">
                      <a:solidFill>
                        <a:srgbClr val="DDE0F0"/>
                      </a:solidFill>
                      <a:prstDash val="solid"/>
                      <a:round/>
                      <a:headEnd type="none" w="med" len="med"/>
                      <a:tailEnd type="none" w="med" len="med"/>
                    </a:lnL>
                    <a:lnR w="6350" cap="flat" cmpd="sng" algn="ctr">
                      <a:solidFill>
                        <a:srgbClr val="DDE0F0"/>
                      </a:solidFill>
                      <a:prstDash val="solid"/>
                      <a:round/>
                      <a:headEnd type="none" w="med" len="med"/>
                      <a:tailEnd type="none" w="med" len="med"/>
                    </a:lnR>
                    <a:lnT w="6350" cap="flat" cmpd="sng" algn="ctr">
                      <a:solidFill>
                        <a:srgbClr val="DDE0F0"/>
                      </a:solidFill>
                      <a:prstDash val="solid"/>
                      <a:round/>
                      <a:headEnd type="none" w="med" len="med"/>
                      <a:tailEnd type="none" w="med" len="med"/>
                    </a:lnT>
                    <a:lnB w="6350" cap="flat" cmpd="sng" algn="ctr">
                      <a:solidFill>
                        <a:srgbClr val="DDE0F0"/>
                      </a:solidFill>
                      <a:prstDash val="solid"/>
                      <a:round/>
                      <a:headEnd type="none" w="med" len="med"/>
                      <a:tailEnd type="none" w="med" len="med"/>
                    </a:lnB>
                    <a:solidFill>
                      <a:srgbClr val="FFFFFF"/>
                    </a:solidFill>
                  </a:tcPr>
                </a:tc>
                <a:tc>
                  <a:txBody>
                    <a:bodyPr/>
                    <a:lstStyle/>
                    <a:p>
                      <a:pPr marL="0" indent="0" algn="l">
                        <a:buNone/>
                      </a:pPr>
                      <a:r>
                        <a:rPr lang="en-US" sz="1150" dirty="0">
                          <a:solidFill>
                            <a:srgbClr val="000000"/>
                          </a:solidFill>
                          <a:latin typeface="Calibri" pitchFamily="34" charset="0"/>
                          <a:ea typeface="Calibri" pitchFamily="34" charset="-122"/>
                          <a:cs typeface="Calibri" pitchFamily="34" charset="-120"/>
                        </a:rPr>
                        <a:t>R² (linear); −2LL, AIC (logistic)</a:t>
                      </a:r>
                      <a:endParaRPr lang="en-US" sz="1150" dirty="0">
                        <a:latin typeface="Calibri" charset="0"/>
                        <a:ea typeface="Calibri" charset="0"/>
                        <a:cs typeface="Calibri" charset="0"/>
                      </a:endParaRPr>
                    </a:p>
                  </a:txBody>
                  <a:tcPr anchor="ctr">
                    <a:lnL w="6350" cap="flat" cmpd="sng" algn="ctr">
                      <a:solidFill>
                        <a:srgbClr val="DDE0F0"/>
                      </a:solidFill>
                      <a:prstDash val="solid"/>
                      <a:round/>
                      <a:headEnd type="none" w="med" len="med"/>
                      <a:tailEnd type="none" w="med" len="med"/>
                    </a:lnL>
                    <a:lnR w="6350" cap="flat" cmpd="sng" algn="ctr">
                      <a:solidFill>
                        <a:srgbClr val="DDE0F0"/>
                      </a:solidFill>
                      <a:prstDash val="solid"/>
                      <a:round/>
                      <a:headEnd type="none" w="med" len="med"/>
                      <a:tailEnd type="none" w="med" len="med"/>
                    </a:lnR>
                    <a:lnT w="6350" cap="flat" cmpd="sng" algn="ctr">
                      <a:solidFill>
                        <a:srgbClr val="DDE0F0"/>
                      </a:solidFill>
                      <a:prstDash val="solid"/>
                      <a:round/>
                      <a:headEnd type="none" w="med" len="med"/>
                      <a:tailEnd type="none" w="med" len="med"/>
                    </a:lnT>
                    <a:lnB w="6350" cap="flat" cmpd="sng" algn="ctr">
                      <a:solidFill>
                        <a:srgbClr val="DDE0F0"/>
                      </a:solidFill>
                      <a:prstDash val="solid"/>
                      <a:round/>
                      <a:headEnd type="none" w="med" len="med"/>
                      <a:tailEnd type="none" w="med" len="med"/>
                    </a:lnB>
                    <a:solidFill>
                      <a:srgbClr val="FFFFFF"/>
                    </a:solidFill>
                  </a:tcPr>
                </a:tc>
                <a:tc>
                  <a:txBody>
                    <a:bodyPr/>
                    <a:lstStyle/>
                    <a:p>
                      <a:pPr marL="0" indent="0" algn="l">
                        <a:buNone/>
                      </a:pPr>
                      <a:r>
                        <a:rPr lang="en-US" sz="1150" dirty="0">
                          <a:solidFill>
                            <a:srgbClr val="000000"/>
                          </a:solidFill>
                          <a:latin typeface="Calibri" pitchFamily="34" charset="0"/>
                          <a:ea typeface="Calibri" pitchFamily="34" charset="-122"/>
                          <a:cs typeface="Calibri" pitchFamily="34" charset="-120"/>
                        </a:rPr>
                        <a:t>R²=.42, Adj. R²=.40, F(6,513)=61.4, p&lt;.001</a:t>
                      </a:r>
                      <a:endParaRPr lang="en-US" sz="1150" dirty="0">
                        <a:latin typeface="Calibri" charset="0"/>
                        <a:ea typeface="Calibri" charset="0"/>
                        <a:cs typeface="Calibri" charset="0"/>
                      </a:endParaRPr>
                    </a:p>
                  </a:txBody>
                  <a:tcPr anchor="ctr">
                    <a:lnL w="6350" cap="flat" cmpd="sng" algn="ctr">
                      <a:solidFill>
                        <a:srgbClr val="DDE0F0"/>
                      </a:solidFill>
                      <a:prstDash val="solid"/>
                      <a:round/>
                      <a:headEnd type="none" w="med" len="med"/>
                      <a:tailEnd type="none" w="med" len="med"/>
                    </a:lnL>
                    <a:lnR w="6350" cap="flat" cmpd="sng" algn="ctr">
                      <a:solidFill>
                        <a:srgbClr val="DDE0F0"/>
                      </a:solidFill>
                      <a:prstDash val="solid"/>
                      <a:round/>
                      <a:headEnd type="none" w="med" len="med"/>
                      <a:tailEnd type="none" w="med" len="med"/>
                    </a:lnR>
                    <a:lnT w="6350" cap="flat" cmpd="sng" algn="ctr">
                      <a:solidFill>
                        <a:srgbClr val="DDE0F0"/>
                      </a:solidFill>
                      <a:prstDash val="solid"/>
                      <a:round/>
                      <a:headEnd type="none" w="med" len="med"/>
                      <a:tailEnd type="none" w="med" len="med"/>
                    </a:lnT>
                    <a:lnB w="6350" cap="flat" cmpd="sng" algn="ctr">
                      <a:solidFill>
                        <a:srgbClr val="DDE0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57200">
                <a:tc>
                  <a:txBody>
                    <a:bodyPr/>
                    <a:lstStyle/>
                    <a:p>
                      <a:pPr marL="0" indent="0" algn="l">
                        <a:buNone/>
                      </a:pPr>
                      <a:r>
                        <a:rPr lang="en-US" sz="1150" dirty="0">
                          <a:solidFill>
                            <a:srgbClr val="000000"/>
                          </a:solidFill>
                          <a:latin typeface="Calibri" pitchFamily="34" charset="0"/>
                          <a:ea typeface="Calibri" pitchFamily="34" charset="-122"/>
                          <a:cs typeface="Calibri" pitchFamily="34" charset="-120"/>
                        </a:rPr>
                        <a:t>Individual predictors</a:t>
                      </a:r>
                      <a:endParaRPr lang="en-US" sz="1150" dirty="0">
                        <a:latin typeface="Calibri" charset="0"/>
                        <a:ea typeface="Calibri" charset="0"/>
                        <a:cs typeface="Calibri" charset="0"/>
                      </a:endParaRPr>
                    </a:p>
                  </a:txBody>
                  <a:tcPr anchor="ctr">
                    <a:lnL w="6350" cap="flat" cmpd="sng" algn="ctr">
                      <a:solidFill>
                        <a:srgbClr val="DDE0F0"/>
                      </a:solidFill>
                      <a:prstDash val="solid"/>
                      <a:round/>
                      <a:headEnd type="none" w="med" len="med"/>
                      <a:tailEnd type="none" w="med" len="med"/>
                    </a:lnL>
                    <a:lnR w="6350" cap="flat" cmpd="sng" algn="ctr">
                      <a:solidFill>
                        <a:srgbClr val="DDE0F0"/>
                      </a:solidFill>
                      <a:prstDash val="solid"/>
                      <a:round/>
                      <a:headEnd type="none" w="med" len="med"/>
                      <a:tailEnd type="none" w="med" len="med"/>
                    </a:lnR>
                    <a:lnT w="6350" cap="flat" cmpd="sng" algn="ctr">
                      <a:solidFill>
                        <a:srgbClr val="DDE0F0"/>
                      </a:solidFill>
                      <a:prstDash val="solid"/>
                      <a:round/>
                      <a:headEnd type="none" w="med" len="med"/>
                      <a:tailEnd type="none" w="med" len="med"/>
                    </a:lnT>
                    <a:lnB w="6350" cap="flat" cmpd="sng" algn="ctr">
                      <a:solidFill>
                        <a:srgbClr val="DDE0F0"/>
                      </a:solidFill>
                      <a:prstDash val="solid"/>
                      <a:round/>
                      <a:headEnd type="none" w="med" len="med"/>
                      <a:tailEnd type="none" w="med" len="med"/>
                    </a:lnB>
                    <a:solidFill>
                      <a:srgbClr val="FFFFFF"/>
                    </a:solidFill>
                  </a:tcPr>
                </a:tc>
                <a:tc>
                  <a:txBody>
                    <a:bodyPr/>
                    <a:lstStyle/>
                    <a:p>
                      <a:pPr marL="0" indent="0" algn="l">
                        <a:buNone/>
                      </a:pPr>
                      <a:r>
                        <a:rPr lang="en-US" sz="1150" dirty="0">
                          <a:solidFill>
                            <a:srgbClr val="000000"/>
                          </a:solidFill>
                          <a:latin typeface="Calibri" pitchFamily="34" charset="0"/>
                          <a:ea typeface="Calibri" pitchFamily="34" charset="-122"/>
                          <a:cs typeface="Calibri" pitchFamily="34" charset="-120"/>
                        </a:rPr>
                        <a:t>B or OR, SE, 95% CI, β or Exp(B), p</a:t>
                      </a:r>
                      <a:endParaRPr lang="en-US" sz="1150" dirty="0">
                        <a:latin typeface="Calibri" charset="0"/>
                        <a:ea typeface="Calibri" charset="0"/>
                        <a:cs typeface="Calibri" charset="0"/>
                      </a:endParaRPr>
                    </a:p>
                  </a:txBody>
                  <a:tcPr anchor="ctr">
                    <a:lnL w="6350" cap="flat" cmpd="sng" algn="ctr">
                      <a:solidFill>
                        <a:srgbClr val="DDE0F0"/>
                      </a:solidFill>
                      <a:prstDash val="solid"/>
                      <a:round/>
                      <a:headEnd type="none" w="med" len="med"/>
                      <a:tailEnd type="none" w="med" len="med"/>
                    </a:lnL>
                    <a:lnR w="6350" cap="flat" cmpd="sng" algn="ctr">
                      <a:solidFill>
                        <a:srgbClr val="DDE0F0"/>
                      </a:solidFill>
                      <a:prstDash val="solid"/>
                      <a:round/>
                      <a:headEnd type="none" w="med" len="med"/>
                      <a:tailEnd type="none" w="med" len="med"/>
                    </a:lnR>
                    <a:lnT w="6350" cap="flat" cmpd="sng" algn="ctr">
                      <a:solidFill>
                        <a:srgbClr val="DDE0F0"/>
                      </a:solidFill>
                      <a:prstDash val="solid"/>
                      <a:round/>
                      <a:headEnd type="none" w="med" len="med"/>
                      <a:tailEnd type="none" w="med" len="med"/>
                    </a:lnT>
                    <a:lnB w="6350" cap="flat" cmpd="sng" algn="ctr">
                      <a:solidFill>
                        <a:srgbClr val="DDE0F0"/>
                      </a:solidFill>
                      <a:prstDash val="solid"/>
                      <a:round/>
                      <a:headEnd type="none" w="med" len="med"/>
                      <a:tailEnd type="none" w="med" len="med"/>
                    </a:lnB>
                    <a:solidFill>
                      <a:srgbClr val="FFFFFF"/>
                    </a:solidFill>
                  </a:tcPr>
                </a:tc>
                <a:tc>
                  <a:txBody>
                    <a:bodyPr/>
                    <a:lstStyle/>
                    <a:p>
                      <a:pPr marL="0" indent="0" algn="l">
                        <a:buNone/>
                      </a:pPr>
                      <a:r>
                        <a:rPr lang="en-US" sz="1150" dirty="0">
                          <a:solidFill>
                            <a:srgbClr val="000000"/>
                          </a:solidFill>
                          <a:latin typeface="Calibri" pitchFamily="34" charset="0"/>
                          <a:ea typeface="Calibri" pitchFamily="34" charset="-122"/>
                          <a:cs typeface="Calibri" pitchFamily="34" charset="-120"/>
                        </a:rPr>
                        <a:t>BMI: B=1.24, SE=0.19, β=.33, 95% CI[0.87,1.61], p&lt;.001</a:t>
                      </a:r>
                      <a:endParaRPr lang="en-US" sz="1150" dirty="0">
                        <a:latin typeface="Calibri" charset="0"/>
                        <a:ea typeface="Calibri" charset="0"/>
                        <a:cs typeface="Calibri" charset="0"/>
                      </a:endParaRPr>
                    </a:p>
                  </a:txBody>
                  <a:tcPr anchor="ctr">
                    <a:lnL w="6350" cap="flat" cmpd="sng" algn="ctr">
                      <a:solidFill>
                        <a:srgbClr val="DDE0F0"/>
                      </a:solidFill>
                      <a:prstDash val="solid"/>
                      <a:round/>
                      <a:headEnd type="none" w="med" len="med"/>
                      <a:tailEnd type="none" w="med" len="med"/>
                    </a:lnL>
                    <a:lnR w="6350" cap="flat" cmpd="sng" algn="ctr">
                      <a:solidFill>
                        <a:srgbClr val="DDE0F0"/>
                      </a:solidFill>
                      <a:prstDash val="solid"/>
                      <a:round/>
                      <a:headEnd type="none" w="med" len="med"/>
                      <a:tailEnd type="none" w="med" len="med"/>
                    </a:lnR>
                    <a:lnT w="6350" cap="flat" cmpd="sng" algn="ctr">
                      <a:solidFill>
                        <a:srgbClr val="DDE0F0"/>
                      </a:solidFill>
                      <a:prstDash val="solid"/>
                      <a:round/>
                      <a:headEnd type="none" w="med" len="med"/>
                      <a:tailEnd type="none" w="med" len="med"/>
                    </a:lnT>
                    <a:lnB w="6350" cap="flat" cmpd="sng" algn="ctr">
                      <a:solidFill>
                        <a:srgbClr val="DDE0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57200">
                <a:tc>
                  <a:txBody>
                    <a:bodyPr/>
                    <a:lstStyle/>
                    <a:p>
                      <a:pPr marL="0" indent="0" algn="l">
                        <a:buNone/>
                      </a:pPr>
                      <a:r>
                        <a:rPr lang="en-US" sz="1150" dirty="0">
                          <a:solidFill>
                            <a:srgbClr val="000000"/>
                          </a:solidFill>
                          <a:latin typeface="Calibri" pitchFamily="34" charset="0"/>
                          <a:ea typeface="Calibri" pitchFamily="34" charset="-122"/>
                          <a:cs typeface="Calibri" pitchFamily="34" charset="-120"/>
                        </a:rPr>
                        <a:t>Effect size</a:t>
                      </a:r>
                      <a:endParaRPr lang="en-US" sz="1150" dirty="0">
                        <a:latin typeface="Calibri" charset="0"/>
                        <a:ea typeface="Calibri" charset="0"/>
                        <a:cs typeface="Calibri" charset="0"/>
                      </a:endParaRPr>
                    </a:p>
                  </a:txBody>
                  <a:tcPr anchor="ctr">
                    <a:lnL w="6350" cap="flat" cmpd="sng" algn="ctr">
                      <a:solidFill>
                        <a:srgbClr val="DDE0F0"/>
                      </a:solidFill>
                      <a:prstDash val="solid"/>
                      <a:round/>
                      <a:headEnd type="none" w="med" len="med"/>
                      <a:tailEnd type="none" w="med" len="med"/>
                    </a:lnL>
                    <a:lnR w="6350" cap="flat" cmpd="sng" algn="ctr">
                      <a:solidFill>
                        <a:srgbClr val="DDE0F0"/>
                      </a:solidFill>
                      <a:prstDash val="solid"/>
                      <a:round/>
                      <a:headEnd type="none" w="med" len="med"/>
                      <a:tailEnd type="none" w="med" len="med"/>
                    </a:lnR>
                    <a:lnT w="6350" cap="flat" cmpd="sng" algn="ctr">
                      <a:solidFill>
                        <a:srgbClr val="DDE0F0"/>
                      </a:solidFill>
                      <a:prstDash val="solid"/>
                      <a:round/>
                      <a:headEnd type="none" w="med" len="med"/>
                      <a:tailEnd type="none" w="med" len="med"/>
                    </a:lnT>
                    <a:lnB w="6350" cap="flat" cmpd="sng" algn="ctr">
                      <a:solidFill>
                        <a:srgbClr val="DDE0F0"/>
                      </a:solidFill>
                      <a:prstDash val="solid"/>
                      <a:round/>
                      <a:headEnd type="none" w="med" len="med"/>
                      <a:tailEnd type="none" w="med" len="med"/>
                    </a:lnB>
                    <a:solidFill>
                      <a:srgbClr val="FFFFFF"/>
                    </a:solidFill>
                  </a:tcPr>
                </a:tc>
                <a:tc>
                  <a:txBody>
                    <a:bodyPr/>
                    <a:lstStyle/>
                    <a:p>
                      <a:pPr marL="0" indent="0" algn="l">
                        <a:buNone/>
                      </a:pPr>
                      <a:r>
                        <a:rPr lang="en-US" sz="1150" dirty="0">
                          <a:solidFill>
                            <a:srgbClr val="000000"/>
                          </a:solidFill>
                          <a:latin typeface="Calibri" pitchFamily="34" charset="0"/>
                          <a:ea typeface="Calibri" pitchFamily="34" charset="-122"/>
                          <a:cs typeface="Calibri" pitchFamily="34" charset="-120"/>
                        </a:rPr>
                        <a:t>sr², η², f², OR magnitude</a:t>
                      </a:r>
                      <a:endParaRPr lang="en-US" sz="1150" dirty="0">
                        <a:latin typeface="Calibri" charset="0"/>
                        <a:ea typeface="Calibri" charset="0"/>
                        <a:cs typeface="Calibri" charset="0"/>
                      </a:endParaRPr>
                    </a:p>
                  </a:txBody>
                  <a:tcPr anchor="ctr">
                    <a:lnL w="6350" cap="flat" cmpd="sng" algn="ctr">
                      <a:solidFill>
                        <a:srgbClr val="DDE0F0"/>
                      </a:solidFill>
                      <a:prstDash val="solid"/>
                      <a:round/>
                      <a:headEnd type="none" w="med" len="med"/>
                      <a:tailEnd type="none" w="med" len="med"/>
                    </a:lnL>
                    <a:lnR w="6350" cap="flat" cmpd="sng" algn="ctr">
                      <a:solidFill>
                        <a:srgbClr val="DDE0F0"/>
                      </a:solidFill>
                      <a:prstDash val="solid"/>
                      <a:round/>
                      <a:headEnd type="none" w="med" len="med"/>
                      <a:tailEnd type="none" w="med" len="med"/>
                    </a:lnR>
                    <a:lnT w="6350" cap="flat" cmpd="sng" algn="ctr">
                      <a:solidFill>
                        <a:srgbClr val="DDE0F0"/>
                      </a:solidFill>
                      <a:prstDash val="solid"/>
                      <a:round/>
                      <a:headEnd type="none" w="med" len="med"/>
                      <a:tailEnd type="none" w="med" len="med"/>
                    </a:lnT>
                    <a:lnB w="6350" cap="flat" cmpd="sng" algn="ctr">
                      <a:solidFill>
                        <a:srgbClr val="DDE0F0"/>
                      </a:solidFill>
                      <a:prstDash val="solid"/>
                      <a:round/>
                      <a:headEnd type="none" w="med" len="med"/>
                      <a:tailEnd type="none" w="med" len="med"/>
                    </a:lnB>
                    <a:solidFill>
                      <a:srgbClr val="FFFFFF"/>
                    </a:solidFill>
                  </a:tcPr>
                </a:tc>
                <a:tc>
                  <a:txBody>
                    <a:bodyPr/>
                    <a:lstStyle/>
                    <a:p>
                      <a:pPr marL="0" indent="0" algn="l">
                        <a:buNone/>
                      </a:pPr>
                      <a:r>
                        <a:rPr lang="en-US" sz="1150" dirty="0">
                          <a:solidFill>
                            <a:srgbClr val="000000"/>
                          </a:solidFill>
                          <a:latin typeface="Calibri" pitchFamily="34" charset="0"/>
                          <a:ea typeface="Calibri" pitchFamily="34" charset="-122"/>
                          <a:cs typeface="Calibri" pitchFamily="34" charset="-120"/>
                        </a:rPr>
                        <a:t>sr²=.09 for BMI; OR=2.14 for smoking (95% CI 1.52–3.01)</a:t>
                      </a:r>
                      <a:endParaRPr lang="en-US" sz="1150" dirty="0">
                        <a:latin typeface="Calibri" charset="0"/>
                        <a:ea typeface="Calibri" charset="0"/>
                        <a:cs typeface="Calibri" charset="0"/>
                      </a:endParaRPr>
                    </a:p>
                  </a:txBody>
                  <a:tcPr anchor="ctr">
                    <a:lnL w="6350" cap="flat" cmpd="sng" algn="ctr">
                      <a:solidFill>
                        <a:srgbClr val="DDE0F0"/>
                      </a:solidFill>
                      <a:prstDash val="solid"/>
                      <a:round/>
                      <a:headEnd type="none" w="med" len="med"/>
                      <a:tailEnd type="none" w="med" len="med"/>
                    </a:lnL>
                    <a:lnR w="6350" cap="flat" cmpd="sng" algn="ctr">
                      <a:solidFill>
                        <a:srgbClr val="DDE0F0"/>
                      </a:solidFill>
                      <a:prstDash val="solid"/>
                      <a:round/>
                      <a:headEnd type="none" w="med" len="med"/>
                      <a:tailEnd type="none" w="med" len="med"/>
                    </a:lnR>
                    <a:lnT w="6350" cap="flat" cmpd="sng" algn="ctr">
                      <a:solidFill>
                        <a:srgbClr val="DDE0F0"/>
                      </a:solidFill>
                      <a:prstDash val="solid"/>
                      <a:round/>
                      <a:headEnd type="none" w="med" len="med"/>
                      <a:tailEnd type="none" w="med" len="med"/>
                    </a:lnT>
                    <a:lnB w="6350" cap="flat" cmpd="sng" algn="ctr">
                      <a:solidFill>
                        <a:srgbClr val="DDE0F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57200">
                <a:tc>
                  <a:txBody>
                    <a:bodyPr/>
                    <a:lstStyle/>
                    <a:p>
                      <a:pPr marL="0" indent="0" algn="l">
                        <a:buNone/>
                      </a:pPr>
                      <a:r>
                        <a:rPr lang="en-US" sz="1150" dirty="0">
                          <a:solidFill>
                            <a:srgbClr val="000000"/>
                          </a:solidFill>
                          <a:latin typeface="Calibri" pitchFamily="34" charset="0"/>
                          <a:ea typeface="Calibri" pitchFamily="34" charset="-122"/>
                          <a:cs typeface="Calibri" pitchFamily="34" charset="-120"/>
                        </a:rPr>
                        <a:t>Power</a:t>
                      </a:r>
                      <a:endParaRPr lang="en-US" sz="1150" dirty="0">
                        <a:latin typeface="Calibri" charset="0"/>
                        <a:ea typeface="Calibri" charset="0"/>
                        <a:cs typeface="Calibri" charset="0"/>
                      </a:endParaRPr>
                    </a:p>
                  </a:txBody>
                  <a:tcPr anchor="ctr">
                    <a:lnL w="6350" cap="flat" cmpd="sng" algn="ctr">
                      <a:solidFill>
                        <a:srgbClr val="DDE0F0"/>
                      </a:solidFill>
                      <a:prstDash val="solid"/>
                      <a:round/>
                      <a:headEnd type="none" w="med" len="med"/>
                      <a:tailEnd type="none" w="med" len="med"/>
                    </a:lnL>
                    <a:lnR w="6350" cap="flat" cmpd="sng" algn="ctr">
                      <a:solidFill>
                        <a:srgbClr val="DDE0F0"/>
                      </a:solidFill>
                      <a:prstDash val="solid"/>
                      <a:round/>
                      <a:headEnd type="none" w="med" len="med"/>
                      <a:tailEnd type="none" w="med" len="med"/>
                    </a:lnR>
                    <a:lnT w="6350" cap="flat" cmpd="sng" algn="ctr">
                      <a:solidFill>
                        <a:srgbClr val="DDE0F0"/>
                      </a:solidFill>
                      <a:prstDash val="solid"/>
                      <a:round/>
                      <a:headEnd type="none" w="med" len="med"/>
                      <a:tailEnd type="none" w="med" len="med"/>
                    </a:lnT>
                    <a:lnB w="6350" cap="flat" cmpd="sng" algn="ctr">
                      <a:solidFill>
                        <a:srgbClr val="DDE0F0"/>
                      </a:solidFill>
                      <a:prstDash val="solid"/>
                      <a:round/>
                      <a:headEnd type="none" w="med" len="med"/>
                      <a:tailEnd type="none" w="med" len="med"/>
                    </a:lnB>
                    <a:solidFill>
                      <a:srgbClr val="FFFFFF"/>
                    </a:solidFill>
                  </a:tcPr>
                </a:tc>
                <a:tc>
                  <a:txBody>
                    <a:bodyPr/>
                    <a:lstStyle/>
                    <a:p>
                      <a:pPr marL="0" indent="0" algn="l">
                        <a:buNone/>
                      </a:pPr>
                      <a:r>
                        <a:rPr lang="en-US" sz="1150" dirty="0">
                          <a:solidFill>
                            <a:srgbClr val="000000"/>
                          </a:solidFill>
                          <a:latin typeface="Calibri" pitchFamily="34" charset="0"/>
                          <a:ea typeface="Calibri" pitchFamily="34" charset="-122"/>
                          <a:cs typeface="Calibri" pitchFamily="34" charset="-120"/>
                        </a:rPr>
                        <a:t>A priori or post-hoc</a:t>
                      </a:r>
                      <a:endParaRPr lang="en-US" sz="1150" dirty="0">
                        <a:latin typeface="Calibri" charset="0"/>
                        <a:ea typeface="Calibri" charset="0"/>
                        <a:cs typeface="Calibri" charset="0"/>
                      </a:endParaRPr>
                    </a:p>
                  </a:txBody>
                  <a:tcPr anchor="ctr">
                    <a:lnL w="6350" cap="flat" cmpd="sng" algn="ctr">
                      <a:solidFill>
                        <a:srgbClr val="DDE0F0"/>
                      </a:solidFill>
                      <a:prstDash val="solid"/>
                      <a:round/>
                      <a:headEnd type="none" w="med" len="med"/>
                      <a:tailEnd type="none" w="med" len="med"/>
                    </a:lnL>
                    <a:lnR w="6350" cap="flat" cmpd="sng" algn="ctr">
                      <a:solidFill>
                        <a:srgbClr val="DDE0F0"/>
                      </a:solidFill>
                      <a:prstDash val="solid"/>
                      <a:round/>
                      <a:headEnd type="none" w="med" len="med"/>
                      <a:tailEnd type="none" w="med" len="med"/>
                    </a:lnR>
                    <a:lnT w="6350" cap="flat" cmpd="sng" algn="ctr">
                      <a:solidFill>
                        <a:srgbClr val="DDE0F0"/>
                      </a:solidFill>
                      <a:prstDash val="solid"/>
                      <a:round/>
                      <a:headEnd type="none" w="med" len="med"/>
                      <a:tailEnd type="none" w="med" len="med"/>
                    </a:lnT>
                    <a:lnB w="6350" cap="flat" cmpd="sng" algn="ctr">
                      <a:solidFill>
                        <a:srgbClr val="DDE0F0"/>
                      </a:solidFill>
                      <a:prstDash val="solid"/>
                      <a:round/>
                      <a:headEnd type="none" w="med" len="med"/>
                      <a:tailEnd type="none" w="med" len="med"/>
                    </a:lnB>
                    <a:solidFill>
                      <a:srgbClr val="FFFFFF"/>
                    </a:solidFill>
                  </a:tcPr>
                </a:tc>
                <a:tc>
                  <a:txBody>
                    <a:bodyPr/>
                    <a:lstStyle/>
                    <a:p>
                      <a:pPr marL="0" indent="0" algn="l">
                        <a:buNone/>
                      </a:pPr>
                      <a:r>
                        <a:rPr lang="en-US" sz="1150" dirty="0">
                          <a:solidFill>
                            <a:srgbClr val="000000"/>
                          </a:solidFill>
                          <a:latin typeface="Calibri" pitchFamily="34" charset="0"/>
                          <a:ea typeface="Calibri" pitchFamily="34" charset="-122"/>
                          <a:cs typeface="Calibri" pitchFamily="34" charset="-120"/>
                        </a:rPr>
                        <a:t>Power=0.94 (G*Power; medium f²=.15, α=.05, k=6)</a:t>
                      </a:r>
                      <a:endParaRPr lang="en-US" sz="1150" dirty="0">
                        <a:latin typeface="Calibri" charset="0"/>
                        <a:ea typeface="Calibri" charset="0"/>
                        <a:cs typeface="Calibri" charset="0"/>
                      </a:endParaRPr>
                    </a:p>
                  </a:txBody>
                  <a:tcPr anchor="ctr">
                    <a:lnL w="6350" cap="flat" cmpd="sng" algn="ctr">
                      <a:solidFill>
                        <a:srgbClr val="DDE0F0"/>
                      </a:solidFill>
                      <a:prstDash val="solid"/>
                      <a:round/>
                      <a:headEnd type="none" w="med" len="med"/>
                      <a:tailEnd type="none" w="med" len="med"/>
                    </a:lnL>
                    <a:lnR w="6350" cap="flat" cmpd="sng" algn="ctr">
                      <a:solidFill>
                        <a:srgbClr val="DDE0F0"/>
                      </a:solidFill>
                      <a:prstDash val="solid"/>
                      <a:round/>
                      <a:headEnd type="none" w="med" len="med"/>
                      <a:tailEnd type="none" w="med" len="med"/>
                    </a:lnR>
                    <a:lnT w="6350" cap="flat" cmpd="sng" algn="ctr">
                      <a:solidFill>
                        <a:srgbClr val="DDE0F0"/>
                      </a:solidFill>
                      <a:prstDash val="solid"/>
                      <a:round/>
                      <a:headEnd type="none" w="med" len="med"/>
                      <a:tailEnd type="none" w="med" len="med"/>
                    </a:lnT>
                    <a:lnB w="6350" cap="flat" cmpd="sng" algn="ctr">
                      <a:solidFill>
                        <a:srgbClr val="DDE0F0"/>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82296"/>
          </a:xfrm>
          <a:prstGeom prst="rect">
            <a:avLst/>
          </a:prstGeom>
          <a:solidFill>
            <a:srgbClr val="1E2761"/>
          </a:solidFill>
          <a:ln w="12700">
            <a:solidFill>
              <a:srgbClr val="1E2761"/>
            </a:solidFill>
            <a:prstDash val="solid"/>
          </a:ln>
        </p:spPr>
        <p:txBody>
          <a:bodyPr/>
          <a:lstStyle/>
          <a:p>
            <a:endParaRPr lang="en-US"/>
          </a:p>
        </p:txBody>
      </p:sp>
      <p:sp>
        <p:nvSpPr>
          <p:cNvPr id="3" name="Text 1"/>
          <p:cNvSpPr/>
          <p:nvPr/>
        </p:nvSpPr>
        <p:spPr>
          <a:xfrm>
            <a:off x="411480" y="137160"/>
            <a:ext cx="8321040" cy="658368"/>
          </a:xfrm>
          <a:prstGeom prst="rect">
            <a:avLst/>
          </a:prstGeom>
          <a:noFill/>
          <a:ln/>
        </p:spPr>
        <p:txBody>
          <a:bodyPr wrap="square" lIns="0" tIns="0" rIns="0" bIns="0" rtlCol="0" anchor="ctr"/>
          <a:lstStyle/>
          <a:p>
            <a:pPr marL="0" indent="0">
              <a:buNone/>
            </a:pPr>
            <a:r>
              <a:rPr lang="en-US" sz="2700" b="1" dirty="0">
                <a:solidFill>
                  <a:srgbClr val="1E2761"/>
                </a:solidFill>
                <a:latin typeface="Georgia" pitchFamily="34" charset="0"/>
                <a:ea typeface="Georgia" pitchFamily="34" charset="-122"/>
                <a:cs typeface="Georgia" pitchFamily="34" charset="-120"/>
              </a:rPr>
              <a:t>Worked Example: Multivariable Logistic Regression</a:t>
            </a:r>
            <a:endParaRPr lang="en-US" sz="2700" dirty="0"/>
          </a:p>
        </p:txBody>
      </p:sp>
      <p:sp>
        <p:nvSpPr>
          <p:cNvPr id="4" name="Shape 2"/>
          <p:cNvSpPr/>
          <p:nvPr/>
        </p:nvSpPr>
        <p:spPr>
          <a:xfrm>
            <a:off x="365760" y="932688"/>
            <a:ext cx="8412480" cy="502920"/>
          </a:xfrm>
          <a:prstGeom prst="rect">
            <a:avLst/>
          </a:prstGeom>
          <a:solidFill>
            <a:srgbClr val="1E2761"/>
          </a:solidFill>
          <a:ln w="12700">
            <a:solidFill>
              <a:srgbClr val="1E2761"/>
            </a:solidFill>
            <a:prstDash val="solid"/>
          </a:ln>
        </p:spPr>
        <p:txBody>
          <a:bodyPr/>
          <a:lstStyle/>
          <a:p>
            <a:endParaRPr lang="en-US"/>
          </a:p>
        </p:txBody>
      </p:sp>
      <p:sp>
        <p:nvSpPr>
          <p:cNvPr id="5" name="Text 3"/>
          <p:cNvSpPr/>
          <p:nvPr/>
        </p:nvSpPr>
        <p:spPr>
          <a:xfrm>
            <a:off x="475488" y="969264"/>
            <a:ext cx="8229600" cy="402336"/>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Research Question: What factors predict hypertension (BP ≥140/90) among adults 40–70 years? (N=652)</a:t>
            </a:r>
            <a:endParaRPr lang="en-US" sz="1300" dirty="0"/>
          </a:p>
        </p:txBody>
      </p:sp>
      <p:sp>
        <p:nvSpPr>
          <p:cNvPr id="6" name="Shape 4"/>
          <p:cNvSpPr/>
          <p:nvPr/>
        </p:nvSpPr>
        <p:spPr>
          <a:xfrm>
            <a:off x="365760" y="1536192"/>
            <a:ext cx="8412480" cy="658368"/>
          </a:xfrm>
          <a:prstGeom prst="rect">
            <a:avLst/>
          </a:prstGeom>
          <a:solidFill>
            <a:srgbClr val="ECEEF8"/>
          </a:solidFill>
          <a:ln w="12700">
            <a:solidFill>
              <a:srgbClr val="DDE0F0"/>
            </a:solidFill>
            <a:prstDash val="solid"/>
          </a:ln>
        </p:spPr>
        <p:txBody>
          <a:bodyPr/>
          <a:lstStyle/>
          <a:p>
            <a:endParaRPr lang="en-US"/>
          </a:p>
        </p:txBody>
      </p:sp>
      <p:sp>
        <p:nvSpPr>
          <p:cNvPr id="7" name="Shape 5"/>
          <p:cNvSpPr/>
          <p:nvPr/>
        </p:nvSpPr>
        <p:spPr>
          <a:xfrm>
            <a:off x="365760" y="1536192"/>
            <a:ext cx="475488" cy="658368"/>
          </a:xfrm>
          <a:prstGeom prst="rect">
            <a:avLst/>
          </a:prstGeom>
          <a:solidFill>
            <a:srgbClr val="1E2761"/>
          </a:solidFill>
          <a:ln w="12700">
            <a:solidFill>
              <a:srgbClr val="1E2761"/>
            </a:solidFill>
            <a:prstDash val="solid"/>
          </a:ln>
        </p:spPr>
        <p:txBody>
          <a:bodyPr/>
          <a:lstStyle/>
          <a:p>
            <a:endParaRPr lang="en-US"/>
          </a:p>
        </p:txBody>
      </p:sp>
      <p:sp>
        <p:nvSpPr>
          <p:cNvPr id="8" name="Text 6"/>
          <p:cNvSpPr/>
          <p:nvPr/>
        </p:nvSpPr>
        <p:spPr>
          <a:xfrm>
            <a:off x="365760" y="1536192"/>
            <a:ext cx="475488" cy="658368"/>
          </a:xfrm>
          <a:prstGeom prst="rect">
            <a:avLst/>
          </a:prstGeom>
          <a:noFill/>
          <a:ln/>
        </p:spPr>
        <p:txBody>
          <a:bodyPr wrap="square" lIns="0" tIns="0" rIns="0" bIns="0"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1</a:t>
            </a:r>
            <a:endParaRPr lang="en-US" sz="1800" dirty="0"/>
          </a:p>
        </p:txBody>
      </p:sp>
      <p:sp>
        <p:nvSpPr>
          <p:cNvPr id="9" name="Text 7"/>
          <p:cNvSpPr/>
          <p:nvPr/>
        </p:nvSpPr>
        <p:spPr>
          <a:xfrm>
            <a:off x="914400" y="1581912"/>
            <a:ext cx="1600200" cy="548640"/>
          </a:xfrm>
          <a:prstGeom prst="rect">
            <a:avLst/>
          </a:prstGeom>
          <a:noFill/>
          <a:ln/>
        </p:spPr>
        <p:txBody>
          <a:bodyPr wrap="square" lIns="0" tIns="0" rIns="0" bIns="0" rtlCol="0" anchor="t"/>
          <a:lstStyle/>
          <a:p>
            <a:pPr marL="0" indent="0">
              <a:buNone/>
            </a:pPr>
            <a:r>
              <a:rPr lang="en-US" sz="1200" b="1" dirty="0">
                <a:solidFill>
                  <a:srgbClr val="1E2761"/>
                </a:solidFill>
                <a:latin typeface="Georgia" pitchFamily="34" charset="0"/>
                <a:ea typeface="Georgia" pitchFamily="34" charset="-122"/>
                <a:cs typeface="Georgia" pitchFamily="34" charset="-120"/>
              </a:rPr>
              <a:t>Variable definition: </a:t>
            </a:r>
            <a:endParaRPr lang="en-US" sz="1200" dirty="0"/>
          </a:p>
        </p:txBody>
      </p:sp>
      <p:sp>
        <p:nvSpPr>
          <p:cNvPr id="10" name="Text 8"/>
          <p:cNvSpPr/>
          <p:nvPr/>
        </p:nvSpPr>
        <p:spPr>
          <a:xfrm>
            <a:off x="2487168" y="1581912"/>
            <a:ext cx="6172200" cy="548640"/>
          </a:xfrm>
          <a:prstGeom prst="rect">
            <a:avLst/>
          </a:prstGeom>
          <a:noFill/>
          <a:ln/>
        </p:spPr>
        <p:txBody>
          <a:bodyPr wrap="square" lIns="0" tIns="0" rIns="0" bIns="0" rtlCol="0" anchor="t"/>
          <a:lstStyle/>
          <a:p>
            <a:pPr marL="0" indent="0">
              <a:buNone/>
            </a:pPr>
            <a:r>
              <a:rPr lang="en-US" sz="1150" dirty="0">
                <a:solidFill>
                  <a:srgbClr val="1A1A2E"/>
                </a:solidFill>
                <a:latin typeface="Calibri" pitchFamily="34" charset="0"/>
                <a:ea typeface="Calibri" pitchFamily="34" charset="-122"/>
                <a:cs typeface="Calibri" pitchFamily="34" charset="-120"/>
              </a:rPr>
              <a:t>DV: Hypertension (yes=1/no=0). IVs: Age (continuous), BMI (continuous), Smoking (yes/no), Salt intake (high/low), Physical activity (MET-min/wk), SES index (0–10).</a:t>
            </a:r>
            <a:endParaRPr lang="en-US" sz="1150" dirty="0"/>
          </a:p>
        </p:txBody>
      </p:sp>
      <p:sp>
        <p:nvSpPr>
          <p:cNvPr id="11" name="Shape 9"/>
          <p:cNvSpPr/>
          <p:nvPr/>
        </p:nvSpPr>
        <p:spPr>
          <a:xfrm>
            <a:off x="365760" y="2258568"/>
            <a:ext cx="8412480" cy="658368"/>
          </a:xfrm>
          <a:prstGeom prst="rect">
            <a:avLst/>
          </a:prstGeom>
          <a:solidFill>
            <a:srgbClr val="FFFFFF"/>
          </a:solidFill>
          <a:ln w="12700">
            <a:solidFill>
              <a:srgbClr val="DDE0F0"/>
            </a:solidFill>
            <a:prstDash val="solid"/>
          </a:ln>
        </p:spPr>
        <p:txBody>
          <a:bodyPr/>
          <a:lstStyle/>
          <a:p>
            <a:endParaRPr lang="en-US"/>
          </a:p>
        </p:txBody>
      </p:sp>
      <p:sp>
        <p:nvSpPr>
          <p:cNvPr id="12" name="Shape 10"/>
          <p:cNvSpPr/>
          <p:nvPr/>
        </p:nvSpPr>
        <p:spPr>
          <a:xfrm>
            <a:off x="365760" y="2258568"/>
            <a:ext cx="475488" cy="658368"/>
          </a:xfrm>
          <a:prstGeom prst="rect">
            <a:avLst/>
          </a:prstGeom>
          <a:solidFill>
            <a:srgbClr val="2E3F8F"/>
          </a:solidFill>
          <a:ln w="12700">
            <a:solidFill>
              <a:srgbClr val="2E3F8F"/>
            </a:solidFill>
            <a:prstDash val="solid"/>
          </a:ln>
        </p:spPr>
        <p:txBody>
          <a:bodyPr/>
          <a:lstStyle/>
          <a:p>
            <a:endParaRPr lang="en-US"/>
          </a:p>
        </p:txBody>
      </p:sp>
      <p:sp>
        <p:nvSpPr>
          <p:cNvPr id="13" name="Text 11"/>
          <p:cNvSpPr/>
          <p:nvPr/>
        </p:nvSpPr>
        <p:spPr>
          <a:xfrm>
            <a:off x="365760" y="2258568"/>
            <a:ext cx="475488" cy="658368"/>
          </a:xfrm>
          <a:prstGeom prst="rect">
            <a:avLst/>
          </a:prstGeom>
          <a:noFill/>
          <a:ln/>
        </p:spPr>
        <p:txBody>
          <a:bodyPr wrap="square" lIns="0" tIns="0" rIns="0" bIns="0"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2</a:t>
            </a:r>
            <a:endParaRPr lang="en-US" sz="1800" dirty="0"/>
          </a:p>
        </p:txBody>
      </p:sp>
      <p:sp>
        <p:nvSpPr>
          <p:cNvPr id="14" name="Text 12"/>
          <p:cNvSpPr/>
          <p:nvPr/>
        </p:nvSpPr>
        <p:spPr>
          <a:xfrm>
            <a:off x="914400" y="2304288"/>
            <a:ext cx="1600200" cy="548640"/>
          </a:xfrm>
          <a:prstGeom prst="rect">
            <a:avLst/>
          </a:prstGeom>
          <a:noFill/>
          <a:ln/>
        </p:spPr>
        <p:txBody>
          <a:bodyPr wrap="square" lIns="0" tIns="0" rIns="0" bIns="0" rtlCol="0" anchor="t"/>
          <a:lstStyle/>
          <a:p>
            <a:pPr marL="0" indent="0">
              <a:buNone/>
            </a:pPr>
            <a:r>
              <a:rPr lang="en-US" sz="1200" b="1" dirty="0">
                <a:solidFill>
                  <a:srgbClr val="2E3F8F"/>
                </a:solidFill>
                <a:latin typeface="Georgia" pitchFamily="34" charset="0"/>
                <a:ea typeface="Georgia" pitchFamily="34" charset="-122"/>
                <a:cs typeface="Georgia" pitchFamily="34" charset="-120"/>
              </a:rPr>
              <a:t>Data screening: </a:t>
            </a:r>
            <a:endParaRPr lang="en-US" sz="1200" dirty="0"/>
          </a:p>
        </p:txBody>
      </p:sp>
      <p:sp>
        <p:nvSpPr>
          <p:cNvPr id="15" name="Text 13"/>
          <p:cNvSpPr/>
          <p:nvPr/>
        </p:nvSpPr>
        <p:spPr>
          <a:xfrm>
            <a:off x="2487168" y="2304288"/>
            <a:ext cx="6172200" cy="548640"/>
          </a:xfrm>
          <a:prstGeom prst="rect">
            <a:avLst/>
          </a:prstGeom>
          <a:noFill/>
          <a:ln/>
        </p:spPr>
        <p:txBody>
          <a:bodyPr wrap="square" lIns="0" tIns="0" rIns="0" bIns="0" rtlCol="0" anchor="t"/>
          <a:lstStyle/>
          <a:p>
            <a:pPr marL="0" indent="0">
              <a:buNone/>
            </a:pPr>
            <a:r>
              <a:rPr lang="en-US" sz="1150" dirty="0">
                <a:solidFill>
                  <a:srgbClr val="1A1A2E"/>
                </a:solidFill>
                <a:latin typeface="Calibri" pitchFamily="34" charset="0"/>
                <a:ea typeface="Calibri" pitchFamily="34" charset="-122"/>
                <a:cs typeface="Calibri" pitchFamily="34" charset="-120"/>
              </a:rPr>
              <a:t>Missing: 2.8% — MICE imputation. No multicollinearity (VIF max 2.1). 3 multivariate outliers excluded. Log-transform BMI (skewness=1.8).</a:t>
            </a:r>
            <a:endParaRPr lang="en-US" sz="1150" dirty="0"/>
          </a:p>
        </p:txBody>
      </p:sp>
      <p:sp>
        <p:nvSpPr>
          <p:cNvPr id="16" name="Shape 14"/>
          <p:cNvSpPr/>
          <p:nvPr/>
        </p:nvSpPr>
        <p:spPr>
          <a:xfrm>
            <a:off x="365760" y="2980944"/>
            <a:ext cx="8412480" cy="658368"/>
          </a:xfrm>
          <a:prstGeom prst="rect">
            <a:avLst/>
          </a:prstGeom>
          <a:solidFill>
            <a:srgbClr val="ECEEF8"/>
          </a:solidFill>
          <a:ln w="12700">
            <a:solidFill>
              <a:srgbClr val="DDE0F0"/>
            </a:solidFill>
            <a:prstDash val="solid"/>
          </a:ln>
        </p:spPr>
        <p:txBody>
          <a:bodyPr/>
          <a:lstStyle/>
          <a:p>
            <a:endParaRPr lang="en-US"/>
          </a:p>
        </p:txBody>
      </p:sp>
      <p:sp>
        <p:nvSpPr>
          <p:cNvPr id="17" name="Shape 15"/>
          <p:cNvSpPr/>
          <p:nvPr/>
        </p:nvSpPr>
        <p:spPr>
          <a:xfrm>
            <a:off x="365760" y="2980944"/>
            <a:ext cx="475488" cy="658368"/>
          </a:xfrm>
          <a:prstGeom prst="rect">
            <a:avLst/>
          </a:prstGeom>
          <a:solidFill>
            <a:srgbClr val="2E8B72"/>
          </a:solidFill>
          <a:ln w="12700">
            <a:solidFill>
              <a:srgbClr val="2E8B72"/>
            </a:solidFill>
            <a:prstDash val="solid"/>
          </a:ln>
        </p:spPr>
        <p:txBody>
          <a:bodyPr/>
          <a:lstStyle/>
          <a:p>
            <a:endParaRPr lang="en-US"/>
          </a:p>
        </p:txBody>
      </p:sp>
      <p:sp>
        <p:nvSpPr>
          <p:cNvPr id="18" name="Text 16"/>
          <p:cNvSpPr/>
          <p:nvPr/>
        </p:nvSpPr>
        <p:spPr>
          <a:xfrm>
            <a:off x="365760" y="2980944"/>
            <a:ext cx="475488" cy="658368"/>
          </a:xfrm>
          <a:prstGeom prst="rect">
            <a:avLst/>
          </a:prstGeom>
          <a:noFill/>
          <a:ln/>
        </p:spPr>
        <p:txBody>
          <a:bodyPr wrap="square" lIns="0" tIns="0" rIns="0" bIns="0"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3</a:t>
            </a:r>
            <a:endParaRPr lang="en-US" sz="1800" dirty="0"/>
          </a:p>
        </p:txBody>
      </p:sp>
      <p:sp>
        <p:nvSpPr>
          <p:cNvPr id="19" name="Text 17"/>
          <p:cNvSpPr/>
          <p:nvPr/>
        </p:nvSpPr>
        <p:spPr>
          <a:xfrm>
            <a:off x="914400" y="3026664"/>
            <a:ext cx="1600200" cy="548640"/>
          </a:xfrm>
          <a:prstGeom prst="rect">
            <a:avLst/>
          </a:prstGeom>
          <a:noFill/>
          <a:ln/>
        </p:spPr>
        <p:txBody>
          <a:bodyPr wrap="square" lIns="0" tIns="0" rIns="0" bIns="0" rtlCol="0" anchor="t"/>
          <a:lstStyle/>
          <a:p>
            <a:pPr marL="0" indent="0">
              <a:buNone/>
            </a:pPr>
            <a:r>
              <a:rPr lang="en-US" sz="1200" b="1" dirty="0">
                <a:solidFill>
                  <a:srgbClr val="2E8B72"/>
                </a:solidFill>
                <a:latin typeface="Georgia" pitchFamily="34" charset="0"/>
                <a:ea typeface="Georgia" pitchFamily="34" charset="-122"/>
                <a:cs typeface="Georgia" pitchFamily="34" charset="-120"/>
              </a:rPr>
              <a:t>Model results: </a:t>
            </a:r>
            <a:endParaRPr lang="en-US" sz="1200" dirty="0"/>
          </a:p>
        </p:txBody>
      </p:sp>
      <p:sp>
        <p:nvSpPr>
          <p:cNvPr id="20" name="Text 18"/>
          <p:cNvSpPr/>
          <p:nvPr/>
        </p:nvSpPr>
        <p:spPr>
          <a:xfrm>
            <a:off x="2487168" y="3026664"/>
            <a:ext cx="6172200" cy="548640"/>
          </a:xfrm>
          <a:prstGeom prst="rect">
            <a:avLst/>
          </a:prstGeom>
          <a:noFill/>
          <a:ln/>
        </p:spPr>
        <p:txBody>
          <a:bodyPr wrap="square" lIns="0" tIns="0" rIns="0" bIns="0" rtlCol="0" anchor="t"/>
          <a:lstStyle/>
          <a:p>
            <a:pPr marL="0" indent="0">
              <a:buNone/>
            </a:pPr>
            <a:r>
              <a:rPr lang="en-US" sz="1150" dirty="0">
                <a:solidFill>
                  <a:srgbClr val="1A1A2E"/>
                </a:solidFill>
                <a:latin typeface="Calibri" pitchFamily="34" charset="0"/>
                <a:ea typeface="Calibri" pitchFamily="34" charset="-122"/>
                <a:cs typeface="Calibri" pitchFamily="34" charset="-120"/>
              </a:rPr>
              <a:t>Age: OR=1.08/yr (1.05–1.11). BMI-log: OR=3.21 (2.14–4.82). Smoking: OR=1.74 (1.21–2.51). Physical activity: OR=0.97/MET (0.96–0.99). Salt: OR=2.08 (1.45–2.98).</a:t>
            </a:r>
            <a:endParaRPr lang="en-US" sz="1150" dirty="0"/>
          </a:p>
        </p:txBody>
      </p:sp>
      <p:sp>
        <p:nvSpPr>
          <p:cNvPr id="21" name="Shape 19"/>
          <p:cNvSpPr/>
          <p:nvPr/>
        </p:nvSpPr>
        <p:spPr>
          <a:xfrm>
            <a:off x="365760" y="3703320"/>
            <a:ext cx="8412480" cy="658368"/>
          </a:xfrm>
          <a:prstGeom prst="rect">
            <a:avLst/>
          </a:prstGeom>
          <a:solidFill>
            <a:srgbClr val="FFFFFF"/>
          </a:solidFill>
          <a:ln w="12700">
            <a:solidFill>
              <a:srgbClr val="DDE0F0"/>
            </a:solidFill>
            <a:prstDash val="solid"/>
          </a:ln>
        </p:spPr>
        <p:txBody>
          <a:bodyPr/>
          <a:lstStyle/>
          <a:p>
            <a:endParaRPr lang="en-US"/>
          </a:p>
        </p:txBody>
      </p:sp>
      <p:sp>
        <p:nvSpPr>
          <p:cNvPr id="22" name="Shape 20"/>
          <p:cNvSpPr/>
          <p:nvPr/>
        </p:nvSpPr>
        <p:spPr>
          <a:xfrm>
            <a:off x="365760" y="3703320"/>
            <a:ext cx="475488" cy="658368"/>
          </a:xfrm>
          <a:prstGeom prst="rect">
            <a:avLst/>
          </a:prstGeom>
          <a:solidFill>
            <a:srgbClr val="6D2E46"/>
          </a:solidFill>
          <a:ln w="12700">
            <a:solidFill>
              <a:srgbClr val="6D2E46"/>
            </a:solidFill>
            <a:prstDash val="solid"/>
          </a:ln>
        </p:spPr>
        <p:txBody>
          <a:bodyPr/>
          <a:lstStyle/>
          <a:p>
            <a:endParaRPr lang="en-US"/>
          </a:p>
        </p:txBody>
      </p:sp>
      <p:sp>
        <p:nvSpPr>
          <p:cNvPr id="23" name="Text 21"/>
          <p:cNvSpPr/>
          <p:nvPr/>
        </p:nvSpPr>
        <p:spPr>
          <a:xfrm>
            <a:off x="365760" y="3703320"/>
            <a:ext cx="475488" cy="658368"/>
          </a:xfrm>
          <a:prstGeom prst="rect">
            <a:avLst/>
          </a:prstGeom>
          <a:noFill/>
          <a:ln/>
        </p:spPr>
        <p:txBody>
          <a:bodyPr wrap="square" lIns="0" tIns="0" rIns="0" bIns="0"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4</a:t>
            </a:r>
            <a:endParaRPr lang="en-US" sz="1800" dirty="0"/>
          </a:p>
        </p:txBody>
      </p:sp>
      <p:sp>
        <p:nvSpPr>
          <p:cNvPr id="24" name="Text 22"/>
          <p:cNvSpPr/>
          <p:nvPr/>
        </p:nvSpPr>
        <p:spPr>
          <a:xfrm>
            <a:off x="914400" y="3749040"/>
            <a:ext cx="1600200" cy="548640"/>
          </a:xfrm>
          <a:prstGeom prst="rect">
            <a:avLst/>
          </a:prstGeom>
          <a:noFill/>
          <a:ln/>
        </p:spPr>
        <p:txBody>
          <a:bodyPr wrap="square" lIns="0" tIns="0" rIns="0" bIns="0" rtlCol="0" anchor="t"/>
          <a:lstStyle/>
          <a:p>
            <a:pPr marL="0" indent="0">
              <a:buNone/>
            </a:pPr>
            <a:r>
              <a:rPr lang="en-US" sz="1200" b="1" dirty="0">
                <a:solidFill>
                  <a:srgbClr val="6D2E46"/>
                </a:solidFill>
                <a:latin typeface="Georgia" pitchFamily="34" charset="0"/>
                <a:ea typeface="Georgia" pitchFamily="34" charset="-122"/>
                <a:cs typeface="Georgia" pitchFamily="34" charset="-120"/>
              </a:rPr>
              <a:t>Model fit: </a:t>
            </a:r>
            <a:endParaRPr lang="en-US" sz="1200" dirty="0"/>
          </a:p>
        </p:txBody>
      </p:sp>
      <p:sp>
        <p:nvSpPr>
          <p:cNvPr id="25" name="Text 23"/>
          <p:cNvSpPr/>
          <p:nvPr/>
        </p:nvSpPr>
        <p:spPr>
          <a:xfrm>
            <a:off x="2487168" y="3749040"/>
            <a:ext cx="6172200" cy="548640"/>
          </a:xfrm>
          <a:prstGeom prst="rect">
            <a:avLst/>
          </a:prstGeom>
          <a:noFill/>
          <a:ln/>
        </p:spPr>
        <p:txBody>
          <a:bodyPr wrap="square" lIns="0" tIns="0" rIns="0" bIns="0" rtlCol="0" anchor="t"/>
          <a:lstStyle/>
          <a:p>
            <a:pPr marL="0" indent="0">
              <a:buNone/>
            </a:pPr>
            <a:r>
              <a:rPr lang="en-US" sz="1150" dirty="0">
                <a:solidFill>
                  <a:srgbClr val="1A1A2E"/>
                </a:solidFill>
                <a:latin typeface="Calibri" pitchFamily="34" charset="0"/>
                <a:ea typeface="Calibri" pitchFamily="34" charset="-122"/>
                <a:cs typeface="Calibri" pitchFamily="34" charset="-120"/>
              </a:rPr>
              <a:t>Nagelkerke R²=.39. Hosmer-Lemeshow χ²(8)=7.2, p=.51 (good fit). Overall classification: 79.3%. Sensitivity 74.1%, Specificity 82.6%.</a:t>
            </a:r>
            <a:endParaRPr lang="en-US" sz="1150" dirty="0"/>
          </a:p>
        </p:txBody>
      </p:sp>
      <p:sp>
        <p:nvSpPr>
          <p:cNvPr id="26" name="Shape 24"/>
          <p:cNvSpPr/>
          <p:nvPr/>
        </p:nvSpPr>
        <p:spPr>
          <a:xfrm>
            <a:off x="365760" y="4425696"/>
            <a:ext cx="8412480" cy="658368"/>
          </a:xfrm>
          <a:prstGeom prst="rect">
            <a:avLst/>
          </a:prstGeom>
          <a:solidFill>
            <a:srgbClr val="ECEEF8"/>
          </a:solidFill>
          <a:ln w="12700">
            <a:solidFill>
              <a:srgbClr val="DDE0F0"/>
            </a:solidFill>
            <a:prstDash val="solid"/>
          </a:ln>
        </p:spPr>
        <p:txBody>
          <a:bodyPr/>
          <a:lstStyle/>
          <a:p>
            <a:endParaRPr lang="en-US"/>
          </a:p>
        </p:txBody>
      </p:sp>
      <p:sp>
        <p:nvSpPr>
          <p:cNvPr id="27" name="Shape 25"/>
          <p:cNvSpPr/>
          <p:nvPr/>
        </p:nvSpPr>
        <p:spPr>
          <a:xfrm>
            <a:off x="365760" y="4425696"/>
            <a:ext cx="475488" cy="658368"/>
          </a:xfrm>
          <a:prstGeom prst="rect">
            <a:avLst/>
          </a:prstGeom>
          <a:solidFill>
            <a:srgbClr val="1E2761"/>
          </a:solidFill>
          <a:ln w="12700">
            <a:solidFill>
              <a:srgbClr val="1E2761"/>
            </a:solidFill>
            <a:prstDash val="solid"/>
          </a:ln>
        </p:spPr>
        <p:txBody>
          <a:bodyPr/>
          <a:lstStyle/>
          <a:p>
            <a:endParaRPr lang="en-US"/>
          </a:p>
        </p:txBody>
      </p:sp>
      <p:sp>
        <p:nvSpPr>
          <p:cNvPr id="28" name="Text 26"/>
          <p:cNvSpPr/>
          <p:nvPr/>
        </p:nvSpPr>
        <p:spPr>
          <a:xfrm>
            <a:off x="365760" y="4425696"/>
            <a:ext cx="475488" cy="658368"/>
          </a:xfrm>
          <a:prstGeom prst="rect">
            <a:avLst/>
          </a:prstGeom>
          <a:noFill/>
          <a:ln/>
        </p:spPr>
        <p:txBody>
          <a:bodyPr wrap="square" lIns="0" tIns="0" rIns="0" bIns="0"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5</a:t>
            </a:r>
            <a:endParaRPr lang="en-US" sz="1800" dirty="0"/>
          </a:p>
        </p:txBody>
      </p:sp>
      <p:sp>
        <p:nvSpPr>
          <p:cNvPr id="29" name="Text 27"/>
          <p:cNvSpPr/>
          <p:nvPr/>
        </p:nvSpPr>
        <p:spPr>
          <a:xfrm>
            <a:off x="914400" y="4471416"/>
            <a:ext cx="1600200" cy="548640"/>
          </a:xfrm>
          <a:prstGeom prst="rect">
            <a:avLst/>
          </a:prstGeom>
          <a:noFill/>
          <a:ln/>
        </p:spPr>
        <p:txBody>
          <a:bodyPr wrap="square" lIns="0" tIns="0" rIns="0" bIns="0" rtlCol="0" anchor="t"/>
          <a:lstStyle/>
          <a:p>
            <a:pPr marL="0" indent="0">
              <a:buNone/>
            </a:pPr>
            <a:r>
              <a:rPr lang="en-US" sz="1200" b="1" dirty="0">
                <a:solidFill>
                  <a:srgbClr val="1E2761"/>
                </a:solidFill>
                <a:latin typeface="Georgia" pitchFamily="34" charset="0"/>
                <a:ea typeface="Georgia" pitchFamily="34" charset="-122"/>
                <a:cs typeface="Georgia" pitchFamily="34" charset="-120"/>
              </a:rPr>
              <a:t>Conclusion: </a:t>
            </a:r>
            <a:endParaRPr lang="en-US" sz="1200" dirty="0"/>
          </a:p>
        </p:txBody>
      </p:sp>
      <p:sp>
        <p:nvSpPr>
          <p:cNvPr id="30" name="Text 28"/>
          <p:cNvSpPr/>
          <p:nvPr/>
        </p:nvSpPr>
        <p:spPr>
          <a:xfrm>
            <a:off x="2487168" y="4471416"/>
            <a:ext cx="6172200" cy="548640"/>
          </a:xfrm>
          <a:prstGeom prst="rect">
            <a:avLst/>
          </a:prstGeom>
          <a:noFill/>
          <a:ln/>
        </p:spPr>
        <p:txBody>
          <a:bodyPr wrap="square" lIns="0" tIns="0" rIns="0" bIns="0" rtlCol="0" anchor="t"/>
          <a:lstStyle/>
          <a:p>
            <a:pPr marL="0" indent="0">
              <a:buNone/>
            </a:pPr>
            <a:r>
              <a:rPr lang="en-US" sz="1150" dirty="0">
                <a:solidFill>
                  <a:srgbClr val="1A1A2E"/>
                </a:solidFill>
                <a:latin typeface="Calibri" pitchFamily="34" charset="0"/>
                <a:ea typeface="Calibri" pitchFamily="34" charset="-122"/>
                <a:cs typeface="Calibri" pitchFamily="34" charset="-120"/>
              </a:rPr>
              <a:t>After adjusting for all covariates, BMI, age, smoking, salt intake, and low physical activity independently predicted hypertension. SES was non-significant after adjustment.</a:t>
            </a:r>
            <a:endParaRPr lang="en-US" sz="115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24">
    <p:bg>
      <p:bgPr>
        <a:solidFill>
          <a:srgbClr val="F0F7F8"/>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23E5C"/>
          </a:solidFill>
          <a:ln/>
        </p:spPr>
        <p:txBody>
          <a:bodyPr/>
          <a:lstStyle/>
          <a:p>
            <a:endParaRPr lang="en-US"/>
          </a:p>
        </p:txBody>
      </p:sp>
      <p:sp>
        <p:nvSpPr>
          <p:cNvPr id="3" name="Text 1"/>
          <p:cNvSpPr/>
          <p:nvPr/>
        </p:nvSpPr>
        <p:spPr>
          <a:xfrm>
            <a:off x="365760" y="0"/>
            <a:ext cx="8229600" cy="1005840"/>
          </a:xfrm>
          <a:prstGeom prst="rect">
            <a:avLst/>
          </a:prstGeom>
          <a:noFill/>
          <a:ln/>
        </p:spPr>
        <p:txBody>
          <a:bodyPr wrap="square" rtlCol="0" anchor="ctr"/>
          <a:lstStyle/>
          <a:p>
            <a:pPr marL="0" indent="0">
              <a:buNone/>
            </a:pPr>
            <a:r>
              <a:rPr lang="en-US" sz="2000" b="1" dirty="0">
                <a:solidFill>
                  <a:srgbClr val="FFFFFF"/>
                </a:solidFill>
                <a:latin typeface="Georgia" pitchFamily="34" charset="0"/>
                <a:ea typeface="Georgia" pitchFamily="34" charset="-122"/>
                <a:cs typeface="Georgia" pitchFamily="34" charset="-120"/>
              </a:rPr>
              <a:t>Summary: Choosing &amp; Interpreting Your Model</a:t>
            </a:r>
            <a:endParaRPr lang="en-US" sz="2000" dirty="0"/>
          </a:p>
        </p:txBody>
      </p:sp>
      <p:sp>
        <p:nvSpPr>
          <p:cNvPr id="4" name="Shape 2"/>
          <p:cNvSpPr/>
          <p:nvPr/>
        </p:nvSpPr>
        <p:spPr>
          <a:xfrm>
            <a:off x="274320" y="1097280"/>
            <a:ext cx="8595360" cy="594360"/>
          </a:xfrm>
          <a:prstGeom prst="rect">
            <a:avLst/>
          </a:prstGeom>
          <a:solidFill>
            <a:srgbClr val="028090"/>
          </a:solidFill>
          <a:ln w="3810">
            <a:solidFill>
              <a:srgbClr val="DDDDDD"/>
            </a:solidFill>
            <a:prstDash val="solid"/>
          </a:ln>
        </p:spPr>
        <p:txBody>
          <a:bodyPr/>
          <a:lstStyle/>
          <a:p>
            <a:endParaRPr lang="en-US"/>
          </a:p>
        </p:txBody>
      </p:sp>
      <p:sp>
        <p:nvSpPr>
          <p:cNvPr id="5" name="Text 3"/>
          <p:cNvSpPr/>
          <p:nvPr/>
        </p:nvSpPr>
        <p:spPr>
          <a:xfrm>
            <a:off x="274320" y="1097280"/>
            <a:ext cx="2011680" cy="59436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Outcome Type</a:t>
            </a:r>
            <a:endParaRPr lang="en-US" sz="1200" dirty="0"/>
          </a:p>
        </p:txBody>
      </p:sp>
      <p:sp>
        <p:nvSpPr>
          <p:cNvPr id="6" name="Text 4"/>
          <p:cNvSpPr/>
          <p:nvPr/>
        </p:nvSpPr>
        <p:spPr>
          <a:xfrm>
            <a:off x="2377440" y="1097280"/>
            <a:ext cx="2103120" cy="59436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Model</a:t>
            </a:r>
            <a:endParaRPr lang="en-US" sz="1200" dirty="0"/>
          </a:p>
        </p:txBody>
      </p:sp>
      <p:sp>
        <p:nvSpPr>
          <p:cNvPr id="7" name="Text 5"/>
          <p:cNvSpPr/>
          <p:nvPr/>
        </p:nvSpPr>
        <p:spPr>
          <a:xfrm>
            <a:off x="4572000" y="1097280"/>
            <a:ext cx="1554480" cy="59436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Effect Measure</a:t>
            </a:r>
            <a:endParaRPr lang="en-US" sz="1200" dirty="0"/>
          </a:p>
        </p:txBody>
      </p:sp>
      <p:sp>
        <p:nvSpPr>
          <p:cNvPr id="8" name="Text 6"/>
          <p:cNvSpPr/>
          <p:nvPr/>
        </p:nvSpPr>
        <p:spPr>
          <a:xfrm>
            <a:off x="6217920" y="1097280"/>
            <a:ext cx="2788920" cy="59436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Example Public Health Use</a:t>
            </a:r>
            <a:endParaRPr lang="en-US" sz="1200" dirty="0"/>
          </a:p>
        </p:txBody>
      </p:sp>
      <p:sp>
        <p:nvSpPr>
          <p:cNvPr id="9" name="Shape 7"/>
          <p:cNvSpPr/>
          <p:nvPr/>
        </p:nvSpPr>
        <p:spPr>
          <a:xfrm>
            <a:off x="274320" y="1737360"/>
            <a:ext cx="8595360" cy="594360"/>
          </a:xfrm>
          <a:prstGeom prst="rect">
            <a:avLst/>
          </a:prstGeom>
          <a:solidFill>
            <a:srgbClr val="FFFFFF"/>
          </a:solidFill>
          <a:ln w="3810">
            <a:solidFill>
              <a:srgbClr val="DDDDDD"/>
            </a:solidFill>
            <a:prstDash val="solid"/>
          </a:ln>
        </p:spPr>
        <p:txBody>
          <a:bodyPr/>
          <a:lstStyle/>
          <a:p>
            <a:endParaRPr lang="en-US"/>
          </a:p>
        </p:txBody>
      </p:sp>
      <p:sp>
        <p:nvSpPr>
          <p:cNvPr id="10" name="Text 8"/>
          <p:cNvSpPr/>
          <p:nvPr/>
        </p:nvSpPr>
        <p:spPr>
          <a:xfrm>
            <a:off x="274320" y="1737360"/>
            <a:ext cx="2011680" cy="594360"/>
          </a:xfrm>
          <a:prstGeom prst="rect">
            <a:avLst/>
          </a:prstGeom>
          <a:noFill/>
          <a:ln/>
        </p:spPr>
        <p:txBody>
          <a:bodyPr wrap="square" rtlCol="0" anchor="ctr"/>
          <a:lstStyle/>
          <a:p>
            <a:pPr marL="0" indent="0">
              <a:buNone/>
            </a:pPr>
            <a:r>
              <a:rPr lang="en-US" sz="1200" dirty="0">
                <a:solidFill>
                  <a:srgbClr val="1A2E35"/>
                </a:solidFill>
                <a:latin typeface="Calibri" pitchFamily="34" charset="0"/>
                <a:ea typeface="Calibri" pitchFamily="34" charset="-122"/>
                <a:cs typeface="Calibri" pitchFamily="34" charset="-120"/>
              </a:rPr>
              <a:t>Continuous</a:t>
            </a:r>
            <a:endParaRPr lang="en-US" sz="1200" dirty="0"/>
          </a:p>
        </p:txBody>
      </p:sp>
      <p:sp>
        <p:nvSpPr>
          <p:cNvPr id="11" name="Text 9"/>
          <p:cNvSpPr/>
          <p:nvPr/>
        </p:nvSpPr>
        <p:spPr>
          <a:xfrm>
            <a:off x="2377440" y="1737360"/>
            <a:ext cx="2103120" cy="594360"/>
          </a:xfrm>
          <a:prstGeom prst="rect">
            <a:avLst/>
          </a:prstGeom>
          <a:noFill/>
          <a:ln/>
        </p:spPr>
        <p:txBody>
          <a:bodyPr wrap="square" rtlCol="0" anchor="ctr"/>
          <a:lstStyle/>
          <a:p>
            <a:pPr marL="0" indent="0">
              <a:buNone/>
            </a:pPr>
            <a:r>
              <a:rPr lang="en-US" sz="1200" dirty="0">
                <a:solidFill>
                  <a:srgbClr val="1A2E35"/>
                </a:solidFill>
                <a:latin typeface="Calibri" pitchFamily="34" charset="0"/>
                <a:ea typeface="Calibri" pitchFamily="34" charset="-122"/>
                <a:cs typeface="Calibri" pitchFamily="34" charset="-120"/>
              </a:rPr>
              <a:t>Multiple Linear</a:t>
            </a:r>
            <a:endParaRPr lang="en-US" sz="1200" dirty="0"/>
          </a:p>
        </p:txBody>
      </p:sp>
      <p:sp>
        <p:nvSpPr>
          <p:cNvPr id="12" name="Text 10"/>
          <p:cNvSpPr/>
          <p:nvPr/>
        </p:nvSpPr>
        <p:spPr>
          <a:xfrm>
            <a:off x="4572000" y="1737360"/>
            <a:ext cx="1554480" cy="594360"/>
          </a:xfrm>
          <a:prstGeom prst="rect">
            <a:avLst/>
          </a:prstGeom>
          <a:noFill/>
          <a:ln/>
        </p:spPr>
        <p:txBody>
          <a:bodyPr wrap="square" rtlCol="0" anchor="ctr"/>
          <a:lstStyle/>
          <a:p>
            <a:pPr marL="0" indent="0">
              <a:buNone/>
            </a:pPr>
            <a:r>
              <a:rPr lang="en-US" sz="1200" dirty="0">
                <a:solidFill>
                  <a:srgbClr val="1A2E35"/>
                </a:solidFill>
                <a:latin typeface="Calibri" pitchFamily="34" charset="0"/>
                <a:ea typeface="Calibri" pitchFamily="34" charset="-122"/>
                <a:cs typeface="Calibri" pitchFamily="34" charset="-120"/>
              </a:rPr>
              <a:t>β coefficient</a:t>
            </a:r>
            <a:endParaRPr lang="en-US" sz="1200" dirty="0"/>
          </a:p>
        </p:txBody>
      </p:sp>
      <p:sp>
        <p:nvSpPr>
          <p:cNvPr id="13" name="Text 11"/>
          <p:cNvSpPr/>
          <p:nvPr/>
        </p:nvSpPr>
        <p:spPr>
          <a:xfrm>
            <a:off x="6217920" y="1737360"/>
            <a:ext cx="2788920" cy="594360"/>
          </a:xfrm>
          <a:prstGeom prst="rect">
            <a:avLst/>
          </a:prstGeom>
          <a:noFill/>
          <a:ln/>
        </p:spPr>
        <p:txBody>
          <a:bodyPr wrap="square" rtlCol="0" anchor="ctr"/>
          <a:lstStyle/>
          <a:p>
            <a:pPr marL="0" indent="0">
              <a:buNone/>
            </a:pPr>
            <a:r>
              <a:rPr lang="en-US" sz="1200" dirty="0">
                <a:solidFill>
                  <a:srgbClr val="1A2E35"/>
                </a:solidFill>
                <a:latin typeface="Calibri" pitchFamily="34" charset="0"/>
                <a:ea typeface="Calibri" pitchFamily="34" charset="-122"/>
                <a:cs typeface="Calibri" pitchFamily="34" charset="-120"/>
              </a:rPr>
              <a:t>Mean difference in blood pressure</a:t>
            </a:r>
            <a:endParaRPr lang="en-US" sz="1200" dirty="0"/>
          </a:p>
        </p:txBody>
      </p:sp>
      <p:sp>
        <p:nvSpPr>
          <p:cNvPr id="14" name="Shape 12"/>
          <p:cNvSpPr/>
          <p:nvPr/>
        </p:nvSpPr>
        <p:spPr>
          <a:xfrm>
            <a:off x="274320" y="2377440"/>
            <a:ext cx="8595360" cy="594360"/>
          </a:xfrm>
          <a:prstGeom prst="rect">
            <a:avLst/>
          </a:prstGeom>
          <a:solidFill>
            <a:srgbClr val="E8F4F5"/>
          </a:solidFill>
          <a:ln w="3810">
            <a:solidFill>
              <a:srgbClr val="DDDDDD"/>
            </a:solidFill>
            <a:prstDash val="solid"/>
          </a:ln>
        </p:spPr>
        <p:txBody>
          <a:bodyPr/>
          <a:lstStyle/>
          <a:p>
            <a:endParaRPr lang="en-US"/>
          </a:p>
        </p:txBody>
      </p:sp>
      <p:sp>
        <p:nvSpPr>
          <p:cNvPr id="15" name="Text 13"/>
          <p:cNvSpPr/>
          <p:nvPr/>
        </p:nvSpPr>
        <p:spPr>
          <a:xfrm>
            <a:off x="274320" y="2377440"/>
            <a:ext cx="2011680" cy="594360"/>
          </a:xfrm>
          <a:prstGeom prst="rect">
            <a:avLst/>
          </a:prstGeom>
          <a:noFill/>
          <a:ln/>
        </p:spPr>
        <p:txBody>
          <a:bodyPr wrap="square" rtlCol="0" anchor="ctr"/>
          <a:lstStyle/>
          <a:p>
            <a:pPr marL="0" indent="0">
              <a:buNone/>
            </a:pPr>
            <a:r>
              <a:rPr lang="en-US" sz="1200" dirty="0">
                <a:solidFill>
                  <a:srgbClr val="1A2E35"/>
                </a:solidFill>
                <a:latin typeface="Calibri" pitchFamily="34" charset="0"/>
                <a:ea typeface="Calibri" pitchFamily="34" charset="-122"/>
                <a:cs typeface="Calibri" pitchFamily="34" charset="-120"/>
              </a:rPr>
              <a:t>Binary</a:t>
            </a:r>
            <a:endParaRPr lang="en-US" sz="1200" dirty="0"/>
          </a:p>
        </p:txBody>
      </p:sp>
      <p:sp>
        <p:nvSpPr>
          <p:cNvPr id="16" name="Text 14"/>
          <p:cNvSpPr/>
          <p:nvPr/>
        </p:nvSpPr>
        <p:spPr>
          <a:xfrm>
            <a:off x="2377440" y="2377440"/>
            <a:ext cx="2103120" cy="594360"/>
          </a:xfrm>
          <a:prstGeom prst="rect">
            <a:avLst/>
          </a:prstGeom>
          <a:noFill/>
          <a:ln/>
        </p:spPr>
        <p:txBody>
          <a:bodyPr wrap="square" rtlCol="0" anchor="ctr"/>
          <a:lstStyle/>
          <a:p>
            <a:pPr marL="0" indent="0">
              <a:buNone/>
            </a:pPr>
            <a:r>
              <a:rPr lang="en-US" sz="1200" dirty="0">
                <a:solidFill>
                  <a:srgbClr val="1A2E35"/>
                </a:solidFill>
                <a:latin typeface="Calibri" pitchFamily="34" charset="0"/>
                <a:ea typeface="Calibri" pitchFamily="34" charset="-122"/>
                <a:cs typeface="Calibri" pitchFamily="34" charset="-120"/>
              </a:rPr>
              <a:t>Logistic</a:t>
            </a:r>
            <a:endParaRPr lang="en-US" sz="1200" dirty="0"/>
          </a:p>
        </p:txBody>
      </p:sp>
      <p:sp>
        <p:nvSpPr>
          <p:cNvPr id="17" name="Text 15"/>
          <p:cNvSpPr/>
          <p:nvPr/>
        </p:nvSpPr>
        <p:spPr>
          <a:xfrm>
            <a:off x="4572000" y="2377440"/>
            <a:ext cx="1554480" cy="594360"/>
          </a:xfrm>
          <a:prstGeom prst="rect">
            <a:avLst/>
          </a:prstGeom>
          <a:noFill/>
          <a:ln/>
        </p:spPr>
        <p:txBody>
          <a:bodyPr wrap="square" rtlCol="0" anchor="ctr"/>
          <a:lstStyle/>
          <a:p>
            <a:pPr marL="0" indent="0">
              <a:buNone/>
            </a:pPr>
            <a:r>
              <a:rPr lang="en-US" sz="1200" dirty="0">
                <a:solidFill>
                  <a:srgbClr val="1A2E35"/>
                </a:solidFill>
                <a:latin typeface="Calibri" pitchFamily="34" charset="0"/>
                <a:ea typeface="Calibri" pitchFamily="34" charset="-122"/>
                <a:cs typeface="Calibri" pitchFamily="34" charset="-120"/>
              </a:rPr>
              <a:t>Odds Ratio (OR)</a:t>
            </a:r>
            <a:endParaRPr lang="en-US" sz="1200" dirty="0"/>
          </a:p>
        </p:txBody>
      </p:sp>
      <p:sp>
        <p:nvSpPr>
          <p:cNvPr id="18" name="Text 16"/>
          <p:cNvSpPr/>
          <p:nvPr/>
        </p:nvSpPr>
        <p:spPr>
          <a:xfrm>
            <a:off x="6217920" y="2377440"/>
            <a:ext cx="2788920" cy="594360"/>
          </a:xfrm>
          <a:prstGeom prst="rect">
            <a:avLst/>
          </a:prstGeom>
          <a:noFill/>
          <a:ln/>
        </p:spPr>
        <p:txBody>
          <a:bodyPr wrap="square" rtlCol="0" anchor="ctr"/>
          <a:lstStyle/>
          <a:p>
            <a:pPr marL="0" indent="0">
              <a:buNone/>
            </a:pPr>
            <a:r>
              <a:rPr lang="en-US" sz="1200" dirty="0">
                <a:solidFill>
                  <a:srgbClr val="1A2E35"/>
                </a:solidFill>
                <a:latin typeface="Calibri" pitchFamily="34" charset="0"/>
                <a:ea typeface="Calibri" pitchFamily="34" charset="-122"/>
                <a:cs typeface="Calibri" pitchFamily="34" charset="-120"/>
              </a:rPr>
              <a:t>Probability of disease given risk factors</a:t>
            </a:r>
            <a:endParaRPr lang="en-US" sz="1200" dirty="0"/>
          </a:p>
        </p:txBody>
      </p:sp>
      <p:sp>
        <p:nvSpPr>
          <p:cNvPr id="19" name="Shape 17"/>
          <p:cNvSpPr/>
          <p:nvPr/>
        </p:nvSpPr>
        <p:spPr>
          <a:xfrm>
            <a:off x="274320" y="3017520"/>
            <a:ext cx="8595360" cy="594360"/>
          </a:xfrm>
          <a:prstGeom prst="rect">
            <a:avLst/>
          </a:prstGeom>
          <a:solidFill>
            <a:srgbClr val="FFFFFF"/>
          </a:solidFill>
          <a:ln w="3810">
            <a:solidFill>
              <a:srgbClr val="DDDDDD"/>
            </a:solidFill>
            <a:prstDash val="solid"/>
          </a:ln>
        </p:spPr>
        <p:txBody>
          <a:bodyPr/>
          <a:lstStyle/>
          <a:p>
            <a:endParaRPr lang="en-US"/>
          </a:p>
        </p:txBody>
      </p:sp>
      <p:sp>
        <p:nvSpPr>
          <p:cNvPr id="20" name="Text 18"/>
          <p:cNvSpPr/>
          <p:nvPr/>
        </p:nvSpPr>
        <p:spPr>
          <a:xfrm>
            <a:off x="274320" y="3017520"/>
            <a:ext cx="2011680" cy="594360"/>
          </a:xfrm>
          <a:prstGeom prst="rect">
            <a:avLst/>
          </a:prstGeom>
          <a:noFill/>
          <a:ln/>
        </p:spPr>
        <p:txBody>
          <a:bodyPr wrap="square" rtlCol="0" anchor="ctr"/>
          <a:lstStyle/>
          <a:p>
            <a:pPr marL="0" indent="0">
              <a:buNone/>
            </a:pPr>
            <a:r>
              <a:rPr lang="en-US" sz="1200" dirty="0">
                <a:solidFill>
                  <a:srgbClr val="1A2E35"/>
                </a:solidFill>
                <a:latin typeface="Calibri" pitchFamily="34" charset="0"/>
                <a:ea typeface="Calibri" pitchFamily="34" charset="-122"/>
                <a:cs typeface="Calibri" pitchFamily="34" charset="-120"/>
              </a:rPr>
              <a:t>Count/Rate</a:t>
            </a:r>
            <a:endParaRPr lang="en-US" sz="1200" dirty="0"/>
          </a:p>
        </p:txBody>
      </p:sp>
      <p:sp>
        <p:nvSpPr>
          <p:cNvPr id="21" name="Text 19"/>
          <p:cNvSpPr/>
          <p:nvPr/>
        </p:nvSpPr>
        <p:spPr>
          <a:xfrm>
            <a:off x="2377440" y="3017520"/>
            <a:ext cx="2103120" cy="594360"/>
          </a:xfrm>
          <a:prstGeom prst="rect">
            <a:avLst/>
          </a:prstGeom>
          <a:noFill/>
          <a:ln/>
        </p:spPr>
        <p:txBody>
          <a:bodyPr wrap="square" rtlCol="0" anchor="ctr"/>
          <a:lstStyle/>
          <a:p>
            <a:pPr marL="0" indent="0">
              <a:buNone/>
            </a:pPr>
            <a:r>
              <a:rPr lang="en-US" sz="1200" dirty="0">
                <a:solidFill>
                  <a:srgbClr val="1A2E35"/>
                </a:solidFill>
                <a:latin typeface="Calibri" pitchFamily="34" charset="0"/>
                <a:ea typeface="Calibri" pitchFamily="34" charset="-122"/>
                <a:cs typeface="Calibri" pitchFamily="34" charset="-120"/>
              </a:rPr>
              <a:t>Poisson</a:t>
            </a:r>
            <a:endParaRPr lang="en-US" sz="1200" dirty="0"/>
          </a:p>
        </p:txBody>
      </p:sp>
      <p:sp>
        <p:nvSpPr>
          <p:cNvPr id="22" name="Text 20"/>
          <p:cNvSpPr/>
          <p:nvPr/>
        </p:nvSpPr>
        <p:spPr>
          <a:xfrm>
            <a:off x="4572000" y="3017520"/>
            <a:ext cx="1554480" cy="594360"/>
          </a:xfrm>
          <a:prstGeom prst="rect">
            <a:avLst/>
          </a:prstGeom>
          <a:noFill/>
          <a:ln/>
        </p:spPr>
        <p:txBody>
          <a:bodyPr wrap="square" rtlCol="0" anchor="ctr"/>
          <a:lstStyle/>
          <a:p>
            <a:pPr marL="0" indent="0">
              <a:buNone/>
            </a:pPr>
            <a:r>
              <a:rPr lang="en-US" sz="1200" dirty="0">
                <a:solidFill>
                  <a:srgbClr val="1A2E35"/>
                </a:solidFill>
                <a:latin typeface="Calibri" pitchFamily="34" charset="0"/>
                <a:ea typeface="Calibri" pitchFamily="34" charset="-122"/>
                <a:cs typeface="Calibri" pitchFamily="34" charset="-120"/>
              </a:rPr>
              <a:t>Incidence Rate Ratio (IRR)</a:t>
            </a:r>
            <a:endParaRPr lang="en-US" sz="1200" dirty="0"/>
          </a:p>
        </p:txBody>
      </p:sp>
      <p:sp>
        <p:nvSpPr>
          <p:cNvPr id="23" name="Text 21"/>
          <p:cNvSpPr/>
          <p:nvPr/>
        </p:nvSpPr>
        <p:spPr>
          <a:xfrm>
            <a:off x="6217920" y="3017520"/>
            <a:ext cx="2788920" cy="594360"/>
          </a:xfrm>
          <a:prstGeom prst="rect">
            <a:avLst/>
          </a:prstGeom>
          <a:noFill/>
          <a:ln/>
        </p:spPr>
        <p:txBody>
          <a:bodyPr wrap="square" rtlCol="0" anchor="ctr"/>
          <a:lstStyle/>
          <a:p>
            <a:pPr marL="0" indent="0">
              <a:buNone/>
            </a:pPr>
            <a:r>
              <a:rPr lang="en-US" sz="1200" dirty="0">
                <a:solidFill>
                  <a:srgbClr val="1A2E35"/>
                </a:solidFill>
                <a:latin typeface="Calibri" pitchFamily="34" charset="0"/>
                <a:ea typeface="Calibri" pitchFamily="34" charset="-122"/>
                <a:cs typeface="Calibri" pitchFamily="34" charset="-120"/>
              </a:rPr>
              <a:t>Rate of hospital admissions</a:t>
            </a:r>
            <a:endParaRPr lang="en-US" sz="1200" dirty="0"/>
          </a:p>
        </p:txBody>
      </p:sp>
      <p:sp>
        <p:nvSpPr>
          <p:cNvPr id="24" name="Shape 22"/>
          <p:cNvSpPr/>
          <p:nvPr/>
        </p:nvSpPr>
        <p:spPr>
          <a:xfrm>
            <a:off x="274320" y="3657600"/>
            <a:ext cx="8595360" cy="594360"/>
          </a:xfrm>
          <a:prstGeom prst="rect">
            <a:avLst/>
          </a:prstGeom>
          <a:solidFill>
            <a:srgbClr val="E8F4F5"/>
          </a:solidFill>
          <a:ln w="3810">
            <a:solidFill>
              <a:srgbClr val="DDDDDD"/>
            </a:solidFill>
            <a:prstDash val="solid"/>
          </a:ln>
        </p:spPr>
        <p:txBody>
          <a:bodyPr/>
          <a:lstStyle/>
          <a:p>
            <a:endParaRPr lang="en-US"/>
          </a:p>
        </p:txBody>
      </p:sp>
      <p:sp>
        <p:nvSpPr>
          <p:cNvPr id="25" name="Text 23"/>
          <p:cNvSpPr/>
          <p:nvPr/>
        </p:nvSpPr>
        <p:spPr>
          <a:xfrm>
            <a:off x="274320" y="3657600"/>
            <a:ext cx="2011680" cy="594360"/>
          </a:xfrm>
          <a:prstGeom prst="rect">
            <a:avLst/>
          </a:prstGeom>
          <a:noFill/>
          <a:ln/>
        </p:spPr>
        <p:txBody>
          <a:bodyPr wrap="square" rtlCol="0" anchor="ctr"/>
          <a:lstStyle/>
          <a:p>
            <a:pPr marL="0" indent="0">
              <a:buNone/>
            </a:pPr>
            <a:r>
              <a:rPr lang="en-US" sz="1200" dirty="0">
                <a:solidFill>
                  <a:srgbClr val="1A2E35"/>
                </a:solidFill>
                <a:latin typeface="Calibri" pitchFamily="34" charset="0"/>
                <a:ea typeface="Calibri" pitchFamily="34" charset="-122"/>
                <a:cs typeface="Calibri" pitchFamily="34" charset="-120"/>
              </a:rPr>
              <a:t>Time-to-event</a:t>
            </a:r>
            <a:endParaRPr lang="en-US" sz="1200" dirty="0"/>
          </a:p>
        </p:txBody>
      </p:sp>
      <p:sp>
        <p:nvSpPr>
          <p:cNvPr id="26" name="Text 24"/>
          <p:cNvSpPr/>
          <p:nvPr/>
        </p:nvSpPr>
        <p:spPr>
          <a:xfrm>
            <a:off x="2377440" y="3657600"/>
            <a:ext cx="2103120" cy="594360"/>
          </a:xfrm>
          <a:prstGeom prst="rect">
            <a:avLst/>
          </a:prstGeom>
          <a:noFill/>
          <a:ln/>
        </p:spPr>
        <p:txBody>
          <a:bodyPr wrap="square" rtlCol="0" anchor="ctr"/>
          <a:lstStyle/>
          <a:p>
            <a:pPr marL="0" indent="0">
              <a:buNone/>
            </a:pPr>
            <a:r>
              <a:rPr lang="en-US" sz="1200" dirty="0">
                <a:solidFill>
                  <a:srgbClr val="1A2E35"/>
                </a:solidFill>
                <a:latin typeface="Calibri" pitchFamily="34" charset="0"/>
                <a:ea typeface="Calibri" pitchFamily="34" charset="-122"/>
                <a:cs typeface="Calibri" pitchFamily="34" charset="-120"/>
              </a:rPr>
              <a:t>Cox PH</a:t>
            </a:r>
            <a:endParaRPr lang="en-US" sz="1200" dirty="0"/>
          </a:p>
        </p:txBody>
      </p:sp>
      <p:sp>
        <p:nvSpPr>
          <p:cNvPr id="27" name="Text 25"/>
          <p:cNvSpPr/>
          <p:nvPr/>
        </p:nvSpPr>
        <p:spPr>
          <a:xfrm>
            <a:off x="4572000" y="3657600"/>
            <a:ext cx="1554480" cy="594360"/>
          </a:xfrm>
          <a:prstGeom prst="rect">
            <a:avLst/>
          </a:prstGeom>
          <a:noFill/>
          <a:ln/>
        </p:spPr>
        <p:txBody>
          <a:bodyPr wrap="square" rtlCol="0" anchor="ctr"/>
          <a:lstStyle/>
          <a:p>
            <a:pPr marL="0" indent="0">
              <a:buNone/>
            </a:pPr>
            <a:r>
              <a:rPr lang="en-US" sz="1200" dirty="0">
                <a:solidFill>
                  <a:srgbClr val="1A2E35"/>
                </a:solidFill>
                <a:latin typeface="Calibri" pitchFamily="34" charset="0"/>
                <a:ea typeface="Calibri" pitchFamily="34" charset="-122"/>
                <a:cs typeface="Calibri" pitchFamily="34" charset="-120"/>
              </a:rPr>
              <a:t>Hazard Ratio (HR)</a:t>
            </a:r>
            <a:endParaRPr lang="en-US" sz="1200" dirty="0"/>
          </a:p>
        </p:txBody>
      </p:sp>
      <p:sp>
        <p:nvSpPr>
          <p:cNvPr id="28" name="Text 26"/>
          <p:cNvSpPr/>
          <p:nvPr/>
        </p:nvSpPr>
        <p:spPr>
          <a:xfrm>
            <a:off x="6217920" y="3657600"/>
            <a:ext cx="2788920" cy="594360"/>
          </a:xfrm>
          <a:prstGeom prst="rect">
            <a:avLst/>
          </a:prstGeom>
          <a:noFill/>
          <a:ln/>
        </p:spPr>
        <p:txBody>
          <a:bodyPr wrap="square" rtlCol="0" anchor="ctr"/>
          <a:lstStyle/>
          <a:p>
            <a:pPr marL="0" indent="0">
              <a:buNone/>
            </a:pPr>
            <a:r>
              <a:rPr lang="en-US" sz="1200" dirty="0">
                <a:solidFill>
                  <a:srgbClr val="1A2E35"/>
                </a:solidFill>
                <a:latin typeface="Calibri" pitchFamily="34" charset="0"/>
                <a:ea typeface="Calibri" pitchFamily="34" charset="-122"/>
                <a:cs typeface="Calibri" pitchFamily="34" charset="-120"/>
              </a:rPr>
              <a:t>Survival after cancer diagnosis</a:t>
            </a:r>
            <a:endParaRPr lang="en-US" sz="1200" dirty="0"/>
          </a:p>
        </p:txBody>
      </p:sp>
      <p:sp>
        <p:nvSpPr>
          <p:cNvPr id="29" name="Shape 27"/>
          <p:cNvSpPr/>
          <p:nvPr/>
        </p:nvSpPr>
        <p:spPr>
          <a:xfrm>
            <a:off x="274320" y="4297680"/>
            <a:ext cx="8595360" cy="594360"/>
          </a:xfrm>
          <a:prstGeom prst="rect">
            <a:avLst/>
          </a:prstGeom>
          <a:solidFill>
            <a:srgbClr val="FFFFFF"/>
          </a:solidFill>
          <a:ln w="3810">
            <a:solidFill>
              <a:srgbClr val="DDDDDD"/>
            </a:solidFill>
            <a:prstDash val="solid"/>
          </a:ln>
        </p:spPr>
        <p:txBody>
          <a:bodyPr/>
          <a:lstStyle/>
          <a:p>
            <a:endParaRPr lang="en-US"/>
          </a:p>
        </p:txBody>
      </p:sp>
      <p:sp>
        <p:nvSpPr>
          <p:cNvPr id="30" name="Text 28"/>
          <p:cNvSpPr/>
          <p:nvPr/>
        </p:nvSpPr>
        <p:spPr>
          <a:xfrm>
            <a:off x="274320" y="4297680"/>
            <a:ext cx="2011680" cy="594360"/>
          </a:xfrm>
          <a:prstGeom prst="rect">
            <a:avLst/>
          </a:prstGeom>
          <a:noFill/>
          <a:ln/>
        </p:spPr>
        <p:txBody>
          <a:bodyPr wrap="square" rtlCol="0" anchor="ctr"/>
          <a:lstStyle/>
          <a:p>
            <a:pPr marL="0" indent="0">
              <a:buNone/>
            </a:pPr>
            <a:r>
              <a:rPr lang="en-US" sz="1200" dirty="0">
                <a:solidFill>
                  <a:srgbClr val="1A2E35"/>
                </a:solidFill>
                <a:latin typeface="Calibri" pitchFamily="34" charset="0"/>
                <a:ea typeface="Calibri" pitchFamily="34" charset="-122"/>
                <a:cs typeface="Calibri" pitchFamily="34" charset="-120"/>
              </a:rPr>
              <a:t>Ordinal</a:t>
            </a:r>
            <a:endParaRPr lang="en-US" sz="1200" dirty="0"/>
          </a:p>
        </p:txBody>
      </p:sp>
      <p:sp>
        <p:nvSpPr>
          <p:cNvPr id="31" name="Text 29"/>
          <p:cNvSpPr/>
          <p:nvPr/>
        </p:nvSpPr>
        <p:spPr>
          <a:xfrm>
            <a:off x="2377440" y="4297680"/>
            <a:ext cx="2103120" cy="594360"/>
          </a:xfrm>
          <a:prstGeom prst="rect">
            <a:avLst/>
          </a:prstGeom>
          <a:noFill/>
          <a:ln/>
        </p:spPr>
        <p:txBody>
          <a:bodyPr wrap="square" rtlCol="0" anchor="ctr"/>
          <a:lstStyle/>
          <a:p>
            <a:pPr marL="0" indent="0">
              <a:buNone/>
            </a:pPr>
            <a:r>
              <a:rPr lang="en-US" sz="1200" dirty="0">
                <a:solidFill>
                  <a:srgbClr val="1A2E35"/>
                </a:solidFill>
                <a:latin typeface="Calibri" pitchFamily="34" charset="0"/>
                <a:ea typeface="Calibri" pitchFamily="34" charset="-122"/>
                <a:cs typeface="Calibri" pitchFamily="34" charset="-120"/>
              </a:rPr>
              <a:t>Ordinal Logistic</a:t>
            </a:r>
            <a:endParaRPr lang="en-US" sz="1200" dirty="0"/>
          </a:p>
        </p:txBody>
      </p:sp>
      <p:sp>
        <p:nvSpPr>
          <p:cNvPr id="32" name="Text 30"/>
          <p:cNvSpPr/>
          <p:nvPr/>
        </p:nvSpPr>
        <p:spPr>
          <a:xfrm>
            <a:off x="4572000" y="4297680"/>
            <a:ext cx="1554480" cy="594360"/>
          </a:xfrm>
          <a:prstGeom prst="rect">
            <a:avLst/>
          </a:prstGeom>
          <a:noFill/>
          <a:ln/>
        </p:spPr>
        <p:txBody>
          <a:bodyPr wrap="square" rtlCol="0" anchor="ctr"/>
          <a:lstStyle/>
          <a:p>
            <a:pPr marL="0" indent="0">
              <a:buNone/>
            </a:pPr>
            <a:r>
              <a:rPr lang="en-US" sz="1200" dirty="0">
                <a:solidFill>
                  <a:srgbClr val="1A2E35"/>
                </a:solidFill>
                <a:latin typeface="Calibri" pitchFamily="34" charset="0"/>
                <a:ea typeface="Calibri" pitchFamily="34" charset="-122"/>
                <a:cs typeface="Calibri" pitchFamily="34" charset="-120"/>
              </a:rPr>
              <a:t>Cumulative OR</a:t>
            </a:r>
            <a:endParaRPr lang="en-US" sz="1200" dirty="0"/>
          </a:p>
        </p:txBody>
      </p:sp>
      <p:sp>
        <p:nvSpPr>
          <p:cNvPr id="33" name="Text 31"/>
          <p:cNvSpPr/>
          <p:nvPr/>
        </p:nvSpPr>
        <p:spPr>
          <a:xfrm>
            <a:off x="6217920" y="4297680"/>
            <a:ext cx="2788920" cy="594360"/>
          </a:xfrm>
          <a:prstGeom prst="rect">
            <a:avLst/>
          </a:prstGeom>
          <a:noFill/>
          <a:ln/>
        </p:spPr>
        <p:txBody>
          <a:bodyPr wrap="square" rtlCol="0" anchor="ctr"/>
          <a:lstStyle/>
          <a:p>
            <a:pPr marL="0" indent="0">
              <a:buNone/>
            </a:pPr>
            <a:r>
              <a:rPr lang="en-US" sz="1200" dirty="0">
                <a:solidFill>
                  <a:srgbClr val="1A2E35"/>
                </a:solidFill>
                <a:latin typeface="Calibri" pitchFamily="34" charset="0"/>
                <a:ea typeface="Calibri" pitchFamily="34" charset="-122"/>
                <a:cs typeface="Calibri" pitchFamily="34" charset="-120"/>
              </a:rPr>
              <a:t>Severity score outcomes</a:t>
            </a:r>
            <a:endParaRPr lang="en-US" sz="1200" dirty="0"/>
          </a:p>
        </p:txBody>
      </p:sp>
      <p:sp>
        <p:nvSpPr>
          <p:cNvPr id="34" name="Text 32"/>
          <p:cNvSpPr/>
          <p:nvPr/>
        </p:nvSpPr>
        <p:spPr>
          <a:xfrm>
            <a:off x="274320" y="4937760"/>
            <a:ext cx="8595360" cy="155448"/>
          </a:xfrm>
          <a:prstGeom prst="rect">
            <a:avLst/>
          </a:prstGeom>
          <a:noFill/>
          <a:ln/>
        </p:spPr>
        <p:txBody>
          <a:bodyPr wrap="square" rtlCol="0" anchor="ctr"/>
          <a:lstStyle/>
          <a:p>
            <a:pPr marL="0" indent="0" algn="ctr">
              <a:buNone/>
            </a:pPr>
            <a:r>
              <a:rPr lang="en-US" sz="1100" i="1" dirty="0">
                <a:solidFill>
                  <a:srgbClr val="3D6470"/>
                </a:solidFill>
                <a:latin typeface="Calibri" pitchFamily="34" charset="0"/>
                <a:ea typeface="Calibri" pitchFamily="34" charset="-122"/>
                <a:cs typeface="Calibri" pitchFamily="34" charset="-120"/>
              </a:rPr>
              <a:t>All methods share the goal: isolate the effect of X on Y, holding all other variables constant (ceteris paribus).</a:t>
            </a:r>
            <a:endParaRPr lang="en-US" sz="11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BB0F61-86EC-6126-3AA9-FC4B649C8172}"/>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67BC8E14-5726-D9E7-8C1D-03E87E53350A}"/>
              </a:ext>
            </a:extLst>
          </p:cNvPr>
          <p:cNvSpPr/>
          <p:nvPr/>
        </p:nvSpPr>
        <p:spPr>
          <a:xfrm>
            <a:off x="0" y="2011680"/>
            <a:ext cx="9144000" cy="1143000"/>
          </a:xfrm>
          <a:prstGeom prst="rect">
            <a:avLst/>
          </a:prstGeom>
          <a:solidFill>
            <a:srgbClr val="1C7293"/>
          </a:solidFill>
          <a:ln w="12700">
            <a:solidFill>
              <a:srgbClr val="1C7293"/>
            </a:solidFill>
            <a:prstDash val="solid"/>
          </a:ln>
        </p:spPr>
        <p:txBody>
          <a:bodyPr/>
          <a:lstStyle/>
          <a:p>
            <a:endParaRPr lang="en-US"/>
          </a:p>
        </p:txBody>
      </p:sp>
      <p:sp>
        <p:nvSpPr>
          <p:cNvPr id="3" name="Shape 1">
            <a:extLst>
              <a:ext uri="{FF2B5EF4-FFF2-40B4-BE49-F238E27FC236}">
                <a16:creationId xmlns:a16="http://schemas.microsoft.com/office/drawing/2014/main" id="{662E46FE-6A52-AEB0-F91B-07A091C652AD}"/>
              </a:ext>
            </a:extLst>
          </p:cNvPr>
          <p:cNvSpPr/>
          <p:nvPr/>
        </p:nvSpPr>
        <p:spPr>
          <a:xfrm>
            <a:off x="0" y="0"/>
            <a:ext cx="9144000" cy="91440"/>
          </a:xfrm>
          <a:prstGeom prst="rect">
            <a:avLst/>
          </a:prstGeom>
          <a:solidFill>
            <a:srgbClr val="E8A838"/>
          </a:solidFill>
          <a:ln w="12700">
            <a:solidFill>
              <a:srgbClr val="E8A838"/>
            </a:solidFill>
            <a:prstDash val="solid"/>
          </a:ln>
        </p:spPr>
        <p:txBody>
          <a:bodyPr/>
          <a:lstStyle/>
          <a:p>
            <a:endParaRPr lang="en-US"/>
          </a:p>
        </p:txBody>
      </p:sp>
      <p:sp>
        <p:nvSpPr>
          <p:cNvPr id="4" name="Text 2">
            <a:extLst>
              <a:ext uri="{FF2B5EF4-FFF2-40B4-BE49-F238E27FC236}">
                <a16:creationId xmlns:a16="http://schemas.microsoft.com/office/drawing/2014/main" id="{4D641D37-3ACD-FDBF-6BB4-26EDB2238FC1}"/>
              </a:ext>
            </a:extLst>
          </p:cNvPr>
          <p:cNvSpPr/>
          <p:nvPr/>
        </p:nvSpPr>
        <p:spPr>
          <a:xfrm>
            <a:off x="457200" y="457200"/>
            <a:ext cx="8229600" cy="457200"/>
          </a:xfrm>
          <a:prstGeom prst="rect">
            <a:avLst/>
          </a:prstGeom>
          <a:noFill/>
          <a:ln/>
        </p:spPr>
        <p:txBody>
          <a:bodyPr wrap="square" lIns="0" tIns="0" rIns="0" bIns="0" rtlCol="0" anchor="ctr"/>
          <a:lstStyle/>
          <a:p>
            <a:pPr marL="0" indent="0" algn="ctr">
              <a:buNone/>
            </a:pPr>
            <a:endParaRPr lang="en-US" sz="1400" dirty="0"/>
          </a:p>
        </p:txBody>
      </p:sp>
      <p:sp>
        <p:nvSpPr>
          <p:cNvPr id="5" name="Text 3">
            <a:extLst>
              <a:ext uri="{FF2B5EF4-FFF2-40B4-BE49-F238E27FC236}">
                <a16:creationId xmlns:a16="http://schemas.microsoft.com/office/drawing/2014/main" id="{D8547638-0BC0-F68B-C733-480F1946A941}"/>
              </a:ext>
            </a:extLst>
          </p:cNvPr>
          <p:cNvSpPr/>
          <p:nvPr/>
        </p:nvSpPr>
        <p:spPr>
          <a:xfrm>
            <a:off x="457200" y="2057400"/>
            <a:ext cx="8229600" cy="1051560"/>
          </a:xfrm>
          <a:prstGeom prst="rect">
            <a:avLst/>
          </a:prstGeom>
          <a:noFill/>
          <a:ln/>
        </p:spPr>
        <p:txBody>
          <a:bodyPr wrap="square" lIns="0" tIns="0" rIns="0" bIns="0" rtlCol="0" anchor="ctr"/>
          <a:lstStyle/>
          <a:p>
            <a:pPr marL="0" indent="0" algn="ctr">
              <a:buNone/>
            </a:pPr>
            <a:r>
              <a:rPr lang="en-US" sz="3400" b="1" dirty="0">
                <a:solidFill>
                  <a:srgbClr val="FFFFFF"/>
                </a:solidFill>
                <a:latin typeface="Cambria" pitchFamily="34" charset="0"/>
                <a:ea typeface="Cambria" pitchFamily="34" charset="-122"/>
                <a:cs typeface="Cambria" pitchFamily="34" charset="-120"/>
              </a:rPr>
              <a:t>Multivariate</a:t>
            </a:r>
            <a:endParaRPr lang="en-US" sz="3400" dirty="0"/>
          </a:p>
        </p:txBody>
      </p:sp>
      <p:sp>
        <p:nvSpPr>
          <p:cNvPr id="6" name="Text 4">
            <a:extLst>
              <a:ext uri="{FF2B5EF4-FFF2-40B4-BE49-F238E27FC236}">
                <a16:creationId xmlns:a16="http://schemas.microsoft.com/office/drawing/2014/main" id="{93A6454F-DCDF-8B38-6D75-F541F4B01B0C}"/>
              </a:ext>
            </a:extLst>
          </p:cNvPr>
          <p:cNvSpPr/>
          <p:nvPr/>
        </p:nvSpPr>
        <p:spPr>
          <a:xfrm>
            <a:off x="914400" y="3337560"/>
            <a:ext cx="7315200" cy="640080"/>
          </a:xfrm>
          <a:prstGeom prst="rect">
            <a:avLst/>
          </a:prstGeom>
          <a:noFill/>
          <a:ln/>
        </p:spPr>
        <p:txBody>
          <a:bodyPr wrap="square" lIns="0" tIns="0" rIns="0" bIns="0" rtlCol="0" anchor="ctr"/>
          <a:lstStyle/>
          <a:p>
            <a:pPr marL="0" indent="0" algn="ctr">
              <a:buNone/>
            </a:pPr>
            <a:endParaRPr lang="en-US" sz="1500" dirty="0"/>
          </a:p>
        </p:txBody>
      </p:sp>
    </p:spTree>
    <p:extLst>
      <p:ext uri="{BB962C8B-B14F-4D97-AF65-F5344CB8AC3E}">
        <p14:creationId xmlns:p14="http://schemas.microsoft.com/office/powerpoint/2010/main" val="378516483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2011680"/>
            <a:ext cx="9144000" cy="1143000"/>
          </a:xfrm>
          <a:prstGeom prst="rect">
            <a:avLst/>
          </a:prstGeom>
          <a:solidFill>
            <a:srgbClr val="1C7293"/>
          </a:solidFill>
          <a:ln w="12700">
            <a:solidFill>
              <a:srgbClr val="1C7293"/>
            </a:solidFill>
            <a:prstDash val="solid"/>
          </a:ln>
        </p:spPr>
        <p:txBody>
          <a:bodyPr/>
          <a:lstStyle/>
          <a:p>
            <a:endParaRPr lang="en-US"/>
          </a:p>
        </p:txBody>
      </p:sp>
      <p:sp>
        <p:nvSpPr>
          <p:cNvPr id="3" name="Shape 1"/>
          <p:cNvSpPr/>
          <p:nvPr/>
        </p:nvSpPr>
        <p:spPr>
          <a:xfrm>
            <a:off x="0" y="0"/>
            <a:ext cx="9144000" cy="91440"/>
          </a:xfrm>
          <a:prstGeom prst="rect">
            <a:avLst/>
          </a:prstGeom>
          <a:solidFill>
            <a:srgbClr val="E8A838"/>
          </a:solidFill>
          <a:ln w="12700">
            <a:solidFill>
              <a:srgbClr val="E8A838"/>
            </a:solidFill>
            <a:prstDash val="solid"/>
          </a:ln>
        </p:spPr>
        <p:txBody>
          <a:bodyPr/>
          <a:lstStyle/>
          <a:p>
            <a:endParaRPr lang="en-US"/>
          </a:p>
        </p:txBody>
      </p:sp>
      <p:sp>
        <p:nvSpPr>
          <p:cNvPr id="4" name="Text 2"/>
          <p:cNvSpPr/>
          <p:nvPr/>
        </p:nvSpPr>
        <p:spPr>
          <a:xfrm>
            <a:off x="457200" y="457200"/>
            <a:ext cx="8229600" cy="457200"/>
          </a:xfrm>
          <a:prstGeom prst="rect">
            <a:avLst/>
          </a:prstGeom>
          <a:noFill/>
          <a:ln/>
        </p:spPr>
        <p:txBody>
          <a:bodyPr wrap="square" lIns="0" tIns="0" rIns="0" bIns="0" rtlCol="0" anchor="ctr"/>
          <a:lstStyle/>
          <a:p>
            <a:pPr marL="0" indent="0" algn="ctr">
              <a:buNone/>
            </a:pPr>
            <a:endParaRPr lang="en-US" sz="1400" dirty="0"/>
          </a:p>
        </p:txBody>
      </p:sp>
      <p:sp>
        <p:nvSpPr>
          <p:cNvPr id="5" name="Text 3"/>
          <p:cNvSpPr/>
          <p:nvPr/>
        </p:nvSpPr>
        <p:spPr>
          <a:xfrm>
            <a:off x="457200" y="2057400"/>
            <a:ext cx="8229600" cy="1051560"/>
          </a:xfrm>
          <a:prstGeom prst="rect">
            <a:avLst/>
          </a:prstGeom>
          <a:noFill/>
          <a:ln/>
        </p:spPr>
        <p:txBody>
          <a:bodyPr wrap="square" lIns="0" tIns="0" rIns="0" bIns="0" rtlCol="0" anchor="ctr"/>
          <a:lstStyle/>
          <a:p>
            <a:pPr marL="0" indent="0" algn="ctr">
              <a:buNone/>
            </a:pPr>
            <a:r>
              <a:rPr lang="en-US" sz="3400" b="1" dirty="0">
                <a:solidFill>
                  <a:srgbClr val="FFFFFF"/>
                </a:solidFill>
                <a:latin typeface="Cambria" pitchFamily="34" charset="0"/>
                <a:ea typeface="Cambria" pitchFamily="34" charset="-122"/>
                <a:cs typeface="Cambria" pitchFamily="34" charset="-120"/>
              </a:rPr>
              <a:t>Choosing the Right</a:t>
            </a:r>
            <a:endParaRPr lang="en-US" sz="3400" dirty="0"/>
          </a:p>
          <a:p>
            <a:pPr marL="0" indent="0" algn="ctr">
              <a:buNone/>
            </a:pPr>
            <a:r>
              <a:rPr lang="en-US" sz="3400" b="1" dirty="0">
                <a:solidFill>
                  <a:srgbClr val="FFFFFF"/>
                </a:solidFill>
                <a:latin typeface="Cambria" pitchFamily="34" charset="0"/>
                <a:ea typeface="Cambria" pitchFamily="34" charset="-122"/>
                <a:cs typeface="Cambria" pitchFamily="34" charset="-120"/>
              </a:rPr>
              <a:t>Multivariate Technique</a:t>
            </a:r>
            <a:endParaRPr lang="en-US" sz="3400" dirty="0"/>
          </a:p>
        </p:txBody>
      </p:sp>
      <p:sp>
        <p:nvSpPr>
          <p:cNvPr id="6" name="Text 4"/>
          <p:cNvSpPr/>
          <p:nvPr/>
        </p:nvSpPr>
        <p:spPr>
          <a:xfrm>
            <a:off x="914400" y="3337560"/>
            <a:ext cx="7315200" cy="640080"/>
          </a:xfrm>
          <a:prstGeom prst="rect">
            <a:avLst/>
          </a:prstGeom>
          <a:noFill/>
          <a:ln/>
        </p:spPr>
        <p:txBody>
          <a:bodyPr wrap="square" lIns="0" tIns="0" rIns="0" bIns="0" rtlCol="0" anchor="ctr"/>
          <a:lstStyle/>
          <a:p>
            <a:pPr marL="0" indent="0" algn="ctr">
              <a:buNone/>
            </a:pPr>
            <a:r>
              <a:rPr lang="en-US" sz="1500" i="1" dirty="0">
                <a:solidFill>
                  <a:srgbClr val="9EC8D8"/>
                </a:solidFill>
                <a:latin typeface="Calibri" pitchFamily="34" charset="0"/>
                <a:ea typeface="Calibri" pitchFamily="34" charset="-122"/>
                <a:cs typeface="Calibri" pitchFamily="34" charset="-120"/>
              </a:rPr>
              <a:t>A roadmap for matching your research question to the appropriate method</a:t>
            </a:r>
            <a:endParaRPr lang="en-US" sz="15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8A838"/>
          </a:solidFill>
          <a:ln w="12700">
            <a:solidFill>
              <a:srgbClr val="E8A838"/>
            </a:solidFill>
            <a:prstDash val="solid"/>
          </a:ln>
        </p:spPr>
        <p:txBody>
          <a:bodyPr/>
          <a:lstStyle/>
          <a:p>
            <a:endParaRPr lang="en-US"/>
          </a:p>
        </p:txBody>
      </p:sp>
      <p:sp>
        <p:nvSpPr>
          <p:cNvPr id="3" name="Text 1"/>
          <p:cNvSpPr/>
          <p:nvPr/>
        </p:nvSpPr>
        <p:spPr>
          <a:xfrm>
            <a:off x="411480" y="164592"/>
            <a:ext cx="8321040" cy="640080"/>
          </a:xfrm>
          <a:prstGeom prst="rect">
            <a:avLst/>
          </a:prstGeom>
          <a:noFill/>
          <a:ln/>
        </p:spPr>
        <p:txBody>
          <a:bodyPr wrap="square" lIns="0" tIns="0" rIns="0" bIns="0" rtlCol="0" anchor="ctr"/>
          <a:lstStyle/>
          <a:p>
            <a:pPr marL="0" indent="0">
              <a:buNone/>
            </a:pPr>
            <a:r>
              <a:rPr lang="en-US" sz="2800" b="1" dirty="0">
                <a:solidFill>
                  <a:srgbClr val="065A82"/>
                </a:solidFill>
                <a:latin typeface="Cambria" pitchFamily="34" charset="0"/>
                <a:ea typeface="Cambria" pitchFamily="34" charset="-122"/>
                <a:cs typeface="Cambria" pitchFamily="34" charset="-120"/>
              </a:rPr>
              <a:t>Tabachnick &amp; Fidell's Selection Framework</a:t>
            </a:r>
            <a:endParaRPr lang="en-US" sz="2800" dirty="0"/>
          </a:p>
        </p:txBody>
      </p:sp>
      <p:sp>
        <p:nvSpPr>
          <p:cNvPr id="4" name="Text 2"/>
          <p:cNvSpPr/>
          <p:nvPr/>
        </p:nvSpPr>
        <p:spPr>
          <a:xfrm>
            <a:off x="411480" y="850392"/>
            <a:ext cx="8229600" cy="365760"/>
          </a:xfrm>
          <a:prstGeom prst="rect">
            <a:avLst/>
          </a:prstGeom>
          <a:noFill/>
          <a:ln/>
        </p:spPr>
        <p:txBody>
          <a:bodyPr wrap="square" lIns="0" tIns="0" rIns="0" bIns="0" rtlCol="0" anchor="ctr"/>
          <a:lstStyle/>
          <a:p>
            <a:pPr marL="0" indent="0">
              <a:buNone/>
            </a:pPr>
            <a:r>
              <a:rPr lang="en-US" sz="1400" i="1" dirty="0">
                <a:solidFill>
                  <a:srgbClr val="5A7080"/>
                </a:solidFill>
                <a:latin typeface="Calibri" pitchFamily="34" charset="0"/>
                <a:ea typeface="Calibri" pitchFamily="34" charset="-122"/>
                <a:cs typeface="Calibri" pitchFamily="34" charset="-120"/>
              </a:rPr>
              <a:t>Three key questions guide your choice of technique:</a:t>
            </a:r>
            <a:endParaRPr lang="en-US" sz="1400" dirty="0"/>
          </a:p>
        </p:txBody>
      </p:sp>
      <p:sp>
        <p:nvSpPr>
          <p:cNvPr id="5" name="Shape 3"/>
          <p:cNvSpPr/>
          <p:nvPr/>
        </p:nvSpPr>
        <p:spPr>
          <a:xfrm>
            <a:off x="411480" y="1298448"/>
            <a:ext cx="8321040" cy="1115568"/>
          </a:xfrm>
          <a:prstGeom prst="rect">
            <a:avLst/>
          </a:prstGeom>
          <a:solidFill>
            <a:srgbClr val="FFFFFF"/>
          </a:solidFill>
          <a:ln w="12700">
            <a:solidFill>
              <a:srgbClr val="D6E4EC"/>
            </a:solidFill>
            <a:prstDash val="solid"/>
          </a:ln>
          <a:effectLst>
            <a:outerShdw blurRad="50800" dist="25400" dir="8100000" algn="bl" rotWithShape="0">
              <a:srgbClr val="000000">
                <a:alpha val="8000"/>
              </a:srgbClr>
            </a:outerShdw>
          </a:effectLst>
        </p:spPr>
        <p:txBody>
          <a:bodyPr/>
          <a:lstStyle/>
          <a:p>
            <a:endParaRPr lang="en-US"/>
          </a:p>
        </p:txBody>
      </p:sp>
      <p:sp>
        <p:nvSpPr>
          <p:cNvPr id="6" name="Shape 4"/>
          <p:cNvSpPr/>
          <p:nvPr/>
        </p:nvSpPr>
        <p:spPr>
          <a:xfrm>
            <a:off x="411480" y="1298448"/>
            <a:ext cx="73152" cy="1115568"/>
          </a:xfrm>
          <a:prstGeom prst="rect">
            <a:avLst/>
          </a:prstGeom>
          <a:solidFill>
            <a:srgbClr val="065A82"/>
          </a:solidFill>
          <a:ln w="12700">
            <a:solidFill>
              <a:srgbClr val="065A82"/>
            </a:solidFill>
            <a:prstDash val="solid"/>
          </a:ln>
        </p:spPr>
        <p:txBody>
          <a:bodyPr/>
          <a:lstStyle/>
          <a:p>
            <a:endParaRPr lang="en-US"/>
          </a:p>
        </p:txBody>
      </p:sp>
      <p:sp>
        <p:nvSpPr>
          <p:cNvPr id="7" name="Text 5"/>
          <p:cNvSpPr/>
          <p:nvPr/>
        </p:nvSpPr>
        <p:spPr>
          <a:xfrm>
            <a:off x="566928" y="1371600"/>
            <a:ext cx="8046720" cy="365760"/>
          </a:xfrm>
          <a:prstGeom prst="rect">
            <a:avLst/>
          </a:prstGeom>
          <a:noFill/>
          <a:ln/>
        </p:spPr>
        <p:txBody>
          <a:bodyPr wrap="square" lIns="0" tIns="0" rIns="0" bIns="0" rtlCol="0" anchor="ctr"/>
          <a:lstStyle/>
          <a:p>
            <a:pPr marL="0" indent="0">
              <a:buNone/>
            </a:pPr>
            <a:r>
              <a:rPr lang="en-US" sz="1350" b="1" dirty="0">
                <a:solidFill>
                  <a:srgbClr val="065A82"/>
                </a:solidFill>
                <a:latin typeface="Cambria" pitchFamily="34" charset="0"/>
                <a:ea typeface="Cambria" pitchFamily="34" charset="-122"/>
                <a:cs typeface="Cambria" pitchFamily="34" charset="-120"/>
              </a:rPr>
              <a:t>Q1: What is the nature of your research question?</a:t>
            </a:r>
            <a:endParaRPr lang="en-US" sz="1350" dirty="0"/>
          </a:p>
        </p:txBody>
      </p:sp>
      <p:sp>
        <p:nvSpPr>
          <p:cNvPr id="8" name="Text 6"/>
          <p:cNvSpPr/>
          <p:nvPr/>
        </p:nvSpPr>
        <p:spPr>
          <a:xfrm>
            <a:off x="566928" y="1755648"/>
            <a:ext cx="8046720" cy="594360"/>
          </a:xfrm>
          <a:prstGeom prst="rect">
            <a:avLst/>
          </a:prstGeom>
          <a:noFill/>
          <a:ln/>
        </p:spPr>
        <p:txBody>
          <a:bodyPr wrap="square" lIns="0" tIns="0" rIns="0" bIns="0" rtlCol="0" anchor="ctr"/>
          <a:lstStyle/>
          <a:p>
            <a:pPr marL="0" indent="0">
              <a:buNone/>
            </a:pPr>
            <a:r>
              <a:rPr lang="en-US" sz="1250" dirty="0">
                <a:solidFill>
                  <a:srgbClr val="1A2D3D"/>
                </a:solidFill>
                <a:latin typeface="Calibri" pitchFamily="34" charset="0"/>
                <a:ea typeface="Calibri" pitchFamily="34" charset="-122"/>
                <a:cs typeface="Calibri" pitchFamily="34" charset="-120"/>
              </a:rPr>
              <a:t>Prediction? Group differences? Structure? Classification? Relationship?</a:t>
            </a:r>
            <a:endParaRPr lang="en-US" sz="1250" dirty="0"/>
          </a:p>
        </p:txBody>
      </p:sp>
      <p:sp>
        <p:nvSpPr>
          <p:cNvPr id="9" name="Shape 7"/>
          <p:cNvSpPr/>
          <p:nvPr/>
        </p:nvSpPr>
        <p:spPr>
          <a:xfrm>
            <a:off x="411480" y="2532888"/>
            <a:ext cx="8321040" cy="1115568"/>
          </a:xfrm>
          <a:prstGeom prst="rect">
            <a:avLst/>
          </a:prstGeom>
          <a:solidFill>
            <a:srgbClr val="FFFFFF"/>
          </a:solidFill>
          <a:ln w="12700">
            <a:solidFill>
              <a:srgbClr val="D6E4EC"/>
            </a:solidFill>
            <a:prstDash val="solid"/>
          </a:ln>
          <a:effectLst>
            <a:outerShdw blurRad="50800" dist="25400" dir="8100000" algn="bl" rotWithShape="0">
              <a:srgbClr val="000000">
                <a:alpha val="8000"/>
              </a:srgbClr>
            </a:outerShdw>
          </a:effectLst>
        </p:spPr>
        <p:txBody>
          <a:bodyPr/>
          <a:lstStyle/>
          <a:p>
            <a:endParaRPr lang="en-US"/>
          </a:p>
        </p:txBody>
      </p:sp>
      <p:sp>
        <p:nvSpPr>
          <p:cNvPr id="10" name="Shape 8"/>
          <p:cNvSpPr/>
          <p:nvPr/>
        </p:nvSpPr>
        <p:spPr>
          <a:xfrm>
            <a:off x="411480" y="2532888"/>
            <a:ext cx="73152" cy="1115568"/>
          </a:xfrm>
          <a:prstGeom prst="rect">
            <a:avLst/>
          </a:prstGeom>
          <a:solidFill>
            <a:srgbClr val="1C7293"/>
          </a:solidFill>
          <a:ln w="12700">
            <a:solidFill>
              <a:srgbClr val="1C7293"/>
            </a:solidFill>
            <a:prstDash val="solid"/>
          </a:ln>
        </p:spPr>
        <p:txBody>
          <a:bodyPr/>
          <a:lstStyle/>
          <a:p>
            <a:endParaRPr lang="en-US"/>
          </a:p>
        </p:txBody>
      </p:sp>
      <p:sp>
        <p:nvSpPr>
          <p:cNvPr id="11" name="Text 9"/>
          <p:cNvSpPr/>
          <p:nvPr/>
        </p:nvSpPr>
        <p:spPr>
          <a:xfrm>
            <a:off x="566928" y="2606040"/>
            <a:ext cx="8046720" cy="365760"/>
          </a:xfrm>
          <a:prstGeom prst="rect">
            <a:avLst/>
          </a:prstGeom>
          <a:noFill/>
          <a:ln/>
        </p:spPr>
        <p:txBody>
          <a:bodyPr wrap="square" lIns="0" tIns="0" rIns="0" bIns="0" rtlCol="0" anchor="ctr"/>
          <a:lstStyle/>
          <a:p>
            <a:pPr marL="0" indent="0">
              <a:buNone/>
            </a:pPr>
            <a:r>
              <a:rPr lang="en-US" sz="1350" b="1" dirty="0">
                <a:solidFill>
                  <a:srgbClr val="1C7293"/>
                </a:solidFill>
                <a:latin typeface="Cambria" pitchFamily="34" charset="0"/>
                <a:ea typeface="Cambria" pitchFamily="34" charset="-122"/>
                <a:cs typeface="Cambria" pitchFamily="34" charset="-120"/>
              </a:rPr>
              <a:t>Q2: How many DVs and IVs do you have?</a:t>
            </a:r>
            <a:endParaRPr lang="en-US" sz="1350" dirty="0"/>
          </a:p>
        </p:txBody>
      </p:sp>
      <p:sp>
        <p:nvSpPr>
          <p:cNvPr id="12" name="Text 10"/>
          <p:cNvSpPr/>
          <p:nvPr/>
        </p:nvSpPr>
        <p:spPr>
          <a:xfrm>
            <a:off x="566928" y="2990088"/>
            <a:ext cx="8046720" cy="594360"/>
          </a:xfrm>
          <a:prstGeom prst="rect">
            <a:avLst/>
          </a:prstGeom>
          <a:noFill/>
          <a:ln/>
        </p:spPr>
        <p:txBody>
          <a:bodyPr wrap="square" lIns="0" tIns="0" rIns="0" bIns="0" rtlCol="0" anchor="ctr"/>
          <a:lstStyle/>
          <a:p>
            <a:pPr marL="0" indent="0">
              <a:buNone/>
            </a:pPr>
            <a:r>
              <a:rPr lang="en-US" sz="1250" dirty="0">
                <a:solidFill>
                  <a:srgbClr val="1A2D3D"/>
                </a:solidFill>
                <a:latin typeface="Calibri" pitchFamily="34" charset="0"/>
                <a:ea typeface="Calibri" pitchFamily="34" charset="-122"/>
                <a:cs typeface="Calibri" pitchFamily="34" charset="-120"/>
              </a:rPr>
              <a:t>One DV → regression family</a:t>
            </a:r>
            <a:endParaRPr lang="en-US" sz="1250" dirty="0"/>
          </a:p>
          <a:p>
            <a:pPr marL="0" indent="0">
              <a:buNone/>
            </a:pPr>
            <a:r>
              <a:rPr lang="en-US" sz="1250" dirty="0">
                <a:solidFill>
                  <a:srgbClr val="1A2D3D"/>
                </a:solidFill>
                <a:latin typeface="Calibri" pitchFamily="34" charset="0"/>
                <a:ea typeface="Calibri" pitchFamily="34" charset="-122"/>
                <a:cs typeface="Calibri" pitchFamily="34" charset="-120"/>
              </a:rPr>
              <a:t>Multiple DVs → MANOVA / discriminant</a:t>
            </a:r>
            <a:endParaRPr lang="en-US" sz="1250" dirty="0"/>
          </a:p>
          <a:p>
            <a:pPr marL="0" indent="0">
              <a:buNone/>
            </a:pPr>
            <a:r>
              <a:rPr lang="en-US" sz="1250" dirty="0">
                <a:solidFill>
                  <a:srgbClr val="1A2D3D"/>
                </a:solidFill>
                <a:latin typeface="Calibri" pitchFamily="34" charset="0"/>
                <a:ea typeface="Calibri" pitchFamily="34" charset="-122"/>
                <a:cs typeface="Calibri" pitchFamily="34" charset="-120"/>
              </a:rPr>
              <a:t>No clear DV → factor, cluster, MDS</a:t>
            </a:r>
            <a:endParaRPr lang="en-US" sz="1250" dirty="0"/>
          </a:p>
        </p:txBody>
      </p:sp>
      <p:sp>
        <p:nvSpPr>
          <p:cNvPr id="13" name="Shape 11"/>
          <p:cNvSpPr/>
          <p:nvPr/>
        </p:nvSpPr>
        <p:spPr>
          <a:xfrm>
            <a:off x="411480" y="3767328"/>
            <a:ext cx="8321040" cy="1115568"/>
          </a:xfrm>
          <a:prstGeom prst="rect">
            <a:avLst/>
          </a:prstGeom>
          <a:solidFill>
            <a:srgbClr val="FFFFFF"/>
          </a:solidFill>
          <a:ln w="12700">
            <a:solidFill>
              <a:srgbClr val="D6E4EC"/>
            </a:solidFill>
            <a:prstDash val="solid"/>
          </a:ln>
          <a:effectLst>
            <a:outerShdw blurRad="50800" dist="25400" dir="8100000" algn="bl" rotWithShape="0">
              <a:srgbClr val="000000">
                <a:alpha val="8000"/>
              </a:srgbClr>
            </a:outerShdw>
          </a:effectLst>
        </p:spPr>
        <p:txBody>
          <a:bodyPr/>
          <a:lstStyle/>
          <a:p>
            <a:endParaRPr lang="en-US"/>
          </a:p>
        </p:txBody>
      </p:sp>
      <p:sp>
        <p:nvSpPr>
          <p:cNvPr id="14" name="Shape 12"/>
          <p:cNvSpPr/>
          <p:nvPr/>
        </p:nvSpPr>
        <p:spPr>
          <a:xfrm>
            <a:off x="411480" y="3767328"/>
            <a:ext cx="73152" cy="1115568"/>
          </a:xfrm>
          <a:prstGeom prst="rect">
            <a:avLst/>
          </a:prstGeom>
          <a:solidFill>
            <a:srgbClr val="E8A838"/>
          </a:solidFill>
          <a:ln w="12700">
            <a:solidFill>
              <a:srgbClr val="E8A838"/>
            </a:solidFill>
            <a:prstDash val="solid"/>
          </a:ln>
        </p:spPr>
        <p:txBody>
          <a:bodyPr/>
          <a:lstStyle/>
          <a:p>
            <a:endParaRPr lang="en-US"/>
          </a:p>
        </p:txBody>
      </p:sp>
      <p:sp>
        <p:nvSpPr>
          <p:cNvPr id="15" name="Text 13"/>
          <p:cNvSpPr/>
          <p:nvPr/>
        </p:nvSpPr>
        <p:spPr>
          <a:xfrm>
            <a:off x="566928" y="3840480"/>
            <a:ext cx="8046720" cy="365760"/>
          </a:xfrm>
          <a:prstGeom prst="rect">
            <a:avLst/>
          </a:prstGeom>
          <a:noFill/>
          <a:ln/>
        </p:spPr>
        <p:txBody>
          <a:bodyPr wrap="square" lIns="0" tIns="0" rIns="0" bIns="0" rtlCol="0" anchor="ctr"/>
          <a:lstStyle/>
          <a:p>
            <a:pPr marL="0" indent="0">
              <a:buNone/>
            </a:pPr>
            <a:r>
              <a:rPr lang="en-US" sz="1350" b="1" dirty="0">
                <a:solidFill>
                  <a:srgbClr val="E8A838"/>
                </a:solidFill>
                <a:latin typeface="Cambria" pitchFamily="34" charset="0"/>
                <a:ea typeface="Cambria" pitchFamily="34" charset="-122"/>
                <a:cs typeface="Cambria" pitchFamily="34" charset="-120"/>
              </a:rPr>
              <a:t>Q3: What is the measurement level of your variables?</a:t>
            </a:r>
            <a:endParaRPr lang="en-US" sz="1350" dirty="0"/>
          </a:p>
        </p:txBody>
      </p:sp>
      <p:sp>
        <p:nvSpPr>
          <p:cNvPr id="16" name="Text 14"/>
          <p:cNvSpPr/>
          <p:nvPr/>
        </p:nvSpPr>
        <p:spPr>
          <a:xfrm>
            <a:off x="566928" y="4224528"/>
            <a:ext cx="8046720" cy="594360"/>
          </a:xfrm>
          <a:prstGeom prst="rect">
            <a:avLst/>
          </a:prstGeom>
          <a:noFill/>
          <a:ln/>
        </p:spPr>
        <p:txBody>
          <a:bodyPr wrap="square" lIns="0" tIns="0" rIns="0" bIns="0" rtlCol="0" anchor="ctr"/>
          <a:lstStyle/>
          <a:p>
            <a:pPr marL="0" indent="0">
              <a:buNone/>
            </a:pPr>
            <a:r>
              <a:rPr lang="en-US" sz="1250" dirty="0">
                <a:solidFill>
                  <a:srgbClr val="1A2D3D"/>
                </a:solidFill>
                <a:latin typeface="Calibri" pitchFamily="34" charset="0"/>
                <a:ea typeface="Calibri" pitchFamily="34" charset="-122"/>
                <a:cs typeface="Calibri" pitchFamily="34" charset="-120"/>
              </a:rPr>
              <a:t>Continuous DV: regression, MANOVA</a:t>
            </a:r>
            <a:endParaRPr lang="en-US" sz="1250" dirty="0"/>
          </a:p>
          <a:p>
            <a:pPr marL="0" indent="0">
              <a:buNone/>
            </a:pPr>
            <a:r>
              <a:rPr lang="en-US" sz="1250" dirty="0">
                <a:solidFill>
                  <a:srgbClr val="1A2D3D"/>
                </a:solidFill>
                <a:latin typeface="Calibri" pitchFamily="34" charset="0"/>
                <a:ea typeface="Calibri" pitchFamily="34" charset="-122"/>
                <a:cs typeface="Calibri" pitchFamily="34" charset="-120"/>
              </a:rPr>
              <a:t>Categorical DV: logistic regression, discriminant</a:t>
            </a:r>
            <a:endParaRPr lang="en-US" sz="1250" dirty="0"/>
          </a:p>
          <a:p>
            <a:pPr marL="0" indent="0">
              <a:buNone/>
            </a:pPr>
            <a:r>
              <a:rPr lang="en-US" sz="1250" dirty="0">
                <a:solidFill>
                  <a:srgbClr val="1A2D3D"/>
                </a:solidFill>
                <a:latin typeface="Calibri" pitchFamily="34" charset="0"/>
                <a:ea typeface="Calibri" pitchFamily="34" charset="-122"/>
                <a:cs typeface="Calibri" pitchFamily="34" charset="-120"/>
              </a:rPr>
              <a:t>All categorical: log-linear</a:t>
            </a:r>
            <a:endParaRPr lang="en-US" sz="125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8A838"/>
          </a:solidFill>
          <a:ln w="12700">
            <a:solidFill>
              <a:srgbClr val="E8A838"/>
            </a:solidFill>
            <a:prstDash val="solid"/>
          </a:ln>
        </p:spPr>
        <p:txBody>
          <a:bodyPr/>
          <a:lstStyle/>
          <a:p>
            <a:endParaRPr lang="en-US"/>
          </a:p>
        </p:txBody>
      </p:sp>
      <p:sp>
        <p:nvSpPr>
          <p:cNvPr id="3" name="Text 1"/>
          <p:cNvSpPr/>
          <p:nvPr/>
        </p:nvSpPr>
        <p:spPr>
          <a:xfrm>
            <a:off x="411480" y="164592"/>
            <a:ext cx="8321040" cy="640080"/>
          </a:xfrm>
          <a:prstGeom prst="rect">
            <a:avLst/>
          </a:prstGeom>
          <a:noFill/>
          <a:ln/>
        </p:spPr>
        <p:txBody>
          <a:bodyPr wrap="square" lIns="0" tIns="0" rIns="0" bIns="0" rtlCol="0" anchor="ctr"/>
          <a:lstStyle/>
          <a:p>
            <a:pPr marL="0" indent="0">
              <a:buNone/>
            </a:pPr>
            <a:r>
              <a:rPr lang="en-US" sz="2800" b="1" dirty="0">
                <a:solidFill>
                  <a:srgbClr val="065A82"/>
                </a:solidFill>
                <a:latin typeface="Cambria" pitchFamily="34" charset="0"/>
                <a:ea typeface="Cambria" pitchFamily="34" charset="-122"/>
                <a:cs typeface="Cambria" pitchFamily="34" charset="-120"/>
              </a:rPr>
              <a:t>Major Multivariate Techniques at a Glance</a:t>
            </a:r>
            <a:endParaRPr lang="en-US" sz="2800" dirty="0"/>
          </a:p>
        </p:txBody>
      </p:sp>
      <p:graphicFrame>
        <p:nvGraphicFramePr>
          <p:cNvPr id="9" name="Table 0"/>
          <p:cNvGraphicFramePr>
            <a:graphicFrameLocks noGrp="1"/>
          </p:cNvGraphicFramePr>
          <p:nvPr>
            <p:extLst>
              <p:ext uri="{D42A27DB-BD31-4B8C-83A1-F6EECF244321}">
                <p14:modId xmlns:p14="http://schemas.microsoft.com/office/powerpoint/2010/main" val="3227445456"/>
              </p:ext>
            </p:extLst>
          </p:nvPr>
        </p:nvGraphicFramePr>
        <p:xfrm>
          <a:off x="137916" y="672575"/>
          <a:ext cx="8686800" cy="4114800"/>
        </p:xfrm>
        <a:graphic>
          <a:graphicData uri="http://schemas.openxmlformats.org/drawingml/2006/table">
            <a:tbl>
              <a:tblPr/>
              <a:tblGrid>
                <a:gridCol w="1456616">
                  <a:extLst>
                    <a:ext uri="{9D8B030D-6E8A-4147-A177-3AD203B41FA5}">
                      <a16:colId xmlns:a16="http://schemas.microsoft.com/office/drawing/2014/main" val="20000"/>
                    </a:ext>
                  </a:extLst>
                </a:gridCol>
                <a:gridCol w="1149424">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2103120">
                  <a:extLst>
                    <a:ext uri="{9D8B030D-6E8A-4147-A177-3AD203B41FA5}">
                      <a16:colId xmlns:a16="http://schemas.microsoft.com/office/drawing/2014/main" val="20003"/>
                    </a:ext>
                  </a:extLst>
                </a:gridCol>
                <a:gridCol w="3063240">
                  <a:extLst>
                    <a:ext uri="{9D8B030D-6E8A-4147-A177-3AD203B41FA5}">
                      <a16:colId xmlns:a16="http://schemas.microsoft.com/office/drawing/2014/main" val="20004"/>
                    </a:ext>
                  </a:extLst>
                </a:gridCol>
              </a:tblGrid>
              <a:tr h="457200">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Technique</a:t>
                      </a:r>
                      <a:endParaRPr lang="en-US" sz="1100" dirty="0">
                        <a:latin typeface="Calibri" charset="0"/>
                        <a:ea typeface="Calibri" charset="0"/>
                        <a:cs typeface="Calibri" charset="0"/>
                      </a:endParaRPr>
                    </a:p>
                  </a:txBody>
                  <a:tcPr anchor="ctr">
                    <a:lnL w="6350" cap="flat" cmpd="sng" algn="ctr">
                      <a:solidFill>
                        <a:srgbClr val="D6E4EC"/>
                      </a:solidFill>
                      <a:prstDash val="solid"/>
                      <a:round/>
                      <a:headEnd type="none" w="med" len="med"/>
                      <a:tailEnd type="none" w="med" len="med"/>
                    </a:lnL>
                    <a:lnR w="6350" cap="flat" cmpd="sng" algn="ctr">
                      <a:solidFill>
                        <a:srgbClr val="D6E4EC"/>
                      </a:solidFill>
                      <a:prstDash val="solid"/>
                      <a:round/>
                      <a:headEnd type="none" w="med" len="med"/>
                      <a:tailEnd type="none" w="med" len="med"/>
                    </a:lnR>
                    <a:lnT w="6350" cap="flat" cmpd="sng" algn="ctr">
                      <a:solidFill>
                        <a:srgbClr val="D6E4EC"/>
                      </a:solidFill>
                      <a:prstDash val="solid"/>
                      <a:round/>
                      <a:headEnd type="none" w="med" len="med"/>
                      <a:tailEnd type="none" w="med" len="med"/>
                    </a:lnT>
                    <a:lnB w="6350" cap="flat" cmpd="sng" algn="ctr">
                      <a:solidFill>
                        <a:srgbClr val="D6E4EC"/>
                      </a:solidFill>
                      <a:prstDash val="solid"/>
                      <a:round/>
                      <a:headEnd type="none" w="med" len="med"/>
                      <a:tailEnd type="none" w="med" len="med"/>
                    </a:lnB>
                    <a:solidFill>
                      <a:srgbClr val="065A82"/>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 DVs</a:t>
                      </a:r>
                      <a:endParaRPr lang="en-US" sz="1100" dirty="0">
                        <a:latin typeface="Calibri" charset="0"/>
                        <a:ea typeface="Calibri" charset="0"/>
                        <a:cs typeface="Calibri" charset="0"/>
                      </a:endParaRPr>
                    </a:p>
                  </a:txBody>
                  <a:tcPr anchor="ctr">
                    <a:lnL w="6350" cap="flat" cmpd="sng" algn="ctr">
                      <a:solidFill>
                        <a:srgbClr val="D6E4EC"/>
                      </a:solidFill>
                      <a:prstDash val="solid"/>
                      <a:round/>
                      <a:headEnd type="none" w="med" len="med"/>
                      <a:tailEnd type="none" w="med" len="med"/>
                    </a:lnL>
                    <a:lnR w="6350" cap="flat" cmpd="sng" algn="ctr">
                      <a:solidFill>
                        <a:srgbClr val="D6E4EC"/>
                      </a:solidFill>
                      <a:prstDash val="solid"/>
                      <a:round/>
                      <a:headEnd type="none" w="med" len="med"/>
                      <a:tailEnd type="none" w="med" len="med"/>
                    </a:lnR>
                    <a:lnT w="6350" cap="flat" cmpd="sng" algn="ctr">
                      <a:solidFill>
                        <a:srgbClr val="D6E4EC"/>
                      </a:solidFill>
                      <a:prstDash val="solid"/>
                      <a:round/>
                      <a:headEnd type="none" w="med" len="med"/>
                      <a:tailEnd type="none" w="med" len="med"/>
                    </a:lnT>
                    <a:lnB w="6350" cap="flat" cmpd="sng" algn="ctr">
                      <a:solidFill>
                        <a:srgbClr val="D6E4EC"/>
                      </a:solidFill>
                      <a:prstDash val="solid"/>
                      <a:round/>
                      <a:headEnd type="none" w="med" len="med"/>
                      <a:tailEnd type="none" w="med" len="med"/>
                    </a:lnB>
                    <a:solidFill>
                      <a:srgbClr val="065A82"/>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DV Scale</a:t>
                      </a:r>
                      <a:endParaRPr lang="en-US" sz="1100" dirty="0">
                        <a:latin typeface="Calibri" charset="0"/>
                        <a:ea typeface="Calibri" charset="0"/>
                        <a:cs typeface="Calibri" charset="0"/>
                      </a:endParaRPr>
                    </a:p>
                  </a:txBody>
                  <a:tcPr anchor="ctr">
                    <a:lnL w="6350" cap="flat" cmpd="sng" algn="ctr">
                      <a:solidFill>
                        <a:srgbClr val="D6E4EC"/>
                      </a:solidFill>
                      <a:prstDash val="solid"/>
                      <a:round/>
                      <a:headEnd type="none" w="med" len="med"/>
                      <a:tailEnd type="none" w="med" len="med"/>
                    </a:lnL>
                    <a:lnR w="6350" cap="flat" cmpd="sng" algn="ctr">
                      <a:solidFill>
                        <a:srgbClr val="D6E4EC"/>
                      </a:solidFill>
                      <a:prstDash val="solid"/>
                      <a:round/>
                      <a:headEnd type="none" w="med" len="med"/>
                      <a:tailEnd type="none" w="med" len="med"/>
                    </a:lnR>
                    <a:lnT w="6350" cap="flat" cmpd="sng" algn="ctr">
                      <a:solidFill>
                        <a:srgbClr val="D6E4EC"/>
                      </a:solidFill>
                      <a:prstDash val="solid"/>
                      <a:round/>
                      <a:headEnd type="none" w="med" len="med"/>
                      <a:tailEnd type="none" w="med" len="med"/>
                    </a:lnT>
                    <a:lnB w="6350" cap="flat" cmpd="sng" algn="ctr">
                      <a:solidFill>
                        <a:srgbClr val="D6E4EC"/>
                      </a:solidFill>
                      <a:prstDash val="solid"/>
                      <a:round/>
                      <a:headEnd type="none" w="med" len="med"/>
                      <a:tailEnd type="none" w="med" len="med"/>
                    </a:lnB>
                    <a:solidFill>
                      <a:srgbClr val="065A82"/>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Primary Goal</a:t>
                      </a:r>
                      <a:endParaRPr lang="en-US" sz="1100" dirty="0">
                        <a:latin typeface="Calibri" charset="0"/>
                        <a:ea typeface="Calibri" charset="0"/>
                        <a:cs typeface="Calibri" charset="0"/>
                      </a:endParaRPr>
                    </a:p>
                  </a:txBody>
                  <a:tcPr anchor="ctr">
                    <a:lnL w="6350" cap="flat" cmpd="sng" algn="ctr">
                      <a:solidFill>
                        <a:srgbClr val="D6E4EC"/>
                      </a:solidFill>
                      <a:prstDash val="solid"/>
                      <a:round/>
                      <a:headEnd type="none" w="med" len="med"/>
                      <a:tailEnd type="none" w="med" len="med"/>
                    </a:lnL>
                    <a:lnR w="6350" cap="flat" cmpd="sng" algn="ctr">
                      <a:solidFill>
                        <a:srgbClr val="D6E4EC"/>
                      </a:solidFill>
                      <a:prstDash val="solid"/>
                      <a:round/>
                      <a:headEnd type="none" w="med" len="med"/>
                      <a:tailEnd type="none" w="med" len="med"/>
                    </a:lnR>
                    <a:lnT w="6350" cap="flat" cmpd="sng" algn="ctr">
                      <a:solidFill>
                        <a:srgbClr val="D6E4EC"/>
                      </a:solidFill>
                      <a:prstDash val="solid"/>
                      <a:round/>
                      <a:headEnd type="none" w="med" len="med"/>
                      <a:tailEnd type="none" w="med" len="med"/>
                    </a:lnT>
                    <a:lnB w="6350" cap="flat" cmpd="sng" algn="ctr">
                      <a:solidFill>
                        <a:srgbClr val="D6E4EC"/>
                      </a:solidFill>
                      <a:prstDash val="solid"/>
                      <a:round/>
                      <a:headEnd type="none" w="med" len="med"/>
                      <a:tailEnd type="none" w="med" len="med"/>
                    </a:lnB>
                    <a:solidFill>
                      <a:srgbClr val="065A82"/>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PH Example</a:t>
                      </a:r>
                      <a:endParaRPr lang="en-US" sz="1100" dirty="0">
                        <a:latin typeface="Calibri" charset="0"/>
                        <a:ea typeface="Calibri" charset="0"/>
                        <a:cs typeface="Calibri" charset="0"/>
                      </a:endParaRPr>
                    </a:p>
                  </a:txBody>
                  <a:tcPr anchor="ctr">
                    <a:lnL w="6350" cap="flat" cmpd="sng" algn="ctr">
                      <a:solidFill>
                        <a:srgbClr val="D6E4EC"/>
                      </a:solidFill>
                      <a:prstDash val="solid"/>
                      <a:round/>
                      <a:headEnd type="none" w="med" len="med"/>
                      <a:tailEnd type="none" w="med" len="med"/>
                    </a:lnL>
                    <a:lnR w="6350" cap="flat" cmpd="sng" algn="ctr">
                      <a:solidFill>
                        <a:srgbClr val="D6E4EC"/>
                      </a:solidFill>
                      <a:prstDash val="solid"/>
                      <a:round/>
                      <a:headEnd type="none" w="med" len="med"/>
                      <a:tailEnd type="none" w="med" len="med"/>
                    </a:lnR>
                    <a:lnT w="6350" cap="flat" cmpd="sng" algn="ctr">
                      <a:solidFill>
                        <a:srgbClr val="D6E4EC"/>
                      </a:solidFill>
                      <a:prstDash val="solid"/>
                      <a:round/>
                      <a:headEnd type="none" w="med" len="med"/>
                      <a:tailEnd type="none" w="med" len="med"/>
                    </a:lnT>
                    <a:lnB w="6350" cap="flat" cmpd="sng" algn="ctr">
                      <a:solidFill>
                        <a:srgbClr val="D6E4EC"/>
                      </a:solidFill>
                      <a:prstDash val="solid"/>
                      <a:round/>
                      <a:headEnd type="none" w="med" len="med"/>
                      <a:tailEnd type="none" w="med" len="med"/>
                    </a:lnB>
                    <a:solidFill>
                      <a:srgbClr val="065A82"/>
                    </a:solidFill>
                  </a:tcPr>
                </a:tc>
                <a:extLst>
                  <a:ext uri="{0D108BD9-81ED-4DB2-BD59-A6C34878D82A}">
                    <a16:rowId xmlns:a16="http://schemas.microsoft.com/office/drawing/2014/main" val="10000"/>
                  </a:ext>
                </a:extLst>
              </a:tr>
              <a:tr h="457200">
                <a:tc>
                  <a:txBody>
                    <a:bodyPr/>
                    <a:lstStyle/>
                    <a:p>
                      <a:pPr marL="0" indent="0" algn="l">
                        <a:buNone/>
                      </a:pPr>
                      <a:r>
                        <a:rPr lang="en-US" sz="1100" dirty="0">
                          <a:solidFill>
                            <a:srgbClr val="000000"/>
                          </a:solidFill>
                          <a:latin typeface="Calibri" pitchFamily="34" charset="0"/>
                          <a:ea typeface="Calibri" pitchFamily="34" charset="-122"/>
                          <a:cs typeface="Calibri" pitchFamily="34" charset="-120"/>
                        </a:rPr>
                        <a:t>Multiple Regression</a:t>
                      </a:r>
                      <a:endParaRPr lang="en-US" sz="1100" dirty="0">
                        <a:latin typeface="Calibri" charset="0"/>
                        <a:ea typeface="Calibri" charset="0"/>
                        <a:cs typeface="Calibri" charset="0"/>
                      </a:endParaRPr>
                    </a:p>
                  </a:txBody>
                  <a:tcPr anchor="ctr">
                    <a:lnL w="6350" cap="flat" cmpd="sng" algn="ctr">
                      <a:solidFill>
                        <a:srgbClr val="D6E4EC"/>
                      </a:solidFill>
                      <a:prstDash val="solid"/>
                      <a:round/>
                      <a:headEnd type="none" w="med" len="med"/>
                      <a:tailEnd type="none" w="med" len="med"/>
                    </a:lnL>
                    <a:lnR w="6350" cap="flat" cmpd="sng" algn="ctr">
                      <a:solidFill>
                        <a:srgbClr val="D6E4EC"/>
                      </a:solidFill>
                      <a:prstDash val="solid"/>
                      <a:round/>
                      <a:headEnd type="none" w="med" len="med"/>
                      <a:tailEnd type="none" w="med" len="med"/>
                    </a:lnR>
                    <a:lnT w="6350" cap="flat" cmpd="sng" algn="ctr">
                      <a:solidFill>
                        <a:srgbClr val="D6E4EC"/>
                      </a:solidFill>
                      <a:prstDash val="solid"/>
                      <a:round/>
                      <a:headEnd type="none" w="med" len="med"/>
                      <a:tailEnd type="none" w="med" len="med"/>
                    </a:lnT>
                    <a:lnB w="6350" cap="flat" cmpd="sng" algn="ctr">
                      <a:solidFill>
                        <a:srgbClr val="D6E4E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000000"/>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anchor="ctr">
                    <a:lnL w="6350" cap="flat" cmpd="sng" algn="ctr">
                      <a:solidFill>
                        <a:srgbClr val="D6E4EC"/>
                      </a:solidFill>
                      <a:prstDash val="solid"/>
                      <a:round/>
                      <a:headEnd type="none" w="med" len="med"/>
                      <a:tailEnd type="none" w="med" len="med"/>
                    </a:lnL>
                    <a:lnR w="6350" cap="flat" cmpd="sng" algn="ctr">
                      <a:solidFill>
                        <a:srgbClr val="D6E4EC"/>
                      </a:solidFill>
                      <a:prstDash val="solid"/>
                      <a:round/>
                      <a:headEnd type="none" w="med" len="med"/>
                      <a:tailEnd type="none" w="med" len="med"/>
                    </a:lnR>
                    <a:lnT w="6350" cap="flat" cmpd="sng" algn="ctr">
                      <a:solidFill>
                        <a:srgbClr val="D6E4EC"/>
                      </a:solidFill>
                      <a:prstDash val="solid"/>
                      <a:round/>
                      <a:headEnd type="none" w="med" len="med"/>
                      <a:tailEnd type="none" w="med" len="med"/>
                    </a:lnT>
                    <a:lnB w="6350" cap="flat" cmpd="sng" algn="ctr">
                      <a:solidFill>
                        <a:srgbClr val="D6E4E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000000"/>
                          </a:solidFill>
                          <a:latin typeface="Calibri" pitchFamily="34" charset="0"/>
                          <a:ea typeface="Calibri" pitchFamily="34" charset="-122"/>
                          <a:cs typeface="Calibri" pitchFamily="34" charset="-120"/>
                        </a:rPr>
                        <a:t>Continuous</a:t>
                      </a:r>
                      <a:endParaRPr lang="en-US" sz="1100" dirty="0">
                        <a:latin typeface="Calibri" charset="0"/>
                        <a:ea typeface="Calibri" charset="0"/>
                        <a:cs typeface="Calibri" charset="0"/>
                      </a:endParaRPr>
                    </a:p>
                  </a:txBody>
                  <a:tcPr anchor="ctr">
                    <a:lnL w="6350" cap="flat" cmpd="sng" algn="ctr">
                      <a:solidFill>
                        <a:srgbClr val="D6E4EC"/>
                      </a:solidFill>
                      <a:prstDash val="solid"/>
                      <a:round/>
                      <a:headEnd type="none" w="med" len="med"/>
                      <a:tailEnd type="none" w="med" len="med"/>
                    </a:lnL>
                    <a:lnR w="6350" cap="flat" cmpd="sng" algn="ctr">
                      <a:solidFill>
                        <a:srgbClr val="D6E4EC"/>
                      </a:solidFill>
                      <a:prstDash val="solid"/>
                      <a:round/>
                      <a:headEnd type="none" w="med" len="med"/>
                      <a:tailEnd type="none" w="med" len="med"/>
                    </a:lnR>
                    <a:lnT w="6350" cap="flat" cmpd="sng" algn="ctr">
                      <a:solidFill>
                        <a:srgbClr val="D6E4EC"/>
                      </a:solidFill>
                      <a:prstDash val="solid"/>
                      <a:round/>
                      <a:headEnd type="none" w="med" len="med"/>
                      <a:tailEnd type="none" w="med" len="med"/>
                    </a:lnT>
                    <a:lnB w="6350" cap="flat" cmpd="sng" algn="ctr">
                      <a:solidFill>
                        <a:srgbClr val="D6E4E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000000"/>
                          </a:solidFill>
                          <a:latin typeface="Calibri" pitchFamily="34" charset="0"/>
                          <a:ea typeface="Calibri" pitchFamily="34" charset="-122"/>
                          <a:cs typeface="Calibri" pitchFamily="34" charset="-120"/>
                        </a:rPr>
                        <a:t>Predict DV from IVs</a:t>
                      </a:r>
                      <a:endParaRPr lang="en-US" sz="1100" dirty="0">
                        <a:latin typeface="Calibri" charset="0"/>
                        <a:ea typeface="Calibri" charset="0"/>
                        <a:cs typeface="Calibri" charset="0"/>
                      </a:endParaRPr>
                    </a:p>
                  </a:txBody>
                  <a:tcPr anchor="ctr">
                    <a:lnL w="6350" cap="flat" cmpd="sng" algn="ctr">
                      <a:solidFill>
                        <a:srgbClr val="D6E4EC"/>
                      </a:solidFill>
                      <a:prstDash val="solid"/>
                      <a:round/>
                      <a:headEnd type="none" w="med" len="med"/>
                      <a:tailEnd type="none" w="med" len="med"/>
                    </a:lnL>
                    <a:lnR w="6350" cap="flat" cmpd="sng" algn="ctr">
                      <a:solidFill>
                        <a:srgbClr val="D6E4EC"/>
                      </a:solidFill>
                      <a:prstDash val="solid"/>
                      <a:round/>
                      <a:headEnd type="none" w="med" len="med"/>
                      <a:tailEnd type="none" w="med" len="med"/>
                    </a:lnR>
                    <a:lnT w="6350" cap="flat" cmpd="sng" algn="ctr">
                      <a:solidFill>
                        <a:srgbClr val="D6E4EC"/>
                      </a:solidFill>
                      <a:prstDash val="solid"/>
                      <a:round/>
                      <a:headEnd type="none" w="med" len="med"/>
                      <a:tailEnd type="none" w="med" len="med"/>
                    </a:lnT>
                    <a:lnB w="6350" cap="flat" cmpd="sng" algn="ctr">
                      <a:solidFill>
                        <a:srgbClr val="D6E4E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000000"/>
                          </a:solidFill>
                          <a:latin typeface="Calibri" pitchFamily="34" charset="0"/>
                          <a:ea typeface="Calibri" pitchFamily="34" charset="-122"/>
                          <a:cs typeface="Calibri" pitchFamily="34" charset="-120"/>
                        </a:rPr>
                        <a:t>Predict SBP from age, BMI, smoking</a:t>
                      </a:r>
                      <a:endParaRPr lang="en-US" sz="1100" dirty="0">
                        <a:latin typeface="Calibri" charset="0"/>
                        <a:ea typeface="Calibri" charset="0"/>
                        <a:cs typeface="Calibri" charset="0"/>
                      </a:endParaRPr>
                    </a:p>
                  </a:txBody>
                  <a:tcPr anchor="ctr">
                    <a:lnL w="6350" cap="flat" cmpd="sng" algn="ctr">
                      <a:solidFill>
                        <a:srgbClr val="D6E4EC"/>
                      </a:solidFill>
                      <a:prstDash val="solid"/>
                      <a:round/>
                      <a:headEnd type="none" w="med" len="med"/>
                      <a:tailEnd type="none" w="med" len="med"/>
                    </a:lnL>
                    <a:lnR w="6350" cap="flat" cmpd="sng" algn="ctr">
                      <a:solidFill>
                        <a:srgbClr val="D6E4EC"/>
                      </a:solidFill>
                      <a:prstDash val="solid"/>
                      <a:round/>
                      <a:headEnd type="none" w="med" len="med"/>
                      <a:tailEnd type="none" w="med" len="med"/>
                    </a:lnR>
                    <a:lnT w="6350" cap="flat" cmpd="sng" algn="ctr">
                      <a:solidFill>
                        <a:srgbClr val="D6E4EC"/>
                      </a:solidFill>
                      <a:prstDash val="solid"/>
                      <a:round/>
                      <a:headEnd type="none" w="med" len="med"/>
                      <a:tailEnd type="none" w="med" len="med"/>
                    </a:lnT>
                    <a:lnB w="6350" cap="flat" cmpd="sng" algn="ctr">
                      <a:solidFill>
                        <a:srgbClr val="D6E4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lgn="l">
                        <a:buNone/>
                      </a:pPr>
                      <a:r>
                        <a:rPr lang="en-US" sz="1100" dirty="0">
                          <a:solidFill>
                            <a:srgbClr val="000000"/>
                          </a:solidFill>
                          <a:latin typeface="Calibri" pitchFamily="34" charset="0"/>
                          <a:ea typeface="Calibri" pitchFamily="34" charset="-122"/>
                          <a:cs typeface="Calibri" pitchFamily="34" charset="-120"/>
                        </a:rPr>
                        <a:t>Logistic Regression</a:t>
                      </a:r>
                      <a:endParaRPr lang="en-US" sz="1100" dirty="0">
                        <a:latin typeface="Calibri" charset="0"/>
                        <a:ea typeface="Calibri" charset="0"/>
                        <a:cs typeface="Calibri" charset="0"/>
                      </a:endParaRPr>
                    </a:p>
                  </a:txBody>
                  <a:tcPr anchor="ctr">
                    <a:lnL w="6350" cap="flat" cmpd="sng" algn="ctr">
                      <a:solidFill>
                        <a:srgbClr val="D6E4EC"/>
                      </a:solidFill>
                      <a:prstDash val="solid"/>
                      <a:round/>
                      <a:headEnd type="none" w="med" len="med"/>
                      <a:tailEnd type="none" w="med" len="med"/>
                    </a:lnL>
                    <a:lnR w="6350" cap="flat" cmpd="sng" algn="ctr">
                      <a:solidFill>
                        <a:srgbClr val="D6E4EC"/>
                      </a:solidFill>
                      <a:prstDash val="solid"/>
                      <a:round/>
                      <a:headEnd type="none" w="med" len="med"/>
                      <a:tailEnd type="none" w="med" len="med"/>
                    </a:lnR>
                    <a:lnT w="6350" cap="flat" cmpd="sng" algn="ctr">
                      <a:solidFill>
                        <a:srgbClr val="D6E4EC"/>
                      </a:solidFill>
                      <a:prstDash val="solid"/>
                      <a:round/>
                      <a:headEnd type="none" w="med" len="med"/>
                      <a:tailEnd type="none" w="med" len="med"/>
                    </a:lnT>
                    <a:lnB w="6350" cap="flat" cmpd="sng" algn="ctr">
                      <a:solidFill>
                        <a:srgbClr val="D6E4E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000000"/>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anchor="ctr">
                    <a:lnL w="6350" cap="flat" cmpd="sng" algn="ctr">
                      <a:solidFill>
                        <a:srgbClr val="D6E4EC"/>
                      </a:solidFill>
                      <a:prstDash val="solid"/>
                      <a:round/>
                      <a:headEnd type="none" w="med" len="med"/>
                      <a:tailEnd type="none" w="med" len="med"/>
                    </a:lnL>
                    <a:lnR w="6350" cap="flat" cmpd="sng" algn="ctr">
                      <a:solidFill>
                        <a:srgbClr val="D6E4EC"/>
                      </a:solidFill>
                      <a:prstDash val="solid"/>
                      <a:round/>
                      <a:headEnd type="none" w="med" len="med"/>
                      <a:tailEnd type="none" w="med" len="med"/>
                    </a:lnR>
                    <a:lnT w="6350" cap="flat" cmpd="sng" algn="ctr">
                      <a:solidFill>
                        <a:srgbClr val="D6E4EC"/>
                      </a:solidFill>
                      <a:prstDash val="solid"/>
                      <a:round/>
                      <a:headEnd type="none" w="med" len="med"/>
                      <a:tailEnd type="none" w="med" len="med"/>
                    </a:lnT>
                    <a:lnB w="6350" cap="flat" cmpd="sng" algn="ctr">
                      <a:solidFill>
                        <a:srgbClr val="D6E4E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000000"/>
                          </a:solidFill>
                          <a:latin typeface="Calibri" pitchFamily="34" charset="0"/>
                          <a:ea typeface="Calibri" pitchFamily="34" charset="-122"/>
                          <a:cs typeface="Calibri" pitchFamily="34" charset="-120"/>
                        </a:rPr>
                        <a:t>Categorical</a:t>
                      </a:r>
                      <a:endParaRPr lang="en-US" sz="1100" dirty="0">
                        <a:latin typeface="Calibri" charset="0"/>
                        <a:ea typeface="Calibri" charset="0"/>
                        <a:cs typeface="Calibri" charset="0"/>
                      </a:endParaRPr>
                    </a:p>
                  </a:txBody>
                  <a:tcPr anchor="ctr">
                    <a:lnL w="6350" cap="flat" cmpd="sng" algn="ctr">
                      <a:solidFill>
                        <a:srgbClr val="D6E4EC"/>
                      </a:solidFill>
                      <a:prstDash val="solid"/>
                      <a:round/>
                      <a:headEnd type="none" w="med" len="med"/>
                      <a:tailEnd type="none" w="med" len="med"/>
                    </a:lnL>
                    <a:lnR w="6350" cap="flat" cmpd="sng" algn="ctr">
                      <a:solidFill>
                        <a:srgbClr val="D6E4EC"/>
                      </a:solidFill>
                      <a:prstDash val="solid"/>
                      <a:round/>
                      <a:headEnd type="none" w="med" len="med"/>
                      <a:tailEnd type="none" w="med" len="med"/>
                    </a:lnR>
                    <a:lnT w="6350" cap="flat" cmpd="sng" algn="ctr">
                      <a:solidFill>
                        <a:srgbClr val="D6E4EC"/>
                      </a:solidFill>
                      <a:prstDash val="solid"/>
                      <a:round/>
                      <a:headEnd type="none" w="med" len="med"/>
                      <a:tailEnd type="none" w="med" len="med"/>
                    </a:lnT>
                    <a:lnB w="6350" cap="flat" cmpd="sng" algn="ctr">
                      <a:solidFill>
                        <a:srgbClr val="D6E4E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000000"/>
                          </a:solidFill>
                          <a:latin typeface="Calibri" pitchFamily="34" charset="0"/>
                          <a:ea typeface="Calibri" pitchFamily="34" charset="-122"/>
                          <a:cs typeface="Calibri" pitchFamily="34" charset="-120"/>
                        </a:rPr>
                        <a:t>Predict group membership</a:t>
                      </a:r>
                      <a:endParaRPr lang="en-US" sz="1100" dirty="0">
                        <a:latin typeface="Calibri" charset="0"/>
                        <a:ea typeface="Calibri" charset="0"/>
                        <a:cs typeface="Calibri" charset="0"/>
                      </a:endParaRPr>
                    </a:p>
                  </a:txBody>
                  <a:tcPr anchor="ctr">
                    <a:lnL w="6350" cap="flat" cmpd="sng" algn="ctr">
                      <a:solidFill>
                        <a:srgbClr val="D6E4EC"/>
                      </a:solidFill>
                      <a:prstDash val="solid"/>
                      <a:round/>
                      <a:headEnd type="none" w="med" len="med"/>
                      <a:tailEnd type="none" w="med" len="med"/>
                    </a:lnL>
                    <a:lnR w="6350" cap="flat" cmpd="sng" algn="ctr">
                      <a:solidFill>
                        <a:srgbClr val="D6E4EC"/>
                      </a:solidFill>
                      <a:prstDash val="solid"/>
                      <a:round/>
                      <a:headEnd type="none" w="med" len="med"/>
                      <a:tailEnd type="none" w="med" len="med"/>
                    </a:lnR>
                    <a:lnT w="6350" cap="flat" cmpd="sng" algn="ctr">
                      <a:solidFill>
                        <a:srgbClr val="D6E4EC"/>
                      </a:solidFill>
                      <a:prstDash val="solid"/>
                      <a:round/>
                      <a:headEnd type="none" w="med" len="med"/>
                      <a:tailEnd type="none" w="med" len="med"/>
                    </a:lnT>
                    <a:lnB w="6350" cap="flat" cmpd="sng" algn="ctr">
                      <a:solidFill>
                        <a:srgbClr val="D6E4E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000000"/>
                          </a:solidFill>
                          <a:latin typeface="Calibri" pitchFamily="34" charset="0"/>
                          <a:ea typeface="Calibri" pitchFamily="34" charset="-122"/>
                          <a:cs typeface="Calibri" pitchFamily="34" charset="-120"/>
                        </a:rPr>
                        <a:t>Predict disease yes/no</a:t>
                      </a:r>
                      <a:endParaRPr lang="en-US" sz="1100" dirty="0">
                        <a:latin typeface="Calibri" charset="0"/>
                        <a:ea typeface="Calibri" charset="0"/>
                        <a:cs typeface="Calibri" charset="0"/>
                      </a:endParaRPr>
                    </a:p>
                  </a:txBody>
                  <a:tcPr anchor="ctr">
                    <a:lnL w="6350" cap="flat" cmpd="sng" algn="ctr">
                      <a:solidFill>
                        <a:srgbClr val="D6E4EC"/>
                      </a:solidFill>
                      <a:prstDash val="solid"/>
                      <a:round/>
                      <a:headEnd type="none" w="med" len="med"/>
                      <a:tailEnd type="none" w="med" len="med"/>
                    </a:lnL>
                    <a:lnR w="6350" cap="flat" cmpd="sng" algn="ctr">
                      <a:solidFill>
                        <a:srgbClr val="D6E4EC"/>
                      </a:solidFill>
                      <a:prstDash val="solid"/>
                      <a:round/>
                      <a:headEnd type="none" w="med" len="med"/>
                      <a:tailEnd type="none" w="med" len="med"/>
                    </a:lnR>
                    <a:lnT w="6350" cap="flat" cmpd="sng" algn="ctr">
                      <a:solidFill>
                        <a:srgbClr val="D6E4EC"/>
                      </a:solidFill>
                      <a:prstDash val="solid"/>
                      <a:round/>
                      <a:headEnd type="none" w="med" len="med"/>
                      <a:tailEnd type="none" w="med" len="med"/>
                    </a:lnT>
                    <a:lnB w="6350" cap="flat" cmpd="sng" algn="ctr">
                      <a:solidFill>
                        <a:srgbClr val="D6E4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57200">
                <a:tc>
                  <a:txBody>
                    <a:bodyPr/>
                    <a:lstStyle/>
                    <a:p>
                      <a:pPr marL="0" indent="0" algn="l">
                        <a:buNone/>
                      </a:pPr>
                      <a:r>
                        <a:rPr lang="en-US" sz="1100" dirty="0">
                          <a:solidFill>
                            <a:srgbClr val="000000"/>
                          </a:solidFill>
                          <a:latin typeface="Calibri" pitchFamily="34" charset="0"/>
                          <a:ea typeface="Calibri" pitchFamily="34" charset="-122"/>
                          <a:cs typeface="Calibri" pitchFamily="34" charset="-120"/>
                        </a:rPr>
                        <a:t>ANCOVA</a:t>
                      </a:r>
                      <a:endParaRPr lang="en-US" sz="1100" dirty="0">
                        <a:latin typeface="Calibri" charset="0"/>
                        <a:ea typeface="Calibri" charset="0"/>
                        <a:cs typeface="Calibri" charset="0"/>
                      </a:endParaRPr>
                    </a:p>
                  </a:txBody>
                  <a:tcPr anchor="ctr">
                    <a:lnL w="6350" cap="flat" cmpd="sng" algn="ctr">
                      <a:solidFill>
                        <a:srgbClr val="D6E4EC"/>
                      </a:solidFill>
                      <a:prstDash val="solid"/>
                      <a:round/>
                      <a:headEnd type="none" w="med" len="med"/>
                      <a:tailEnd type="none" w="med" len="med"/>
                    </a:lnL>
                    <a:lnR w="6350" cap="flat" cmpd="sng" algn="ctr">
                      <a:solidFill>
                        <a:srgbClr val="D6E4EC"/>
                      </a:solidFill>
                      <a:prstDash val="solid"/>
                      <a:round/>
                      <a:headEnd type="none" w="med" len="med"/>
                      <a:tailEnd type="none" w="med" len="med"/>
                    </a:lnR>
                    <a:lnT w="6350" cap="flat" cmpd="sng" algn="ctr">
                      <a:solidFill>
                        <a:srgbClr val="D6E4EC"/>
                      </a:solidFill>
                      <a:prstDash val="solid"/>
                      <a:round/>
                      <a:headEnd type="none" w="med" len="med"/>
                      <a:tailEnd type="none" w="med" len="med"/>
                    </a:lnT>
                    <a:lnB w="6350" cap="flat" cmpd="sng" algn="ctr">
                      <a:solidFill>
                        <a:srgbClr val="D6E4E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000000"/>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anchor="ctr">
                    <a:lnL w="6350" cap="flat" cmpd="sng" algn="ctr">
                      <a:solidFill>
                        <a:srgbClr val="D6E4EC"/>
                      </a:solidFill>
                      <a:prstDash val="solid"/>
                      <a:round/>
                      <a:headEnd type="none" w="med" len="med"/>
                      <a:tailEnd type="none" w="med" len="med"/>
                    </a:lnL>
                    <a:lnR w="6350" cap="flat" cmpd="sng" algn="ctr">
                      <a:solidFill>
                        <a:srgbClr val="D6E4EC"/>
                      </a:solidFill>
                      <a:prstDash val="solid"/>
                      <a:round/>
                      <a:headEnd type="none" w="med" len="med"/>
                      <a:tailEnd type="none" w="med" len="med"/>
                    </a:lnR>
                    <a:lnT w="6350" cap="flat" cmpd="sng" algn="ctr">
                      <a:solidFill>
                        <a:srgbClr val="D6E4EC"/>
                      </a:solidFill>
                      <a:prstDash val="solid"/>
                      <a:round/>
                      <a:headEnd type="none" w="med" len="med"/>
                      <a:tailEnd type="none" w="med" len="med"/>
                    </a:lnT>
                    <a:lnB w="6350" cap="flat" cmpd="sng" algn="ctr">
                      <a:solidFill>
                        <a:srgbClr val="D6E4E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000000"/>
                          </a:solidFill>
                          <a:latin typeface="Calibri" pitchFamily="34" charset="0"/>
                          <a:ea typeface="Calibri" pitchFamily="34" charset="-122"/>
                          <a:cs typeface="Calibri" pitchFamily="34" charset="-120"/>
                        </a:rPr>
                        <a:t>Continuous</a:t>
                      </a:r>
                      <a:endParaRPr lang="en-US" sz="1100" dirty="0">
                        <a:latin typeface="Calibri" charset="0"/>
                        <a:ea typeface="Calibri" charset="0"/>
                        <a:cs typeface="Calibri" charset="0"/>
                      </a:endParaRPr>
                    </a:p>
                  </a:txBody>
                  <a:tcPr anchor="ctr">
                    <a:lnL w="6350" cap="flat" cmpd="sng" algn="ctr">
                      <a:solidFill>
                        <a:srgbClr val="D6E4EC"/>
                      </a:solidFill>
                      <a:prstDash val="solid"/>
                      <a:round/>
                      <a:headEnd type="none" w="med" len="med"/>
                      <a:tailEnd type="none" w="med" len="med"/>
                    </a:lnL>
                    <a:lnR w="6350" cap="flat" cmpd="sng" algn="ctr">
                      <a:solidFill>
                        <a:srgbClr val="D6E4EC"/>
                      </a:solidFill>
                      <a:prstDash val="solid"/>
                      <a:round/>
                      <a:headEnd type="none" w="med" len="med"/>
                      <a:tailEnd type="none" w="med" len="med"/>
                    </a:lnR>
                    <a:lnT w="6350" cap="flat" cmpd="sng" algn="ctr">
                      <a:solidFill>
                        <a:srgbClr val="D6E4EC"/>
                      </a:solidFill>
                      <a:prstDash val="solid"/>
                      <a:round/>
                      <a:headEnd type="none" w="med" len="med"/>
                      <a:tailEnd type="none" w="med" len="med"/>
                    </a:lnT>
                    <a:lnB w="6350" cap="flat" cmpd="sng" algn="ctr">
                      <a:solidFill>
                        <a:srgbClr val="D6E4E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000000"/>
                          </a:solidFill>
                          <a:latin typeface="Calibri" pitchFamily="34" charset="0"/>
                          <a:ea typeface="Calibri" pitchFamily="34" charset="-122"/>
                          <a:cs typeface="Calibri" pitchFamily="34" charset="-120"/>
                        </a:rPr>
                        <a:t>Group diffs controlling covariates</a:t>
                      </a:r>
                      <a:endParaRPr lang="en-US" sz="1100" dirty="0">
                        <a:latin typeface="Calibri" charset="0"/>
                        <a:ea typeface="Calibri" charset="0"/>
                        <a:cs typeface="Calibri" charset="0"/>
                      </a:endParaRPr>
                    </a:p>
                  </a:txBody>
                  <a:tcPr anchor="ctr">
                    <a:lnL w="6350" cap="flat" cmpd="sng" algn="ctr">
                      <a:solidFill>
                        <a:srgbClr val="D6E4EC"/>
                      </a:solidFill>
                      <a:prstDash val="solid"/>
                      <a:round/>
                      <a:headEnd type="none" w="med" len="med"/>
                      <a:tailEnd type="none" w="med" len="med"/>
                    </a:lnL>
                    <a:lnR w="6350" cap="flat" cmpd="sng" algn="ctr">
                      <a:solidFill>
                        <a:srgbClr val="D6E4EC"/>
                      </a:solidFill>
                      <a:prstDash val="solid"/>
                      <a:round/>
                      <a:headEnd type="none" w="med" len="med"/>
                      <a:tailEnd type="none" w="med" len="med"/>
                    </a:lnR>
                    <a:lnT w="6350" cap="flat" cmpd="sng" algn="ctr">
                      <a:solidFill>
                        <a:srgbClr val="D6E4EC"/>
                      </a:solidFill>
                      <a:prstDash val="solid"/>
                      <a:round/>
                      <a:headEnd type="none" w="med" len="med"/>
                      <a:tailEnd type="none" w="med" len="med"/>
                    </a:lnT>
                    <a:lnB w="6350" cap="flat" cmpd="sng" algn="ctr">
                      <a:solidFill>
                        <a:srgbClr val="D6E4E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000000"/>
                          </a:solidFill>
                          <a:latin typeface="Calibri" pitchFamily="34" charset="0"/>
                          <a:ea typeface="Calibri" pitchFamily="34" charset="-122"/>
                          <a:cs typeface="Calibri" pitchFamily="34" charset="-120"/>
                        </a:rPr>
                        <a:t>RCT: compare BP groups controlling baseline</a:t>
                      </a:r>
                      <a:endParaRPr lang="en-US" sz="1100" dirty="0">
                        <a:latin typeface="Calibri" charset="0"/>
                        <a:ea typeface="Calibri" charset="0"/>
                        <a:cs typeface="Calibri" charset="0"/>
                      </a:endParaRPr>
                    </a:p>
                  </a:txBody>
                  <a:tcPr anchor="ctr">
                    <a:lnL w="6350" cap="flat" cmpd="sng" algn="ctr">
                      <a:solidFill>
                        <a:srgbClr val="D6E4EC"/>
                      </a:solidFill>
                      <a:prstDash val="solid"/>
                      <a:round/>
                      <a:headEnd type="none" w="med" len="med"/>
                      <a:tailEnd type="none" w="med" len="med"/>
                    </a:lnL>
                    <a:lnR w="6350" cap="flat" cmpd="sng" algn="ctr">
                      <a:solidFill>
                        <a:srgbClr val="D6E4EC"/>
                      </a:solidFill>
                      <a:prstDash val="solid"/>
                      <a:round/>
                      <a:headEnd type="none" w="med" len="med"/>
                      <a:tailEnd type="none" w="med" len="med"/>
                    </a:lnR>
                    <a:lnT w="6350" cap="flat" cmpd="sng" algn="ctr">
                      <a:solidFill>
                        <a:srgbClr val="D6E4EC"/>
                      </a:solidFill>
                      <a:prstDash val="solid"/>
                      <a:round/>
                      <a:headEnd type="none" w="med" len="med"/>
                      <a:tailEnd type="none" w="med" len="med"/>
                    </a:lnT>
                    <a:lnB w="6350" cap="flat" cmpd="sng" algn="ctr">
                      <a:solidFill>
                        <a:srgbClr val="D6E4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lgn="l">
                        <a:buNone/>
                      </a:pPr>
                      <a:r>
                        <a:rPr lang="en-US" sz="1100" dirty="0">
                          <a:solidFill>
                            <a:srgbClr val="000000"/>
                          </a:solidFill>
                          <a:latin typeface="Calibri" pitchFamily="34" charset="0"/>
                          <a:ea typeface="Calibri" pitchFamily="34" charset="-122"/>
                          <a:cs typeface="Calibri" pitchFamily="34" charset="-120"/>
                        </a:rPr>
                        <a:t>MANOVA</a:t>
                      </a:r>
                      <a:endParaRPr lang="en-US" sz="1100" dirty="0">
                        <a:latin typeface="Calibri" charset="0"/>
                        <a:ea typeface="Calibri" charset="0"/>
                        <a:cs typeface="Calibri" charset="0"/>
                      </a:endParaRPr>
                    </a:p>
                  </a:txBody>
                  <a:tcPr anchor="ctr">
                    <a:lnL w="6350" cap="flat" cmpd="sng" algn="ctr">
                      <a:solidFill>
                        <a:srgbClr val="D6E4EC"/>
                      </a:solidFill>
                      <a:prstDash val="solid"/>
                      <a:round/>
                      <a:headEnd type="none" w="med" len="med"/>
                      <a:tailEnd type="none" w="med" len="med"/>
                    </a:lnL>
                    <a:lnR w="6350" cap="flat" cmpd="sng" algn="ctr">
                      <a:solidFill>
                        <a:srgbClr val="D6E4EC"/>
                      </a:solidFill>
                      <a:prstDash val="solid"/>
                      <a:round/>
                      <a:headEnd type="none" w="med" len="med"/>
                      <a:tailEnd type="none" w="med" len="med"/>
                    </a:lnR>
                    <a:lnT w="6350" cap="flat" cmpd="sng" algn="ctr">
                      <a:solidFill>
                        <a:srgbClr val="D6E4EC"/>
                      </a:solidFill>
                      <a:prstDash val="solid"/>
                      <a:round/>
                      <a:headEnd type="none" w="med" len="med"/>
                      <a:tailEnd type="none" w="med" len="med"/>
                    </a:lnT>
                    <a:lnB w="6350" cap="flat" cmpd="sng" algn="ctr">
                      <a:solidFill>
                        <a:srgbClr val="D6E4E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000000"/>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anchor="ctr">
                    <a:lnL w="6350" cap="flat" cmpd="sng" algn="ctr">
                      <a:solidFill>
                        <a:srgbClr val="D6E4EC"/>
                      </a:solidFill>
                      <a:prstDash val="solid"/>
                      <a:round/>
                      <a:headEnd type="none" w="med" len="med"/>
                      <a:tailEnd type="none" w="med" len="med"/>
                    </a:lnL>
                    <a:lnR w="6350" cap="flat" cmpd="sng" algn="ctr">
                      <a:solidFill>
                        <a:srgbClr val="D6E4EC"/>
                      </a:solidFill>
                      <a:prstDash val="solid"/>
                      <a:round/>
                      <a:headEnd type="none" w="med" len="med"/>
                      <a:tailEnd type="none" w="med" len="med"/>
                    </a:lnR>
                    <a:lnT w="6350" cap="flat" cmpd="sng" algn="ctr">
                      <a:solidFill>
                        <a:srgbClr val="D6E4EC"/>
                      </a:solidFill>
                      <a:prstDash val="solid"/>
                      <a:round/>
                      <a:headEnd type="none" w="med" len="med"/>
                      <a:tailEnd type="none" w="med" len="med"/>
                    </a:lnT>
                    <a:lnB w="6350" cap="flat" cmpd="sng" algn="ctr">
                      <a:solidFill>
                        <a:srgbClr val="D6E4E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000000"/>
                          </a:solidFill>
                          <a:latin typeface="Calibri" pitchFamily="34" charset="0"/>
                          <a:ea typeface="Calibri" pitchFamily="34" charset="-122"/>
                          <a:cs typeface="Calibri" pitchFamily="34" charset="-120"/>
                        </a:rPr>
                        <a:t>Continuous</a:t>
                      </a:r>
                      <a:endParaRPr lang="en-US" sz="1100" dirty="0">
                        <a:latin typeface="Calibri" charset="0"/>
                        <a:ea typeface="Calibri" charset="0"/>
                        <a:cs typeface="Calibri" charset="0"/>
                      </a:endParaRPr>
                    </a:p>
                  </a:txBody>
                  <a:tcPr anchor="ctr">
                    <a:lnL w="6350" cap="flat" cmpd="sng" algn="ctr">
                      <a:solidFill>
                        <a:srgbClr val="D6E4EC"/>
                      </a:solidFill>
                      <a:prstDash val="solid"/>
                      <a:round/>
                      <a:headEnd type="none" w="med" len="med"/>
                      <a:tailEnd type="none" w="med" len="med"/>
                    </a:lnL>
                    <a:lnR w="6350" cap="flat" cmpd="sng" algn="ctr">
                      <a:solidFill>
                        <a:srgbClr val="D6E4EC"/>
                      </a:solidFill>
                      <a:prstDash val="solid"/>
                      <a:round/>
                      <a:headEnd type="none" w="med" len="med"/>
                      <a:tailEnd type="none" w="med" len="med"/>
                    </a:lnR>
                    <a:lnT w="6350" cap="flat" cmpd="sng" algn="ctr">
                      <a:solidFill>
                        <a:srgbClr val="D6E4EC"/>
                      </a:solidFill>
                      <a:prstDash val="solid"/>
                      <a:round/>
                      <a:headEnd type="none" w="med" len="med"/>
                      <a:tailEnd type="none" w="med" len="med"/>
                    </a:lnT>
                    <a:lnB w="6350" cap="flat" cmpd="sng" algn="ctr">
                      <a:solidFill>
                        <a:srgbClr val="D6E4E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000000"/>
                          </a:solidFill>
                          <a:latin typeface="Calibri" pitchFamily="34" charset="0"/>
                          <a:ea typeface="Calibri" pitchFamily="34" charset="-122"/>
                          <a:cs typeface="Calibri" pitchFamily="34" charset="-120"/>
                        </a:rPr>
                        <a:t>Multiple outcomes at once</a:t>
                      </a:r>
                      <a:endParaRPr lang="en-US" sz="1100" dirty="0">
                        <a:latin typeface="Calibri" charset="0"/>
                        <a:ea typeface="Calibri" charset="0"/>
                        <a:cs typeface="Calibri" charset="0"/>
                      </a:endParaRPr>
                    </a:p>
                  </a:txBody>
                  <a:tcPr anchor="ctr">
                    <a:lnL w="6350" cap="flat" cmpd="sng" algn="ctr">
                      <a:solidFill>
                        <a:srgbClr val="D6E4EC"/>
                      </a:solidFill>
                      <a:prstDash val="solid"/>
                      <a:round/>
                      <a:headEnd type="none" w="med" len="med"/>
                      <a:tailEnd type="none" w="med" len="med"/>
                    </a:lnL>
                    <a:lnR w="6350" cap="flat" cmpd="sng" algn="ctr">
                      <a:solidFill>
                        <a:srgbClr val="D6E4EC"/>
                      </a:solidFill>
                      <a:prstDash val="solid"/>
                      <a:round/>
                      <a:headEnd type="none" w="med" len="med"/>
                      <a:tailEnd type="none" w="med" len="med"/>
                    </a:lnR>
                    <a:lnT w="6350" cap="flat" cmpd="sng" algn="ctr">
                      <a:solidFill>
                        <a:srgbClr val="D6E4EC"/>
                      </a:solidFill>
                      <a:prstDash val="solid"/>
                      <a:round/>
                      <a:headEnd type="none" w="med" len="med"/>
                      <a:tailEnd type="none" w="med" len="med"/>
                    </a:lnT>
                    <a:lnB w="6350" cap="flat" cmpd="sng" algn="ctr">
                      <a:solidFill>
                        <a:srgbClr val="D6E4E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000000"/>
                          </a:solidFill>
                          <a:latin typeface="Calibri" pitchFamily="34" charset="0"/>
                          <a:ea typeface="Calibri" pitchFamily="34" charset="-122"/>
                          <a:cs typeface="Calibri" pitchFamily="34" charset="-120"/>
                        </a:rPr>
                        <a:t>Compare programs on BMI + cholesterol + BP</a:t>
                      </a:r>
                      <a:endParaRPr lang="en-US" sz="1100" dirty="0">
                        <a:latin typeface="Calibri" charset="0"/>
                        <a:ea typeface="Calibri" charset="0"/>
                        <a:cs typeface="Calibri" charset="0"/>
                      </a:endParaRPr>
                    </a:p>
                  </a:txBody>
                  <a:tcPr anchor="ctr">
                    <a:lnL w="6350" cap="flat" cmpd="sng" algn="ctr">
                      <a:solidFill>
                        <a:srgbClr val="D6E4EC"/>
                      </a:solidFill>
                      <a:prstDash val="solid"/>
                      <a:round/>
                      <a:headEnd type="none" w="med" len="med"/>
                      <a:tailEnd type="none" w="med" len="med"/>
                    </a:lnL>
                    <a:lnR w="6350" cap="flat" cmpd="sng" algn="ctr">
                      <a:solidFill>
                        <a:srgbClr val="D6E4EC"/>
                      </a:solidFill>
                      <a:prstDash val="solid"/>
                      <a:round/>
                      <a:headEnd type="none" w="med" len="med"/>
                      <a:tailEnd type="none" w="med" len="med"/>
                    </a:lnR>
                    <a:lnT w="6350" cap="flat" cmpd="sng" algn="ctr">
                      <a:solidFill>
                        <a:srgbClr val="D6E4EC"/>
                      </a:solidFill>
                      <a:prstDash val="solid"/>
                      <a:round/>
                      <a:headEnd type="none" w="med" len="med"/>
                      <a:tailEnd type="none" w="med" len="med"/>
                    </a:lnT>
                    <a:lnB w="6350" cap="flat" cmpd="sng" algn="ctr">
                      <a:solidFill>
                        <a:srgbClr val="D6E4E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57200">
                <a:tc>
                  <a:txBody>
                    <a:bodyPr/>
                    <a:lstStyle/>
                    <a:p>
                      <a:pPr marL="0" indent="0" algn="l">
                        <a:buNone/>
                      </a:pPr>
                      <a:r>
                        <a:rPr lang="en-US" sz="1100" dirty="0">
                          <a:solidFill>
                            <a:srgbClr val="000000"/>
                          </a:solidFill>
                          <a:latin typeface="Calibri" pitchFamily="34" charset="0"/>
                          <a:ea typeface="Calibri" pitchFamily="34" charset="-122"/>
                          <a:cs typeface="Calibri" pitchFamily="34" charset="-120"/>
                        </a:rPr>
                        <a:t>Discriminant Analysis</a:t>
                      </a:r>
                      <a:endParaRPr lang="en-US" sz="1100" dirty="0">
                        <a:latin typeface="Calibri" charset="0"/>
                        <a:ea typeface="Calibri" charset="0"/>
                        <a:cs typeface="Calibri" charset="0"/>
                      </a:endParaRPr>
                    </a:p>
                  </a:txBody>
                  <a:tcPr anchor="ctr">
                    <a:lnL w="6350" cap="flat" cmpd="sng" algn="ctr">
                      <a:solidFill>
                        <a:srgbClr val="D6E4EC"/>
                      </a:solidFill>
                      <a:prstDash val="solid"/>
                      <a:round/>
                      <a:headEnd type="none" w="med" len="med"/>
                      <a:tailEnd type="none" w="med" len="med"/>
                    </a:lnL>
                    <a:lnR w="6350" cap="flat" cmpd="sng" algn="ctr">
                      <a:solidFill>
                        <a:srgbClr val="D6E4EC"/>
                      </a:solidFill>
                      <a:prstDash val="solid"/>
                      <a:round/>
                      <a:headEnd type="none" w="med" len="med"/>
                      <a:tailEnd type="none" w="med" len="med"/>
                    </a:lnR>
                    <a:lnT w="6350" cap="flat" cmpd="sng" algn="ctr">
                      <a:solidFill>
                        <a:srgbClr val="D6E4EC"/>
                      </a:solidFill>
                      <a:prstDash val="solid"/>
                      <a:round/>
                      <a:headEnd type="none" w="med" len="med"/>
                      <a:tailEnd type="none" w="med" len="med"/>
                    </a:lnT>
                    <a:lnB w="6350" cap="flat" cmpd="sng" algn="ctr">
                      <a:solidFill>
                        <a:srgbClr val="D6E4E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000000"/>
                          </a:solidFill>
                          <a:latin typeface="Calibri" pitchFamily="34" charset="0"/>
                          <a:ea typeface="Calibri" pitchFamily="34" charset="-122"/>
                          <a:cs typeface="Calibri" pitchFamily="34" charset="-120"/>
                        </a:rPr>
                        <a:t>1 (group)</a:t>
                      </a:r>
                      <a:endParaRPr lang="en-US" sz="1100" dirty="0">
                        <a:latin typeface="Calibri" charset="0"/>
                        <a:ea typeface="Calibri" charset="0"/>
                        <a:cs typeface="Calibri" charset="0"/>
                      </a:endParaRPr>
                    </a:p>
                  </a:txBody>
                  <a:tcPr anchor="ctr">
                    <a:lnL w="6350" cap="flat" cmpd="sng" algn="ctr">
                      <a:solidFill>
                        <a:srgbClr val="D6E4EC"/>
                      </a:solidFill>
                      <a:prstDash val="solid"/>
                      <a:round/>
                      <a:headEnd type="none" w="med" len="med"/>
                      <a:tailEnd type="none" w="med" len="med"/>
                    </a:lnL>
                    <a:lnR w="6350" cap="flat" cmpd="sng" algn="ctr">
                      <a:solidFill>
                        <a:srgbClr val="D6E4EC"/>
                      </a:solidFill>
                      <a:prstDash val="solid"/>
                      <a:round/>
                      <a:headEnd type="none" w="med" len="med"/>
                      <a:tailEnd type="none" w="med" len="med"/>
                    </a:lnR>
                    <a:lnT w="6350" cap="flat" cmpd="sng" algn="ctr">
                      <a:solidFill>
                        <a:srgbClr val="D6E4EC"/>
                      </a:solidFill>
                      <a:prstDash val="solid"/>
                      <a:round/>
                      <a:headEnd type="none" w="med" len="med"/>
                      <a:tailEnd type="none" w="med" len="med"/>
                    </a:lnT>
                    <a:lnB w="6350" cap="flat" cmpd="sng" algn="ctr">
                      <a:solidFill>
                        <a:srgbClr val="D6E4E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000000"/>
                          </a:solidFill>
                          <a:latin typeface="Calibri" pitchFamily="34" charset="0"/>
                          <a:ea typeface="Calibri" pitchFamily="34" charset="-122"/>
                          <a:cs typeface="Calibri" pitchFamily="34" charset="-120"/>
                        </a:rPr>
                        <a:t>Categorical</a:t>
                      </a:r>
                      <a:endParaRPr lang="en-US" sz="1100" dirty="0">
                        <a:latin typeface="Calibri" charset="0"/>
                        <a:ea typeface="Calibri" charset="0"/>
                        <a:cs typeface="Calibri" charset="0"/>
                      </a:endParaRPr>
                    </a:p>
                  </a:txBody>
                  <a:tcPr anchor="ctr">
                    <a:lnL w="6350" cap="flat" cmpd="sng" algn="ctr">
                      <a:solidFill>
                        <a:srgbClr val="D6E4EC"/>
                      </a:solidFill>
                      <a:prstDash val="solid"/>
                      <a:round/>
                      <a:headEnd type="none" w="med" len="med"/>
                      <a:tailEnd type="none" w="med" len="med"/>
                    </a:lnL>
                    <a:lnR w="6350" cap="flat" cmpd="sng" algn="ctr">
                      <a:solidFill>
                        <a:srgbClr val="D6E4EC"/>
                      </a:solidFill>
                      <a:prstDash val="solid"/>
                      <a:round/>
                      <a:headEnd type="none" w="med" len="med"/>
                      <a:tailEnd type="none" w="med" len="med"/>
                    </a:lnR>
                    <a:lnT w="6350" cap="flat" cmpd="sng" algn="ctr">
                      <a:solidFill>
                        <a:srgbClr val="D6E4EC"/>
                      </a:solidFill>
                      <a:prstDash val="solid"/>
                      <a:round/>
                      <a:headEnd type="none" w="med" len="med"/>
                      <a:tailEnd type="none" w="med" len="med"/>
                    </a:lnT>
                    <a:lnB w="6350" cap="flat" cmpd="sng" algn="ctr">
                      <a:solidFill>
                        <a:srgbClr val="D6E4E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000000"/>
                          </a:solidFill>
                          <a:latin typeface="Calibri" pitchFamily="34" charset="0"/>
                          <a:ea typeface="Calibri" pitchFamily="34" charset="-122"/>
                          <a:cs typeface="Calibri" pitchFamily="34" charset="-120"/>
                        </a:rPr>
                        <a:t>Classify &amp; find predictors</a:t>
                      </a:r>
                      <a:endParaRPr lang="en-US" sz="1100" dirty="0">
                        <a:latin typeface="Calibri" charset="0"/>
                        <a:ea typeface="Calibri" charset="0"/>
                        <a:cs typeface="Calibri" charset="0"/>
                      </a:endParaRPr>
                    </a:p>
                  </a:txBody>
                  <a:tcPr anchor="ctr">
                    <a:lnL w="6350" cap="flat" cmpd="sng" algn="ctr">
                      <a:solidFill>
                        <a:srgbClr val="D6E4EC"/>
                      </a:solidFill>
                      <a:prstDash val="solid"/>
                      <a:round/>
                      <a:headEnd type="none" w="med" len="med"/>
                      <a:tailEnd type="none" w="med" len="med"/>
                    </a:lnL>
                    <a:lnR w="6350" cap="flat" cmpd="sng" algn="ctr">
                      <a:solidFill>
                        <a:srgbClr val="D6E4EC"/>
                      </a:solidFill>
                      <a:prstDash val="solid"/>
                      <a:round/>
                      <a:headEnd type="none" w="med" len="med"/>
                      <a:tailEnd type="none" w="med" len="med"/>
                    </a:lnR>
                    <a:lnT w="6350" cap="flat" cmpd="sng" algn="ctr">
                      <a:solidFill>
                        <a:srgbClr val="D6E4EC"/>
                      </a:solidFill>
                      <a:prstDash val="solid"/>
                      <a:round/>
                      <a:headEnd type="none" w="med" len="med"/>
                      <a:tailEnd type="none" w="med" len="med"/>
                    </a:lnT>
                    <a:lnB w="6350" cap="flat" cmpd="sng" algn="ctr">
                      <a:solidFill>
                        <a:srgbClr val="D6E4E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000000"/>
                          </a:solidFill>
                          <a:latin typeface="Calibri" pitchFamily="34" charset="0"/>
                          <a:ea typeface="Calibri" pitchFamily="34" charset="-122"/>
                          <a:cs typeface="Calibri" pitchFamily="34" charset="-120"/>
                        </a:rPr>
                        <a:t>Predict high/medium/low risk</a:t>
                      </a:r>
                      <a:endParaRPr lang="en-US" sz="1100" dirty="0">
                        <a:latin typeface="Calibri" charset="0"/>
                        <a:ea typeface="Calibri" charset="0"/>
                        <a:cs typeface="Calibri" charset="0"/>
                      </a:endParaRPr>
                    </a:p>
                  </a:txBody>
                  <a:tcPr anchor="ctr">
                    <a:lnL w="6350" cap="flat" cmpd="sng" algn="ctr">
                      <a:solidFill>
                        <a:srgbClr val="D6E4EC"/>
                      </a:solidFill>
                      <a:prstDash val="solid"/>
                      <a:round/>
                      <a:headEnd type="none" w="med" len="med"/>
                      <a:tailEnd type="none" w="med" len="med"/>
                    </a:lnL>
                    <a:lnR w="6350" cap="flat" cmpd="sng" algn="ctr">
                      <a:solidFill>
                        <a:srgbClr val="D6E4EC"/>
                      </a:solidFill>
                      <a:prstDash val="solid"/>
                      <a:round/>
                      <a:headEnd type="none" w="med" len="med"/>
                      <a:tailEnd type="none" w="med" len="med"/>
                    </a:lnR>
                    <a:lnT w="6350" cap="flat" cmpd="sng" algn="ctr">
                      <a:solidFill>
                        <a:srgbClr val="D6E4EC"/>
                      </a:solidFill>
                      <a:prstDash val="solid"/>
                      <a:round/>
                      <a:headEnd type="none" w="med" len="med"/>
                      <a:tailEnd type="none" w="med" len="med"/>
                    </a:lnT>
                    <a:lnB w="6350" cap="flat" cmpd="sng" algn="ctr">
                      <a:solidFill>
                        <a:srgbClr val="D6E4E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57200">
                <a:tc>
                  <a:txBody>
                    <a:bodyPr/>
                    <a:lstStyle/>
                    <a:p>
                      <a:pPr marL="0" indent="0" algn="l">
                        <a:buNone/>
                      </a:pPr>
                      <a:r>
                        <a:rPr lang="en-US" sz="1100" dirty="0">
                          <a:solidFill>
                            <a:srgbClr val="000000"/>
                          </a:solidFill>
                          <a:latin typeface="Calibri" pitchFamily="34" charset="0"/>
                          <a:ea typeface="Calibri" pitchFamily="34" charset="-122"/>
                          <a:cs typeface="Calibri" pitchFamily="34" charset="-120"/>
                        </a:rPr>
                        <a:t>Factor Analysis</a:t>
                      </a:r>
                      <a:endParaRPr lang="en-US" sz="1100" dirty="0">
                        <a:latin typeface="Calibri" charset="0"/>
                        <a:ea typeface="Calibri" charset="0"/>
                        <a:cs typeface="Calibri" charset="0"/>
                      </a:endParaRPr>
                    </a:p>
                  </a:txBody>
                  <a:tcPr anchor="ctr">
                    <a:lnL w="6350" cap="flat" cmpd="sng" algn="ctr">
                      <a:solidFill>
                        <a:srgbClr val="D6E4EC"/>
                      </a:solidFill>
                      <a:prstDash val="solid"/>
                      <a:round/>
                      <a:headEnd type="none" w="med" len="med"/>
                      <a:tailEnd type="none" w="med" len="med"/>
                    </a:lnL>
                    <a:lnR w="6350" cap="flat" cmpd="sng" algn="ctr">
                      <a:solidFill>
                        <a:srgbClr val="D6E4EC"/>
                      </a:solidFill>
                      <a:prstDash val="solid"/>
                      <a:round/>
                      <a:headEnd type="none" w="med" len="med"/>
                      <a:tailEnd type="none" w="med" len="med"/>
                    </a:lnR>
                    <a:lnT w="6350" cap="flat" cmpd="sng" algn="ctr">
                      <a:solidFill>
                        <a:srgbClr val="D6E4EC"/>
                      </a:solidFill>
                      <a:prstDash val="solid"/>
                      <a:round/>
                      <a:headEnd type="none" w="med" len="med"/>
                      <a:tailEnd type="none" w="med" len="med"/>
                    </a:lnT>
                    <a:lnB w="6350" cap="flat" cmpd="sng" algn="ctr">
                      <a:solidFill>
                        <a:srgbClr val="D6E4E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000000"/>
                          </a:solidFill>
                          <a:latin typeface="Calibri" pitchFamily="34" charset="0"/>
                          <a:ea typeface="Calibri" pitchFamily="34" charset="-122"/>
                          <a:cs typeface="Calibri" pitchFamily="34" charset="-120"/>
                        </a:rPr>
                        <a:t>None</a:t>
                      </a:r>
                      <a:endParaRPr lang="en-US" sz="1100" dirty="0">
                        <a:latin typeface="Calibri" charset="0"/>
                        <a:ea typeface="Calibri" charset="0"/>
                        <a:cs typeface="Calibri" charset="0"/>
                      </a:endParaRPr>
                    </a:p>
                  </a:txBody>
                  <a:tcPr anchor="ctr">
                    <a:lnL w="6350" cap="flat" cmpd="sng" algn="ctr">
                      <a:solidFill>
                        <a:srgbClr val="D6E4EC"/>
                      </a:solidFill>
                      <a:prstDash val="solid"/>
                      <a:round/>
                      <a:headEnd type="none" w="med" len="med"/>
                      <a:tailEnd type="none" w="med" len="med"/>
                    </a:lnL>
                    <a:lnR w="6350" cap="flat" cmpd="sng" algn="ctr">
                      <a:solidFill>
                        <a:srgbClr val="D6E4EC"/>
                      </a:solidFill>
                      <a:prstDash val="solid"/>
                      <a:round/>
                      <a:headEnd type="none" w="med" len="med"/>
                      <a:tailEnd type="none" w="med" len="med"/>
                    </a:lnR>
                    <a:lnT w="6350" cap="flat" cmpd="sng" algn="ctr">
                      <a:solidFill>
                        <a:srgbClr val="D6E4EC"/>
                      </a:solidFill>
                      <a:prstDash val="solid"/>
                      <a:round/>
                      <a:headEnd type="none" w="med" len="med"/>
                      <a:tailEnd type="none" w="med" len="med"/>
                    </a:lnT>
                    <a:lnB w="6350" cap="flat" cmpd="sng" algn="ctr">
                      <a:solidFill>
                        <a:srgbClr val="D6E4E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000000"/>
                          </a:solidFill>
                          <a:latin typeface="Calibri" pitchFamily="34" charset="0"/>
                          <a:ea typeface="Calibri" pitchFamily="34" charset="-122"/>
                          <a:cs typeface="Calibri" pitchFamily="34" charset="-120"/>
                        </a:rPr>
                        <a:t>Continuous</a:t>
                      </a:r>
                      <a:endParaRPr lang="en-US" sz="1100" dirty="0">
                        <a:latin typeface="Calibri" charset="0"/>
                        <a:ea typeface="Calibri" charset="0"/>
                        <a:cs typeface="Calibri" charset="0"/>
                      </a:endParaRPr>
                    </a:p>
                  </a:txBody>
                  <a:tcPr anchor="ctr">
                    <a:lnL w="6350" cap="flat" cmpd="sng" algn="ctr">
                      <a:solidFill>
                        <a:srgbClr val="D6E4EC"/>
                      </a:solidFill>
                      <a:prstDash val="solid"/>
                      <a:round/>
                      <a:headEnd type="none" w="med" len="med"/>
                      <a:tailEnd type="none" w="med" len="med"/>
                    </a:lnL>
                    <a:lnR w="6350" cap="flat" cmpd="sng" algn="ctr">
                      <a:solidFill>
                        <a:srgbClr val="D6E4EC"/>
                      </a:solidFill>
                      <a:prstDash val="solid"/>
                      <a:round/>
                      <a:headEnd type="none" w="med" len="med"/>
                      <a:tailEnd type="none" w="med" len="med"/>
                    </a:lnR>
                    <a:lnT w="6350" cap="flat" cmpd="sng" algn="ctr">
                      <a:solidFill>
                        <a:srgbClr val="D6E4EC"/>
                      </a:solidFill>
                      <a:prstDash val="solid"/>
                      <a:round/>
                      <a:headEnd type="none" w="med" len="med"/>
                      <a:tailEnd type="none" w="med" len="med"/>
                    </a:lnT>
                    <a:lnB w="6350" cap="flat" cmpd="sng" algn="ctr">
                      <a:solidFill>
                        <a:srgbClr val="D6E4E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000000"/>
                          </a:solidFill>
                          <a:latin typeface="Calibri" pitchFamily="34" charset="0"/>
                          <a:ea typeface="Calibri" pitchFamily="34" charset="-122"/>
                          <a:cs typeface="Calibri" pitchFamily="34" charset="-120"/>
                        </a:rPr>
                        <a:t>Identify latent structure</a:t>
                      </a:r>
                      <a:endParaRPr lang="en-US" sz="1100" dirty="0">
                        <a:latin typeface="Calibri" charset="0"/>
                        <a:ea typeface="Calibri" charset="0"/>
                        <a:cs typeface="Calibri" charset="0"/>
                      </a:endParaRPr>
                    </a:p>
                  </a:txBody>
                  <a:tcPr anchor="ctr">
                    <a:lnL w="6350" cap="flat" cmpd="sng" algn="ctr">
                      <a:solidFill>
                        <a:srgbClr val="D6E4EC"/>
                      </a:solidFill>
                      <a:prstDash val="solid"/>
                      <a:round/>
                      <a:headEnd type="none" w="med" len="med"/>
                      <a:tailEnd type="none" w="med" len="med"/>
                    </a:lnL>
                    <a:lnR w="6350" cap="flat" cmpd="sng" algn="ctr">
                      <a:solidFill>
                        <a:srgbClr val="D6E4EC"/>
                      </a:solidFill>
                      <a:prstDash val="solid"/>
                      <a:round/>
                      <a:headEnd type="none" w="med" len="med"/>
                      <a:tailEnd type="none" w="med" len="med"/>
                    </a:lnR>
                    <a:lnT w="6350" cap="flat" cmpd="sng" algn="ctr">
                      <a:solidFill>
                        <a:srgbClr val="D6E4EC"/>
                      </a:solidFill>
                      <a:prstDash val="solid"/>
                      <a:round/>
                      <a:headEnd type="none" w="med" len="med"/>
                      <a:tailEnd type="none" w="med" len="med"/>
                    </a:lnT>
                    <a:lnB w="6350" cap="flat" cmpd="sng" algn="ctr">
                      <a:solidFill>
                        <a:srgbClr val="D6E4E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000000"/>
                          </a:solidFill>
                          <a:latin typeface="Calibri" pitchFamily="34" charset="0"/>
                          <a:ea typeface="Calibri" pitchFamily="34" charset="-122"/>
                          <a:cs typeface="Calibri" pitchFamily="34" charset="-120"/>
                        </a:rPr>
                        <a:t>Reduce 30 health survey items</a:t>
                      </a:r>
                      <a:endParaRPr lang="en-US" sz="1100" dirty="0">
                        <a:latin typeface="Calibri" charset="0"/>
                        <a:ea typeface="Calibri" charset="0"/>
                        <a:cs typeface="Calibri" charset="0"/>
                      </a:endParaRPr>
                    </a:p>
                  </a:txBody>
                  <a:tcPr anchor="ctr">
                    <a:lnL w="6350" cap="flat" cmpd="sng" algn="ctr">
                      <a:solidFill>
                        <a:srgbClr val="D6E4EC"/>
                      </a:solidFill>
                      <a:prstDash val="solid"/>
                      <a:round/>
                      <a:headEnd type="none" w="med" len="med"/>
                      <a:tailEnd type="none" w="med" len="med"/>
                    </a:lnL>
                    <a:lnR w="6350" cap="flat" cmpd="sng" algn="ctr">
                      <a:solidFill>
                        <a:srgbClr val="D6E4EC"/>
                      </a:solidFill>
                      <a:prstDash val="solid"/>
                      <a:round/>
                      <a:headEnd type="none" w="med" len="med"/>
                      <a:tailEnd type="none" w="med" len="med"/>
                    </a:lnR>
                    <a:lnT w="6350" cap="flat" cmpd="sng" algn="ctr">
                      <a:solidFill>
                        <a:srgbClr val="D6E4EC"/>
                      </a:solidFill>
                      <a:prstDash val="solid"/>
                      <a:round/>
                      <a:headEnd type="none" w="med" len="med"/>
                      <a:tailEnd type="none" w="med" len="med"/>
                    </a:lnT>
                    <a:lnB w="6350" cap="flat" cmpd="sng" algn="ctr">
                      <a:solidFill>
                        <a:srgbClr val="D6E4E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57200">
                <a:tc>
                  <a:txBody>
                    <a:bodyPr/>
                    <a:lstStyle/>
                    <a:p>
                      <a:pPr marL="0" indent="0" algn="l">
                        <a:buNone/>
                      </a:pPr>
                      <a:r>
                        <a:rPr lang="en-US" sz="1100" dirty="0">
                          <a:solidFill>
                            <a:srgbClr val="000000"/>
                          </a:solidFill>
                          <a:latin typeface="Calibri" pitchFamily="34" charset="0"/>
                          <a:ea typeface="Calibri" pitchFamily="34" charset="-122"/>
                          <a:cs typeface="Calibri" pitchFamily="34" charset="-120"/>
                        </a:rPr>
                        <a:t>Cluster Analysis</a:t>
                      </a:r>
                      <a:endParaRPr lang="en-US" sz="1100" dirty="0">
                        <a:latin typeface="Calibri" charset="0"/>
                        <a:ea typeface="Calibri" charset="0"/>
                        <a:cs typeface="Calibri" charset="0"/>
                      </a:endParaRPr>
                    </a:p>
                  </a:txBody>
                  <a:tcPr anchor="ctr">
                    <a:lnL w="6350" cap="flat" cmpd="sng" algn="ctr">
                      <a:solidFill>
                        <a:srgbClr val="D6E4EC"/>
                      </a:solidFill>
                      <a:prstDash val="solid"/>
                      <a:round/>
                      <a:headEnd type="none" w="med" len="med"/>
                      <a:tailEnd type="none" w="med" len="med"/>
                    </a:lnL>
                    <a:lnR w="6350" cap="flat" cmpd="sng" algn="ctr">
                      <a:solidFill>
                        <a:srgbClr val="D6E4EC"/>
                      </a:solidFill>
                      <a:prstDash val="solid"/>
                      <a:round/>
                      <a:headEnd type="none" w="med" len="med"/>
                      <a:tailEnd type="none" w="med" len="med"/>
                    </a:lnR>
                    <a:lnT w="6350" cap="flat" cmpd="sng" algn="ctr">
                      <a:solidFill>
                        <a:srgbClr val="D6E4EC"/>
                      </a:solidFill>
                      <a:prstDash val="solid"/>
                      <a:round/>
                      <a:headEnd type="none" w="med" len="med"/>
                      <a:tailEnd type="none" w="med" len="med"/>
                    </a:lnT>
                    <a:lnB w="6350" cap="flat" cmpd="sng" algn="ctr">
                      <a:solidFill>
                        <a:srgbClr val="D6E4E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000000"/>
                          </a:solidFill>
                          <a:latin typeface="Calibri" pitchFamily="34" charset="0"/>
                          <a:ea typeface="Calibri" pitchFamily="34" charset="-122"/>
                          <a:cs typeface="Calibri" pitchFamily="34" charset="-120"/>
                        </a:rPr>
                        <a:t>None</a:t>
                      </a:r>
                      <a:endParaRPr lang="en-US" sz="1100" dirty="0">
                        <a:latin typeface="Calibri" charset="0"/>
                        <a:ea typeface="Calibri" charset="0"/>
                        <a:cs typeface="Calibri" charset="0"/>
                      </a:endParaRPr>
                    </a:p>
                  </a:txBody>
                  <a:tcPr anchor="ctr">
                    <a:lnL w="6350" cap="flat" cmpd="sng" algn="ctr">
                      <a:solidFill>
                        <a:srgbClr val="D6E4EC"/>
                      </a:solidFill>
                      <a:prstDash val="solid"/>
                      <a:round/>
                      <a:headEnd type="none" w="med" len="med"/>
                      <a:tailEnd type="none" w="med" len="med"/>
                    </a:lnL>
                    <a:lnR w="6350" cap="flat" cmpd="sng" algn="ctr">
                      <a:solidFill>
                        <a:srgbClr val="D6E4EC"/>
                      </a:solidFill>
                      <a:prstDash val="solid"/>
                      <a:round/>
                      <a:headEnd type="none" w="med" len="med"/>
                      <a:tailEnd type="none" w="med" len="med"/>
                    </a:lnR>
                    <a:lnT w="6350" cap="flat" cmpd="sng" algn="ctr">
                      <a:solidFill>
                        <a:srgbClr val="D6E4EC"/>
                      </a:solidFill>
                      <a:prstDash val="solid"/>
                      <a:round/>
                      <a:headEnd type="none" w="med" len="med"/>
                      <a:tailEnd type="none" w="med" len="med"/>
                    </a:lnT>
                    <a:lnB w="6350" cap="flat" cmpd="sng" algn="ctr">
                      <a:solidFill>
                        <a:srgbClr val="D6E4E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000000"/>
                          </a:solidFill>
                          <a:latin typeface="Calibri" pitchFamily="34" charset="0"/>
                          <a:ea typeface="Calibri" pitchFamily="34" charset="-122"/>
                          <a:cs typeface="Calibri" pitchFamily="34" charset="-120"/>
                        </a:rPr>
                        <a:t>Any</a:t>
                      </a:r>
                      <a:endParaRPr lang="en-US" sz="1100" dirty="0">
                        <a:latin typeface="Calibri" charset="0"/>
                        <a:ea typeface="Calibri" charset="0"/>
                        <a:cs typeface="Calibri" charset="0"/>
                      </a:endParaRPr>
                    </a:p>
                  </a:txBody>
                  <a:tcPr anchor="ctr">
                    <a:lnL w="6350" cap="flat" cmpd="sng" algn="ctr">
                      <a:solidFill>
                        <a:srgbClr val="D6E4EC"/>
                      </a:solidFill>
                      <a:prstDash val="solid"/>
                      <a:round/>
                      <a:headEnd type="none" w="med" len="med"/>
                      <a:tailEnd type="none" w="med" len="med"/>
                    </a:lnL>
                    <a:lnR w="6350" cap="flat" cmpd="sng" algn="ctr">
                      <a:solidFill>
                        <a:srgbClr val="D6E4EC"/>
                      </a:solidFill>
                      <a:prstDash val="solid"/>
                      <a:round/>
                      <a:headEnd type="none" w="med" len="med"/>
                      <a:tailEnd type="none" w="med" len="med"/>
                    </a:lnR>
                    <a:lnT w="6350" cap="flat" cmpd="sng" algn="ctr">
                      <a:solidFill>
                        <a:srgbClr val="D6E4EC"/>
                      </a:solidFill>
                      <a:prstDash val="solid"/>
                      <a:round/>
                      <a:headEnd type="none" w="med" len="med"/>
                      <a:tailEnd type="none" w="med" len="med"/>
                    </a:lnT>
                    <a:lnB w="6350" cap="flat" cmpd="sng" algn="ctr">
                      <a:solidFill>
                        <a:srgbClr val="D6E4E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000000"/>
                          </a:solidFill>
                          <a:latin typeface="Calibri" pitchFamily="34" charset="0"/>
                          <a:ea typeface="Calibri" pitchFamily="34" charset="-122"/>
                          <a:cs typeface="Calibri" pitchFamily="34" charset="-120"/>
                        </a:rPr>
                        <a:t>Find natural groupings</a:t>
                      </a:r>
                      <a:endParaRPr lang="en-US" sz="1100" dirty="0">
                        <a:latin typeface="Calibri" charset="0"/>
                        <a:ea typeface="Calibri" charset="0"/>
                        <a:cs typeface="Calibri" charset="0"/>
                      </a:endParaRPr>
                    </a:p>
                  </a:txBody>
                  <a:tcPr anchor="ctr">
                    <a:lnL w="6350" cap="flat" cmpd="sng" algn="ctr">
                      <a:solidFill>
                        <a:srgbClr val="D6E4EC"/>
                      </a:solidFill>
                      <a:prstDash val="solid"/>
                      <a:round/>
                      <a:headEnd type="none" w="med" len="med"/>
                      <a:tailEnd type="none" w="med" len="med"/>
                    </a:lnL>
                    <a:lnR w="6350" cap="flat" cmpd="sng" algn="ctr">
                      <a:solidFill>
                        <a:srgbClr val="D6E4EC"/>
                      </a:solidFill>
                      <a:prstDash val="solid"/>
                      <a:round/>
                      <a:headEnd type="none" w="med" len="med"/>
                      <a:tailEnd type="none" w="med" len="med"/>
                    </a:lnR>
                    <a:lnT w="6350" cap="flat" cmpd="sng" algn="ctr">
                      <a:solidFill>
                        <a:srgbClr val="D6E4EC"/>
                      </a:solidFill>
                      <a:prstDash val="solid"/>
                      <a:round/>
                      <a:headEnd type="none" w="med" len="med"/>
                      <a:tailEnd type="none" w="med" len="med"/>
                    </a:lnT>
                    <a:lnB w="6350" cap="flat" cmpd="sng" algn="ctr">
                      <a:solidFill>
                        <a:srgbClr val="D6E4E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000000"/>
                          </a:solidFill>
                          <a:latin typeface="Calibri" pitchFamily="34" charset="0"/>
                          <a:ea typeface="Calibri" pitchFamily="34" charset="-122"/>
                          <a:cs typeface="Calibri" pitchFamily="34" charset="-120"/>
                        </a:rPr>
                        <a:t>Patient typologies</a:t>
                      </a:r>
                      <a:endParaRPr lang="en-US" sz="1100" dirty="0">
                        <a:latin typeface="Calibri" charset="0"/>
                        <a:ea typeface="Calibri" charset="0"/>
                        <a:cs typeface="Calibri" charset="0"/>
                      </a:endParaRPr>
                    </a:p>
                  </a:txBody>
                  <a:tcPr anchor="ctr">
                    <a:lnL w="6350" cap="flat" cmpd="sng" algn="ctr">
                      <a:solidFill>
                        <a:srgbClr val="D6E4EC"/>
                      </a:solidFill>
                      <a:prstDash val="solid"/>
                      <a:round/>
                      <a:headEnd type="none" w="med" len="med"/>
                      <a:tailEnd type="none" w="med" len="med"/>
                    </a:lnL>
                    <a:lnR w="6350" cap="flat" cmpd="sng" algn="ctr">
                      <a:solidFill>
                        <a:srgbClr val="D6E4EC"/>
                      </a:solidFill>
                      <a:prstDash val="solid"/>
                      <a:round/>
                      <a:headEnd type="none" w="med" len="med"/>
                      <a:tailEnd type="none" w="med" len="med"/>
                    </a:lnR>
                    <a:lnT w="6350" cap="flat" cmpd="sng" algn="ctr">
                      <a:solidFill>
                        <a:srgbClr val="D6E4EC"/>
                      </a:solidFill>
                      <a:prstDash val="solid"/>
                      <a:round/>
                      <a:headEnd type="none" w="med" len="med"/>
                      <a:tailEnd type="none" w="med" len="med"/>
                    </a:lnT>
                    <a:lnB w="6350" cap="flat" cmpd="sng" algn="ctr">
                      <a:solidFill>
                        <a:srgbClr val="D6E4E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457200">
                <a:tc>
                  <a:txBody>
                    <a:bodyPr/>
                    <a:lstStyle/>
                    <a:p>
                      <a:pPr marL="0" indent="0" algn="l">
                        <a:buNone/>
                      </a:pPr>
                      <a:r>
                        <a:rPr lang="en-US" sz="1100" dirty="0">
                          <a:solidFill>
                            <a:srgbClr val="000000"/>
                          </a:solidFill>
                          <a:latin typeface="Calibri" pitchFamily="34" charset="0"/>
                          <a:ea typeface="Calibri" pitchFamily="34" charset="-122"/>
                          <a:cs typeface="Calibri" pitchFamily="34" charset="-120"/>
                        </a:rPr>
                        <a:t>Survival Analysis</a:t>
                      </a:r>
                      <a:endParaRPr lang="en-US" sz="1100" dirty="0">
                        <a:latin typeface="Calibri" charset="0"/>
                        <a:ea typeface="Calibri" charset="0"/>
                        <a:cs typeface="Calibri" charset="0"/>
                      </a:endParaRPr>
                    </a:p>
                  </a:txBody>
                  <a:tcPr anchor="ctr">
                    <a:lnL w="6350" cap="flat" cmpd="sng" algn="ctr">
                      <a:solidFill>
                        <a:srgbClr val="D6E4EC"/>
                      </a:solidFill>
                      <a:prstDash val="solid"/>
                      <a:round/>
                      <a:headEnd type="none" w="med" len="med"/>
                      <a:tailEnd type="none" w="med" len="med"/>
                    </a:lnL>
                    <a:lnR w="6350" cap="flat" cmpd="sng" algn="ctr">
                      <a:solidFill>
                        <a:srgbClr val="D6E4EC"/>
                      </a:solidFill>
                      <a:prstDash val="solid"/>
                      <a:round/>
                      <a:headEnd type="none" w="med" len="med"/>
                      <a:tailEnd type="none" w="med" len="med"/>
                    </a:lnR>
                    <a:lnT w="6350" cap="flat" cmpd="sng" algn="ctr">
                      <a:solidFill>
                        <a:srgbClr val="D6E4EC"/>
                      </a:solidFill>
                      <a:prstDash val="solid"/>
                      <a:round/>
                      <a:headEnd type="none" w="med" len="med"/>
                      <a:tailEnd type="none" w="med" len="med"/>
                    </a:lnT>
                    <a:lnB w="6350" cap="flat" cmpd="sng" algn="ctr">
                      <a:solidFill>
                        <a:srgbClr val="D6E4E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000000"/>
                          </a:solidFill>
                          <a:latin typeface="Calibri" pitchFamily="34" charset="0"/>
                          <a:ea typeface="Calibri" pitchFamily="34" charset="-122"/>
                          <a:cs typeface="Calibri" pitchFamily="34" charset="-120"/>
                        </a:rPr>
                        <a:t>1 (time-to-event)</a:t>
                      </a:r>
                      <a:endParaRPr lang="en-US" sz="1100" dirty="0">
                        <a:latin typeface="Calibri" charset="0"/>
                        <a:ea typeface="Calibri" charset="0"/>
                        <a:cs typeface="Calibri" charset="0"/>
                      </a:endParaRPr>
                    </a:p>
                  </a:txBody>
                  <a:tcPr anchor="ctr">
                    <a:lnL w="6350" cap="flat" cmpd="sng" algn="ctr">
                      <a:solidFill>
                        <a:srgbClr val="D6E4EC"/>
                      </a:solidFill>
                      <a:prstDash val="solid"/>
                      <a:round/>
                      <a:headEnd type="none" w="med" len="med"/>
                      <a:tailEnd type="none" w="med" len="med"/>
                    </a:lnL>
                    <a:lnR w="6350" cap="flat" cmpd="sng" algn="ctr">
                      <a:solidFill>
                        <a:srgbClr val="D6E4EC"/>
                      </a:solidFill>
                      <a:prstDash val="solid"/>
                      <a:round/>
                      <a:headEnd type="none" w="med" len="med"/>
                      <a:tailEnd type="none" w="med" len="med"/>
                    </a:lnR>
                    <a:lnT w="6350" cap="flat" cmpd="sng" algn="ctr">
                      <a:solidFill>
                        <a:srgbClr val="D6E4EC"/>
                      </a:solidFill>
                      <a:prstDash val="solid"/>
                      <a:round/>
                      <a:headEnd type="none" w="med" len="med"/>
                      <a:tailEnd type="none" w="med" len="med"/>
                    </a:lnT>
                    <a:lnB w="6350" cap="flat" cmpd="sng" algn="ctr">
                      <a:solidFill>
                        <a:srgbClr val="D6E4E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000000"/>
                          </a:solidFill>
                          <a:latin typeface="Calibri" pitchFamily="34" charset="0"/>
                          <a:ea typeface="Calibri" pitchFamily="34" charset="-122"/>
                          <a:cs typeface="Calibri" pitchFamily="34" charset="-120"/>
                        </a:rPr>
                        <a:t>Time</a:t>
                      </a:r>
                      <a:endParaRPr lang="en-US" sz="1100" dirty="0">
                        <a:latin typeface="Calibri" charset="0"/>
                        <a:ea typeface="Calibri" charset="0"/>
                        <a:cs typeface="Calibri" charset="0"/>
                      </a:endParaRPr>
                    </a:p>
                  </a:txBody>
                  <a:tcPr anchor="ctr">
                    <a:lnL w="6350" cap="flat" cmpd="sng" algn="ctr">
                      <a:solidFill>
                        <a:srgbClr val="D6E4EC"/>
                      </a:solidFill>
                      <a:prstDash val="solid"/>
                      <a:round/>
                      <a:headEnd type="none" w="med" len="med"/>
                      <a:tailEnd type="none" w="med" len="med"/>
                    </a:lnL>
                    <a:lnR w="6350" cap="flat" cmpd="sng" algn="ctr">
                      <a:solidFill>
                        <a:srgbClr val="D6E4EC"/>
                      </a:solidFill>
                      <a:prstDash val="solid"/>
                      <a:round/>
                      <a:headEnd type="none" w="med" len="med"/>
                      <a:tailEnd type="none" w="med" len="med"/>
                    </a:lnR>
                    <a:lnT w="6350" cap="flat" cmpd="sng" algn="ctr">
                      <a:solidFill>
                        <a:srgbClr val="D6E4EC"/>
                      </a:solidFill>
                      <a:prstDash val="solid"/>
                      <a:round/>
                      <a:headEnd type="none" w="med" len="med"/>
                      <a:tailEnd type="none" w="med" len="med"/>
                    </a:lnT>
                    <a:lnB w="6350" cap="flat" cmpd="sng" algn="ctr">
                      <a:solidFill>
                        <a:srgbClr val="D6E4E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000000"/>
                          </a:solidFill>
                          <a:latin typeface="Calibri" pitchFamily="34" charset="0"/>
                          <a:ea typeface="Calibri" pitchFamily="34" charset="-122"/>
                          <a:cs typeface="Calibri" pitchFamily="34" charset="-120"/>
                        </a:rPr>
                        <a:t>Time to event</a:t>
                      </a:r>
                      <a:endParaRPr lang="en-US" sz="1100" dirty="0">
                        <a:latin typeface="Calibri" charset="0"/>
                        <a:ea typeface="Calibri" charset="0"/>
                        <a:cs typeface="Calibri" charset="0"/>
                      </a:endParaRPr>
                    </a:p>
                  </a:txBody>
                  <a:tcPr anchor="ctr">
                    <a:lnL w="6350" cap="flat" cmpd="sng" algn="ctr">
                      <a:solidFill>
                        <a:srgbClr val="D6E4EC"/>
                      </a:solidFill>
                      <a:prstDash val="solid"/>
                      <a:round/>
                      <a:headEnd type="none" w="med" len="med"/>
                      <a:tailEnd type="none" w="med" len="med"/>
                    </a:lnL>
                    <a:lnR w="6350" cap="flat" cmpd="sng" algn="ctr">
                      <a:solidFill>
                        <a:srgbClr val="D6E4EC"/>
                      </a:solidFill>
                      <a:prstDash val="solid"/>
                      <a:round/>
                      <a:headEnd type="none" w="med" len="med"/>
                      <a:tailEnd type="none" w="med" len="med"/>
                    </a:lnR>
                    <a:lnT w="6350" cap="flat" cmpd="sng" algn="ctr">
                      <a:solidFill>
                        <a:srgbClr val="D6E4EC"/>
                      </a:solidFill>
                      <a:prstDash val="solid"/>
                      <a:round/>
                      <a:headEnd type="none" w="med" len="med"/>
                      <a:tailEnd type="none" w="med" len="med"/>
                    </a:lnT>
                    <a:lnB w="6350" cap="flat" cmpd="sng" algn="ctr">
                      <a:solidFill>
                        <a:srgbClr val="D6E4E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000000"/>
                          </a:solidFill>
                          <a:latin typeface="Calibri" pitchFamily="34" charset="0"/>
                          <a:ea typeface="Calibri" pitchFamily="34" charset="-122"/>
                          <a:cs typeface="Calibri" pitchFamily="34" charset="-120"/>
                        </a:rPr>
                        <a:t>Time to rehospitalisation</a:t>
                      </a:r>
                      <a:endParaRPr lang="en-US" sz="1100" dirty="0">
                        <a:latin typeface="Calibri" charset="0"/>
                        <a:ea typeface="Calibri" charset="0"/>
                        <a:cs typeface="Calibri" charset="0"/>
                      </a:endParaRPr>
                    </a:p>
                  </a:txBody>
                  <a:tcPr anchor="ctr">
                    <a:lnL w="6350" cap="flat" cmpd="sng" algn="ctr">
                      <a:solidFill>
                        <a:srgbClr val="D6E4EC"/>
                      </a:solidFill>
                      <a:prstDash val="solid"/>
                      <a:round/>
                      <a:headEnd type="none" w="med" len="med"/>
                      <a:tailEnd type="none" w="med" len="med"/>
                    </a:lnL>
                    <a:lnR w="6350" cap="flat" cmpd="sng" algn="ctr">
                      <a:solidFill>
                        <a:srgbClr val="D6E4EC"/>
                      </a:solidFill>
                      <a:prstDash val="solid"/>
                      <a:round/>
                      <a:headEnd type="none" w="med" len="med"/>
                      <a:tailEnd type="none" w="med" len="med"/>
                    </a:lnR>
                    <a:lnT w="6350" cap="flat" cmpd="sng" algn="ctr">
                      <a:solidFill>
                        <a:srgbClr val="D6E4EC"/>
                      </a:solidFill>
                      <a:prstDash val="solid"/>
                      <a:round/>
                      <a:headEnd type="none" w="med" len="med"/>
                      <a:tailEnd type="none" w="med" len="med"/>
                    </a:lnT>
                    <a:lnB w="6350" cap="flat" cmpd="sng" algn="ctr">
                      <a:solidFill>
                        <a:srgbClr val="D6E4EC"/>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688016-087E-6453-301C-54CC8D671110}"/>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136C1A4A-877E-F05D-AFFF-8B9CA6F45CF8}"/>
              </a:ext>
            </a:extLst>
          </p:cNvPr>
          <p:cNvSpPr/>
          <p:nvPr/>
        </p:nvSpPr>
        <p:spPr>
          <a:xfrm>
            <a:off x="0" y="0"/>
            <a:ext cx="9144000" cy="73152"/>
          </a:xfrm>
          <a:prstGeom prst="rect">
            <a:avLst/>
          </a:prstGeom>
          <a:solidFill>
            <a:srgbClr val="E8A838"/>
          </a:solidFill>
          <a:ln w="12700">
            <a:solidFill>
              <a:srgbClr val="E8A838"/>
            </a:solidFill>
            <a:prstDash val="solid"/>
          </a:ln>
        </p:spPr>
        <p:txBody>
          <a:bodyPr/>
          <a:lstStyle/>
          <a:p>
            <a:endParaRPr lang="en-US"/>
          </a:p>
        </p:txBody>
      </p:sp>
      <p:sp>
        <p:nvSpPr>
          <p:cNvPr id="3" name="Text 1">
            <a:extLst>
              <a:ext uri="{FF2B5EF4-FFF2-40B4-BE49-F238E27FC236}">
                <a16:creationId xmlns:a16="http://schemas.microsoft.com/office/drawing/2014/main" id="{A97322B3-98F7-0743-D5AD-7951982AF4B6}"/>
              </a:ext>
            </a:extLst>
          </p:cNvPr>
          <p:cNvSpPr/>
          <p:nvPr/>
        </p:nvSpPr>
        <p:spPr>
          <a:xfrm>
            <a:off x="411480" y="164592"/>
            <a:ext cx="8321040" cy="640080"/>
          </a:xfrm>
          <a:prstGeom prst="rect">
            <a:avLst/>
          </a:prstGeom>
          <a:noFill/>
          <a:ln/>
        </p:spPr>
        <p:txBody>
          <a:bodyPr wrap="square" lIns="0" tIns="0" rIns="0" bIns="0" rtlCol="0" anchor="ctr"/>
          <a:lstStyle/>
          <a:p>
            <a:pPr marL="0" indent="0">
              <a:buNone/>
            </a:pPr>
            <a:r>
              <a:rPr lang="en-US" sz="2800" b="1" dirty="0">
                <a:solidFill>
                  <a:srgbClr val="065A82"/>
                </a:solidFill>
                <a:latin typeface="Cambria" pitchFamily="34" charset="0"/>
                <a:ea typeface="Cambria" pitchFamily="34" charset="-122"/>
                <a:cs typeface="Cambria" pitchFamily="34" charset="-120"/>
              </a:rPr>
              <a:t>Power &amp; Sample Size in Multivariate Research</a:t>
            </a:r>
            <a:endParaRPr lang="en-US" sz="2800" dirty="0"/>
          </a:p>
        </p:txBody>
      </p:sp>
      <p:sp>
        <p:nvSpPr>
          <p:cNvPr id="4" name="Text 2">
            <a:extLst>
              <a:ext uri="{FF2B5EF4-FFF2-40B4-BE49-F238E27FC236}">
                <a16:creationId xmlns:a16="http://schemas.microsoft.com/office/drawing/2014/main" id="{3C23E3A9-E70C-BC27-6E45-480739F4252F}"/>
              </a:ext>
            </a:extLst>
          </p:cNvPr>
          <p:cNvSpPr/>
          <p:nvPr/>
        </p:nvSpPr>
        <p:spPr>
          <a:xfrm>
            <a:off x="411480" y="886968"/>
            <a:ext cx="8321040" cy="384048"/>
          </a:xfrm>
          <a:prstGeom prst="rect">
            <a:avLst/>
          </a:prstGeom>
          <a:noFill/>
          <a:ln/>
        </p:spPr>
        <p:txBody>
          <a:bodyPr wrap="square" lIns="0" tIns="0" rIns="0" bIns="0" rtlCol="0" anchor="ctr"/>
          <a:lstStyle/>
          <a:p>
            <a:pPr marL="0" indent="0">
              <a:buNone/>
            </a:pPr>
            <a:r>
              <a:rPr lang="en-US" sz="1350" i="1" dirty="0">
                <a:solidFill>
                  <a:srgbClr val="5A7080"/>
                </a:solidFill>
                <a:latin typeface="Calibri" pitchFamily="34" charset="0"/>
                <a:ea typeface="Calibri" pitchFamily="34" charset="-122"/>
                <a:cs typeface="Calibri" pitchFamily="34" charset="-120"/>
              </a:rPr>
              <a:t>Adequate sample size is critical: multivariate analyses require more participants than univariate tests (T&amp;F, Ch. 4).</a:t>
            </a:r>
            <a:endParaRPr lang="en-US" sz="1350" dirty="0"/>
          </a:p>
        </p:txBody>
      </p:sp>
      <p:sp>
        <p:nvSpPr>
          <p:cNvPr id="5" name="Shape 3">
            <a:extLst>
              <a:ext uri="{FF2B5EF4-FFF2-40B4-BE49-F238E27FC236}">
                <a16:creationId xmlns:a16="http://schemas.microsoft.com/office/drawing/2014/main" id="{D7398EC9-04BA-0B9C-B21E-B94DE4D0B9C9}"/>
              </a:ext>
            </a:extLst>
          </p:cNvPr>
          <p:cNvSpPr/>
          <p:nvPr/>
        </p:nvSpPr>
        <p:spPr>
          <a:xfrm>
            <a:off x="411480" y="1344168"/>
            <a:ext cx="1920240" cy="1234440"/>
          </a:xfrm>
          <a:prstGeom prst="rect">
            <a:avLst/>
          </a:prstGeom>
          <a:solidFill>
            <a:srgbClr val="065A82"/>
          </a:solidFill>
          <a:ln w="12700">
            <a:solidFill>
              <a:srgbClr val="065A82"/>
            </a:solidFill>
            <a:prstDash val="solid"/>
          </a:ln>
        </p:spPr>
        <p:txBody>
          <a:bodyPr/>
          <a:lstStyle/>
          <a:p>
            <a:endParaRPr lang="en-US"/>
          </a:p>
        </p:txBody>
      </p:sp>
      <p:sp>
        <p:nvSpPr>
          <p:cNvPr id="6" name="Text 4">
            <a:extLst>
              <a:ext uri="{FF2B5EF4-FFF2-40B4-BE49-F238E27FC236}">
                <a16:creationId xmlns:a16="http://schemas.microsoft.com/office/drawing/2014/main" id="{D41CD57D-31AA-1C7F-E9FB-D1771A05AC06}"/>
              </a:ext>
            </a:extLst>
          </p:cNvPr>
          <p:cNvSpPr/>
          <p:nvPr/>
        </p:nvSpPr>
        <p:spPr>
          <a:xfrm>
            <a:off x="411480" y="1435608"/>
            <a:ext cx="1920240" cy="685800"/>
          </a:xfrm>
          <a:prstGeom prst="rect">
            <a:avLst/>
          </a:prstGeom>
          <a:noFill/>
          <a:ln/>
        </p:spPr>
        <p:txBody>
          <a:bodyPr wrap="square" lIns="0" tIns="0" rIns="0" bIns="0" rtlCol="0" anchor="ctr"/>
          <a:lstStyle/>
          <a:p>
            <a:pPr marL="0" indent="0" algn="ctr">
              <a:buNone/>
            </a:pPr>
            <a:r>
              <a:rPr lang="en-US" sz="3600" b="1" dirty="0">
                <a:solidFill>
                  <a:srgbClr val="FFFFFF"/>
                </a:solidFill>
                <a:latin typeface="Cambria" pitchFamily="34" charset="0"/>
                <a:ea typeface="Cambria" pitchFamily="34" charset="-122"/>
                <a:cs typeface="Cambria" pitchFamily="34" charset="-120"/>
              </a:rPr>
              <a:t>80%</a:t>
            </a:r>
            <a:endParaRPr lang="en-US" sz="3600" dirty="0"/>
          </a:p>
        </p:txBody>
      </p:sp>
      <p:sp>
        <p:nvSpPr>
          <p:cNvPr id="7" name="Text 5">
            <a:extLst>
              <a:ext uri="{FF2B5EF4-FFF2-40B4-BE49-F238E27FC236}">
                <a16:creationId xmlns:a16="http://schemas.microsoft.com/office/drawing/2014/main" id="{67998BA3-5748-C02A-CA17-E5DAACA83182}"/>
              </a:ext>
            </a:extLst>
          </p:cNvPr>
          <p:cNvSpPr/>
          <p:nvPr/>
        </p:nvSpPr>
        <p:spPr>
          <a:xfrm>
            <a:off x="411480" y="2103120"/>
            <a:ext cx="1920240" cy="411480"/>
          </a:xfrm>
          <a:prstGeom prst="rect">
            <a:avLst/>
          </a:prstGeom>
          <a:noFill/>
          <a:ln/>
        </p:spPr>
        <p:txBody>
          <a:bodyPr wrap="square" lIns="0" tIns="0" rIns="0" bIns="0" rtlCol="0" anchor="ctr"/>
          <a:lstStyle/>
          <a:p>
            <a:pPr marL="0" indent="0" algn="ctr">
              <a:buNone/>
            </a:pPr>
            <a:r>
              <a:rPr lang="en-US" sz="1150" dirty="0">
                <a:solidFill>
                  <a:srgbClr val="FFFFFF"/>
                </a:solidFill>
                <a:latin typeface="Calibri" pitchFamily="34" charset="0"/>
                <a:ea typeface="Calibri" pitchFamily="34" charset="-122"/>
                <a:cs typeface="Calibri" pitchFamily="34" charset="-120"/>
              </a:rPr>
              <a:t>Minimum acceptable power</a:t>
            </a:r>
            <a:endParaRPr lang="en-US" sz="1150" dirty="0"/>
          </a:p>
        </p:txBody>
      </p:sp>
      <p:sp>
        <p:nvSpPr>
          <p:cNvPr id="8" name="Shape 6">
            <a:extLst>
              <a:ext uri="{FF2B5EF4-FFF2-40B4-BE49-F238E27FC236}">
                <a16:creationId xmlns:a16="http://schemas.microsoft.com/office/drawing/2014/main" id="{F3E9717F-7445-B07D-A958-D30BD79B8912}"/>
              </a:ext>
            </a:extLst>
          </p:cNvPr>
          <p:cNvSpPr/>
          <p:nvPr/>
        </p:nvSpPr>
        <p:spPr>
          <a:xfrm>
            <a:off x="2423160" y="1344168"/>
            <a:ext cx="1920240" cy="1234440"/>
          </a:xfrm>
          <a:prstGeom prst="rect">
            <a:avLst/>
          </a:prstGeom>
          <a:solidFill>
            <a:srgbClr val="1C7293"/>
          </a:solidFill>
          <a:ln w="12700">
            <a:solidFill>
              <a:srgbClr val="1C7293"/>
            </a:solidFill>
            <a:prstDash val="solid"/>
          </a:ln>
        </p:spPr>
        <p:txBody>
          <a:bodyPr/>
          <a:lstStyle/>
          <a:p>
            <a:endParaRPr lang="en-US"/>
          </a:p>
        </p:txBody>
      </p:sp>
      <p:sp>
        <p:nvSpPr>
          <p:cNvPr id="9" name="Text 7">
            <a:extLst>
              <a:ext uri="{FF2B5EF4-FFF2-40B4-BE49-F238E27FC236}">
                <a16:creationId xmlns:a16="http://schemas.microsoft.com/office/drawing/2014/main" id="{59B86057-5EB7-7977-AC71-E013FA36931B}"/>
              </a:ext>
            </a:extLst>
          </p:cNvPr>
          <p:cNvSpPr/>
          <p:nvPr/>
        </p:nvSpPr>
        <p:spPr>
          <a:xfrm>
            <a:off x="2423160" y="1435608"/>
            <a:ext cx="1920240" cy="685800"/>
          </a:xfrm>
          <a:prstGeom prst="rect">
            <a:avLst/>
          </a:prstGeom>
          <a:noFill/>
          <a:ln/>
        </p:spPr>
        <p:txBody>
          <a:bodyPr wrap="square" lIns="0" tIns="0" rIns="0" bIns="0" rtlCol="0" anchor="ctr"/>
          <a:lstStyle/>
          <a:p>
            <a:pPr marL="0" indent="0" algn="ctr">
              <a:buNone/>
            </a:pPr>
            <a:r>
              <a:rPr lang="en-US" sz="3600" b="1" dirty="0">
                <a:solidFill>
                  <a:srgbClr val="FFFFFF"/>
                </a:solidFill>
                <a:latin typeface="Cambria" pitchFamily="34" charset="0"/>
                <a:ea typeface="Cambria" pitchFamily="34" charset="-122"/>
                <a:cs typeface="Cambria" pitchFamily="34" charset="-120"/>
              </a:rPr>
              <a:t>N ≥ 50+8k</a:t>
            </a:r>
            <a:endParaRPr lang="en-US" sz="3600" dirty="0"/>
          </a:p>
        </p:txBody>
      </p:sp>
      <p:sp>
        <p:nvSpPr>
          <p:cNvPr id="10" name="Text 8">
            <a:extLst>
              <a:ext uri="{FF2B5EF4-FFF2-40B4-BE49-F238E27FC236}">
                <a16:creationId xmlns:a16="http://schemas.microsoft.com/office/drawing/2014/main" id="{D841F32B-6D74-19C5-5E7E-CE7DC4E53234}"/>
              </a:ext>
            </a:extLst>
          </p:cNvPr>
          <p:cNvSpPr/>
          <p:nvPr/>
        </p:nvSpPr>
        <p:spPr>
          <a:xfrm>
            <a:off x="2423160" y="2161838"/>
            <a:ext cx="1920240" cy="411480"/>
          </a:xfrm>
          <a:prstGeom prst="rect">
            <a:avLst/>
          </a:prstGeom>
          <a:noFill/>
          <a:ln/>
        </p:spPr>
        <p:txBody>
          <a:bodyPr wrap="square" lIns="0" tIns="0" rIns="0" bIns="0" rtlCol="0" anchor="ctr"/>
          <a:lstStyle/>
          <a:p>
            <a:pPr marL="0" indent="0" algn="ctr">
              <a:buNone/>
            </a:pPr>
            <a:r>
              <a:rPr lang="en-US" sz="1150" dirty="0">
                <a:solidFill>
                  <a:srgbClr val="FFFFFF"/>
                </a:solidFill>
                <a:latin typeface="Calibri" pitchFamily="34" charset="0"/>
                <a:ea typeface="Calibri" pitchFamily="34" charset="-122"/>
                <a:cs typeface="Calibri" pitchFamily="34" charset="-120"/>
              </a:rPr>
              <a:t>Green's rule for regression (k = # IVs)</a:t>
            </a:r>
            <a:endParaRPr lang="en-US" sz="1150" dirty="0"/>
          </a:p>
        </p:txBody>
      </p:sp>
      <p:sp>
        <p:nvSpPr>
          <p:cNvPr id="11" name="Shape 9">
            <a:extLst>
              <a:ext uri="{FF2B5EF4-FFF2-40B4-BE49-F238E27FC236}">
                <a16:creationId xmlns:a16="http://schemas.microsoft.com/office/drawing/2014/main" id="{3EA9B42B-41D2-D722-C412-0DB6CCA32885}"/>
              </a:ext>
            </a:extLst>
          </p:cNvPr>
          <p:cNvSpPr/>
          <p:nvPr/>
        </p:nvSpPr>
        <p:spPr>
          <a:xfrm>
            <a:off x="4434840" y="1344168"/>
            <a:ext cx="1920240" cy="1234440"/>
          </a:xfrm>
          <a:prstGeom prst="rect">
            <a:avLst/>
          </a:prstGeom>
          <a:solidFill>
            <a:srgbClr val="E8A838"/>
          </a:solidFill>
          <a:ln w="12700">
            <a:solidFill>
              <a:srgbClr val="E8A838"/>
            </a:solidFill>
            <a:prstDash val="solid"/>
          </a:ln>
        </p:spPr>
        <p:txBody>
          <a:bodyPr/>
          <a:lstStyle/>
          <a:p>
            <a:endParaRPr lang="en-US"/>
          </a:p>
        </p:txBody>
      </p:sp>
      <p:sp>
        <p:nvSpPr>
          <p:cNvPr id="12" name="Text 10">
            <a:extLst>
              <a:ext uri="{FF2B5EF4-FFF2-40B4-BE49-F238E27FC236}">
                <a16:creationId xmlns:a16="http://schemas.microsoft.com/office/drawing/2014/main" id="{71790B72-76CF-D4DC-3789-DA751C6BACCE}"/>
              </a:ext>
            </a:extLst>
          </p:cNvPr>
          <p:cNvSpPr/>
          <p:nvPr/>
        </p:nvSpPr>
        <p:spPr>
          <a:xfrm>
            <a:off x="4434840" y="1435608"/>
            <a:ext cx="1920240" cy="685800"/>
          </a:xfrm>
          <a:prstGeom prst="rect">
            <a:avLst/>
          </a:prstGeom>
          <a:noFill/>
          <a:ln/>
        </p:spPr>
        <p:txBody>
          <a:bodyPr wrap="square" lIns="0" tIns="0" rIns="0" bIns="0" rtlCol="0" anchor="ctr"/>
          <a:lstStyle/>
          <a:p>
            <a:pPr marL="0" indent="0" algn="ctr">
              <a:buNone/>
            </a:pPr>
            <a:r>
              <a:rPr lang="en-US" sz="3600" b="1" dirty="0">
                <a:solidFill>
                  <a:srgbClr val="FFFFFF"/>
                </a:solidFill>
                <a:latin typeface="Cambria" pitchFamily="34" charset="0"/>
                <a:ea typeface="Cambria" pitchFamily="34" charset="-122"/>
                <a:cs typeface="Cambria" pitchFamily="34" charset="-120"/>
              </a:rPr>
              <a:t>N ≥ 200</a:t>
            </a:r>
            <a:endParaRPr lang="en-US" sz="3600" dirty="0"/>
          </a:p>
        </p:txBody>
      </p:sp>
      <p:sp>
        <p:nvSpPr>
          <p:cNvPr id="13" name="Text 11">
            <a:extLst>
              <a:ext uri="{FF2B5EF4-FFF2-40B4-BE49-F238E27FC236}">
                <a16:creationId xmlns:a16="http://schemas.microsoft.com/office/drawing/2014/main" id="{9D492CB8-5E87-E262-C5FD-80CA44B4DFB2}"/>
              </a:ext>
            </a:extLst>
          </p:cNvPr>
          <p:cNvSpPr/>
          <p:nvPr/>
        </p:nvSpPr>
        <p:spPr>
          <a:xfrm>
            <a:off x="4434840" y="2103120"/>
            <a:ext cx="1920240" cy="411480"/>
          </a:xfrm>
          <a:prstGeom prst="rect">
            <a:avLst/>
          </a:prstGeom>
          <a:noFill/>
          <a:ln/>
        </p:spPr>
        <p:txBody>
          <a:bodyPr wrap="square" lIns="0" tIns="0" rIns="0" bIns="0" rtlCol="0" anchor="ctr"/>
          <a:lstStyle/>
          <a:p>
            <a:pPr marL="0" indent="0" algn="ctr">
              <a:buNone/>
            </a:pPr>
            <a:r>
              <a:rPr lang="en-US" sz="1150" dirty="0">
                <a:solidFill>
                  <a:srgbClr val="FFFFFF"/>
                </a:solidFill>
                <a:latin typeface="Calibri" pitchFamily="34" charset="0"/>
                <a:ea typeface="Calibri" pitchFamily="34" charset="-122"/>
                <a:cs typeface="Calibri" pitchFamily="34" charset="-120"/>
              </a:rPr>
              <a:t>Minimum for factor analysis</a:t>
            </a:r>
            <a:endParaRPr lang="en-US" sz="1150" dirty="0"/>
          </a:p>
        </p:txBody>
      </p:sp>
      <p:sp>
        <p:nvSpPr>
          <p:cNvPr id="14" name="Shape 12">
            <a:extLst>
              <a:ext uri="{FF2B5EF4-FFF2-40B4-BE49-F238E27FC236}">
                <a16:creationId xmlns:a16="http://schemas.microsoft.com/office/drawing/2014/main" id="{62E2A162-EE5E-2001-A5FB-4E4BAF3FA15D}"/>
              </a:ext>
            </a:extLst>
          </p:cNvPr>
          <p:cNvSpPr/>
          <p:nvPr/>
        </p:nvSpPr>
        <p:spPr>
          <a:xfrm>
            <a:off x="6446520" y="1344168"/>
            <a:ext cx="1920240" cy="1234440"/>
          </a:xfrm>
          <a:prstGeom prst="rect">
            <a:avLst/>
          </a:prstGeom>
          <a:solidFill>
            <a:srgbClr val="065A82"/>
          </a:solidFill>
          <a:ln w="12700">
            <a:solidFill>
              <a:srgbClr val="065A82"/>
            </a:solidFill>
            <a:prstDash val="solid"/>
          </a:ln>
        </p:spPr>
        <p:txBody>
          <a:bodyPr/>
          <a:lstStyle/>
          <a:p>
            <a:endParaRPr lang="en-US"/>
          </a:p>
        </p:txBody>
      </p:sp>
      <p:sp>
        <p:nvSpPr>
          <p:cNvPr id="15" name="Text 13">
            <a:extLst>
              <a:ext uri="{FF2B5EF4-FFF2-40B4-BE49-F238E27FC236}">
                <a16:creationId xmlns:a16="http://schemas.microsoft.com/office/drawing/2014/main" id="{F939AFE9-9652-2897-7B5B-991628D5CF99}"/>
              </a:ext>
            </a:extLst>
          </p:cNvPr>
          <p:cNvSpPr/>
          <p:nvPr/>
        </p:nvSpPr>
        <p:spPr>
          <a:xfrm>
            <a:off x="6446520" y="1435608"/>
            <a:ext cx="1920240" cy="685800"/>
          </a:xfrm>
          <a:prstGeom prst="rect">
            <a:avLst/>
          </a:prstGeom>
          <a:noFill/>
          <a:ln/>
        </p:spPr>
        <p:txBody>
          <a:bodyPr wrap="square" lIns="0" tIns="0" rIns="0" bIns="0" rtlCol="0" anchor="ctr"/>
          <a:lstStyle/>
          <a:p>
            <a:pPr marL="0" indent="0" algn="ctr">
              <a:buNone/>
            </a:pPr>
            <a:r>
              <a:rPr lang="en-US" sz="3600" b="1" dirty="0">
                <a:solidFill>
                  <a:srgbClr val="FFFFFF"/>
                </a:solidFill>
                <a:latin typeface="Cambria" pitchFamily="34" charset="0"/>
                <a:ea typeface="Cambria" pitchFamily="34" charset="-122"/>
                <a:cs typeface="Cambria" pitchFamily="34" charset="-120"/>
              </a:rPr>
              <a:t>20:1</a:t>
            </a:r>
            <a:endParaRPr lang="en-US" sz="3600" dirty="0"/>
          </a:p>
        </p:txBody>
      </p:sp>
      <p:sp>
        <p:nvSpPr>
          <p:cNvPr id="16" name="Text 14">
            <a:extLst>
              <a:ext uri="{FF2B5EF4-FFF2-40B4-BE49-F238E27FC236}">
                <a16:creationId xmlns:a16="http://schemas.microsoft.com/office/drawing/2014/main" id="{60620EA4-4182-C8F5-AE7D-04183A9641B0}"/>
              </a:ext>
            </a:extLst>
          </p:cNvPr>
          <p:cNvSpPr/>
          <p:nvPr/>
        </p:nvSpPr>
        <p:spPr>
          <a:xfrm>
            <a:off x="6446520" y="2103120"/>
            <a:ext cx="1920240" cy="411480"/>
          </a:xfrm>
          <a:prstGeom prst="rect">
            <a:avLst/>
          </a:prstGeom>
          <a:noFill/>
          <a:ln/>
        </p:spPr>
        <p:txBody>
          <a:bodyPr wrap="square" lIns="0" tIns="0" rIns="0" bIns="0" rtlCol="0" anchor="ctr"/>
          <a:lstStyle/>
          <a:p>
            <a:pPr marL="0" indent="0" algn="ctr">
              <a:buNone/>
            </a:pPr>
            <a:r>
              <a:rPr lang="en-US" sz="1150" dirty="0">
                <a:solidFill>
                  <a:srgbClr val="FFFFFF"/>
                </a:solidFill>
                <a:latin typeface="Calibri" pitchFamily="34" charset="0"/>
                <a:ea typeface="Calibri" pitchFamily="34" charset="-122"/>
                <a:cs typeface="Calibri" pitchFamily="34" charset="-120"/>
              </a:rPr>
              <a:t>Ideal cases-to-variable ratio</a:t>
            </a:r>
            <a:endParaRPr lang="en-US" sz="1150" dirty="0"/>
          </a:p>
        </p:txBody>
      </p:sp>
      <p:sp>
        <p:nvSpPr>
          <p:cNvPr id="17" name="Text 15">
            <a:extLst>
              <a:ext uri="{FF2B5EF4-FFF2-40B4-BE49-F238E27FC236}">
                <a16:creationId xmlns:a16="http://schemas.microsoft.com/office/drawing/2014/main" id="{B6BE659B-ED42-B5CF-4569-72688E837693}"/>
              </a:ext>
            </a:extLst>
          </p:cNvPr>
          <p:cNvSpPr/>
          <p:nvPr/>
        </p:nvSpPr>
        <p:spPr>
          <a:xfrm>
            <a:off x="411480" y="2697480"/>
            <a:ext cx="8321040" cy="3931920"/>
          </a:xfrm>
          <a:prstGeom prst="rect">
            <a:avLst/>
          </a:prstGeom>
          <a:noFill/>
          <a:ln/>
        </p:spPr>
        <p:txBody>
          <a:bodyPr wrap="square" rtlCol="0" anchor="t"/>
          <a:lstStyle/>
          <a:p>
            <a:pPr marL="342900" indent="-342900">
              <a:buSzPct val="100000"/>
              <a:buChar char="•"/>
            </a:pPr>
            <a:r>
              <a:rPr lang="en-US" sz="1300" b="1" dirty="0">
                <a:solidFill>
                  <a:srgbClr val="1A2D3D"/>
                </a:solidFill>
                <a:latin typeface="Calibri" pitchFamily="34" charset="0"/>
                <a:ea typeface="Calibri" pitchFamily="34" charset="-122"/>
                <a:cs typeface="Calibri" pitchFamily="34" charset="-120"/>
              </a:rPr>
              <a:t>G*Power software:</a:t>
            </a:r>
            <a:endParaRPr lang="en-US" sz="1300" dirty="0"/>
          </a:p>
          <a:p>
            <a:pPr marL="508000" lvl="1" indent="-254000">
              <a:buSzPct val="100000"/>
              <a:buChar char="•"/>
            </a:pPr>
            <a:r>
              <a:rPr lang="en-US" sz="1300" dirty="0">
                <a:solidFill>
                  <a:srgbClr val="5A7080"/>
                </a:solidFill>
                <a:latin typeface="Calibri" pitchFamily="34" charset="0"/>
                <a:ea typeface="Calibri" pitchFamily="34" charset="-122"/>
                <a:cs typeface="Calibri" pitchFamily="34" charset="-120"/>
              </a:rPr>
              <a:t>Free tool for calculating required N given α, power, effect size, and number of predictors</a:t>
            </a:r>
            <a:endParaRPr lang="en-US" sz="1300" dirty="0"/>
          </a:p>
          <a:p>
            <a:pPr marL="342900" indent="-342900">
              <a:buSzPct val="100000"/>
              <a:buChar char="•"/>
            </a:pPr>
            <a:r>
              <a:rPr lang="en-US" sz="1300" b="1" dirty="0">
                <a:solidFill>
                  <a:srgbClr val="1A2D3D"/>
                </a:solidFill>
                <a:latin typeface="Calibri" pitchFamily="34" charset="0"/>
                <a:ea typeface="Calibri" pitchFamily="34" charset="-122"/>
                <a:cs typeface="Calibri" pitchFamily="34" charset="-120"/>
              </a:rPr>
              <a:t>Cohen's f² effect sizes:</a:t>
            </a:r>
            <a:endParaRPr lang="en-US" sz="1300" dirty="0"/>
          </a:p>
          <a:p>
            <a:pPr marL="508000" lvl="1" indent="-254000">
              <a:buSzPct val="100000"/>
              <a:buChar char="•"/>
            </a:pPr>
            <a:r>
              <a:rPr lang="en-US" sz="1300" dirty="0">
                <a:solidFill>
                  <a:srgbClr val="5A7080"/>
                </a:solidFill>
                <a:latin typeface="Calibri" pitchFamily="34" charset="0"/>
                <a:ea typeface="Calibri" pitchFamily="34" charset="-122"/>
                <a:cs typeface="Calibri" pitchFamily="34" charset="-120"/>
              </a:rPr>
              <a:t>Small = .02, Medium = .15, Large = .35 — medium effects need ~68 cases (5 IVs, α=.05, 80% power)</a:t>
            </a:r>
            <a:endParaRPr lang="en-US" sz="1300" dirty="0"/>
          </a:p>
          <a:p>
            <a:pPr marL="342900" indent="-342900">
              <a:buSzPct val="100000"/>
              <a:buChar char="•"/>
            </a:pPr>
            <a:r>
              <a:rPr lang="en-US" sz="1300" b="1" dirty="0">
                <a:solidFill>
                  <a:srgbClr val="1A2D3D"/>
                </a:solidFill>
                <a:latin typeface="Calibri" pitchFamily="34" charset="0"/>
                <a:ea typeface="Calibri" pitchFamily="34" charset="-122"/>
                <a:cs typeface="Calibri" pitchFamily="34" charset="-120"/>
              </a:rPr>
              <a:t>MANOVA: </a:t>
            </a:r>
            <a:endParaRPr lang="en-US" sz="1300" dirty="0"/>
          </a:p>
          <a:p>
            <a:pPr marL="508000" lvl="1" indent="-254000">
              <a:buSzPct val="100000"/>
              <a:buChar char="•"/>
            </a:pPr>
            <a:r>
              <a:rPr lang="en-US" sz="1300" dirty="0">
                <a:solidFill>
                  <a:srgbClr val="5A7080"/>
                </a:solidFill>
                <a:latin typeface="Calibri" pitchFamily="34" charset="0"/>
                <a:ea typeface="Calibri" pitchFamily="34" charset="-122"/>
                <a:cs typeface="Calibri" pitchFamily="34" charset="-120"/>
              </a:rPr>
              <a:t>Requires more cases per cell; Pillai's trace is most robust to assumption violations and small n</a:t>
            </a:r>
            <a:endParaRPr lang="en-US" sz="1300" dirty="0"/>
          </a:p>
          <a:p>
            <a:pPr marL="342900" indent="-342900">
              <a:buSzPct val="100000"/>
              <a:buChar char="•"/>
            </a:pPr>
            <a:r>
              <a:rPr lang="en-US" sz="1300" b="1" dirty="0">
                <a:solidFill>
                  <a:srgbClr val="1A2D3D"/>
                </a:solidFill>
                <a:latin typeface="Calibri" pitchFamily="34" charset="0"/>
                <a:ea typeface="Calibri" pitchFamily="34" charset="-122"/>
                <a:cs typeface="Calibri" pitchFamily="34" charset="-120"/>
              </a:rPr>
              <a:t>Factor analysis:</a:t>
            </a:r>
            <a:endParaRPr lang="en-US" sz="1300" dirty="0"/>
          </a:p>
          <a:p>
            <a:pPr marL="508000" lvl="1" indent="-254000">
              <a:buSzPct val="100000"/>
              <a:buChar char="•"/>
            </a:pPr>
            <a:r>
              <a:rPr lang="en-US" sz="1300" dirty="0">
                <a:solidFill>
                  <a:srgbClr val="5A7080"/>
                </a:solidFill>
                <a:latin typeface="Calibri" pitchFamily="34" charset="0"/>
                <a:ea typeface="Calibri" pitchFamily="34" charset="-122"/>
                <a:cs typeface="Calibri" pitchFamily="34" charset="-120"/>
              </a:rPr>
              <a:t>Communalities &gt; .60 allow smaller N; weak communalities (&lt; .40) may require N &gt; 500</a:t>
            </a:r>
            <a:endParaRPr lang="en-US" sz="1300" dirty="0"/>
          </a:p>
        </p:txBody>
      </p:sp>
    </p:spTree>
    <p:extLst>
      <p:ext uri="{BB962C8B-B14F-4D97-AF65-F5344CB8AC3E}">
        <p14:creationId xmlns:p14="http://schemas.microsoft.com/office/powerpoint/2010/main" val="285230204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2011680"/>
            <a:ext cx="9144000" cy="1143000"/>
          </a:xfrm>
          <a:prstGeom prst="rect">
            <a:avLst/>
          </a:prstGeom>
          <a:solidFill>
            <a:srgbClr val="1C7293"/>
          </a:solidFill>
          <a:ln w="12700">
            <a:solidFill>
              <a:srgbClr val="1C7293"/>
            </a:solidFill>
            <a:prstDash val="solid"/>
          </a:ln>
        </p:spPr>
        <p:txBody>
          <a:bodyPr/>
          <a:lstStyle/>
          <a:p>
            <a:endParaRPr lang="en-US"/>
          </a:p>
        </p:txBody>
      </p:sp>
      <p:sp>
        <p:nvSpPr>
          <p:cNvPr id="3" name="Shape 1"/>
          <p:cNvSpPr/>
          <p:nvPr/>
        </p:nvSpPr>
        <p:spPr>
          <a:xfrm>
            <a:off x="0" y="0"/>
            <a:ext cx="9144000" cy="91440"/>
          </a:xfrm>
          <a:prstGeom prst="rect">
            <a:avLst/>
          </a:prstGeom>
          <a:solidFill>
            <a:srgbClr val="E8A838"/>
          </a:solidFill>
          <a:ln w="12700">
            <a:solidFill>
              <a:srgbClr val="E8A838"/>
            </a:solidFill>
            <a:prstDash val="solid"/>
          </a:ln>
        </p:spPr>
        <p:txBody>
          <a:bodyPr/>
          <a:lstStyle/>
          <a:p>
            <a:endParaRPr lang="en-US"/>
          </a:p>
        </p:txBody>
      </p:sp>
      <p:sp>
        <p:nvSpPr>
          <p:cNvPr id="4" name="Text 2"/>
          <p:cNvSpPr/>
          <p:nvPr/>
        </p:nvSpPr>
        <p:spPr>
          <a:xfrm>
            <a:off x="457200" y="457200"/>
            <a:ext cx="8229600" cy="457200"/>
          </a:xfrm>
          <a:prstGeom prst="rect">
            <a:avLst/>
          </a:prstGeom>
          <a:noFill/>
          <a:ln/>
        </p:spPr>
        <p:txBody>
          <a:bodyPr wrap="square" lIns="0" tIns="0" rIns="0" bIns="0" rtlCol="0" anchor="ctr"/>
          <a:lstStyle/>
          <a:p>
            <a:pPr marL="0" indent="0" algn="ctr">
              <a:buNone/>
            </a:pPr>
            <a:r>
              <a:rPr lang="en-US" sz="1400" b="1" kern="0" spc="600" dirty="0">
                <a:solidFill>
                  <a:srgbClr val="9EC8D8"/>
                </a:solidFill>
                <a:latin typeface="Calibri" pitchFamily="34" charset="0"/>
                <a:ea typeface="Calibri" pitchFamily="34" charset="-122"/>
                <a:cs typeface="Calibri" pitchFamily="34" charset="-120"/>
              </a:rPr>
              <a:t>SECTION 02</a:t>
            </a:r>
            <a:endParaRPr lang="en-US" sz="1400" dirty="0"/>
          </a:p>
        </p:txBody>
      </p:sp>
      <p:sp>
        <p:nvSpPr>
          <p:cNvPr id="5" name="Text 3"/>
          <p:cNvSpPr/>
          <p:nvPr/>
        </p:nvSpPr>
        <p:spPr>
          <a:xfrm>
            <a:off x="457200" y="2057400"/>
            <a:ext cx="8229600" cy="1051560"/>
          </a:xfrm>
          <a:prstGeom prst="rect">
            <a:avLst/>
          </a:prstGeom>
          <a:noFill/>
          <a:ln/>
        </p:spPr>
        <p:txBody>
          <a:bodyPr wrap="square" lIns="0" tIns="0" rIns="0" bIns="0" rtlCol="0" anchor="ctr"/>
          <a:lstStyle/>
          <a:p>
            <a:pPr marL="0" indent="0" algn="ctr">
              <a:buNone/>
            </a:pPr>
            <a:r>
              <a:rPr lang="en-US" sz="3400" b="1" dirty="0">
                <a:solidFill>
                  <a:srgbClr val="FFFFFF"/>
                </a:solidFill>
                <a:latin typeface="Cambria" pitchFamily="34" charset="0"/>
                <a:ea typeface="Cambria" pitchFamily="34" charset="-122"/>
                <a:cs typeface="Cambria" pitchFamily="34" charset="-120"/>
              </a:rPr>
              <a:t>Assumptions of</a:t>
            </a:r>
            <a:endParaRPr lang="en-US" sz="3400" dirty="0"/>
          </a:p>
          <a:p>
            <a:pPr marL="0" indent="0" algn="ctr">
              <a:buNone/>
            </a:pPr>
            <a:r>
              <a:rPr lang="en-US" sz="3400" b="1" dirty="0">
                <a:solidFill>
                  <a:srgbClr val="FFFFFF"/>
                </a:solidFill>
                <a:latin typeface="Cambria" pitchFamily="34" charset="0"/>
                <a:ea typeface="Cambria" pitchFamily="34" charset="-122"/>
                <a:cs typeface="Cambria" pitchFamily="34" charset="-120"/>
              </a:rPr>
              <a:t>Multivariate Analyses</a:t>
            </a:r>
            <a:endParaRPr lang="en-US" sz="3400" dirty="0"/>
          </a:p>
        </p:txBody>
      </p:sp>
      <p:sp>
        <p:nvSpPr>
          <p:cNvPr id="6" name="Text 4"/>
          <p:cNvSpPr/>
          <p:nvPr/>
        </p:nvSpPr>
        <p:spPr>
          <a:xfrm>
            <a:off x="914400" y="3337560"/>
            <a:ext cx="7315200" cy="640080"/>
          </a:xfrm>
          <a:prstGeom prst="rect">
            <a:avLst/>
          </a:prstGeom>
          <a:noFill/>
          <a:ln/>
        </p:spPr>
        <p:txBody>
          <a:bodyPr wrap="square" lIns="0" tIns="0" rIns="0" bIns="0" rtlCol="0" anchor="ctr"/>
          <a:lstStyle/>
          <a:p>
            <a:pPr marL="0" indent="0" algn="ctr">
              <a:buNone/>
            </a:pPr>
            <a:r>
              <a:rPr lang="en-US" sz="1500" i="1" dirty="0">
                <a:solidFill>
                  <a:srgbClr val="9EC8D8"/>
                </a:solidFill>
                <a:latin typeface="Calibri" pitchFamily="34" charset="0"/>
                <a:ea typeface="Calibri" pitchFamily="34" charset="-122"/>
                <a:cs typeface="Calibri" pitchFamily="34" charset="-120"/>
              </a:rPr>
              <a:t>Meeting the mathematical requirements that ensure valid results</a:t>
            </a:r>
            <a:endParaRPr lang="en-US" sz="15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82296"/>
          </a:xfrm>
          <a:prstGeom prst="rect">
            <a:avLst/>
          </a:prstGeom>
          <a:solidFill>
            <a:srgbClr val="6D2E46"/>
          </a:solidFill>
          <a:ln w="12700">
            <a:solidFill>
              <a:srgbClr val="6D2E46"/>
            </a:solidFill>
            <a:prstDash val="solid"/>
          </a:ln>
        </p:spPr>
        <p:txBody>
          <a:bodyPr/>
          <a:lstStyle/>
          <a:p>
            <a:endParaRPr lang="en-US"/>
          </a:p>
        </p:txBody>
      </p:sp>
      <p:sp>
        <p:nvSpPr>
          <p:cNvPr id="3" name="Text 1"/>
          <p:cNvSpPr/>
          <p:nvPr/>
        </p:nvSpPr>
        <p:spPr>
          <a:xfrm>
            <a:off x="411480" y="137160"/>
            <a:ext cx="8321040" cy="658368"/>
          </a:xfrm>
          <a:prstGeom prst="rect">
            <a:avLst/>
          </a:prstGeom>
          <a:noFill/>
          <a:ln/>
        </p:spPr>
        <p:txBody>
          <a:bodyPr wrap="square" lIns="0" tIns="0" rIns="0" bIns="0" rtlCol="0" anchor="ctr"/>
          <a:lstStyle/>
          <a:p>
            <a:pPr marL="0" indent="0">
              <a:buNone/>
            </a:pPr>
            <a:r>
              <a:rPr lang="en-US" sz="2700" b="1" dirty="0">
                <a:solidFill>
                  <a:srgbClr val="6D2E46"/>
                </a:solidFill>
                <a:latin typeface="Georgia" pitchFamily="34" charset="0"/>
                <a:ea typeface="Georgia" pitchFamily="34" charset="-122"/>
                <a:cs typeface="Georgia" pitchFamily="34" charset="-120"/>
              </a:rPr>
              <a:t>Assumptions for Multivariate Analysis (T&amp;F Ch. 4)</a:t>
            </a:r>
            <a:endParaRPr lang="en-US" sz="2700" dirty="0"/>
          </a:p>
        </p:txBody>
      </p:sp>
      <p:sp>
        <p:nvSpPr>
          <p:cNvPr id="4" name="Shape 2"/>
          <p:cNvSpPr/>
          <p:nvPr/>
        </p:nvSpPr>
        <p:spPr>
          <a:xfrm>
            <a:off x="365760" y="932688"/>
            <a:ext cx="4069080" cy="1280160"/>
          </a:xfrm>
          <a:prstGeom prst="rect">
            <a:avLst/>
          </a:prstGeom>
          <a:solidFill>
            <a:srgbClr val="FFFFFF"/>
          </a:solidFill>
          <a:ln w="12700">
            <a:solidFill>
              <a:srgbClr val="DDE0F0"/>
            </a:solidFill>
            <a:prstDash val="solid"/>
          </a:ln>
          <a:effectLst>
            <a:outerShdw blurRad="76200" dist="25400" dir="8100000" algn="bl" rotWithShape="0">
              <a:srgbClr val="000000">
                <a:alpha val="10000"/>
              </a:srgbClr>
            </a:outerShdw>
          </a:effectLst>
        </p:spPr>
        <p:txBody>
          <a:bodyPr/>
          <a:lstStyle/>
          <a:p>
            <a:endParaRPr lang="en-US"/>
          </a:p>
        </p:txBody>
      </p:sp>
      <p:sp>
        <p:nvSpPr>
          <p:cNvPr id="5" name="Shape 3"/>
          <p:cNvSpPr/>
          <p:nvPr/>
        </p:nvSpPr>
        <p:spPr>
          <a:xfrm>
            <a:off x="365760" y="932688"/>
            <a:ext cx="64008" cy="1280160"/>
          </a:xfrm>
          <a:prstGeom prst="rect">
            <a:avLst/>
          </a:prstGeom>
          <a:solidFill>
            <a:srgbClr val="6D2E46"/>
          </a:solidFill>
          <a:ln w="12700">
            <a:solidFill>
              <a:srgbClr val="6D2E46"/>
            </a:solidFill>
            <a:prstDash val="solid"/>
          </a:ln>
        </p:spPr>
        <p:txBody>
          <a:bodyPr/>
          <a:lstStyle/>
          <a:p>
            <a:endParaRPr lang="en-US"/>
          </a:p>
        </p:txBody>
      </p:sp>
      <p:sp>
        <p:nvSpPr>
          <p:cNvPr id="6" name="Text 4"/>
          <p:cNvSpPr/>
          <p:nvPr/>
        </p:nvSpPr>
        <p:spPr>
          <a:xfrm>
            <a:off x="512064" y="1005840"/>
            <a:ext cx="3867912" cy="347472"/>
          </a:xfrm>
          <a:prstGeom prst="rect">
            <a:avLst/>
          </a:prstGeom>
          <a:noFill/>
          <a:ln/>
        </p:spPr>
        <p:txBody>
          <a:bodyPr wrap="square" lIns="0" tIns="0" rIns="0" bIns="0" rtlCol="0" anchor="ctr"/>
          <a:lstStyle/>
          <a:p>
            <a:pPr marL="0" indent="0">
              <a:buNone/>
            </a:pPr>
            <a:r>
              <a:rPr lang="en-US" sz="1300" b="1" dirty="0">
                <a:solidFill>
                  <a:srgbClr val="6D2E46"/>
                </a:solidFill>
                <a:latin typeface="Georgia" pitchFamily="34" charset="0"/>
                <a:ea typeface="Georgia" pitchFamily="34" charset="-122"/>
                <a:cs typeface="Georgia" pitchFamily="34" charset="-120"/>
              </a:rPr>
              <a:t>1. Multivariate Normality</a:t>
            </a:r>
            <a:endParaRPr lang="en-US" sz="1300" dirty="0"/>
          </a:p>
        </p:txBody>
      </p:sp>
      <p:sp>
        <p:nvSpPr>
          <p:cNvPr id="7" name="Text 5"/>
          <p:cNvSpPr/>
          <p:nvPr/>
        </p:nvSpPr>
        <p:spPr>
          <a:xfrm>
            <a:off x="512064" y="1371600"/>
            <a:ext cx="3867912" cy="749808"/>
          </a:xfrm>
          <a:prstGeom prst="rect">
            <a:avLst/>
          </a:prstGeom>
          <a:noFill/>
          <a:ln/>
        </p:spPr>
        <p:txBody>
          <a:bodyPr wrap="square" lIns="0" tIns="0" rIns="0" bIns="0" rtlCol="0" anchor="t"/>
          <a:lstStyle/>
          <a:p>
            <a:pPr marL="0" indent="0">
              <a:buNone/>
            </a:pPr>
            <a:r>
              <a:rPr lang="en-US" sz="1150" dirty="0">
                <a:solidFill>
                  <a:srgbClr val="1A1A2E"/>
                </a:solidFill>
                <a:latin typeface="Calibri" pitchFamily="34" charset="0"/>
                <a:ea typeface="Calibri" pitchFamily="34" charset="-122"/>
                <a:cs typeface="Calibri" pitchFamily="34" charset="-120"/>
              </a:rPr>
              <a:t>Each DV and all linear combinations of DVs are normally distributed. Check: Mardia's skewness and kurtosis tests; Henze-Zirkler test. MANOVA robust when n per group ≥20.</a:t>
            </a:r>
            <a:endParaRPr lang="en-US" sz="1150" dirty="0"/>
          </a:p>
        </p:txBody>
      </p:sp>
      <p:sp>
        <p:nvSpPr>
          <p:cNvPr id="8" name="Shape 6"/>
          <p:cNvSpPr/>
          <p:nvPr/>
        </p:nvSpPr>
        <p:spPr>
          <a:xfrm>
            <a:off x="4617720" y="932688"/>
            <a:ext cx="4069080" cy="1280160"/>
          </a:xfrm>
          <a:prstGeom prst="rect">
            <a:avLst/>
          </a:prstGeom>
          <a:solidFill>
            <a:srgbClr val="FFFFFF"/>
          </a:solidFill>
          <a:ln w="12700">
            <a:solidFill>
              <a:srgbClr val="DDE0F0"/>
            </a:solidFill>
            <a:prstDash val="solid"/>
          </a:ln>
          <a:effectLst>
            <a:outerShdw blurRad="76200" dist="25400" dir="8100000" algn="bl" rotWithShape="0">
              <a:srgbClr val="000000">
                <a:alpha val="10000"/>
              </a:srgbClr>
            </a:outerShdw>
          </a:effectLst>
        </p:spPr>
        <p:txBody>
          <a:bodyPr/>
          <a:lstStyle/>
          <a:p>
            <a:endParaRPr lang="en-US"/>
          </a:p>
        </p:txBody>
      </p:sp>
      <p:sp>
        <p:nvSpPr>
          <p:cNvPr id="9" name="Shape 7"/>
          <p:cNvSpPr/>
          <p:nvPr/>
        </p:nvSpPr>
        <p:spPr>
          <a:xfrm>
            <a:off x="4617720" y="932688"/>
            <a:ext cx="64008" cy="1280160"/>
          </a:xfrm>
          <a:prstGeom prst="rect">
            <a:avLst/>
          </a:prstGeom>
          <a:solidFill>
            <a:srgbClr val="A26769"/>
          </a:solidFill>
          <a:ln w="12700">
            <a:solidFill>
              <a:srgbClr val="A26769"/>
            </a:solidFill>
            <a:prstDash val="solid"/>
          </a:ln>
        </p:spPr>
        <p:txBody>
          <a:bodyPr/>
          <a:lstStyle/>
          <a:p>
            <a:endParaRPr lang="en-US"/>
          </a:p>
        </p:txBody>
      </p:sp>
      <p:sp>
        <p:nvSpPr>
          <p:cNvPr id="10" name="Text 8"/>
          <p:cNvSpPr/>
          <p:nvPr/>
        </p:nvSpPr>
        <p:spPr>
          <a:xfrm>
            <a:off x="4764024" y="1005840"/>
            <a:ext cx="3867912" cy="347472"/>
          </a:xfrm>
          <a:prstGeom prst="rect">
            <a:avLst/>
          </a:prstGeom>
          <a:noFill/>
          <a:ln/>
        </p:spPr>
        <p:txBody>
          <a:bodyPr wrap="square" lIns="0" tIns="0" rIns="0" bIns="0" rtlCol="0" anchor="ctr"/>
          <a:lstStyle/>
          <a:p>
            <a:pPr marL="0" indent="0">
              <a:buNone/>
            </a:pPr>
            <a:r>
              <a:rPr lang="en-US" sz="1300" b="1" dirty="0">
                <a:solidFill>
                  <a:srgbClr val="A26769"/>
                </a:solidFill>
                <a:latin typeface="Georgia" pitchFamily="34" charset="0"/>
                <a:ea typeface="Georgia" pitchFamily="34" charset="-122"/>
                <a:cs typeface="Georgia" pitchFamily="34" charset="-120"/>
              </a:rPr>
              <a:t>2. Homogeneity of Variance-Covariance Matrices</a:t>
            </a:r>
            <a:endParaRPr lang="en-US" sz="1300" dirty="0"/>
          </a:p>
        </p:txBody>
      </p:sp>
      <p:sp>
        <p:nvSpPr>
          <p:cNvPr id="11" name="Text 9"/>
          <p:cNvSpPr/>
          <p:nvPr/>
        </p:nvSpPr>
        <p:spPr>
          <a:xfrm>
            <a:off x="4764024" y="1371600"/>
            <a:ext cx="3867912" cy="749808"/>
          </a:xfrm>
          <a:prstGeom prst="rect">
            <a:avLst/>
          </a:prstGeom>
          <a:noFill/>
          <a:ln/>
        </p:spPr>
        <p:txBody>
          <a:bodyPr wrap="square" lIns="0" tIns="0" rIns="0" bIns="0" rtlCol="0" anchor="t"/>
          <a:lstStyle/>
          <a:p>
            <a:pPr marL="0" indent="0">
              <a:buNone/>
            </a:pPr>
            <a:r>
              <a:rPr lang="en-US" sz="1150" dirty="0">
                <a:solidFill>
                  <a:srgbClr val="1A1A2E"/>
                </a:solidFill>
                <a:latin typeface="Calibri" pitchFamily="34" charset="0"/>
                <a:ea typeface="Calibri" pitchFamily="34" charset="-122"/>
                <a:cs typeface="Calibri" pitchFamily="34" charset="-120"/>
              </a:rPr>
              <a:t>Box's M test: covariance matrices should be equal across groups. Sensitive to non-normality — a significant M with large N may be tolerable. Use Pillai's trace if violated.</a:t>
            </a:r>
            <a:endParaRPr lang="en-US" sz="1150" dirty="0"/>
          </a:p>
        </p:txBody>
      </p:sp>
      <p:sp>
        <p:nvSpPr>
          <p:cNvPr id="12" name="Shape 10"/>
          <p:cNvSpPr/>
          <p:nvPr/>
        </p:nvSpPr>
        <p:spPr>
          <a:xfrm>
            <a:off x="365760" y="2350008"/>
            <a:ext cx="4069080" cy="1280160"/>
          </a:xfrm>
          <a:prstGeom prst="rect">
            <a:avLst/>
          </a:prstGeom>
          <a:solidFill>
            <a:srgbClr val="FFFFFF"/>
          </a:solidFill>
          <a:ln w="12700">
            <a:solidFill>
              <a:srgbClr val="DDE0F0"/>
            </a:solidFill>
            <a:prstDash val="solid"/>
          </a:ln>
          <a:effectLst>
            <a:outerShdw blurRad="76200" dist="25400" dir="8100000" algn="bl" rotWithShape="0">
              <a:srgbClr val="000000">
                <a:alpha val="10000"/>
              </a:srgbClr>
            </a:outerShdw>
          </a:effectLst>
        </p:spPr>
        <p:txBody>
          <a:bodyPr/>
          <a:lstStyle/>
          <a:p>
            <a:endParaRPr lang="en-US"/>
          </a:p>
        </p:txBody>
      </p:sp>
      <p:sp>
        <p:nvSpPr>
          <p:cNvPr id="13" name="Shape 11"/>
          <p:cNvSpPr/>
          <p:nvPr/>
        </p:nvSpPr>
        <p:spPr>
          <a:xfrm>
            <a:off x="365760" y="2350008"/>
            <a:ext cx="64008" cy="1280160"/>
          </a:xfrm>
          <a:prstGeom prst="rect">
            <a:avLst/>
          </a:prstGeom>
          <a:solidFill>
            <a:srgbClr val="2E8B72"/>
          </a:solidFill>
          <a:ln w="12700">
            <a:solidFill>
              <a:srgbClr val="2E8B72"/>
            </a:solidFill>
            <a:prstDash val="solid"/>
          </a:ln>
        </p:spPr>
        <p:txBody>
          <a:bodyPr/>
          <a:lstStyle/>
          <a:p>
            <a:endParaRPr lang="en-US"/>
          </a:p>
        </p:txBody>
      </p:sp>
      <p:sp>
        <p:nvSpPr>
          <p:cNvPr id="14" name="Text 12"/>
          <p:cNvSpPr/>
          <p:nvPr/>
        </p:nvSpPr>
        <p:spPr>
          <a:xfrm>
            <a:off x="512064" y="2423160"/>
            <a:ext cx="3867912" cy="347472"/>
          </a:xfrm>
          <a:prstGeom prst="rect">
            <a:avLst/>
          </a:prstGeom>
          <a:noFill/>
          <a:ln/>
        </p:spPr>
        <p:txBody>
          <a:bodyPr wrap="square" lIns="0" tIns="0" rIns="0" bIns="0" rtlCol="0" anchor="ctr"/>
          <a:lstStyle/>
          <a:p>
            <a:pPr marL="0" indent="0">
              <a:buNone/>
            </a:pPr>
            <a:r>
              <a:rPr lang="en-US" sz="1300" b="1" dirty="0">
                <a:solidFill>
                  <a:srgbClr val="2E8B72"/>
                </a:solidFill>
                <a:latin typeface="Georgia" pitchFamily="34" charset="0"/>
                <a:ea typeface="Georgia" pitchFamily="34" charset="-122"/>
                <a:cs typeface="Georgia" pitchFamily="34" charset="-120"/>
              </a:rPr>
              <a:t>3. Linearity Among DVs</a:t>
            </a:r>
            <a:endParaRPr lang="en-US" sz="1300" dirty="0"/>
          </a:p>
        </p:txBody>
      </p:sp>
      <p:sp>
        <p:nvSpPr>
          <p:cNvPr id="15" name="Text 13"/>
          <p:cNvSpPr/>
          <p:nvPr/>
        </p:nvSpPr>
        <p:spPr>
          <a:xfrm>
            <a:off x="512064" y="2788920"/>
            <a:ext cx="3867912" cy="749808"/>
          </a:xfrm>
          <a:prstGeom prst="rect">
            <a:avLst/>
          </a:prstGeom>
          <a:noFill/>
          <a:ln/>
        </p:spPr>
        <p:txBody>
          <a:bodyPr wrap="square" lIns="0" tIns="0" rIns="0" bIns="0" rtlCol="0" anchor="t"/>
          <a:lstStyle/>
          <a:p>
            <a:pPr marL="0" indent="0">
              <a:buNone/>
            </a:pPr>
            <a:r>
              <a:rPr lang="en-US" sz="1150" dirty="0">
                <a:solidFill>
                  <a:srgbClr val="1A1A2E"/>
                </a:solidFill>
                <a:latin typeface="Calibri" pitchFamily="34" charset="0"/>
                <a:ea typeface="Calibri" pitchFamily="34" charset="-122"/>
                <a:cs typeface="Calibri" pitchFamily="34" charset="-120"/>
              </a:rPr>
              <a:t>All pairs of DVs should be linearly related. Check scatterplot matrix (SPLOM). Violations reduce power of MANOVA — the linear combination cannot capture non-linear shared variance.</a:t>
            </a:r>
            <a:endParaRPr lang="en-US" sz="1150" dirty="0"/>
          </a:p>
        </p:txBody>
      </p:sp>
      <p:sp>
        <p:nvSpPr>
          <p:cNvPr id="16" name="Shape 14"/>
          <p:cNvSpPr/>
          <p:nvPr/>
        </p:nvSpPr>
        <p:spPr>
          <a:xfrm>
            <a:off x="4617720" y="2350008"/>
            <a:ext cx="4069080" cy="1280160"/>
          </a:xfrm>
          <a:prstGeom prst="rect">
            <a:avLst/>
          </a:prstGeom>
          <a:solidFill>
            <a:srgbClr val="FFFFFF"/>
          </a:solidFill>
          <a:ln w="12700">
            <a:solidFill>
              <a:srgbClr val="DDE0F0"/>
            </a:solidFill>
            <a:prstDash val="solid"/>
          </a:ln>
          <a:effectLst>
            <a:outerShdw blurRad="76200" dist="25400" dir="8100000" algn="bl" rotWithShape="0">
              <a:srgbClr val="000000">
                <a:alpha val="10000"/>
              </a:srgbClr>
            </a:outerShdw>
          </a:effectLst>
        </p:spPr>
        <p:txBody>
          <a:bodyPr/>
          <a:lstStyle/>
          <a:p>
            <a:endParaRPr lang="en-US"/>
          </a:p>
        </p:txBody>
      </p:sp>
      <p:sp>
        <p:nvSpPr>
          <p:cNvPr id="17" name="Shape 15"/>
          <p:cNvSpPr/>
          <p:nvPr/>
        </p:nvSpPr>
        <p:spPr>
          <a:xfrm>
            <a:off x="4617720" y="2350008"/>
            <a:ext cx="64008" cy="1280160"/>
          </a:xfrm>
          <a:prstGeom prst="rect">
            <a:avLst/>
          </a:prstGeom>
          <a:solidFill>
            <a:srgbClr val="1E2761"/>
          </a:solidFill>
          <a:ln w="12700">
            <a:solidFill>
              <a:srgbClr val="1E2761"/>
            </a:solidFill>
            <a:prstDash val="solid"/>
          </a:ln>
        </p:spPr>
        <p:txBody>
          <a:bodyPr/>
          <a:lstStyle/>
          <a:p>
            <a:endParaRPr lang="en-US"/>
          </a:p>
        </p:txBody>
      </p:sp>
      <p:sp>
        <p:nvSpPr>
          <p:cNvPr id="18" name="Text 16"/>
          <p:cNvSpPr/>
          <p:nvPr/>
        </p:nvSpPr>
        <p:spPr>
          <a:xfrm>
            <a:off x="4764024" y="2423160"/>
            <a:ext cx="3867912" cy="347472"/>
          </a:xfrm>
          <a:prstGeom prst="rect">
            <a:avLst/>
          </a:prstGeom>
          <a:noFill/>
          <a:ln/>
        </p:spPr>
        <p:txBody>
          <a:bodyPr wrap="square" lIns="0" tIns="0" rIns="0" bIns="0" rtlCol="0" anchor="ctr"/>
          <a:lstStyle/>
          <a:p>
            <a:pPr marL="0" indent="0">
              <a:buNone/>
            </a:pPr>
            <a:r>
              <a:rPr lang="en-US" sz="1300" b="1" dirty="0">
                <a:solidFill>
                  <a:srgbClr val="1E2761"/>
                </a:solidFill>
                <a:latin typeface="Georgia" pitchFamily="34" charset="0"/>
                <a:ea typeface="Georgia" pitchFamily="34" charset="-122"/>
                <a:cs typeface="Georgia" pitchFamily="34" charset="-120"/>
              </a:rPr>
              <a:t>4. Absence of Multivariate Outliers</a:t>
            </a:r>
            <a:endParaRPr lang="en-US" sz="1300" dirty="0"/>
          </a:p>
        </p:txBody>
      </p:sp>
      <p:sp>
        <p:nvSpPr>
          <p:cNvPr id="19" name="Text 17"/>
          <p:cNvSpPr/>
          <p:nvPr/>
        </p:nvSpPr>
        <p:spPr>
          <a:xfrm>
            <a:off x="4764024" y="2788920"/>
            <a:ext cx="3867912" cy="749808"/>
          </a:xfrm>
          <a:prstGeom prst="rect">
            <a:avLst/>
          </a:prstGeom>
          <a:noFill/>
          <a:ln/>
        </p:spPr>
        <p:txBody>
          <a:bodyPr wrap="square" lIns="0" tIns="0" rIns="0" bIns="0" rtlCol="0" anchor="t"/>
          <a:lstStyle/>
          <a:p>
            <a:pPr marL="0" indent="0">
              <a:buNone/>
            </a:pPr>
            <a:r>
              <a:rPr lang="en-US" sz="1150" dirty="0">
                <a:solidFill>
                  <a:srgbClr val="1A1A2E"/>
                </a:solidFill>
                <a:latin typeface="Calibri" pitchFamily="34" charset="0"/>
                <a:ea typeface="Calibri" pitchFamily="34" charset="-122"/>
                <a:cs typeface="Calibri" pitchFamily="34" charset="-120"/>
              </a:rPr>
              <a:t>Mahalanobis D² for each case across all DVs; χ² critical value (df=# DVs, p&lt;.001). Outliers strongly distort the multivariate centroid. Report n removed and sensitivity analysis.</a:t>
            </a:r>
            <a:endParaRPr lang="en-US" sz="1150" dirty="0"/>
          </a:p>
        </p:txBody>
      </p:sp>
      <p:sp>
        <p:nvSpPr>
          <p:cNvPr id="20" name="Shape 18"/>
          <p:cNvSpPr/>
          <p:nvPr/>
        </p:nvSpPr>
        <p:spPr>
          <a:xfrm>
            <a:off x="365760" y="3767328"/>
            <a:ext cx="4069080" cy="1280160"/>
          </a:xfrm>
          <a:prstGeom prst="rect">
            <a:avLst/>
          </a:prstGeom>
          <a:solidFill>
            <a:srgbClr val="FFFFFF"/>
          </a:solidFill>
          <a:ln w="12700">
            <a:solidFill>
              <a:srgbClr val="DDE0F0"/>
            </a:solidFill>
            <a:prstDash val="solid"/>
          </a:ln>
          <a:effectLst>
            <a:outerShdw blurRad="76200" dist="25400" dir="8100000" algn="bl" rotWithShape="0">
              <a:srgbClr val="000000">
                <a:alpha val="10000"/>
              </a:srgbClr>
            </a:outerShdw>
          </a:effectLst>
        </p:spPr>
        <p:txBody>
          <a:bodyPr/>
          <a:lstStyle/>
          <a:p>
            <a:endParaRPr lang="en-US"/>
          </a:p>
        </p:txBody>
      </p:sp>
      <p:sp>
        <p:nvSpPr>
          <p:cNvPr id="21" name="Shape 19"/>
          <p:cNvSpPr/>
          <p:nvPr/>
        </p:nvSpPr>
        <p:spPr>
          <a:xfrm>
            <a:off x="365760" y="3767328"/>
            <a:ext cx="64008" cy="1280160"/>
          </a:xfrm>
          <a:prstGeom prst="rect">
            <a:avLst/>
          </a:prstGeom>
          <a:solidFill>
            <a:srgbClr val="6D2E46"/>
          </a:solidFill>
          <a:ln w="12700">
            <a:solidFill>
              <a:srgbClr val="6D2E46"/>
            </a:solidFill>
            <a:prstDash val="solid"/>
          </a:ln>
        </p:spPr>
        <p:txBody>
          <a:bodyPr/>
          <a:lstStyle/>
          <a:p>
            <a:endParaRPr lang="en-US"/>
          </a:p>
        </p:txBody>
      </p:sp>
      <p:sp>
        <p:nvSpPr>
          <p:cNvPr id="22" name="Text 20"/>
          <p:cNvSpPr/>
          <p:nvPr/>
        </p:nvSpPr>
        <p:spPr>
          <a:xfrm>
            <a:off x="512064" y="3840480"/>
            <a:ext cx="3867912" cy="347472"/>
          </a:xfrm>
          <a:prstGeom prst="rect">
            <a:avLst/>
          </a:prstGeom>
          <a:noFill/>
          <a:ln/>
        </p:spPr>
        <p:txBody>
          <a:bodyPr wrap="square" lIns="0" tIns="0" rIns="0" bIns="0" rtlCol="0" anchor="ctr"/>
          <a:lstStyle/>
          <a:p>
            <a:pPr marL="0" indent="0">
              <a:buNone/>
            </a:pPr>
            <a:r>
              <a:rPr lang="en-US" sz="1300" b="1" dirty="0">
                <a:solidFill>
                  <a:srgbClr val="6D2E46"/>
                </a:solidFill>
                <a:latin typeface="Georgia" pitchFamily="34" charset="0"/>
                <a:ea typeface="Georgia" pitchFamily="34" charset="-122"/>
                <a:cs typeface="Georgia" pitchFamily="34" charset="-120"/>
              </a:rPr>
              <a:t>5. Absence of Multicollinearity Among DVs</a:t>
            </a:r>
            <a:endParaRPr lang="en-US" sz="1300" dirty="0"/>
          </a:p>
        </p:txBody>
      </p:sp>
      <p:sp>
        <p:nvSpPr>
          <p:cNvPr id="23" name="Text 21"/>
          <p:cNvSpPr/>
          <p:nvPr/>
        </p:nvSpPr>
        <p:spPr>
          <a:xfrm>
            <a:off x="512064" y="4206240"/>
            <a:ext cx="3867912" cy="749808"/>
          </a:xfrm>
          <a:prstGeom prst="rect">
            <a:avLst/>
          </a:prstGeom>
          <a:noFill/>
          <a:ln/>
        </p:spPr>
        <p:txBody>
          <a:bodyPr wrap="square" lIns="0" tIns="0" rIns="0" bIns="0" rtlCol="0" anchor="t"/>
          <a:lstStyle/>
          <a:p>
            <a:pPr marL="0" indent="0">
              <a:buNone/>
            </a:pPr>
            <a:r>
              <a:rPr lang="en-US" sz="1150" dirty="0">
                <a:solidFill>
                  <a:srgbClr val="1A1A2E"/>
                </a:solidFill>
                <a:latin typeface="Calibri" pitchFamily="34" charset="0"/>
                <a:ea typeface="Calibri" pitchFamily="34" charset="-122"/>
                <a:cs typeface="Calibri" pitchFamily="34" charset="-120"/>
              </a:rPr>
              <a:t>DVs should be correlated (that's the point) but not redundant (r&gt;.90). Redundant DVs add noise without information. Check determinant of R matrix: should be &gt;0.001.</a:t>
            </a:r>
            <a:endParaRPr lang="en-US" sz="1150" dirty="0"/>
          </a:p>
        </p:txBody>
      </p:sp>
      <p:sp>
        <p:nvSpPr>
          <p:cNvPr id="24" name="Shape 22"/>
          <p:cNvSpPr/>
          <p:nvPr/>
        </p:nvSpPr>
        <p:spPr>
          <a:xfrm>
            <a:off x="4617720" y="3767328"/>
            <a:ext cx="4069080" cy="1280160"/>
          </a:xfrm>
          <a:prstGeom prst="rect">
            <a:avLst/>
          </a:prstGeom>
          <a:solidFill>
            <a:srgbClr val="FFFFFF"/>
          </a:solidFill>
          <a:ln w="12700">
            <a:solidFill>
              <a:srgbClr val="DDE0F0"/>
            </a:solidFill>
            <a:prstDash val="solid"/>
          </a:ln>
          <a:effectLst>
            <a:outerShdw blurRad="76200" dist="25400" dir="8100000" algn="bl" rotWithShape="0">
              <a:srgbClr val="000000">
                <a:alpha val="10000"/>
              </a:srgbClr>
            </a:outerShdw>
          </a:effectLst>
        </p:spPr>
        <p:txBody>
          <a:bodyPr/>
          <a:lstStyle/>
          <a:p>
            <a:endParaRPr lang="en-US"/>
          </a:p>
        </p:txBody>
      </p:sp>
      <p:sp>
        <p:nvSpPr>
          <p:cNvPr id="25" name="Shape 23"/>
          <p:cNvSpPr/>
          <p:nvPr/>
        </p:nvSpPr>
        <p:spPr>
          <a:xfrm>
            <a:off x="4617720" y="3767328"/>
            <a:ext cx="64008" cy="1280160"/>
          </a:xfrm>
          <a:prstGeom prst="rect">
            <a:avLst/>
          </a:prstGeom>
          <a:solidFill>
            <a:srgbClr val="2E8B72"/>
          </a:solidFill>
          <a:ln w="12700">
            <a:solidFill>
              <a:srgbClr val="2E8B72"/>
            </a:solidFill>
            <a:prstDash val="solid"/>
          </a:ln>
        </p:spPr>
        <p:txBody>
          <a:bodyPr/>
          <a:lstStyle/>
          <a:p>
            <a:endParaRPr lang="en-US"/>
          </a:p>
        </p:txBody>
      </p:sp>
      <p:sp>
        <p:nvSpPr>
          <p:cNvPr id="26" name="Text 24"/>
          <p:cNvSpPr/>
          <p:nvPr/>
        </p:nvSpPr>
        <p:spPr>
          <a:xfrm>
            <a:off x="4764024" y="3840480"/>
            <a:ext cx="3867912" cy="347472"/>
          </a:xfrm>
          <a:prstGeom prst="rect">
            <a:avLst/>
          </a:prstGeom>
          <a:noFill/>
          <a:ln/>
        </p:spPr>
        <p:txBody>
          <a:bodyPr wrap="square" lIns="0" tIns="0" rIns="0" bIns="0" rtlCol="0" anchor="ctr"/>
          <a:lstStyle/>
          <a:p>
            <a:pPr marL="0" indent="0">
              <a:buNone/>
            </a:pPr>
            <a:r>
              <a:rPr lang="en-US" sz="1300" b="1" dirty="0">
                <a:solidFill>
                  <a:srgbClr val="2E8B72"/>
                </a:solidFill>
                <a:latin typeface="Georgia" pitchFamily="34" charset="0"/>
                <a:ea typeface="Georgia" pitchFamily="34" charset="-122"/>
                <a:cs typeface="Georgia" pitchFamily="34" charset="-120"/>
              </a:rPr>
              <a:t>6. Adequate Sample Size</a:t>
            </a:r>
            <a:endParaRPr lang="en-US" sz="1300" dirty="0"/>
          </a:p>
        </p:txBody>
      </p:sp>
      <p:sp>
        <p:nvSpPr>
          <p:cNvPr id="27" name="Text 25"/>
          <p:cNvSpPr/>
          <p:nvPr/>
        </p:nvSpPr>
        <p:spPr>
          <a:xfrm>
            <a:off x="4764024" y="4206240"/>
            <a:ext cx="3867912" cy="749808"/>
          </a:xfrm>
          <a:prstGeom prst="rect">
            <a:avLst/>
          </a:prstGeom>
          <a:noFill/>
          <a:ln/>
        </p:spPr>
        <p:txBody>
          <a:bodyPr wrap="square" lIns="0" tIns="0" rIns="0" bIns="0" rtlCol="0" anchor="t"/>
          <a:lstStyle/>
          <a:p>
            <a:pPr marL="0" indent="0">
              <a:buNone/>
            </a:pPr>
            <a:r>
              <a:rPr lang="en-US" sz="1150" dirty="0">
                <a:solidFill>
                  <a:srgbClr val="1A1A2E"/>
                </a:solidFill>
                <a:latin typeface="Calibri" pitchFamily="34" charset="0"/>
                <a:ea typeface="Calibri" pitchFamily="34" charset="-122"/>
                <a:cs typeface="Calibri" pitchFamily="34" charset="-120"/>
              </a:rPr>
              <a:t>N per cell &gt; number of DVs; recommend n≥20 per cell. Overall N≥200 for SEM. Factor analysis: N≥300 or 10–20 subjects per variable. Power increases with group separation and fewer DVs.</a:t>
            </a:r>
            <a:endParaRPr lang="en-US" sz="115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8A838"/>
          </a:solidFill>
          <a:ln w="12700">
            <a:solidFill>
              <a:srgbClr val="E8A838"/>
            </a:solidFill>
            <a:prstDash val="solid"/>
          </a:ln>
        </p:spPr>
        <p:txBody>
          <a:bodyPr/>
          <a:lstStyle/>
          <a:p>
            <a:endParaRPr lang="en-US"/>
          </a:p>
        </p:txBody>
      </p:sp>
      <p:sp>
        <p:nvSpPr>
          <p:cNvPr id="3" name="Text 1"/>
          <p:cNvSpPr/>
          <p:nvPr/>
        </p:nvSpPr>
        <p:spPr>
          <a:xfrm>
            <a:off x="411480" y="164592"/>
            <a:ext cx="8321040" cy="640080"/>
          </a:xfrm>
          <a:prstGeom prst="rect">
            <a:avLst/>
          </a:prstGeom>
          <a:noFill/>
          <a:ln/>
        </p:spPr>
        <p:txBody>
          <a:bodyPr wrap="square" lIns="0" tIns="0" rIns="0" bIns="0" rtlCol="0" anchor="ctr"/>
          <a:lstStyle/>
          <a:p>
            <a:pPr marL="0" indent="0">
              <a:buNone/>
            </a:pPr>
            <a:r>
              <a:rPr lang="en-US" sz="2800" b="1" dirty="0">
                <a:solidFill>
                  <a:srgbClr val="065A82"/>
                </a:solidFill>
                <a:latin typeface="Cambria" pitchFamily="34" charset="0"/>
                <a:ea typeface="Cambria" pitchFamily="34" charset="-122"/>
                <a:cs typeface="Cambria" pitchFamily="34" charset="-120"/>
              </a:rPr>
              <a:t>Assumption 1: Normality</a:t>
            </a:r>
            <a:endParaRPr lang="en-US" sz="2800" dirty="0"/>
          </a:p>
        </p:txBody>
      </p:sp>
      <p:sp>
        <p:nvSpPr>
          <p:cNvPr id="4" name="Shape 2"/>
          <p:cNvSpPr/>
          <p:nvPr/>
        </p:nvSpPr>
        <p:spPr>
          <a:xfrm>
            <a:off x="411480" y="960120"/>
            <a:ext cx="3977640" cy="3977640"/>
          </a:xfrm>
          <a:prstGeom prst="rect">
            <a:avLst/>
          </a:prstGeom>
          <a:solidFill>
            <a:srgbClr val="FFFFFF"/>
          </a:solidFill>
          <a:ln w="12700">
            <a:solidFill>
              <a:srgbClr val="D6E4EC"/>
            </a:solidFill>
            <a:prstDash val="solid"/>
          </a:ln>
          <a:effectLst>
            <a:outerShdw blurRad="76200" dist="25400" dir="8100000" algn="bl" rotWithShape="0">
              <a:srgbClr val="000000">
                <a:alpha val="10000"/>
              </a:srgbClr>
            </a:outerShdw>
          </a:effectLst>
        </p:spPr>
        <p:txBody>
          <a:bodyPr/>
          <a:lstStyle/>
          <a:p>
            <a:endParaRPr lang="en-US"/>
          </a:p>
        </p:txBody>
      </p:sp>
      <p:sp>
        <p:nvSpPr>
          <p:cNvPr id="5" name="Shape 3"/>
          <p:cNvSpPr/>
          <p:nvPr/>
        </p:nvSpPr>
        <p:spPr>
          <a:xfrm>
            <a:off x="411480" y="960120"/>
            <a:ext cx="64008" cy="3977640"/>
          </a:xfrm>
          <a:prstGeom prst="rect">
            <a:avLst/>
          </a:prstGeom>
          <a:solidFill>
            <a:srgbClr val="065A82"/>
          </a:solidFill>
          <a:ln w="12700">
            <a:solidFill>
              <a:srgbClr val="065A82"/>
            </a:solidFill>
            <a:prstDash val="solid"/>
          </a:ln>
        </p:spPr>
        <p:txBody>
          <a:bodyPr/>
          <a:lstStyle/>
          <a:p>
            <a:endParaRPr lang="en-US"/>
          </a:p>
        </p:txBody>
      </p:sp>
      <p:sp>
        <p:nvSpPr>
          <p:cNvPr id="6" name="Text 4"/>
          <p:cNvSpPr/>
          <p:nvPr/>
        </p:nvSpPr>
        <p:spPr>
          <a:xfrm>
            <a:off x="548640" y="1033272"/>
            <a:ext cx="3794760" cy="347472"/>
          </a:xfrm>
          <a:prstGeom prst="rect">
            <a:avLst/>
          </a:prstGeom>
          <a:noFill/>
          <a:ln/>
        </p:spPr>
        <p:txBody>
          <a:bodyPr wrap="square" lIns="0" tIns="0" rIns="0" bIns="0" rtlCol="0" anchor="ctr"/>
          <a:lstStyle/>
          <a:p>
            <a:pPr marL="0" indent="0">
              <a:buNone/>
            </a:pPr>
            <a:r>
              <a:rPr lang="en-US" sz="1300" b="1" dirty="0">
                <a:solidFill>
                  <a:srgbClr val="065A82"/>
                </a:solidFill>
                <a:latin typeface="Cambria" pitchFamily="34" charset="0"/>
                <a:ea typeface="Cambria" pitchFamily="34" charset="-122"/>
                <a:cs typeface="Cambria" pitchFamily="34" charset="-120"/>
              </a:rPr>
              <a:t>What It Means</a:t>
            </a:r>
            <a:endParaRPr lang="en-US" sz="1300" dirty="0"/>
          </a:p>
        </p:txBody>
      </p:sp>
      <p:sp>
        <p:nvSpPr>
          <p:cNvPr id="7" name="Text 5"/>
          <p:cNvSpPr/>
          <p:nvPr/>
        </p:nvSpPr>
        <p:spPr>
          <a:xfrm>
            <a:off x="548640" y="1371600"/>
            <a:ext cx="3794760" cy="3474720"/>
          </a:xfrm>
          <a:prstGeom prst="rect">
            <a:avLst/>
          </a:prstGeom>
          <a:noFill/>
          <a:ln/>
        </p:spPr>
        <p:txBody>
          <a:bodyPr wrap="square" lIns="0" tIns="0" rIns="0" bIns="0" rtlCol="0" anchor="t"/>
          <a:lstStyle/>
          <a:p>
            <a:pPr marL="0" indent="0">
              <a:buNone/>
            </a:pPr>
            <a:r>
              <a:rPr lang="en-US" sz="1200" dirty="0">
                <a:solidFill>
                  <a:srgbClr val="1A2D3D"/>
                </a:solidFill>
                <a:latin typeface="Calibri" pitchFamily="34" charset="0"/>
                <a:ea typeface="Calibri" pitchFamily="34" charset="-122"/>
                <a:cs typeface="Calibri" pitchFamily="34" charset="-120"/>
              </a:rPr>
              <a:t>Each variable (and the combination of variables — multivariate normality) should be approximately normally distributed in the population.</a:t>
            </a:r>
            <a:endParaRPr lang="en-US" sz="1200" dirty="0"/>
          </a:p>
          <a:p>
            <a:pPr marL="0" indent="0">
              <a:buNone/>
            </a:pPr>
            <a:endParaRPr lang="en-US" sz="1200" dirty="0"/>
          </a:p>
          <a:p>
            <a:pPr marL="0" indent="0">
              <a:buNone/>
            </a:pPr>
            <a:r>
              <a:rPr lang="en-US" sz="1200" dirty="0">
                <a:solidFill>
                  <a:srgbClr val="1A2D3D"/>
                </a:solidFill>
                <a:latin typeface="Calibri" pitchFamily="34" charset="0"/>
                <a:ea typeface="Calibri" pitchFamily="34" charset="-122"/>
                <a:cs typeface="Calibri" pitchFamily="34" charset="-120"/>
              </a:rPr>
              <a:t>For large samples (n &gt; 200), the Central Limit Theorem mitigates violations.</a:t>
            </a:r>
            <a:endParaRPr lang="en-US" sz="1200" dirty="0"/>
          </a:p>
        </p:txBody>
      </p:sp>
      <p:sp>
        <p:nvSpPr>
          <p:cNvPr id="8" name="Shape 6"/>
          <p:cNvSpPr/>
          <p:nvPr/>
        </p:nvSpPr>
        <p:spPr>
          <a:xfrm>
            <a:off x="4754880" y="960120"/>
            <a:ext cx="3977640" cy="1874520"/>
          </a:xfrm>
          <a:prstGeom prst="rect">
            <a:avLst/>
          </a:prstGeom>
          <a:solidFill>
            <a:srgbClr val="FFFFFF"/>
          </a:solidFill>
          <a:ln w="12700">
            <a:solidFill>
              <a:srgbClr val="D6E4EC"/>
            </a:solidFill>
            <a:prstDash val="solid"/>
          </a:ln>
          <a:effectLst>
            <a:outerShdw blurRad="76200" dist="25400" dir="8100000" algn="bl" rotWithShape="0">
              <a:srgbClr val="000000">
                <a:alpha val="10000"/>
              </a:srgbClr>
            </a:outerShdw>
          </a:effectLst>
        </p:spPr>
        <p:txBody>
          <a:bodyPr/>
          <a:lstStyle/>
          <a:p>
            <a:endParaRPr lang="en-US"/>
          </a:p>
        </p:txBody>
      </p:sp>
      <p:sp>
        <p:nvSpPr>
          <p:cNvPr id="9" name="Shape 7"/>
          <p:cNvSpPr/>
          <p:nvPr/>
        </p:nvSpPr>
        <p:spPr>
          <a:xfrm>
            <a:off x="4754880" y="960120"/>
            <a:ext cx="64008" cy="1874520"/>
          </a:xfrm>
          <a:prstGeom prst="rect">
            <a:avLst/>
          </a:prstGeom>
          <a:solidFill>
            <a:srgbClr val="1C7293"/>
          </a:solidFill>
          <a:ln w="12700">
            <a:solidFill>
              <a:srgbClr val="1C7293"/>
            </a:solidFill>
            <a:prstDash val="solid"/>
          </a:ln>
        </p:spPr>
        <p:txBody>
          <a:bodyPr/>
          <a:lstStyle/>
          <a:p>
            <a:endParaRPr lang="en-US"/>
          </a:p>
        </p:txBody>
      </p:sp>
      <p:sp>
        <p:nvSpPr>
          <p:cNvPr id="10" name="Text 8"/>
          <p:cNvSpPr/>
          <p:nvPr/>
        </p:nvSpPr>
        <p:spPr>
          <a:xfrm>
            <a:off x="4892040" y="1033272"/>
            <a:ext cx="3794760" cy="347472"/>
          </a:xfrm>
          <a:prstGeom prst="rect">
            <a:avLst/>
          </a:prstGeom>
          <a:noFill/>
          <a:ln/>
        </p:spPr>
        <p:txBody>
          <a:bodyPr wrap="square" lIns="0" tIns="0" rIns="0" bIns="0" rtlCol="0" anchor="ctr"/>
          <a:lstStyle/>
          <a:p>
            <a:pPr marL="0" indent="0">
              <a:buNone/>
            </a:pPr>
            <a:r>
              <a:rPr lang="en-US" sz="1300" b="1" dirty="0">
                <a:solidFill>
                  <a:srgbClr val="1C7293"/>
                </a:solidFill>
                <a:latin typeface="Cambria" pitchFamily="34" charset="0"/>
                <a:ea typeface="Cambria" pitchFamily="34" charset="-122"/>
                <a:cs typeface="Cambria" pitchFamily="34" charset="-120"/>
              </a:rPr>
              <a:t>How to Check</a:t>
            </a:r>
            <a:endParaRPr lang="en-US" sz="1300" dirty="0"/>
          </a:p>
        </p:txBody>
      </p:sp>
      <p:sp>
        <p:nvSpPr>
          <p:cNvPr id="11" name="Text 9"/>
          <p:cNvSpPr/>
          <p:nvPr/>
        </p:nvSpPr>
        <p:spPr>
          <a:xfrm>
            <a:off x="4892040" y="1371600"/>
            <a:ext cx="3794760" cy="1371600"/>
          </a:xfrm>
          <a:prstGeom prst="rect">
            <a:avLst/>
          </a:prstGeom>
          <a:noFill/>
          <a:ln/>
        </p:spPr>
        <p:txBody>
          <a:bodyPr wrap="square" lIns="0" tIns="0" rIns="0" bIns="0" rtlCol="0" anchor="t"/>
          <a:lstStyle/>
          <a:p>
            <a:pPr marL="0" indent="0">
              <a:buNone/>
            </a:pPr>
            <a:r>
              <a:rPr lang="en-US" sz="1200" dirty="0">
                <a:solidFill>
                  <a:srgbClr val="1A2D3D"/>
                </a:solidFill>
                <a:latin typeface="Calibri" pitchFamily="34" charset="0"/>
                <a:ea typeface="Calibri" pitchFamily="34" charset="-122"/>
                <a:cs typeface="Calibri" pitchFamily="34" charset="-120"/>
              </a:rPr>
              <a:t>• Histogram &amp; Q-Q plots</a:t>
            </a:r>
            <a:endParaRPr lang="en-US" sz="1200" dirty="0"/>
          </a:p>
          <a:p>
            <a:pPr marL="0" indent="0">
              <a:buNone/>
            </a:pPr>
            <a:r>
              <a:rPr lang="en-US" sz="1200" dirty="0">
                <a:solidFill>
                  <a:srgbClr val="1A2D3D"/>
                </a:solidFill>
                <a:latin typeface="Calibri" pitchFamily="34" charset="0"/>
                <a:ea typeface="Calibri" pitchFamily="34" charset="-122"/>
                <a:cs typeface="Calibri" pitchFamily="34" charset="-120"/>
              </a:rPr>
              <a:t>• Skewness &amp; kurtosis (|z| &gt; 3.29 = p&lt;.001)</a:t>
            </a:r>
            <a:endParaRPr lang="en-US" sz="1200" dirty="0"/>
          </a:p>
          <a:p>
            <a:pPr marL="0" indent="0">
              <a:buNone/>
            </a:pPr>
            <a:r>
              <a:rPr lang="en-US" sz="1200" dirty="0">
                <a:solidFill>
                  <a:srgbClr val="1A2D3D"/>
                </a:solidFill>
                <a:latin typeface="Calibri" pitchFamily="34" charset="0"/>
                <a:ea typeface="Calibri" pitchFamily="34" charset="-122"/>
                <a:cs typeface="Calibri" pitchFamily="34" charset="-120"/>
              </a:rPr>
              <a:t>• Shapiro-Wilk test (small n)</a:t>
            </a:r>
            <a:endParaRPr lang="en-US" sz="1200" dirty="0"/>
          </a:p>
          <a:p>
            <a:pPr marL="0" indent="0">
              <a:buNone/>
            </a:pPr>
            <a:r>
              <a:rPr lang="en-US" sz="1200" dirty="0">
                <a:solidFill>
                  <a:srgbClr val="1A2D3D"/>
                </a:solidFill>
                <a:latin typeface="Calibri" pitchFamily="34" charset="0"/>
                <a:ea typeface="Calibri" pitchFamily="34" charset="-122"/>
                <a:cs typeface="Calibri" pitchFamily="34" charset="-120"/>
              </a:rPr>
              <a:t>• Mardia's test (multivariate)</a:t>
            </a:r>
            <a:endParaRPr lang="en-US" sz="1200" dirty="0"/>
          </a:p>
        </p:txBody>
      </p:sp>
      <p:sp>
        <p:nvSpPr>
          <p:cNvPr id="12" name="Shape 10"/>
          <p:cNvSpPr/>
          <p:nvPr/>
        </p:nvSpPr>
        <p:spPr>
          <a:xfrm>
            <a:off x="4754880" y="2926080"/>
            <a:ext cx="3977640" cy="2011680"/>
          </a:xfrm>
          <a:prstGeom prst="rect">
            <a:avLst/>
          </a:prstGeom>
          <a:solidFill>
            <a:srgbClr val="FFFFFF"/>
          </a:solidFill>
          <a:ln w="12700">
            <a:solidFill>
              <a:srgbClr val="D6E4EC"/>
            </a:solidFill>
            <a:prstDash val="solid"/>
          </a:ln>
          <a:effectLst>
            <a:outerShdw blurRad="76200" dist="25400" dir="8100000" algn="bl" rotWithShape="0">
              <a:srgbClr val="000000">
                <a:alpha val="10000"/>
              </a:srgbClr>
            </a:outerShdw>
          </a:effectLst>
        </p:spPr>
        <p:txBody>
          <a:bodyPr/>
          <a:lstStyle/>
          <a:p>
            <a:endParaRPr lang="en-US"/>
          </a:p>
        </p:txBody>
      </p:sp>
      <p:sp>
        <p:nvSpPr>
          <p:cNvPr id="13" name="Shape 11"/>
          <p:cNvSpPr/>
          <p:nvPr/>
        </p:nvSpPr>
        <p:spPr>
          <a:xfrm>
            <a:off x="4754880" y="2926080"/>
            <a:ext cx="64008" cy="2011680"/>
          </a:xfrm>
          <a:prstGeom prst="rect">
            <a:avLst/>
          </a:prstGeom>
          <a:solidFill>
            <a:srgbClr val="E8A838"/>
          </a:solidFill>
          <a:ln w="12700">
            <a:solidFill>
              <a:srgbClr val="E8A838"/>
            </a:solidFill>
            <a:prstDash val="solid"/>
          </a:ln>
        </p:spPr>
        <p:txBody>
          <a:bodyPr/>
          <a:lstStyle/>
          <a:p>
            <a:endParaRPr lang="en-US"/>
          </a:p>
        </p:txBody>
      </p:sp>
      <p:sp>
        <p:nvSpPr>
          <p:cNvPr id="14" name="Text 12"/>
          <p:cNvSpPr/>
          <p:nvPr/>
        </p:nvSpPr>
        <p:spPr>
          <a:xfrm>
            <a:off x="4892040" y="2999232"/>
            <a:ext cx="3794760" cy="347472"/>
          </a:xfrm>
          <a:prstGeom prst="rect">
            <a:avLst/>
          </a:prstGeom>
          <a:noFill/>
          <a:ln/>
        </p:spPr>
        <p:txBody>
          <a:bodyPr wrap="square" lIns="0" tIns="0" rIns="0" bIns="0" rtlCol="0" anchor="ctr"/>
          <a:lstStyle/>
          <a:p>
            <a:pPr marL="0" indent="0">
              <a:buNone/>
            </a:pPr>
            <a:r>
              <a:rPr lang="en-US" sz="1300" b="1" dirty="0">
                <a:solidFill>
                  <a:srgbClr val="E8A838"/>
                </a:solidFill>
                <a:latin typeface="Cambria" pitchFamily="34" charset="0"/>
                <a:ea typeface="Cambria" pitchFamily="34" charset="-122"/>
                <a:cs typeface="Cambria" pitchFamily="34" charset="-120"/>
              </a:rPr>
              <a:t>Remedies</a:t>
            </a:r>
            <a:endParaRPr lang="en-US" sz="1300" dirty="0"/>
          </a:p>
        </p:txBody>
      </p:sp>
      <p:sp>
        <p:nvSpPr>
          <p:cNvPr id="15" name="Text 13"/>
          <p:cNvSpPr/>
          <p:nvPr/>
        </p:nvSpPr>
        <p:spPr>
          <a:xfrm>
            <a:off x="4892040" y="3337560"/>
            <a:ext cx="3794760" cy="1508760"/>
          </a:xfrm>
          <a:prstGeom prst="rect">
            <a:avLst/>
          </a:prstGeom>
          <a:noFill/>
          <a:ln/>
        </p:spPr>
        <p:txBody>
          <a:bodyPr wrap="square" lIns="0" tIns="0" rIns="0" bIns="0" rtlCol="0" anchor="t"/>
          <a:lstStyle/>
          <a:p>
            <a:pPr marL="0" indent="0">
              <a:buNone/>
            </a:pPr>
            <a:r>
              <a:rPr lang="en-US" sz="1200" dirty="0">
                <a:solidFill>
                  <a:srgbClr val="1A2D3D"/>
                </a:solidFill>
                <a:latin typeface="Calibri" pitchFamily="34" charset="0"/>
                <a:ea typeface="Calibri" pitchFamily="34" charset="-122"/>
                <a:cs typeface="Calibri" pitchFamily="34" charset="-120"/>
              </a:rPr>
              <a:t>• Log, square root, inverse transformations</a:t>
            </a:r>
            <a:endParaRPr lang="en-US" sz="1200" dirty="0"/>
          </a:p>
          <a:p>
            <a:pPr marL="0" indent="0">
              <a:buNone/>
            </a:pPr>
            <a:r>
              <a:rPr lang="en-US" sz="1200" dirty="0">
                <a:solidFill>
                  <a:srgbClr val="1A2D3D"/>
                </a:solidFill>
                <a:latin typeface="Calibri" pitchFamily="34" charset="0"/>
                <a:ea typeface="Calibri" pitchFamily="34" charset="-122"/>
                <a:cs typeface="Calibri" pitchFamily="34" charset="-120"/>
              </a:rPr>
              <a:t>• Winsorise extreme values</a:t>
            </a:r>
            <a:endParaRPr lang="en-US" sz="1200" dirty="0"/>
          </a:p>
          <a:p>
            <a:pPr marL="0" indent="0">
              <a:buNone/>
            </a:pPr>
            <a:r>
              <a:rPr lang="en-US" sz="1200" dirty="0">
                <a:solidFill>
                  <a:srgbClr val="1A2D3D"/>
                </a:solidFill>
                <a:latin typeface="Calibri" pitchFamily="34" charset="0"/>
                <a:ea typeface="Calibri" pitchFamily="34" charset="-122"/>
                <a:cs typeface="Calibri" pitchFamily="34" charset="-120"/>
              </a:rPr>
              <a:t>• Use robust or nonparametric alternatives</a:t>
            </a:r>
            <a:endParaRPr lang="en-US" sz="1200" dirty="0"/>
          </a:p>
          <a:p>
            <a:pPr marL="0" indent="0">
              <a:buNone/>
            </a:pPr>
            <a:r>
              <a:rPr lang="en-US" sz="1200" dirty="0">
                <a:solidFill>
                  <a:srgbClr val="1A2D3D"/>
                </a:solidFill>
                <a:latin typeface="Calibri" pitchFamily="34" charset="0"/>
                <a:ea typeface="Calibri" pitchFamily="34" charset="-122"/>
                <a:cs typeface="Calibri" pitchFamily="34" charset="-120"/>
              </a:rPr>
              <a:t>• Report sensitivity analyses</a:t>
            </a:r>
            <a:endParaRPr lang="en-US" sz="12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8A838"/>
          </a:solidFill>
          <a:ln w="12700">
            <a:solidFill>
              <a:srgbClr val="E8A838"/>
            </a:solidFill>
            <a:prstDash val="solid"/>
          </a:ln>
        </p:spPr>
        <p:txBody>
          <a:bodyPr/>
          <a:lstStyle/>
          <a:p>
            <a:endParaRPr lang="en-US"/>
          </a:p>
        </p:txBody>
      </p:sp>
      <p:sp>
        <p:nvSpPr>
          <p:cNvPr id="3" name="Text 1"/>
          <p:cNvSpPr/>
          <p:nvPr/>
        </p:nvSpPr>
        <p:spPr>
          <a:xfrm>
            <a:off x="411480" y="164592"/>
            <a:ext cx="8321040" cy="640080"/>
          </a:xfrm>
          <a:prstGeom prst="rect">
            <a:avLst/>
          </a:prstGeom>
          <a:noFill/>
          <a:ln/>
        </p:spPr>
        <p:txBody>
          <a:bodyPr wrap="square" lIns="0" tIns="0" rIns="0" bIns="0" rtlCol="0" anchor="ctr"/>
          <a:lstStyle/>
          <a:p>
            <a:pPr marL="0" indent="0">
              <a:buNone/>
            </a:pPr>
            <a:r>
              <a:rPr lang="en-US" sz="2800" b="1" dirty="0">
                <a:solidFill>
                  <a:srgbClr val="065A82"/>
                </a:solidFill>
                <a:latin typeface="Cambria" pitchFamily="34" charset="0"/>
                <a:ea typeface="Cambria" pitchFamily="34" charset="-122"/>
                <a:cs typeface="Cambria" pitchFamily="34" charset="-120"/>
              </a:rPr>
              <a:t>Assumptions 2 &amp; 3: Linearity &amp; Homoscedasticity</a:t>
            </a:r>
            <a:endParaRPr lang="en-US" sz="2800" dirty="0"/>
          </a:p>
        </p:txBody>
      </p:sp>
      <p:sp>
        <p:nvSpPr>
          <p:cNvPr id="4" name="Shape 2"/>
          <p:cNvSpPr/>
          <p:nvPr/>
        </p:nvSpPr>
        <p:spPr>
          <a:xfrm>
            <a:off x="411480" y="960120"/>
            <a:ext cx="4069080" cy="1920240"/>
          </a:xfrm>
          <a:prstGeom prst="rect">
            <a:avLst/>
          </a:prstGeom>
          <a:solidFill>
            <a:srgbClr val="FFFFFF"/>
          </a:solidFill>
          <a:ln w="12700">
            <a:solidFill>
              <a:srgbClr val="D6E4EC"/>
            </a:solidFill>
            <a:prstDash val="solid"/>
          </a:ln>
          <a:effectLst>
            <a:outerShdw blurRad="76200" dist="25400" dir="8100000" algn="bl" rotWithShape="0">
              <a:srgbClr val="000000">
                <a:alpha val="10000"/>
              </a:srgbClr>
            </a:outerShdw>
          </a:effectLst>
        </p:spPr>
        <p:txBody>
          <a:bodyPr/>
          <a:lstStyle/>
          <a:p>
            <a:endParaRPr lang="en-US"/>
          </a:p>
        </p:txBody>
      </p:sp>
      <p:sp>
        <p:nvSpPr>
          <p:cNvPr id="5" name="Shape 3"/>
          <p:cNvSpPr/>
          <p:nvPr/>
        </p:nvSpPr>
        <p:spPr>
          <a:xfrm>
            <a:off x="411480" y="960120"/>
            <a:ext cx="64008" cy="1920240"/>
          </a:xfrm>
          <a:prstGeom prst="rect">
            <a:avLst/>
          </a:prstGeom>
          <a:solidFill>
            <a:srgbClr val="065A82"/>
          </a:solidFill>
          <a:ln w="12700">
            <a:solidFill>
              <a:srgbClr val="065A82"/>
            </a:solidFill>
            <a:prstDash val="solid"/>
          </a:ln>
        </p:spPr>
        <p:txBody>
          <a:bodyPr/>
          <a:lstStyle/>
          <a:p>
            <a:endParaRPr lang="en-US"/>
          </a:p>
        </p:txBody>
      </p:sp>
      <p:sp>
        <p:nvSpPr>
          <p:cNvPr id="6" name="Text 4"/>
          <p:cNvSpPr/>
          <p:nvPr/>
        </p:nvSpPr>
        <p:spPr>
          <a:xfrm>
            <a:off x="548640" y="1033272"/>
            <a:ext cx="3886200" cy="347472"/>
          </a:xfrm>
          <a:prstGeom prst="rect">
            <a:avLst/>
          </a:prstGeom>
          <a:noFill/>
          <a:ln/>
        </p:spPr>
        <p:txBody>
          <a:bodyPr wrap="square" lIns="0" tIns="0" rIns="0" bIns="0" rtlCol="0" anchor="ctr"/>
          <a:lstStyle/>
          <a:p>
            <a:pPr marL="0" indent="0">
              <a:buNone/>
            </a:pPr>
            <a:r>
              <a:rPr lang="en-US" sz="1300" b="1" dirty="0">
                <a:solidFill>
                  <a:srgbClr val="065A82"/>
                </a:solidFill>
                <a:latin typeface="Cambria" pitchFamily="34" charset="0"/>
                <a:ea typeface="Cambria" pitchFamily="34" charset="-122"/>
                <a:cs typeface="Cambria" pitchFamily="34" charset="-120"/>
              </a:rPr>
              <a:t>Linearity</a:t>
            </a:r>
            <a:endParaRPr lang="en-US" sz="1300" dirty="0"/>
          </a:p>
        </p:txBody>
      </p:sp>
      <p:sp>
        <p:nvSpPr>
          <p:cNvPr id="7" name="Text 5"/>
          <p:cNvSpPr/>
          <p:nvPr/>
        </p:nvSpPr>
        <p:spPr>
          <a:xfrm>
            <a:off x="548640" y="1371600"/>
            <a:ext cx="3886200" cy="1417320"/>
          </a:xfrm>
          <a:prstGeom prst="rect">
            <a:avLst/>
          </a:prstGeom>
          <a:noFill/>
          <a:ln/>
        </p:spPr>
        <p:txBody>
          <a:bodyPr wrap="square" lIns="0" tIns="0" rIns="0" bIns="0" rtlCol="0" anchor="t"/>
          <a:lstStyle/>
          <a:p>
            <a:pPr marL="0" indent="0">
              <a:buNone/>
            </a:pPr>
            <a:r>
              <a:rPr lang="en-US" sz="1200" dirty="0">
                <a:solidFill>
                  <a:srgbClr val="1A2D3D"/>
                </a:solidFill>
                <a:latin typeface="Calibri" pitchFamily="34" charset="0"/>
                <a:ea typeface="Calibri" pitchFamily="34" charset="-122"/>
                <a:cs typeface="Calibri" pitchFamily="34" charset="-120"/>
              </a:rPr>
              <a:t>Multivariate methods assume linear relationships among all pairs of variables.</a:t>
            </a:r>
            <a:endParaRPr lang="en-US" sz="1200" dirty="0"/>
          </a:p>
          <a:p>
            <a:pPr marL="0" indent="0">
              <a:buNone/>
            </a:pPr>
            <a:endParaRPr lang="en-US" sz="1200" dirty="0"/>
          </a:p>
          <a:p>
            <a:pPr marL="0" indent="0">
              <a:buNone/>
            </a:pPr>
            <a:r>
              <a:rPr lang="en-US" sz="1200" dirty="0">
                <a:solidFill>
                  <a:srgbClr val="1A2D3D"/>
                </a:solidFill>
                <a:latin typeface="Calibri" pitchFamily="34" charset="0"/>
                <a:ea typeface="Calibri" pitchFamily="34" charset="-122"/>
                <a:cs typeface="Calibri" pitchFamily="34" charset="-120"/>
              </a:rPr>
              <a:t>Violation reduces power — the analysis cannot capture non-linear structure.</a:t>
            </a:r>
            <a:endParaRPr lang="en-US" sz="1200" dirty="0"/>
          </a:p>
        </p:txBody>
      </p:sp>
      <p:sp>
        <p:nvSpPr>
          <p:cNvPr id="8" name="Shape 6"/>
          <p:cNvSpPr/>
          <p:nvPr/>
        </p:nvSpPr>
        <p:spPr>
          <a:xfrm>
            <a:off x="4663440" y="960120"/>
            <a:ext cx="4069080" cy="1920240"/>
          </a:xfrm>
          <a:prstGeom prst="rect">
            <a:avLst/>
          </a:prstGeom>
          <a:solidFill>
            <a:srgbClr val="FFFFFF"/>
          </a:solidFill>
          <a:ln w="12700">
            <a:solidFill>
              <a:srgbClr val="D6E4EC"/>
            </a:solidFill>
            <a:prstDash val="solid"/>
          </a:ln>
          <a:effectLst>
            <a:outerShdw blurRad="76200" dist="25400" dir="8100000" algn="bl" rotWithShape="0">
              <a:srgbClr val="000000">
                <a:alpha val="10000"/>
              </a:srgbClr>
            </a:outerShdw>
          </a:effectLst>
        </p:spPr>
        <p:txBody>
          <a:bodyPr/>
          <a:lstStyle/>
          <a:p>
            <a:endParaRPr lang="en-US"/>
          </a:p>
        </p:txBody>
      </p:sp>
      <p:sp>
        <p:nvSpPr>
          <p:cNvPr id="9" name="Shape 7"/>
          <p:cNvSpPr/>
          <p:nvPr/>
        </p:nvSpPr>
        <p:spPr>
          <a:xfrm>
            <a:off x="4663440" y="960120"/>
            <a:ext cx="64008" cy="1920240"/>
          </a:xfrm>
          <a:prstGeom prst="rect">
            <a:avLst/>
          </a:prstGeom>
          <a:solidFill>
            <a:srgbClr val="1C7293"/>
          </a:solidFill>
          <a:ln w="12700">
            <a:solidFill>
              <a:srgbClr val="1C7293"/>
            </a:solidFill>
            <a:prstDash val="solid"/>
          </a:ln>
        </p:spPr>
        <p:txBody>
          <a:bodyPr/>
          <a:lstStyle/>
          <a:p>
            <a:endParaRPr lang="en-US"/>
          </a:p>
        </p:txBody>
      </p:sp>
      <p:sp>
        <p:nvSpPr>
          <p:cNvPr id="10" name="Text 8"/>
          <p:cNvSpPr/>
          <p:nvPr/>
        </p:nvSpPr>
        <p:spPr>
          <a:xfrm>
            <a:off x="4800600" y="1033272"/>
            <a:ext cx="3886200" cy="347472"/>
          </a:xfrm>
          <a:prstGeom prst="rect">
            <a:avLst/>
          </a:prstGeom>
          <a:noFill/>
          <a:ln/>
        </p:spPr>
        <p:txBody>
          <a:bodyPr wrap="square" lIns="0" tIns="0" rIns="0" bIns="0" rtlCol="0" anchor="ctr"/>
          <a:lstStyle/>
          <a:p>
            <a:pPr marL="0" indent="0">
              <a:buNone/>
            </a:pPr>
            <a:r>
              <a:rPr lang="en-US" sz="1300" b="1" dirty="0">
                <a:solidFill>
                  <a:srgbClr val="1C7293"/>
                </a:solidFill>
                <a:latin typeface="Cambria" pitchFamily="34" charset="0"/>
                <a:ea typeface="Cambria" pitchFamily="34" charset="-122"/>
                <a:cs typeface="Cambria" pitchFamily="34" charset="-120"/>
              </a:rPr>
              <a:t>Homoscedasticity</a:t>
            </a:r>
            <a:endParaRPr lang="en-US" sz="1300" dirty="0"/>
          </a:p>
        </p:txBody>
      </p:sp>
      <p:sp>
        <p:nvSpPr>
          <p:cNvPr id="11" name="Text 9"/>
          <p:cNvSpPr/>
          <p:nvPr/>
        </p:nvSpPr>
        <p:spPr>
          <a:xfrm>
            <a:off x="4800600" y="1371600"/>
            <a:ext cx="3886200" cy="1417320"/>
          </a:xfrm>
          <a:prstGeom prst="rect">
            <a:avLst/>
          </a:prstGeom>
          <a:noFill/>
          <a:ln/>
        </p:spPr>
        <p:txBody>
          <a:bodyPr wrap="square" lIns="0" tIns="0" rIns="0" bIns="0" rtlCol="0" anchor="t"/>
          <a:lstStyle/>
          <a:p>
            <a:pPr marL="0" indent="0">
              <a:buNone/>
            </a:pPr>
            <a:r>
              <a:rPr lang="en-US" sz="1200" dirty="0">
                <a:solidFill>
                  <a:srgbClr val="1A2D3D"/>
                </a:solidFill>
                <a:latin typeface="Calibri" pitchFamily="34" charset="0"/>
                <a:ea typeface="Calibri" pitchFamily="34" charset="-122"/>
                <a:cs typeface="Calibri" pitchFamily="34" charset="-120"/>
              </a:rPr>
              <a:t>Variance of residuals should be constant across levels of IVs (equal scatter).</a:t>
            </a:r>
            <a:endParaRPr lang="en-US" sz="1200" dirty="0"/>
          </a:p>
          <a:p>
            <a:pPr marL="0" indent="0">
              <a:buNone/>
            </a:pPr>
            <a:endParaRPr lang="en-US" sz="1200" dirty="0"/>
          </a:p>
          <a:p>
            <a:pPr marL="0" indent="0">
              <a:buNone/>
            </a:pPr>
            <a:r>
              <a:rPr lang="en-US" sz="1200" dirty="0">
                <a:solidFill>
                  <a:srgbClr val="1A2D3D"/>
                </a:solidFill>
                <a:latin typeface="Calibri" pitchFamily="34" charset="0"/>
                <a:ea typeface="Calibri" pitchFamily="34" charset="-122"/>
                <a:cs typeface="Calibri" pitchFamily="34" charset="-120"/>
              </a:rPr>
              <a:t>In MANOVA: homogeneity of variance-covariance matrices (Box's M test).</a:t>
            </a:r>
            <a:endParaRPr lang="en-US" sz="1200" dirty="0"/>
          </a:p>
        </p:txBody>
      </p:sp>
      <p:sp>
        <p:nvSpPr>
          <p:cNvPr id="12" name="Shape 10"/>
          <p:cNvSpPr/>
          <p:nvPr/>
        </p:nvSpPr>
        <p:spPr>
          <a:xfrm>
            <a:off x="411480" y="3017520"/>
            <a:ext cx="4069080" cy="1920240"/>
          </a:xfrm>
          <a:prstGeom prst="rect">
            <a:avLst/>
          </a:prstGeom>
          <a:solidFill>
            <a:srgbClr val="FFFFFF"/>
          </a:solidFill>
          <a:ln w="12700">
            <a:solidFill>
              <a:srgbClr val="D6E4EC"/>
            </a:solidFill>
            <a:prstDash val="solid"/>
          </a:ln>
          <a:effectLst>
            <a:outerShdw blurRad="76200" dist="25400" dir="8100000" algn="bl" rotWithShape="0">
              <a:srgbClr val="000000">
                <a:alpha val="10000"/>
              </a:srgbClr>
            </a:outerShdw>
          </a:effectLst>
        </p:spPr>
        <p:txBody>
          <a:bodyPr/>
          <a:lstStyle/>
          <a:p>
            <a:endParaRPr lang="en-US"/>
          </a:p>
        </p:txBody>
      </p:sp>
      <p:sp>
        <p:nvSpPr>
          <p:cNvPr id="13" name="Shape 11"/>
          <p:cNvSpPr/>
          <p:nvPr/>
        </p:nvSpPr>
        <p:spPr>
          <a:xfrm>
            <a:off x="411480" y="3017520"/>
            <a:ext cx="64008" cy="1920240"/>
          </a:xfrm>
          <a:prstGeom prst="rect">
            <a:avLst/>
          </a:prstGeom>
          <a:solidFill>
            <a:srgbClr val="E8A838"/>
          </a:solidFill>
          <a:ln w="12700">
            <a:solidFill>
              <a:srgbClr val="E8A838"/>
            </a:solidFill>
            <a:prstDash val="solid"/>
          </a:ln>
        </p:spPr>
        <p:txBody>
          <a:bodyPr/>
          <a:lstStyle/>
          <a:p>
            <a:endParaRPr lang="en-US"/>
          </a:p>
        </p:txBody>
      </p:sp>
      <p:sp>
        <p:nvSpPr>
          <p:cNvPr id="14" name="Text 12"/>
          <p:cNvSpPr/>
          <p:nvPr/>
        </p:nvSpPr>
        <p:spPr>
          <a:xfrm>
            <a:off x="548640" y="3090672"/>
            <a:ext cx="3886200" cy="347472"/>
          </a:xfrm>
          <a:prstGeom prst="rect">
            <a:avLst/>
          </a:prstGeom>
          <a:noFill/>
          <a:ln/>
        </p:spPr>
        <p:txBody>
          <a:bodyPr wrap="square" lIns="0" tIns="0" rIns="0" bIns="0" rtlCol="0" anchor="ctr"/>
          <a:lstStyle/>
          <a:p>
            <a:pPr marL="0" indent="0">
              <a:buNone/>
            </a:pPr>
            <a:r>
              <a:rPr lang="en-US" sz="1300" b="1" dirty="0">
                <a:solidFill>
                  <a:srgbClr val="E8A838"/>
                </a:solidFill>
                <a:latin typeface="Cambria" pitchFamily="34" charset="0"/>
                <a:ea typeface="Cambria" pitchFamily="34" charset="-122"/>
                <a:cs typeface="Cambria" pitchFamily="34" charset="-120"/>
              </a:rPr>
              <a:t>Checking Linearity</a:t>
            </a:r>
            <a:endParaRPr lang="en-US" sz="1300" dirty="0"/>
          </a:p>
        </p:txBody>
      </p:sp>
      <p:sp>
        <p:nvSpPr>
          <p:cNvPr id="15" name="Text 13"/>
          <p:cNvSpPr/>
          <p:nvPr/>
        </p:nvSpPr>
        <p:spPr>
          <a:xfrm>
            <a:off x="548640" y="3429000"/>
            <a:ext cx="3886200" cy="1417320"/>
          </a:xfrm>
          <a:prstGeom prst="rect">
            <a:avLst/>
          </a:prstGeom>
          <a:noFill/>
          <a:ln/>
        </p:spPr>
        <p:txBody>
          <a:bodyPr wrap="square" lIns="0" tIns="0" rIns="0" bIns="0" rtlCol="0" anchor="t"/>
          <a:lstStyle/>
          <a:p>
            <a:pPr marL="0" indent="0">
              <a:buNone/>
            </a:pPr>
            <a:r>
              <a:rPr lang="en-US" sz="1200" dirty="0">
                <a:solidFill>
                  <a:srgbClr val="1A2D3D"/>
                </a:solidFill>
                <a:latin typeface="Calibri" pitchFamily="34" charset="0"/>
                <a:ea typeface="Calibri" pitchFamily="34" charset="-122"/>
                <a:cs typeface="Calibri" pitchFamily="34" charset="-120"/>
              </a:rPr>
              <a:t>Scatterplot matrix (SPLOM) of all variable pairs</a:t>
            </a:r>
            <a:endParaRPr lang="en-US" sz="1200" dirty="0"/>
          </a:p>
          <a:p>
            <a:pPr marL="0" indent="0">
              <a:buNone/>
            </a:pPr>
            <a:endParaRPr lang="en-US" sz="1200" dirty="0"/>
          </a:p>
          <a:p>
            <a:pPr marL="0" indent="0">
              <a:buNone/>
            </a:pPr>
            <a:r>
              <a:rPr lang="en-US" sz="1200" dirty="0">
                <a:solidFill>
                  <a:srgbClr val="1A2D3D"/>
                </a:solidFill>
                <a:latin typeface="Calibri" pitchFamily="34" charset="0"/>
                <a:ea typeface="Calibri" pitchFamily="34" charset="-122"/>
                <a:cs typeface="Calibri" pitchFamily="34" charset="-120"/>
              </a:rPr>
              <a:t>Residuals vs. fitted values plot — look for non-linear trends</a:t>
            </a:r>
            <a:endParaRPr lang="en-US" sz="1200" dirty="0"/>
          </a:p>
        </p:txBody>
      </p:sp>
      <p:sp>
        <p:nvSpPr>
          <p:cNvPr id="16" name="Shape 14"/>
          <p:cNvSpPr/>
          <p:nvPr/>
        </p:nvSpPr>
        <p:spPr>
          <a:xfrm>
            <a:off x="4663440" y="3017520"/>
            <a:ext cx="4069080" cy="1920240"/>
          </a:xfrm>
          <a:prstGeom prst="rect">
            <a:avLst/>
          </a:prstGeom>
          <a:solidFill>
            <a:srgbClr val="FFFFFF"/>
          </a:solidFill>
          <a:ln w="12700">
            <a:solidFill>
              <a:srgbClr val="D6E4EC"/>
            </a:solidFill>
            <a:prstDash val="solid"/>
          </a:ln>
          <a:effectLst>
            <a:outerShdw blurRad="76200" dist="25400" dir="8100000" algn="bl" rotWithShape="0">
              <a:srgbClr val="000000">
                <a:alpha val="10000"/>
              </a:srgbClr>
            </a:outerShdw>
          </a:effectLst>
        </p:spPr>
        <p:txBody>
          <a:bodyPr/>
          <a:lstStyle/>
          <a:p>
            <a:endParaRPr lang="en-US"/>
          </a:p>
        </p:txBody>
      </p:sp>
      <p:sp>
        <p:nvSpPr>
          <p:cNvPr id="17" name="Shape 15"/>
          <p:cNvSpPr/>
          <p:nvPr/>
        </p:nvSpPr>
        <p:spPr>
          <a:xfrm>
            <a:off x="4663440" y="3017520"/>
            <a:ext cx="64008" cy="1920240"/>
          </a:xfrm>
          <a:prstGeom prst="rect">
            <a:avLst/>
          </a:prstGeom>
          <a:solidFill>
            <a:srgbClr val="065A82"/>
          </a:solidFill>
          <a:ln w="12700">
            <a:solidFill>
              <a:srgbClr val="065A82"/>
            </a:solidFill>
            <a:prstDash val="solid"/>
          </a:ln>
        </p:spPr>
        <p:txBody>
          <a:bodyPr/>
          <a:lstStyle/>
          <a:p>
            <a:endParaRPr lang="en-US"/>
          </a:p>
        </p:txBody>
      </p:sp>
      <p:sp>
        <p:nvSpPr>
          <p:cNvPr id="18" name="Text 16"/>
          <p:cNvSpPr/>
          <p:nvPr/>
        </p:nvSpPr>
        <p:spPr>
          <a:xfrm>
            <a:off x="4800600" y="3090672"/>
            <a:ext cx="3886200" cy="347472"/>
          </a:xfrm>
          <a:prstGeom prst="rect">
            <a:avLst/>
          </a:prstGeom>
          <a:noFill/>
          <a:ln/>
        </p:spPr>
        <p:txBody>
          <a:bodyPr wrap="square" lIns="0" tIns="0" rIns="0" bIns="0" rtlCol="0" anchor="ctr"/>
          <a:lstStyle/>
          <a:p>
            <a:pPr marL="0" indent="0">
              <a:buNone/>
            </a:pPr>
            <a:r>
              <a:rPr lang="en-US" sz="1300" b="1" dirty="0">
                <a:solidFill>
                  <a:srgbClr val="065A82"/>
                </a:solidFill>
                <a:latin typeface="Cambria" pitchFamily="34" charset="0"/>
                <a:ea typeface="Cambria" pitchFamily="34" charset="-122"/>
                <a:cs typeface="Cambria" pitchFamily="34" charset="-120"/>
              </a:rPr>
              <a:t>Checking Homoscedasticity</a:t>
            </a:r>
            <a:endParaRPr lang="en-US" sz="1300" dirty="0"/>
          </a:p>
        </p:txBody>
      </p:sp>
      <p:sp>
        <p:nvSpPr>
          <p:cNvPr id="19" name="Text 17"/>
          <p:cNvSpPr/>
          <p:nvPr/>
        </p:nvSpPr>
        <p:spPr>
          <a:xfrm>
            <a:off x="4800600" y="3429000"/>
            <a:ext cx="3886200" cy="1417320"/>
          </a:xfrm>
          <a:prstGeom prst="rect">
            <a:avLst/>
          </a:prstGeom>
          <a:noFill/>
          <a:ln/>
        </p:spPr>
        <p:txBody>
          <a:bodyPr wrap="square" lIns="0" tIns="0" rIns="0" bIns="0" rtlCol="0" anchor="t"/>
          <a:lstStyle/>
          <a:p>
            <a:pPr marL="0" indent="0">
              <a:buNone/>
            </a:pPr>
            <a:r>
              <a:rPr lang="en-US" sz="1200" dirty="0">
                <a:solidFill>
                  <a:srgbClr val="1A2D3D"/>
                </a:solidFill>
                <a:latin typeface="Calibri" pitchFamily="34" charset="0"/>
                <a:ea typeface="Calibri" pitchFamily="34" charset="-122"/>
                <a:cs typeface="Calibri" pitchFamily="34" charset="-120"/>
              </a:rPr>
              <a:t>Residuals vs. fitted: look for funnel shape</a:t>
            </a:r>
            <a:endParaRPr lang="en-US" sz="1200" dirty="0"/>
          </a:p>
          <a:p>
            <a:pPr marL="0" indent="0">
              <a:buNone/>
            </a:pPr>
            <a:endParaRPr lang="en-US" sz="1200" dirty="0"/>
          </a:p>
          <a:p>
            <a:pPr marL="0" indent="0">
              <a:buNone/>
            </a:pPr>
            <a:r>
              <a:rPr lang="en-US" sz="1200" dirty="0">
                <a:solidFill>
                  <a:srgbClr val="1A2D3D"/>
                </a:solidFill>
                <a:latin typeface="Calibri" pitchFamily="34" charset="0"/>
                <a:ea typeface="Calibri" pitchFamily="34" charset="-122"/>
                <a:cs typeface="Calibri" pitchFamily="34" charset="-120"/>
              </a:rPr>
              <a:t>Levene's test (univariate); Box's M (multivariate — sensitive to non-normality)</a:t>
            </a:r>
            <a:endParaRPr lang="en-US" sz="12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8A838"/>
          </a:solidFill>
          <a:ln w="12700">
            <a:solidFill>
              <a:srgbClr val="E8A838"/>
            </a:solidFill>
            <a:prstDash val="solid"/>
          </a:ln>
        </p:spPr>
        <p:txBody>
          <a:bodyPr/>
          <a:lstStyle/>
          <a:p>
            <a:endParaRPr lang="en-US"/>
          </a:p>
        </p:txBody>
      </p:sp>
      <p:sp>
        <p:nvSpPr>
          <p:cNvPr id="3" name="Text 1"/>
          <p:cNvSpPr/>
          <p:nvPr/>
        </p:nvSpPr>
        <p:spPr>
          <a:xfrm>
            <a:off x="411480" y="164592"/>
            <a:ext cx="8321040" cy="640080"/>
          </a:xfrm>
          <a:prstGeom prst="rect">
            <a:avLst/>
          </a:prstGeom>
          <a:noFill/>
          <a:ln/>
        </p:spPr>
        <p:txBody>
          <a:bodyPr wrap="square" lIns="0" tIns="0" rIns="0" bIns="0" rtlCol="0" anchor="ctr"/>
          <a:lstStyle/>
          <a:p>
            <a:pPr marL="0" indent="0">
              <a:buNone/>
            </a:pPr>
            <a:r>
              <a:rPr lang="en-US" sz="2800" b="1" dirty="0">
                <a:solidFill>
                  <a:srgbClr val="065A82"/>
                </a:solidFill>
                <a:latin typeface="Cambria" pitchFamily="34" charset="0"/>
                <a:ea typeface="Cambria" pitchFamily="34" charset="-122"/>
                <a:cs typeface="Cambria" pitchFamily="34" charset="-120"/>
              </a:rPr>
              <a:t>Assumption 4: Absence of Influential Outliers</a:t>
            </a:r>
            <a:endParaRPr lang="en-US" sz="2800" dirty="0"/>
          </a:p>
        </p:txBody>
      </p:sp>
      <p:sp>
        <p:nvSpPr>
          <p:cNvPr id="4" name="Text 2"/>
          <p:cNvSpPr/>
          <p:nvPr/>
        </p:nvSpPr>
        <p:spPr>
          <a:xfrm>
            <a:off x="411480" y="886968"/>
            <a:ext cx="8321040" cy="502920"/>
          </a:xfrm>
          <a:prstGeom prst="rect">
            <a:avLst/>
          </a:prstGeom>
          <a:noFill/>
          <a:ln/>
        </p:spPr>
        <p:txBody>
          <a:bodyPr wrap="square" lIns="0" tIns="0" rIns="0" bIns="0" rtlCol="0" anchor="ctr"/>
          <a:lstStyle/>
          <a:p>
            <a:pPr marL="0" indent="0">
              <a:buNone/>
            </a:pPr>
            <a:r>
              <a:rPr lang="en-US" sz="1350" i="1" dirty="0">
                <a:solidFill>
                  <a:srgbClr val="5A7080"/>
                </a:solidFill>
                <a:latin typeface="Calibri" pitchFamily="34" charset="0"/>
                <a:ea typeface="Calibri" pitchFamily="34" charset="-122"/>
                <a:cs typeface="Calibri" pitchFamily="34" charset="-120"/>
              </a:rPr>
              <a:t>Outliers distort parameter estimates and standard errors — they are among the most damaging assumption violations in multivariate analysis (T&amp;F, Ch. 4).</a:t>
            </a:r>
            <a:endParaRPr lang="en-US" sz="1350" dirty="0"/>
          </a:p>
        </p:txBody>
      </p:sp>
      <p:sp>
        <p:nvSpPr>
          <p:cNvPr id="5" name="Shape 3"/>
          <p:cNvSpPr/>
          <p:nvPr/>
        </p:nvSpPr>
        <p:spPr>
          <a:xfrm>
            <a:off x="411480" y="1463040"/>
            <a:ext cx="1920240" cy="1234440"/>
          </a:xfrm>
          <a:prstGeom prst="rect">
            <a:avLst/>
          </a:prstGeom>
          <a:solidFill>
            <a:srgbClr val="065A82"/>
          </a:solidFill>
          <a:ln w="12700">
            <a:solidFill>
              <a:srgbClr val="065A82"/>
            </a:solidFill>
            <a:prstDash val="solid"/>
          </a:ln>
        </p:spPr>
        <p:txBody>
          <a:bodyPr/>
          <a:lstStyle/>
          <a:p>
            <a:endParaRPr lang="en-US"/>
          </a:p>
        </p:txBody>
      </p:sp>
      <p:sp>
        <p:nvSpPr>
          <p:cNvPr id="6" name="Text 4"/>
          <p:cNvSpPr/>
          <p:nvPr/>
        </p:nvSpPr>
        <p:spPr>
          <a:xfrm>
            <a:off x="411480" y="1554480"/>
            <a:ext cx="1920240" cy="685800"/>
          </a:xfrm>
          <a:prstGeom prst="rect">
            <a:avLst/>
          </a:prstGeom>
          <a:noFill/>
          <a:ln/>
        </p:spPr>
        <p:txBody>
          <a:bodyPr wrap="square" lIns="0" tIns="0" rIns="0" bIns="0" rtlCol="0" anchor="ctr"/>
          <a:lstStyle/>
          <a:p>
            <a:pPr marL="0" indent="0" algn="ctr">
              <a:buNone/>
            </a:pPr>
            <a:r>
              <a:rPr lang="en-US" sz="3600" b="1" dirty="0">
                <a:solidFill>
                  <a:srgbClr val="FFFFFF"/>
                </a:solidFill>
                <a:latin typeface="Cambria" pitchFamily="34" charset="0"/>
                <a:ea typeface="Cambria" pitchFamily="34" charset="-122"/>
                <a:cs typeface="Cambria" pitchFamily="34" charset="-120"/>
              </a:rPr>
              <a:t>3 Types</a:t>
            </a:r>
            <a:endParaRPr lang="en-US" sz="3600" dirty="0"/>
          </a:p>
        </p:txBody>
      </p:sp>
      <p:sp>
        <p:nvSpPr>
          <p:cNvPr id="7" name="Text 5"/>
          <p:cNvSpPr/>
          <p:nvPr/>
        </p:nvSpPr>
        <p:spPr>
          <a:xfrm>
            <a:off x="411480" y="2221992"/>
            <a:ext cx="1920240" cy="411480"/>
          </a:xfrm>
          <a:prstGeom prst="rect">
            <a:avLst/>
          </a:prstGeom>
          <a:noFill/>
          <a:ln/>
        </p:spPr>
        <p:txBody>
          <a:bodyPr wrap="square" lIns="0" tIns="0" rIns="0" bIns="0" rtlCol="0" anchor="ctr"/>
          <a:lstStyle/>
          <a:p>
            <a:pPr marL="0" indent="0" algn="ctr">
              <a:buNone/>
            </a:pPr>
            <a:r>
              <a:rPr lang="en-US" sz="1150" dirty="0">
                <a:solidFill>
                  <a:srgbClr val="FFFFFF"/>
                </a:solidFill>
                <a:latin typeface="Calibri" pitchFamily="34" charset="0"/>
                <a:ea typeface="Calibri" pitchFamily="34" charset="-122"/>
                <a:cs typeface="Calibri" pitchFamily="34" charset="-120"/>
              </a:rPr>
              <a:t>of outliers to consider</a:t>
            </a:r>
            <a:endParaRPr lang="en-US" sz="1150" dirty="0"/>
          </a:p>
        </p:txBody>
      </p:sp>
      <p:sp>
        <p:nvSpPr>
          <p:cNvPr id="8" name="Shape 6"/>
          <p:cNvSpPr/>
          <p:nvPr/>
        </p:nvSpPr>
        <p:spPr>
          <a:xfrm>
            <a:off x="2423160" y="1463040"/>
            <a:ext cx="1920240" cy="1234440"/>
          </a:xfrm>
          <a:prstGeom prst="rect">
            <a:avLst/>
          </a:prstGeom>
          <a:solidFill>
            <a:srgbClr val="1C7293"/>
          </a:solidFill>
          <a:ln w="12700">
            <a:solidFill>
              <a:srgbClr val="1C7293"/>
            </a:solidFill>
            <a:prstDash val="solid"/>
          </a:ln>
        </p:spPr>
        <p:txBody>
          <a:bodyPr/>
          <a:lstStyle/>
          <a:p>
            <a:endParaRPr lang="en-US"/>
          </a:p>
        </p:txBody>
      </p:sp>
      <p:sp>
        <p:nvSpPr>
          <p:cNvPr id="9" name="Text 7"/>
          <p:cNvSpPr/>
          <p:nvPr/>
        </p:nvSpPr>
        <p:spPr>
          <a:xfrm>
            <a:off x="2423160" y="1554480"/>
            <a:ext cx="1920240" cy="685800"/>
          </a:xfrm>
          <a:prstGeom prst="rect">
            <a:avLst/>
          </a:prstGeom>
          <a:noFill/>
          <a:ln/>
        </p:spPr>
        <p:txBody>
          <a:bodyPr wrap="square" lIns="0" tIns="0" rIns="0" bIns="0" rtlCol="0" anchor="ctr"/>
          <a:lstStyle/>
          <a:p>
            <a:pPr marL="0" indent="0" algn="ctr">
              <a:buNone/>
            </a:pPr>
            <a:r>
              <a:rPr lang="en-US" sz="3600" b="1" dirty="0">
                <a:solidFill>
                  <a:srgbClr val="FFFFFF"/>
                </a:solidFill>
                <a:latin typeface="Cambria" pitchFamily="34" charset="0"/>
                <a:ea typeface="Cambria" pitchFamily="34" charset="-122"/>
                <a:cs typeface="Cambria" pitchFamily="34" charset="-120"/>
              </a:rPr>
              <a:t>z &gt; ±3.3</a:t>
            </a:r>
            <a:endParaRPr lang="en-US" sz="3600" dirty="0"/>
          </a:p>
        </p:txBody>
      </p:sp>
      <p:sp>
        <p:nvSpPr>
          <p:cNvPr id="10" name="Text 8"/>
          <p:cNvSpPr/>
          <p:nvPr/>
        </p:nvSpPr>
        <p:spPr>
          <a:xfrm>
            <a:off x="2423160" y="2221992"/>
            <a:ext cx="1920240" cy="411480"/>
          </a:xfrm>
          <a:prstGeom prst="rect">
            <a:avLst/>
          </a:prstGeom>
          <a:noFill/>
          <a:ln/>
        </p:spPr>
        <p:txBody>
          <a:bodyPr wrap="square" lIns="0" tIns="0" rIns="0" bIns="0" rtlCol="0" anchor="ctr"/>
          <a:lstStyle/>
          <a:p>
            <a:pPr marL="0" indent="0" algn="ctr">
              <a:buNone/>
            </a:pPr>
            <a:r>
              <a:rPr lang="en-US" sz="1150" dirty="0">
                <a:solidFill>
                  <a:srgbClr val="FFFFFF"/>
                </a:solidFill>
                <a:latin typeface="Calibri" pitchFamily="34" charset="0"/>
                <a:ea typeface="Calibri" pitchFamily="34" charset="-122"/>
                <a:cs typeface="Calibri" pitchFamily="34" charset="-120"/>
              </a:rPr>
              <a:t>Univariate outlier flag (p&lt;.001)</a:t>
            </a:r>
            <a:endParaRPr lang="en-US" sz="1150" dirty="0"/>
          </a:p>
        </p:txBody>
      </p:sp>
      <p:sp>
        <p:nvSpPr>
          <p:cNvPr id="11" name="Shape 9"/>
          <p:cNvSpPr/>
          <p:nvPr/>
        </p:nvSpPr>
        <p:spPr>
          <a:xfrm>
            <a:off x="4434840" y="1463040"/>
            <a:ext cx="1920240" cy="1234440"/>
          </a:xfrm>
          <a:prstGeom prst="rect">
            <a:avLst/>
          </a:prstGeom>
          <a:solidFill>
            <a:srgbClr val="E8A838"/>
          </a:solidFill>
          <a:ln w="12700">
            <a:solidFill>
              <a:srgbClr val="E8A838"/>
            </a:solidFill>
            <a:prstDash val="solid"/>
          </a:ln>
        </p:spPr>
        <p:txBody>
          <a:bodyPr/>
          <a:lstStyle/>
          <a:p>
            <a:endParaRPr lang="en-US"/>
          </a:p>
        </p:txBody>
      </p:sp>
      <p:sp>
        <p:nvSpPr>
          <p:cNvPr id="12" name="Text 10"/>
          <p:cNvSpPr/>
          <p:nvPr/>
        </p:nvSpPr>
        <p:spPr>
          <a:xfrm>
            <a:off x="4434840" y="1554480"/>
            <a:ext cx="1920240" cy="685800"/>
          </a:xfrm>
          <a:prstGeom prst="rect">
            <a:avLst/>
          </a:prstGeom>
          <a:noFill/>
          <a:ln/>
        </p:spPr>
        <p:txBody>
          <a:bodyPr wrap="square" lIns="0" tIns="0" rIns="0" bIns="0" rtlCol="0" anchor="ctr"/>
          <a:lstStyle/>
          <a:p>
            <a:pPr marL="0" indent="0" algn="ctr">
              <a:buNone/>
            </a:pPr>
            <a:r>
              <a:rPr lang="en-US" sz="3600" b="1" dirty="0">
                <a:solidFill>
                  <a:srgbClr val="FFFFFF"/>
                </a:solidFill>
                <a:latin typeface="Cambria" pitchFamily="34" charset="0"/>
                <a:ea typeface="Cambria" pitchFamily="34" charset="-122"/>
                <a:cs typeface="Cambria" pitchFamily="34" charset="-120"/>
              </a:rPr>
              <a:t>D²/df</a:t>
            </a:r>
            <a:endParaRPr lang="en-US" sz="3600" dirty="0"/>
          </a:p>
        </p:txBody>
      </p:sp>
      <p:sp>
        <p:nvSpPr>
          <p:cNvPr id="13" name="Text 11"/>
          <p:cNvSpPr/>
          <p:nvPr/>
        </p:nvSpPr>
        <p:spPr>
          <a:xfrm>
            <a:off x="4434840" y="2221992"/>
            <a:ext cx="1920240" cy="411480"/>
          </a:xfrm>
          <a:prstGeom prst="rect">
            <a:avLst/>
          </a:prstGeom>
          <a:noFill/>
          <a:ln/>
        </p:spPr>
        <p:txBody>
          <a:bodyPr wrap="square" lIns="0" tIns="0" rIns="0" bIns="0" rtlCol="0" anchor="ctr"/>
          <a:lstStyle/>
          <a:p>
            <a:pPr marL="0" indent="0" algn="ctr">
              <a:buNone/>
            </a:pPr>
            <a:r>
              <a:rPr lang="en-US" sz="1150" dirty="0">
                <a:solidFill>
                  <a:srgbClr val="FFFFFF"/>
                </a:solidFill>
                <a:latin typeface="Calibri" pitchFamily="34" charset="0"/>
                <a:ea typeface="Calibri" pitchFamily="34" charset="-122"/>
                <a:cs typeface="Calibri" pitchFamily="34" charset="-120"/>
              </a:rPr>
              <a:t>Mahalanobis distance cutoff</a:t>
            </a:r>
            <a:endParaRPr lang="en-US" sz="1150" dirty="0"/>
          </a:p>
        </p:txBody>
      </p:sp>
      <p:sp>
        <p:nvSpPr>
          <p:cNvPr id="14" name="Shape 12"/>
          <p:cNvSpPr/>
          <p:nvPr/>
        </p:nvSpPr>
        <p:spPr>
          <a:xfrm>
            <a:off x="6446520" y="1463040"/>
            <a:ext cx="1920240" cy="1234440"/>
          </a:xfrm>
          <a:prstGeom prst="rect">
            <a:avLst/>
          </a:prstGeom>
          <a:solidFill>
            <a:srgbClr val="065A82"/>
          </a:solidFill>
          <a:ln w="12700">
            <a:solidFill>
              <a:srgbClr val="065A82"/>
            </a:solidFill>
            <a:prstDash val="solid"/>
          </a:ln>
        </p:spPr>
        <p:txBody>
          <a:bodyPr/>
          <a:lstStyle/>
          <a:p>
            <a:endParaRPr lang="en-US"/>
          </a:p>
        </p:txBody>
      </p:sp>
      <p:sp>
        <p:nvSpPr>
          <p:cNvPr id="15" name="Text 13"/>
          <p:cNvSpPr/>
          <p:nvPr/>
        </p:nvSpPr>
        <p:spPr>
          <a:xfrm>
            <a:off x="6446520" y="1554480"/>
            <a:ext cx="1920240" cy="685800"/>
          </a:xfrm>
          <a:prstGeom prst="rect">
            <a:avLst/>
          </a:prstGeom>
          <a:noFill/>
          <a:ln/>
        </p:spPr>
        <p:txBody>
          <a:bodyPr wrap="square" lIns="0" tIns="0" rIns="0" bIns="0" rtlCol="0" anchor="ctr"/>
          <a:lstStyle/>
          <a:p>
            <a:pPr marL="0" indent="0" algn="ctr">
              <a:buNone/>
            </a:pPr>
            <a:r>
              <a:rPr lang="en-US" sz="3600" b="1" dirty="0">
                <a:solidFill>
                  <a:srgbClr val="FFFFFF"/>
                </a:solidFill>
                <a:latin typeface="Cambria" pitchFamily="34" charset="0"/>
                <a:ea typeface="Cambria" pitchFamily="34" charset="-122"/>
                <a:cs typeface="Cambria" pitchFamily="34" charset="-120"/>
              </a:rPr>
              <a:t>Cook's D</a:t>
            </a:r>
            <a:endParaRPr lang="en-US" sz="3600" dirty="0"/>
          </a:p>
        </p:txBody>
      </p:sp>
      <p:sp>
        <p:nvSpPr>
          <p:cNvPr id="16" name="Text 14"/>
          <p:cNvSpPr/>
          <p:nvPr/>
        </p:nvSpPr>
        <p:spPr>
          <a:xfrm>
            <a:off x="6446520" y="2221992"/>
            <a:ext cx="1920240" cy="411480"/>
          </a:xfrm>
          <a:prstGeom prst="rect">
            <a:avLst/>
          </a:prstGeom>
          <a:noFill/>
          <a:ln/>
        </p:spPr>
        <p:txBody>
          <a:bodyPr wrap="square" lIns="0" tIns="0" rIns="0" bIns="0" rtlCol="0" anchor="ctr"/>
          <a:lstStyle/>
          <a:p>
            <a:pPr marL="0" indent="0" algn="ctr">
              <a:buNone/>
            </a:pPr>
            <a:r>
              <a:rPr lang="en-US" sz="1150" dirty="0">
                <a:solidFill>
                  <a:srgbClr val="FFFFFF"/>
                </a:solidFill>
                <a:latin typeface="Calibri" pitchFamily="34" charset="0"/>
                <a:ea typeface="Calibri" pitchFamily="34" charset="-122"/>
                <a:cs typeface="Calibri" pitchFamily="34" charset="-120"/>
              </a:rPr>
              <a:t>Influence on regression line</a:t>
            </a:r>
            <a:endParaRPr lang="en-US" sz="1150" dirty="0"/>
          </a:p>
        </p:txBody>
      </p:sp>
      <p:sp>
        <p:nvSpPr>
          <p:cNvPr id="17" name="Text 15"/>
          <p:cNvSpPr/>
          <p:nvPr/>
        </p:nvSpPr>
        <p:spPr>
          <a:xfrm>
            <a:off x="411480" y="2834640"/>
            <a:ext cx="8321040" cy="3931920"/>
          </a:xfrm>
          <a:prstGeom prst="rect">
            <a:avLst/>
          </a:prstGeom>
          <a:noFill/>
          <a:ln/>
        </p:spPr>
        <p:txBody>
          <a:bodyPr wrap="square" rtlCol="0" anchor="t"/>
          <a:lstStyle/>
          <a:p>
            <a:pPr marL="342900" indent="-342900">
              <a:buSzPct val="100000"/>
              <a:buChar char="•"/>
            </a:pPr>
            <a:r>
              <a:rPr lang="en-US" sz="1300" b="1" dirty="0">
                <a:solidFill>
                  <a:srgbClr val="1A2D3D"/>
                </a:solidFill>
                <a:latin typeface="Calibri" pitchFamily="34" charset="0"/>
                <a:ea typeface="Calibri" pitchFamily="34" charset="-122"/>
                <a:cs typeface="Calibri" pitchFamily="34" charset="-120"/>
              </a:rPr>
              <a:t>Univariate outliers</a:t>
            </a:r>
            <a:endParaRPr lang="en-US" sz="1300" dirty="0"/>
          </a:p>
          <a:p>
            <a:pPr marL="508000" lvl="1" indent="-254000">
              <a:buSzPct val="100000"/>
              <a:buChar char="•"/>
            </a:pPr>
            <a:r>
              <a:rPr lang="en-US" sz="1300" dirty="0">
                <a:solidFill>
                  <a:srgbClr val="5A7080"/>
                </a:solidFill>
                <a:latin typeface="Calibri" pitchFamily="34" charset="0"/>
                <a:ea typeface="Calibri" pitchFamily="34" charset="-122"/>
                <a:cs typeface="Calibri" pitchFamily="34" charset="-120"/>
              </a:rPr>
              <a:t>Standardise each variable; flag |z| &gt; 3.29</a:t>
            </a:r>
            <a:endParaRPr lang="en-US" sz="1300" dirty="0"/>
          </a:p>
          <a:p>
            <a:pPr marL="342900" indent="-342900">
              <a:buSzPct val="100000"/>
              <a:buChar char="•"/>
            </a:pPr>
            <a:r>
              <a:rPr lang="en-US" sz="1300" b="1" dirty="0">
                <a:solidFill>
                  <a:srgbClr val="1A2D3D"/>
                </a:solidFill>
                <a:latin typeface="Calibri" pitchFamily="34" charset="0"/>
                <a:ea typeface="Calibri" pitchFamily="34" charset="-122"/>
                <a:cs typeface="Calibri" pitchFamily="34" charset="-120"/>
              </a:rPr>
              <a:t>Multivariate outliers</a:t>
            </a:r>
            <a:endParaRPr lang="en-US" sz="1300" dirty="0"/>
          </a:p>
          <a:p>
            <a:pPr marL="508000" lvl="1" indent="-254000">
              <a:buSzPct val="100000"/>
              <a:buChar char="•"/>
            </a:pPr>
            <a:r>
              <a:rPr lang="en-US" sz="1300" dirty="0">
                <a:solidFill>
                  <a:srgbClr val="5A7080"/>
                </a:solidFill>
                <a:latin typeface="Calibri" pitchFamily="34" charset="0"/>
                <a:ea typeface="Calibri" pitchFamily="34" charset="-122"/>
                <a:cs typeface="Calibri" pitchFamily="34" charset="-120"/>
              </a:rPr>
              <a:t>Mahalanobis distance: χ² with p&lt;.001 flags cases influencing the centroid</a:t>
            </a:r>
            <a:endParaRPr lang="en-US" sz="1300" dirty="0"/>
          </a:p>
          <a:p>
            <a:pPr marL="342900" indent="-342900">
              <a:buSzPct val="100000"/>
              <a:buChar char="•"/>
            </a:pPr>
            <a:r>
              <a:rPr lang="en-US" sz="1300" b="1" dirty="0">
                <a:solidFill>
                  <a:srgbClr val="1A2D3D"/>
                </a:solidFill>
                <a:latin typeface="Calibri" pitchFamily="34" charset="0"/>
                <a:ea typeface="Calibri" pitchFamily="34" charset="-122"/>
                <a:cs typeface="Calibri" pitchFamily="34" charset="-120"/>
              </a:rPr>
              <a:t>Influential outliers</a:t>
            </a:r>
            <a:endParaRPr lang="en-US" sz="1300" dirty="0"/>
          </a:p>
          <a:p>
            <a:pPr marL="508000" lvl="1" indent="-254000">
              <a:buSzPct val="100000"/>
              <a:buChar char="•"/>
            </a:pPr>
            <a:r>
              <a:rPr lang="en-US" sz="1300" dirty="0">
                <a:solidFill>
                  <a:srgbClr val="5A7080"/>
                </a:solidFill>
                <a:latin typeface="Calibri" pitchFamily="34" charset="0"/>
                <a:ea typeface="Calibri" pitchFamily="34" charset="-122"/>
                <a:cs typeface="Calibri" pitchFamily="34" charset="-120"/>
              </a:rPr>
              <a:t>Cook's D &gt; 1 signals cases that substantially shift regression estimates</a:t>
            </a:r>
            <a:endParaRPr lang="en-US" sz="1300" dirty="0"/>
          </a:p>
          <a:p>
            <a:pPr marL="342900" indent="-342900">
              <a:buSzPct val="100000"/>
              <a:buChar char="•"/>
            </a:pPr>
            <a:r>
              <a:rPr lang="en-US" sz="1300" dirty="0">
                <a:solidFill>
                  <a:srgbClr val="1A2D3D"/>
                </a:solidFill>
                <a:latin typeface="Calibri" pitchFamily="34" charset="0"/>
                <a:ea typeface="Calibri" pitchFamily="34" charset="-122"/>
                <a:cs typeface="Calibri" pitchFamily="34" charset="-120"/>
              </a:rPr>
              <a:t>Action: Describe, investigate, and consider running analyses with and without outliers (sensitivity analysis)</a:t>
            </a:r>
            <a:endParaRPr lang="en-US" sz="13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8A838"/>
          </a:solidFill>
          <a:ln w="12700">
            <a:solidFill>
              <a:srgbClr val="E8A838"/>
            </a:solidFill>
            <a:prstDash val="solid"/>
          </a:ln>
        </p:spPr>
        <p:txBody>
          <a:bodyPr/>
          <a:lstStyle/>
          <a:p>
            <a:endParaRPr lang="en-US"/>
          </a:p>
        </p:txBody>
      </p:sp>
      <p:sp>
        <p:nvSpPr>
          <p:cNvPr id="3" name="Text 1"/>
          <p:cNvSpPr/>
          <p:nvPr/>
        </p:nvSpPr>
        <p:spPr>
          <a:xfrm>
            <a:off x="411480" y="164592"/>
            <a:ext cx="8321040" cy="640080"/>
          </a:xfrm>
          <a:prstGeom prst="rect">
            <a:avLst/>
          </a:prstGeom>
          <a:noFill/>
          <a:ln/>
        </p:spPr>
        <p:txBody>
          <a:bodyPr wrap="square" lIns="0" tIns="0" rIns="0" bIns="0" rtlCol="0" anchor="ctr"/>
          <a:lstStyle/>
          <a:p>
            <a:pPr marL="0" indent="0">
              <a:buNone/>
            </a:pPr>
            <a:r>
              <a:rPr lang="en-US" sz="2800" b="1" dirty="0">
                <a:solidFill>
                  <a:srgbClr val="065A82"/>
                </a:solidFill>
                <a:latin typeface="Cambria" pitchFamily="34" charset="0"/>
                <a:ea typeface="Cambria" pitchFamily="34" charset="-122"/>
                <a:cs typeface="Cambria" pitchFamily="34" charset="-120"/>
              </a:rPr>
              <a:t>Assumption 5: Absence of Multicollinearity</a:t>
            </a:r>
            <a:endParaRPr lang="en-US" sz="2800" dirty="0"/>
          </a:p>
        </p:txBody>
      </p:sp>
      <p:sp>
        <p:nvSpPr>
          <p:cNvPr id="4" name="Shape 2"/>
          <p:cNvSpPr/>
          <p:nvPr/>
        </p:nvSpPr>
        <p:spPr>
          <a:xfrm>
            <a:off x="411480" y="960120"/>
            <a:ext cx="3977640" cy="3977640"/>
          </a:xfrm>
          <a:prstGeom prst="rect">
            <a:avLst/>
          </a:prstGeom>
          <a:solidFill>
            <a:srgbClr val="FFFFFF"/>
          </a:solidFill>
          <a:ln w="12700">
            <a:solidFill>
              <a:srgbClr val="D6E4EC"/>
            </a:solidFill>
            <a:prstDash val="solid"/>
          </a:ln>
          <a:effectLst>
            <a:outerShdw blurRad="76200" dist="25400" dir="8100000" algn="bl" rotWithShape="0">
              <a:srgbClr val="000000">
                <a:alpha val="10000"/>
              </a:srgbClr>
            </a:outerShdw>
          </a:effectLst>
        </p:spPr>
        <p:txBody>
          <a:bodyPr/>
          <a:lstStyle/>
          <a:p>
            <a:endParaRPr lang="en-US"/>
          </a:p>
        </p:txBody>
      </p:sp>
      <p:sp>
        <p:nvSpPr>
          <p:cNvPr id="5" name="Shape 3"/>
          <p:cNvSpPr/>
          <p:nvPr/>
        </p:nvSpPr>
        <p:spPr>
          <a:xfrm>
            <a:off x="411480" y="960120"/>
            <a:ext cx="64008" cy="3977640"/>
          </a:xfrm>
          <a:prstGeom prst="rect">
            <a:avLst/>
          </a:prstGeom>
          <a:solidFill>
            <a:srgbClr val="065A82"/>
          </a:solidFill>
          <a:ln w="12700">
            <a:solidFill>
              <a:srgbClr val="065A82"/>
            </a:solidFill>
            <a:prstDash val="solid"/>
          </a:ln>
        </p:spPr>
        <p:txBody>
          <a:bodyPr/>
          <a:lstStyle/>
          <a:p>
            <a:endParaRPr lang="en-US"/>
          </a:p>
        </p:txBody>
      </p:sp>
      <p:sp>
        <p:nvSpPr>
          <p:cNvPr id="6" name="Text 4"/>
          <p:cNvSpPr/>
          <p:nvPr/>
        </p:nvSpPr>
        <p:spPr>
          <a:xfrm>
            <a:off x="548640" y="1033272"/>
            <a:ext cx="3794760" cy="347472"/>
          </a:xfrm>
          <a:prstGeom prst="rect">
            <a:avLst/>
          </a:prstGeom>
          <a:noFill/>
          <a:ln/>
        </p:spPr>
        <p:txBody>
          <a:bodyPr wrap="square" lIns="0" tIns="0" rIns="0" bIns="0" rtlCol="0" anchor="ctr"/>
          <a:lstStyle/>
          <a:p>
            <a:pPr marL="0" indent="0">
              <a:buNone/>
            </a:pPr>
            <a:r>
              <a:rPr lang="en-US" sz="1300" b="1" dirty="0">
                <a:solidFill>
                  <a:srgbClr val="065A82"/>
                </a:solidFill>
                <a:latin typeface="Cambria" pitchFamily="34" charset="0"/>
                <a:ea typeface="Cambria" pitchFamily="34" charset="-122"/>
                <a:cs typeface="Cambria" pitchFamily="34" charset="-120"/>
              </a:rPr>
              <a:t>The Problem</a:t>
            </a:r>
            <a:endParaRPr lang="en-US" sz="1300" dirty="0"/>
          </a:p>
        </p:txBody>
      </p:sp>
      <p:sp>
        <p:nvSpPr>
          <p:cNvPr id="7" name="Text 5"/>
          <p:cNvSpPr/>
          <p:nvPr/>
        </p:nvSpPr>
        <p:spPr>
          <a:xfrm>
            <a:off x="548640" y="1371600"/>
            <a:ext cx="3794760" cy="3474720"/>
          </a:xfrm>
          <a:prstGeom prst="rect">
            <a:avLst/>
          </a:prstGeom>
          <a:noFill/>
          <a:ln/>
        </p:spPr>
        <p:txBody>
          <a:bodyPr wrap="square" lIns="0" tIns="0" rIns="0" bIns="0" rtlCol="0" anchor="t"/>
          <a:lstStyle/>
          <a:p>
            <a:pPr marL="0" indent="0">
              <a:buNone/>
            </a:pPr>
            <a:r>
              <a:rPr lang="en-US" sz="1200" dirty="0">
                <a:solidFill>
                  <a:srgbClr val="1A2D3D"/>
                </a:solidFill>
                <a:latin typeface="Calibri" pitchFamily="34" charset="0"/>
                <a:ea typeface="Calibri" pitchFamily="34" charset="-122"/>
                <a:cs typeface="Calibri" pitchFamily="34" charset="-120"/>
              </a:rPr>
              <a:t>When predictors are highly correlated with each other (r &gt; .90), the regression solution becomes unstable:</a:t>
            </a:r>
            <a:endParaRPr lang="en-US" sz="1200" dirty="0"/>
          </a:p>
          <a:p>
            <a:pPr marL="0" indent="0">
              <a:buNone/>
            </a:pPr>
            <a:endParaRPr lang="en-US" sz="1200" dirty="0"/>
          </a:p>
          <a:p>
            <a:pPr marL="0" indent="0">
              <a:buNone/>
            </a:pPr>
            <a:r>
              <a:rPr lang="en-US" sz="1200" dirty="0">
                <a:solidFill>
                  <a:srgbClr val="1A2D3D"/>
                </a:solidFill>
                <a:latin typeface="Calibri" pitchFamily="34" charset="0"/>
                <a:ea typeface="Calibri" pitchFamily="34" charset="-122"/>
                <a:cs typeface="Calibri" pitchFamily="34" charset="-120"/>
              </a:rPr>
              <a:t>• Standard errors inflate dramatically</a:t>
            </a:r>
            <a:endParaRPr lang="en-US" sz="1200" dirty="0"/>
          </a:p>
          <a:p>
            <a:pPr marL="0" indent="0">
              <a:buNone/>
            </a:pPr>
            <a:r>
              <a:rPr lang="en-US" sz="1200" dirty="0">
                <a:solidFill>
                  <a:srgbClr val="1A2D3D"/>
                </a:solidFill>
                <a:latin typeface="Calibri" pitchFamily="34" charset="0"/>
                <a:ea typeface="Calibri" pitchFamily="34" charset="-122"/>
                <a:cs typeface="Calibri" pitchFamily="34" charset="-120"/>
              </a:rPr>
              <a:t>• Coefficients become unreliable and may flip sign</a:t>
            </a:r>
            <a:endParaRPr lang="en-US" sz="1200" dirty="0"/>
          </a:p>
          <a:p>
            <a:pPr marL="0" indent="0">
              <a:buNone/>
            </a:pPr>
            <a:r>
              <a:rPr lang="en-US" sz="1200" dirty="0">
                <a:solidFill>
                  <a:srgbClr val="1A2D3D"/>
                </a:solidFill>
                <a:latin typeface="Calibri" pitchFamily="34" charset="0"/>
                <a:ea typeface="Calibri" pitchFamily="34" charset="-122"/>
                <a:cs typeface="Calibri" pitchFamily="34" charset="-120"/>
              </a:rPr>
              <a:t>• The matrix inversion required by OLS becomes singular or near-singular</a:t>
            </a:r>
            <a:endParaRPr lang="en-US" sz="1200" dirty="0"/>
          </a:p>
          <a:p>
            <a:pPr marL="0" indent="0">
              <a:buNone/>
            </a:pPr>
            <a:endParaRPr lang="en-US" sz="1200" dirty="0"/>
          </a:p>
          <a:p>
            <a:pPr marL="0" indent="0">
              <a:buNone/>
            </a:pPr>
            <a:r>
              <a:rPr lang="en-US" sz="1200" dirty="0">
                <a:solidFill>
                  <a:srgbClr val="1A2D3D"/>
                </a:solidFill>
                <a:latin typeface="Calibri" pitchFamily="34" charset="0"/>
                <a:ea typeface="Calibri" pitchFamily="34" charset="-122"/>
                <a:cs typeface="Calibri" pitchFamily="34" charset="-120"/>
              </a:rPr>
              <a:t>Singularity (r = 1.0) causes outright computational failure.</a:t>
            </a:r>
            <a:endParaRPr lang="en-US" sz="1200" dirty="0"/>
          </a:p>
        </p:txBody>
      </p:sp>
      <p:sp>
        <p:nvSpPr>
          <p:cNvPr id="8" name="Shape 6"/>
          <p:cNvSpPr/>
          <p:nvPr/>
        </p:nvSpPr>
        <p:spPr>
          <a:xfrm>
            <a:off x="4754880" y="960120"/>
            <a:ext cx="3977640" cy="1874520"/>
          </a:xfrm>
          <a:prstGeom prst="rect">
            <a:avLst/>
          </a:prstGeom>
          <a:solidFill>
            <a:srgbClr val="FFFFFF"/>
          </a:solidFill>
          <a:ln w="12700">
            <a:solidFill>
              <a:srgbClr val="D6E4EC"/>
            </a:solidFill>
            <a:prstDash val="solid"/>
          </a:ln>
          <a:effectLst>
            <a:outerShdw blurRad="76200" dist="25400" dir="8100000" algn="bl" rotWithShape="0">
              <a:srgbClr val="000000">
                <a:alpha val="10000"/>
              </a:srgbClr>
            </a:outerShdw>
          </a:effectLst>
        </p:spPr>
        <p:txBody>
          <a:bodyPr/>
          <a:lstStyle/>
          <a:p>
            <a:endParaRPr lang="en-US"/>
          </a:p>
        </p:txBody>
      </p:sp>
      <p:sp>
        <p:nvSpPr>
          <p:cNvPr id="9" name="Shape 7"/>
          <p:cNvSpPr/>
          <p:nvPr/>
        </p:nvSpPr>
        <p:spPr>
          <a:xfrm>
            <a:off x="4754880" y="960120"/>
            <a:ext cx="64008" cy="1874520"/>
          </a:xfrm>
          <a:prstGeom prst="rect">
            <a:avLst/>
          </a:prstGeom>
          <a:solidFill>
            <a:srgbClr val="1C7293"/>
          </a:solidFill>
          <a:ln w="12700">
            <a:solidFill>
              <a:srgbClr val="1C7293"/>
            </a:solidFill>
            <a:prstDash val="solid"/>
          </a:ln>
        </p:spPr>
        <p:txBody>
          <a:bodyPr/>
          <a:lstStyle/>
          <a:p>
            <a:endParaRPr lang="en-US"/>
          </a:p>
        </p:txBody>
      </p:sp>
      <p:sp>
        <p:nvSpPr>
          <p:cNvPr id="10" name="Text 8"/>
          <p:cNvSpPr/>
          <p:nvPr/>
        </p:nvSpPr>
        <p:spPr>
          <a:xfrm>
            <a:off x="4892040" y="1033272"/>
            <a:ext cx="3794760" cy="347472"/>
          </a:xfrm>
          <a:prstGeom prst="rect">
            <a:avLst/>
          </a:prstGeom>
          <a:noFill/>
          <a:ln/>
        </p:spPr>
        <p:txBody>
          <a:bodyPr wrap="square" lIns="0" tIns="0" rIns="0" bIns="0" rtlCol="0" anchor="ctr"/>
          <a:lstStyle/>
          <a:p>
            <a:pPr marL="0" indent="0">
              <a:buNone/>
            </a:pPr>
            <a:r>
              <a:rPr lang="en-US" sz="1300" b="1" dirty="0">
                <a:solidFill>
                  <a:srgbClr val="1C7293"/>
                </a:solidFill>
                <a:latin typeface="Cambria" pitchFamily="34" charset="0"/>
                <a:ea typeface="Cambria" pitchFamily="34" charset="-122"/>
                <a:cs typeface="Cambria" pitchFamily="34" charset="-120"/>
              </a:rPr>
              <a:t>Detection</a:t>
            </a:r>
            <a:endParaRPr lang="en-US" sz="1300" dirty="0"/>
          </a:p>
        </p:txBody>
      </p:sp>
      <p:sp>
        <p:nvSpPr>
          <p:cNvPr id="11" name="Text 9"/>
          <p:cNvSpPr/>
          <p:nvPr/>
        </p:nvSpPr>
        <p:spPr>
          <a:xfrm>
            <a:off x="4892040" y="1371600"/>
            <a:ext cx="3794760" cy="1371600"/>
          </a:xfrm>
          <a:prstGeom prst="rect">
            <a:avLst/>
          </a:prstGeom>
          <a:noFill/>
          <a:ln/>
        </p:spPr>
        <p:txBody>
          <a:bodyPr wrap="square" lIns="0" tIns="0" rIns="0" bIns="0" rtlCol="0" anchor="t"/>
          <a:lstStyle/>
          <a:p>
            <a:pPr marL="0" indent="0">
              <a:buNone/>
            </a:pPr>
            <a:r>
              <a:rPr lang="en-US" sz="1200" dirty="0">
                <a:solidFill>
                  <a:srgbClr val="1A2D3D"/>
                </a:solidFill>
                <a:latin typeface="Calibri" pitchFamily="34" charset="0"/>
                <a:ea typeface="Calibri" pitchFamily="34" charset="-122"/>
                <a:cs typeface="Calibri" pitchFamily="34" charset="-120"/>
              </a:rPr>
              <a:t>• Bivariate correlations &gt; .90</a:t>
            </a:r>
            <a:endParaRPr lang="en-US" sz="1200" dirty="0"/>
          </a:p>
          <a:p>
            <a:pPr marL="0" indent="0">
              <a:buNone/>
            </a:pPr>
            <a:r>
              <a:rPr lang="en-US" sz="1200" dirty="0">
                <a:solidFill>
                  <a:srgbClr val="1A2D3D"/>
                </a:solidFill>
                <a:latin typeface="Calibri" pitchFamily="34" charset="0"/>
                <a:ea typeface="Calibri" pitchFamily="34" charset="-122"/>
                <a:cs typeface="Calibri" pitchFamily="34" charset="-120"/>
              </a:rPr>
              <a:t>• Variance Inflation Factor (VIF &gt; 10 = problematic; &gt; 5 = warning)</a:t>
            </a:r>
            <a:endParaRPr lang="en-US" sz="1200" dirty="0"/>
          </a:p>
          <a:p>
            <a:pPr marL="0" indent="0">
              <a:buNone/>
            </a:pPr>
            <a:r>
              <a:rPr lang="en-US" sz="1200" dirty="0">
                <a:solidFill>
                  <a:srgbClr val="1A2D3D"/>
                </a:solidFill>
                <a:latin typeface="Calibri" pitchFamily="34" charset="0"/>
                <a:ea typeface="Calibri" pitchFamily="34" charset="-122"/>
                <a:cs typeface="Calibri" pitchFamily="34" charset="-120"/>
              </a:rPr>
              <a:t>• Tolerance &lt; .10 (= 1/VIF)</a:t>
            </a:r>
            <a:endParaRPr lang="en-US" sz="1200" dirty="0"/>
          </a:p>
          <a:p>
            <a:pPr marL="0" indent="0">
              <a:buNone/>
            </a:pPr>
            <a:r>
              <a:rPr lang="en-US" sz="1200" dirty="0">
                <a:solidFill>
                  <a:srgbClr val="1A2D3D"/>
                </a:solidFill>
                <a:latin typeface="Calibri" pitchFamily="34" charset="0"/>
                <a:ea typeface="Calibri" pitchFamily="34" charset="-122"/>
                <a:cs typeface="Calibri" pitchFamily="34" charset="-120"/>
              </a:rPr>
              <a:t>• Condition Index &gt; 30 signals multicollinearity</a:t>
            </a:r>
            <a:endParaRPr lang="en-US" sz="1200" dirty="0"/>
          </a:p>
        </p:txBody>
      </p:sp>
      <p:sp>
        <p:nvSpPr>
          <p:cNvPr id="12" name="Shape 10"/>
          <p:cNvSpPr/>
          <p:nvPr/>
        </p:nvSpPr>
        <p:spPr>
          <a:xfrm>
            <a:off x="4754880" y="2926080"/>
            <a:ext cx="3977640" cy="2011680"/>
          </a:xfrm>
          <a:prstGeom prst="rect">
            <a:avLst/>
          </a:prstGeom>
          <a:solidFill>
            <a:srgbClr val="FFFFFF"/>
          </a:solidFill>
          <a:ln w="12700">
            <a:solidFill>
              <a:srgbClr val="D6E4EC"/>
            </a:solidFill>
            <a:prstDash val="solid"/>
          </a:ln>
          <a:effectLst>
            <a:outerShdw blurRad="76200" dist="25400" dir="8100000" algn="bl" rotWithShape="0">
              <a:srgbClr val="000000">
                <a:alpha val="10000"/>
              </a:srgbClr>
            </a:outerShdw>
          </a:effectLst>
        </p:spPr>
        <p:txBody>
          <a:bodyPr/>
          <a:lstStyle/>
          <a:p>
            <a:endParaRPr lang="en-US"/>
          </a:p>
        </p:txBody>
      </p:sp>
      <p:sp>
        <p:nvSpPr>
          <p:cNvPr id="13" name="Shape 11"/>
          <p:cNvSpPr/>
          <p:nvPr/>
        </p:nvSpPr>
        <p:spPr>
          <a:xfrm>
            <a:off x="4754880" y="2926080"/>
            <a:ext cx="64008" cy="2011680"/>
          </a:xfrm>
          <a:prstGeom prst="rect">
            <a:avLst/>
          </a:prstGeom>
          <a:solidFill>
            <a:srgbClr val="E8A838"/>
          </a:solidFill>
          <a:ln w="12700">
            <a:solidFill>
              <a:srgbClr val="E8A838"/>
            </a:solidFill>
            <a:prstDash val="solid"/>
          </a:ln>
        </p:spPr>
        <p:txBody>
          <a:bodyPr/>
          <a:lstStyle/>
          <a:p>
            <a:endParaRPr lang="en-US"/>
          </a:p>
        </p:txBody>
      </p:sp>
      <p:sp>
        <p:nvSpPr>
          <p:cNvPr id="14" name="Text 12"/>
          <p:cNvSpPr/>
          <p:nvPr/>
        </p:nvSpPr>
        <p:spPr>
          <a:xfrm>
            <a:off x="4892040" y="2999232"/>
            <a:ext cx="3794760" cy="347472"/>
          </a:xfrm>
          <a:prstGeom prst="rect">
            <a:avLst/>
          </a:prstGeom>
          <a:noFill/>
          <a:ln/>
        </p:spPr>
        <p:txBody>
          <a:bodyPr wrap="square" lIns="0" tIns="0" rIns="0" bIns="0" rtlCol="0" anchor="ctr"/>
          <a:lstStyle/>
          <a:p>
            <a:pPr marL="0" indent="0">
              <a:buNone/>
            </a:pPr>
            <a:r>
              <a:rPr lang="en-US" sz="1300" b="1" dirty="0">
                <a:solidFill>
                  <a:srgbClr val="E8A838"/>
                </a:solidFill>
                <a:latin typeface="Cambria" pitchFamily="34" charset="0"/>
                <a:ea typeface="Cambria" pitchFamily="34" charset="-122"/>
                <a:cs typeface="Cambria" pitchFamily="34" charset="-120"/>
              </a:rPr>
              <a:t>Solutions</a:t>
            </a:r>
            <a:endParaRPr lang="en-US" sz="1300" dirty="0"/>
          </a:p>
        </p:txBody>
      </p:sp>
      <p:sp>
        <p:nvSpPr>
          <p:cNvPr id="15" name="Text 13"/>
          <p:cNvSpPr/>
          <p:nvPr/>
        </p:nvSpPr>
        <p:spPr>
          <a:xfrm>
            <a:off x="4892040" y="3337560"/>
            <a:ext cx="3794760" cy="1508760"/>
          </a:xfrm>
          <a:prstGeom prst="rect">
            <a:avLst/>
          </a:prstGeom>
          <a:noFill/>
          <a:ln/>
        </p:spPr>
        <p:txBody>
          <a:bodyPr wrap="square" lIns="0" tIns="0" rIns="0" bIns="0" rtlCol="0" anchor="t"/>
          <a:lstStyle/>
          <a:p>
            <a:pPr marL="0" indent="0">
              <a:buNone/>
            </a:pPr>
            <a:r>
              <a:rPr lang="en-US" sz="1200" dirty="0">
                <a:solidFill>
                  <a:srgbClr val="1A2D3D"/>
                </a:solidFill>
                <a:latin typeface="Calibri" pitchFamily="34" charset="0"/>
                <a:ea typeface="Calibri" pitchFamily="34" charset="-122"/>
                <a:cs typeface="Calibri" pitchFamily="34" charset="-120"/>
              </a:rPr>
              <a:t>• Remove or combine redundant predictors</a:t>
            </a:r>
            <a:endParaRPr lang="en-US" sz="1200" dirty="0"/>
          </a:p>
          <a:p>
            <a:pPr marL="0" indent="0">
              <a:buNone/>
            </a:pPr>
            <a:r>
              <a:rPr lang="en-US" sz="1200" dirty="0">
                <a:solidFill>
                  <a:srgbClr val="1A2D3D"/>
                </a:solidFill>
                <a:latin typeface="Calibri" pitchFamily="34" charset="0"/>
                <a:ea typeface="Calibri" pitchFamily="34" charset="-122"/>
                <a:cs typeface="Calibri" pitchFamily="34" charset="-120"/>
              </a:rPr>
              <a:t>• Compute a composite score (e.g., sum or factor score)</a:t>
            </a:r>
            <a:endParaRPr lang="en-US" sz="1200" dirty="0"/>
          </a:p>
          <a:p>
            <a:pPr marL="0" indent="0">
              <a:buNone/>
            </a:pPr>
            <a:r>
              <a:rPr lang="en-US" sz="1200" dirty="0">
                <a:solidFill>
                  <a:srgbClr val="1A2D3D"/>
                </a:solidFill>
                <a:latin typeface="Calibri" pitchFamily="34" charset="0"/>
                <a:ea typeface="Calibri" pitchFamily="34" charset="-122"/>
                <a:cs typeface="Calibri" pitchFamily="34" charset="-120"/>
              </a:rPr>
              <a:t>• Ridge regression (penalises large coefficients)</a:t>
            </a:r>
            <a:endParaRPr lang="en-US" sz="1200" dirty="0"/>
          </a:p>
          <a:p>
            <a:pPr marL="0" indent="0">
              <a:buNone/>
            </a:pPr>
            <a:r>
              <a:rPr lang="en-US" sz="1200" dirty="0">
                <a:solidFill>
                  <a:srgbClr val="1A2D3D"/>
                </a:solidFill>
                <a:latin typeface="Calibri" pitchFamily="34" charset="0"/>
                <a:ea typeface="Calibri" pitchFamily="34" charset="-122"/>
                <a:cs typeface="Calibri" pitchFamily="34" charset="-120"/>
              </a:rPr>
              <a:t>• Principal Component Regression</a:t>
            </a:r>
            <a:endParaRPr lang="en-US" sz="12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8A838"/>
          </a:solidFill>
          <a:ln w="12700">
            <a:solidFill>
              <a:srgbClr val="E8A838"/>
            </a:solidFill>
            <a:prstDash val="solid"/>
          </a:ln>
        </p:spPr>
        <p:txBody>
          <a:bodyPr/>
          <a:lstStyle/>
          <a:p>
            <a:endParaRPr lang="en-US"/>
          </a:p>
        </p:txBody>
      </p:sp>
      <p:sp>
        <p:nvSpPr>
          <p:cNvPr id="3" name="Text 1"/>
          <p:cNvSpPr/>
          <p:nvPr/>
        </p:nvSpPr>
        <p:spPr>
          <a:xfrm>
            <a:off x="411480" y="164592"/>
            <a:ext cx="8321040" cy="640080"/>
          </a:xfrm>
          <a:prstGeom prst="rect">
            <a:avLst/>
          </a:prstGeom>
          <a:noFill/>
          <a:ln/>
        </p:spPr>
        <p:txBody>
          <a:bodyPr wrap="square" lIns="0" tIns="0" rIns="0" bIns="0" rtlCol="0" anchor="ctr"/>
          <a:lstStyle/>
          <a:p>
            <a:pPr marL="0" indent="0">
              <a:buNone/>
            </a:pPr>
            <a:r>
              <a:rPr lang="en-US" sz="2800" b="1" dirty="0">
                <a:solidFill>
                  <a:srgbClr val="065A82"/>
                </a:solidFill>
                <a:latin typeface="Cambria" pitchFamily="34" charset="0"/>
                <a:ea typeface="Cambria" pitchFamily="34" charset="-122"/>
                <a:cs typeface="Cambria" pitchFamily="34" charset="-120"/>
              </a:rPr>
              <a:t>Data Screening Before Analysis (T&amp;F, Ch. 4)</a:t>
            </a:r>
            <a:endParaRPr lang="en-US" sz="2800" dirty="0"/>
          </a:p>
        </p:txBody>
      </p:sp>
      <p:sp>
        <p:nvSpPr>
          <p:cNvPr id="4" name="Text 2"/>
          <p:cNvSpPr/>
          <p:nvPr/>
        </p:nvSpPr>
        <p:spPr>
          <a:xfrm>
            <a:off x="411480" y="886968"/>
            <a:ext cx="8321040" cy="384048"/>
          </a:xfrm>
          <a:prstGeom prst="rect">
            <a:avLst/>
          </a:prstGeom>
          <a:noFill/>
          <a:ln/>
        </p:spPr>
        <p:txBody>
          <a:bodyPr wrap="square" lIns="0" tIns="0" rIns="0" bIns="0" rtlCol="0" anchor="ctr"/>
          <a:lstStyle/>
          <a:p>
            <a:pPr marL="0" indent="0">
              <a:buNone/>
            </a:pPr>
            <a:r>
              <a:rPr lang="en-US" sz="1350" i="1" dirty="0">
                <a:solidFill>
                  <a:srgbClr val="5A7080"/>
                </a:solidFill>
                <a:latin typeface="Calibri" pitchFamily="34" charset="0"/>
                <a:ea typeface="Calibri" pitchFamily="34" charset="-122"/>
                <a:cs typeface="Calibri" pitchFamily="34" charset="-120"/>
              </a:rPr>
              <a:t>Tabachnick &amp; Fidell recommend a systematic screening protocol before any multivariate analysis:</a:t>
            </a:r>
            <a:endParaRPr lang="en-US" sz="1350" dirty="0"/>
          </a:p>
        </p:txBody>
      </p:sp>
      <p:sp>
        <p:nvSpPr>
          <p:cNvPr id="5" name="Shape 3"/>
          <p:cNvSpPr/>
          <p:nvPr/>
        </p:nvSpPr>
        <p:spPr>
          <a:xfrm>
            <a:off x="411480" y="1371600"/>
            <a:ext cx="4069080" cy="1115568"/>
          </a:xfrm>
          <a:prstGeom prst="rect">
            <a:avLst/>
          </a:prstGeom>
          <a:solidFill>
            <a:srgbClr val="FFFFFF"/>
          </a:solidFill>
          <a:ln w="12700">
            <a:solidFill>
              <a:srgbClr val="D6E4EC"/>
            </a:solidFill>
            <a:prstDash val="solid"/>
          </a:ln>
          <a:effectLst>
            <a:outerShdw blurRad="50800" dist="25400" dir="8100000" algn="bl" rotWithShape="0">
              <a:srgbClr val="000000">
                <a:alpha val="8000"/>
              </a:srgbClr>
            </a:outerShdw>
          </a:effectLst>
        </p:spPr>
        <p:txBody>
          <a:bodyPr/>
          <a:lstStyle/>
          <a:p>
            <a:endParaRPr lang="en-US"/>
          </a:p>
        </p:txBody>
      </p:sp>
      <p:sp>
        <p:nvSpPr>
          <p:cNvPr id="6" name="Shape 4"/>
          <p:cNvSpPr/>
          <p:nvPr/>
        </p:nvSpPr>
        <p:spPr>
          <a:xfrm>
            <a:off x="411480" y="1371600"/>
            <a:ext cx="548640" cy="1115568"/>
          </a:xfrm>
          <a:prstGeom prst="rect">
            <a:avLst/>
          </a:prstGeom>
          <a:solidFill>
            <a:srgbClr val="065A82"/>
          </a:solidFill>
          <a:ln w="12700">
            <a:solidFill>
              <a:srgbClr val="065A82"/>
            </a:solidFill>
            <a:prstDash val="solid"/>
          </a:ln>
        </p:spPr>
        <p:txBody>
          <a:bodyPr/>
          <a:lstStyle/>
          <a:p>
            <a:endParaRPr lang="en-US"/>
          </a:p>
        </p:txBody>
      </p:sp>
      <p:sp>
        <p:nvSpPr>
          <p:cNvPr id="7" name="Text 5"/>
          <p:cNvSpPr/>
          <p:nvPr/>
        </p:nvSpPr>
        <p:spPr>
          <a:xfrm>
            <a:off x="411480" y="1645920"/>
            <a:ext cx="54864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01</a:t>
            </a:r>
            <a:endParaRPr lang="en-US" sz="2000" dirty="0"/>
          </a:p>
        </p:txBody>
      </p:sp>
      <p:sp>
        <p:nvSpPr>
          <p:cNvPr id="8" name="Text 6"/>
          <p:cNvSpPr/>
          <p:nvPr/>
        </p:nvSpPr>
        <p:spPr>
          <a:xfrm>
            <a:off x="1051560" y="1426464"/>
            <a:ext cx="3337560" cy="347472"/>
          </a:xfrm>
          <a:prstGeom prst="rect">
            <a:avLst/>
          </a:prstGeom>
          <a:noFill/>
          <a:ln/>
        </p:spPr>
        <p:txBody>
          <a:bodyPr wrap="square" lIns="0" tIns="0" rIns="0" bIns="0" rtlCol="0" anchor="ctr"/>
          <a:lstStyle/>
          <a:p>
            <a:pPr marL="0" indent="0">
              <a:buNone/>
            </a:pPr>
            <a:r>
              <a:rPr lang="en-US" sz="1350" b="1" dirty="0">
                <a:solidFill>
                  <a:srgbClr val="065A82"/>
                </a:solidFill>
                <a:latin typeface="Cambria" pitchFamily="34" charset="0"/>
                <a:ea typeface="Cambria" pitchFamily="34" charset="-122"/>
                <a:cs typeface="Cambria" pitchFamily="34" charset="-120"/>
              </a:rPr>
              <a:t>Accuracy</a:t>
            </a:r>
            <a:endParaRPr lang="en-US" sz="1350" dirty="0"/>
          </a:p>
        </p:txBody>
      </p:sp>
      <p:sp>
        <p:nvSpPr>
          <p:cNvPr id="9" name="Text 7"/>
          <p:cNvSpPr/>
          <p:nvPr/>
        </p:nvSpPr>
        <p:spPr>
          <a:xfrm>
            <a:off x="1051560" y="1783080"/>
            <a:ext cx="3337560" cy="640080"/>
          </a:xfrm>
          <a:prstGeom prst="rect">
            <a:avLst/>
          </a:prstGeom>
          <a:noFill/>
          <a:ln/>
        </p:spPr>
        <p:txBody>
          <a:bodyPr wrap="square" lIns="0" tIns="0" rIns="0" bIns="0" rtlCol="0" anchor="t"/>
          <a:lstStyle/>
          <a:p>
            <a:pPr marL="0" indent="0">
              <a:buNone/>
            </a:pPr>
            <a:r>
              <a:rPr lang="en-US" sz="1150" dirty="0">
                <a:solidFill>
                  <a:srgbClr val="1A2D3D"/>
                </a:solidFill>
                <a:latin typeface="Calibri" pitchFamily="34" charset="0"/>
                <a:ea typeface="Calibri" pitchFamily="34" charset="-122"/>
                <a:cs typeface="Calibri" pitchFamily="34" charset="-120"/>
              </a:rPr>
              <a:t>Check data entry errors, range checks, frequency distributions for impossible values</a:t>
            </a:r>
            <a:endParaRPr lang="en-US" sz="1150" dirty="0"/>
          </a:p>
        </p:txBody>
      </p:sp>
      <p:sp>
        <p:nvSpPr>
          <p:cNvPr id="10" name="Shape 8"/>
          <p:cNvSpPr/>
          <p:nvPr/>
        </p:nvSpPr>
        <p:spPr>
          <a:xfrm>
            <a:off x="4663440" y="1371600"/>
            <a:ext cx="4069080" cy="1115568"/>
          </a:xfrm>
          <a:prstGeom prst="rect">
            <a:avLst/>
          </a:prstGeom>
          <a:solidFill>
            <a:srgbClr val="FFFFFF"/>
          </a:solidFill>
          <a:ln w="12700">
            <a:solidFill>
              <a:srgbClr val="D6E4EC"/>
            </a:solidFill>
            <a:prstDash val="solid"/>
          </a:ln>
          <a:effectLst>
            <a:outerShdw blurRad="50800" dist="25400" dir="8100000" algn="bl" rotWithShape="0">
              <a:srgbClr val="000000">
                <a:alpha val="8000"/>
              </a:srgbClr>
            </a:outerShdw>
          </a:effectLst>
        </p:spPr>
        <p:txBody>
          <a:bodyPr/>
          <a:lstStyle/>
          <a:p>
            <a:endParaRPr lang="en-US"/>
          </a:p>
        </p:txBody>
      </p:sp>
      <p:sp>
        <p:nvSpPr>
          <p:cNvPr id="11" name="Shape 9"/>
          <p:cNvSpPr/>
          <p:nvPr/>
        </p:nvSpPr>
        <p:spPr>
          <a:xfrm>
            <a:off x="4663440" y="1371600"/>
            <a:ext cx="548640" cy="1115568"/>
          </a:xfrm>
          <a:prstGeom prst="rect">
            <a:avLst/>
          </a:prstGeom>
          <a:solidFill>
            <a:srgbClr val="1C7293"/>
          </a:solidFill>
          <a:ln w="12700">
            <a:solidFill>
              <a:srgbClr val="1C7293"/>
            </a:solidFill>
            <a:prstDash val="solid"/>
          </a:ln>
        </p:spPr>
        <p:txBody>
          <a:bodyPr/>
          <a:lstStyle/>
          <a:p>
            <a:endParaRPr lang="en-US"/>
          </a:p>
        </p:txBody>
      </p:sp>
      <p:sp>
        <p:nvSpPr>
          <p:cNvPr id="12" name="Text 10"/>
          <p:cNvSpPr/>
          <p:nvPr/>
        </p:nvSpPr>
        <p:spPr>
          <a:xfrm>
            <a:off x="4663440" y="1645920"/>
            <a:ext cx="54864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02</a:t>
            </a:r>
            <a:endParaRPr lang="en-US" sz="2000" dirty="0"/>
          </a:p>
        </p:txBody>
      </p:sp>
      <p:sp>
        <p:nvSpPr>
          <p:cNvPr id="13" name="Text 11"/>
          <p:cNvSpPr/>
          <p:nvPr/>
        </p:nvSpPr>
        <p:spPr>
          <a:xfrm>
            <a:off x="5303520" y="1426464"/>
            <a:ext cx="3337560" cy="347472"/>
          </a:xfrm>
          <a:prstGeom prst="rect">
            <a:avLst/>
          </a:prstGeom>
          <a:noFill/>
          <a:ln/>
        </p:spPr>
        <p:txBody>
          <a:bodyPr wrap="square" lIns="0" tIns="0" rIns="0" bIns="0" rtlCol="0" anchor="ctr"/>
          <a:lstStyle/>
          <a:p>
            <a:pPr marL="0" indent="0">
              <a:buNone/>
            </a:pPr>
            <a:r>
              <a:rPr lang="en-US" sz="1350" b="1" dirty="0">
                <a:solidFill>
                  <a:srgbClr val="1C7293"/>
                </a:solidFill>
                <a:latin typeface="Cambria" pitchFamily="34" charset="0"/>
                <a:ea typeface="Cambria" pitchFamily="34" charset="-122"/>
                <a:cs typeface="Cambria" pitchFamily="34" charset="-120"/>
              </a:rPr>
              <a:t>Missing Data</a:t>
            </a:r>
            <a:endParaRPr lang="en-US" sz="1350" dirty="0"/>
          </a:p>
        </p:txBody>
      </p:sp>
      <p:sp>
        <p:nvSpPr>
          <p:cNvPr id="14" name="Text 12"/>
          <p:cNvSpPr/>
          <p:nvPr/>
        </p:nvSpPr>
        <p:spPr>
          <a:xfrm>
            <a:off x="5303520" y="1783080"/>
            <a:ext cx="3337560" cy="640080"/>
          </a:xfrm>
          <a:prstGeom prst="rect">
            <a:avLst/>
          </a:prstGeom>
          <a:noFill/>
          <a:ln/>
        </p:spPr>
        <p:txBody>
          <a:bodyPr wrap="square" lIns="0" tIns="0" rIns="0" bIns="0" rtlCol="0" anchor="t"/>
          <a:lstStyle/>
          <a:p>
            <a:pPr marL="0" indent="0">
              <a:buNone/>
            </a:pPr>
            <a:r>
              <a:rPr lang="en-US" sz="1150" dirty="0">
                <a:solidFill>
                  <a:srgbClr val="1A2D3D"/>
                </a:solidFill>
                <a:latin typeface="Calibri" pitchFamily="34" charset="0"/>
                <a:ea typeface="Calibri" pitchFamily="34" charset="-122"/>
                <a:cs typeface="Calibri" pitchFamily="34" charset="-120"/>
              </a:rPr>
              <a:t>Assess pattern (MCAR/MAR/MNAR), compute % missing, choose strategy (MI, FIML, deletion)</a:t>
            </a:r>
            <a:endParaRPr lang="en-US" sz="1150" dirty="0"/>
          </a:p>
        </p:txBody>
      </p:sp>
      <p:sp>
        <p:nvSpPr>
          <p:cNvPr id="15" name="Shape 13"/>
          <p:cNvSpPr/>
          <p:nvPr/>
        </p:nvSpPr>
        <p:spPr>
          <a:xfrm>
            <a:off x="411480" y="2606040"/>
            <a:ext cx="4069080" cy="1115568"/>
          </a:xfrm>
          <a:prstGeom prst="rect">
            <a:avLst/>
          </a:prstGeom>
          <a:solidFill>
            <a:srgbClr val="FFFFFF"/>
          </a:solidFill>
          <a:ln w="12700">
            <a:solidFill>
              <a:srgbClr val="D6E4EC"/>
            </a:solidFill>
            <a:prstDash val="solid"/>
          </a:ln>
          <a:effectLst>
            <a:outerShdw blurRad="50800" dist="25400" dir="8100000" algn="bl" rotWithShape="0">
              <a:srgbClr val="000000">
                <a:alpha val="8000"/>
              </a:srgbClr>
            </a:outerShdw>
          </a:effectLst>
        </p:spPr>
        <p:txBody>
          <a:bodyPr/>
          <a:lstStyle/>
          <a:p>
            <a:endParaRPr lang="en-US"/>
          </a:p>
        </p:txBody>
      </p:sp>
      <p:sp>
        <p:nvSpPr>
          <p:cNvPr id="16" name="Shape 14"/>
          <p:cNvSpPr/>
          <p:nvPr/>
        </p:nvSpPr>
        <p:spPr>
          <a:xfrm>
            <a:off x="411480" y="2606040"/>
            <a:ext cx="548640" cy="1115568"/>
          </a:xfrm>
          <a:prstGeom prst="rect">
            <a:avLst/>
          </a:prstGeom>
          <a:solidFill>
            <a:srgbClr val="E8A838"/>
          </a:solidFill>
          <a:ln w="12700">
            <a:solidFill>
              <a:srgbClr val="E8A838"/>
            </a:solidFill>
            <a:prstDash val="solid"/>
          </a:ln>
        </p:spPr>
        <p:txBody>
          <a:bodyPr/>
          <a:lstStyle/>
          <a:p>
            <a:endParaRPr lang="en-US"/>
          </a:p>
        </p:txBody>
      </p:sp>
      <p:sp>
        <p:nvSpPr>
          <p:cNvPr id="17" name="Text 15"/>
          <p:cNvSpPr/>
          <p:nvPr/>
        </p:nvSpPr>
        <p:spPr>
          <a:xfrm>
            <a:off x="411480" y="2880360"/>
            <a:ext cx="54864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03</a:t>
            </a:r>
            <a:endParaRPr lang="en-US" sz="2000" dirty="0"/>
          </a:p>
        </p:txBody>
      </p:sp>
      <p:sp>
        <p:nvSpPr>
          <p:cNvPr id="18" name="Text 16"/>
          <p:cNvSpPr/>
          <p:nvPr/>
        </p:nvSpPr>
        <p:spPr>
          <a:xfrm>
            <a:off x="1051560" y="2660904"/>
            <a:ext cx="3337560" cy="347472"/>
          </a:xfrm>
          <a:prstGeom prst="rect">
            <a:avLst/>
          </a:prstGeom>
          <a:noFill/>
          <a:ln/>
        </p:spPr>
        <p:txBody>
          <a:bodyPr wrap="square" lIns="0" tIns="0" rIns="0" bIns="0" rtlCol="0" anchor="ctr"/>
          <a:lstStyle/>
          <a:p>
            <a:pPr marL="0" indent="0">
              <a:buNone/>
            </a:pPr>
            <a:r>
              <a:rPr lang="en-US" sz="1350" b="1" dirty="0">
                <a:solidFill>
                  <a:srgbClr val="E8A838"/>
                </a:solidFill>
                <a:latin typeface="Cambria" pitchFamily="34" charset="0"/>
                <a:ea typeface="Cambria" pitchFamily="34" charset="-122"/>
                <a:cs typeface="Cambria" pitchFamily="34" charset="-120"/>
              </a:rPr>
              <a:t>Outliers</a:t>
            </a:r>
            <a:endParaRPr lang="en-US" sz="1350" dirty="0"/>
          </a:p>
        </p:txBody>
      </p:sp>
      <p:sp>
        <p:nvSpPr>
          <p:cNvPr id="19" name="Text 17"/>
          <p:cNvSpPr/>
          <p:nvPr/>
        </p:nvSpPr>
        <p:spPr>
          <a:xfrm>
            <a:off x="1051560" y="3017520"/>
            <a:ext cx="3337560" cy="640080"/>
          </a:xfrm>
          <a:prstGeom prst="rect">
            <a:avLst/>
          </a:prstGeom>
          <a:noFill/>
          <a:ln/>
        </p:spPr>
        <p:txBody>
          <a:bodyPr wrap="square" lIns="0" tIns="0" rIns="0" bIns="0" rtlCol="0" anchor="t"/>
          <a:lstStyle/>
          <a:p>
            <a:pPr marL="0" indent="0">
              <a:buNone/>
            </a:pPr>
            <a:r>
              <a:rPr lang="en-US" sz="1150" dirty="0">
                <a:solidFill>
                  <a:srgbClr val="1A2D3D"/>
                </a:solidFill>
                <a:latin typeface="Calibri" pitchFamily="34" charset="0"/>
                <a:ea typeface="Calibri" pitchFamily="34" charset="-122"/>
                <a:cs typeface="Calibri" pitchFamily="34" charset="-120"/>
              </a:rPr>
              <a:t>Univariate (z-scores), multivariate (Mahalanobis D²), influential (Cook's D)</a:t>
            </a:r>
            <a:endParaRPr lang="en-US" sz="1150" dirty="0"/>
          </a:p>
        </p:txBody>
      </p:sp>
      <p:sp>
        <p:nvSpPr>
          <p:cNvPr id="20" name="Shape 18"/>
          <p:cNvSpPr/>
          <p:nvPr/>
        </p:nvSpPr>
        <p:spPr>
          <a:xfrm>
            <a:off x="4663440" y="2606040"/>
            <a:ext cx="4069080" cy="1115568"/>
          </a:xfrm>
          <a:prstGeom prst="rect">
            <a:avLst/>
          </a:prstGeom>
          <a:solidFill>
            <a:srgbClr val="FFFFFF"/>
          </a:solidFill>
          <a:ln w="12700">
            <a:solidFill>
              <a:srgbClr val="D6E4EC"/>
            </a:solidFill>
            <a:prstDash val="solid"/>
          </a:ln>
          <a:effectLst>
            <a:outerShdw blurRad="50800" dist="25400" dir="8100000" algn="bl" rotWithShape="0">
              <a:srgbClr val="000000">
                <a:alpha val="8000"/>
              </a:srgbClr>
            </a:outerShdw>
          </a:effectLst>
        </p:spPr>
        <p:txBody>
          <a:bodyPr/>
          <a:lstStyle/>
          <a:p>
            <a:endParaRPr lang="en-US"/>
          </a:p>
        </p:txBody>
      </p:sp>
      <p:sp>
        <p:nvSpPr>
          <p:cNvPr id="21" name="Shape 19"/>
          <p:cNvSpPr/>
          <p:nvPr/>
        </p:nvSpPr>
        <p:spPr>
          <a:xfrm>
            <a:off x="4663440" y="2606040"/>
            <a:ext cx="548640" cy="1115568"/>
          </a:xfrm>
          <a:prstGeom prst="rect">
            <a:avLst/>
          </a:prstGeom>
          <a:solidFill>
            <a:srgbClr val="065A82"/>
          </a:solidFill>
          <a:ln w="12700">
            <a:solidFill>
              <a:srgbClr val="065A82"/>
            </a:solidFill>
            <a:prstDash val="solid"/>
          </a:ln>
        </p:spPr>
        <p:txBody>
          <a:bodyPr/>
          <a:lstStyle/>
          <a:p>
            <a:endParaRPr lang="en-US"/>
          </a:p>
        </p:txBody>
      </p:sp>
      <p:sp>
        <p:nvSpPr>
          <p:cNvPr id="22" name="Text 20"/>
          <p:cNvSpPr/>
          <p:nvPr/>
        </p:nvSpPr>
        <p:spPr>
          <a:xfrm>
            <a:off x="4663440" y="2880360"/>
            <a:ext cx="54864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04</a:t>
            </a:r>
            <a:endParaRPr lang="en-US" sz="2000" dirty="0"/>
          </a:p>
        </p:txBody>
      </p:sp>
      <p:sp>
        <p:nvSpPr>
          <p:cNvPr id="23" name="Text 21"/>
          <p:cNvSpPr/>
          <p:nvPr/>
        </p:nvSpPr>
        <p:spPr>
          <a:xfrm>
            <a:off x="5303520" y="2660904"/>
            <a:ext cx="3337560" cy="347472"/>
          </a:xfrm>
          <a:prstGeom prst="rect">
            <a:avLst/>
          </a:prstGeom>
          <a:noFill/>
          <a:ln/>
        </p:spPr>
        <p:txBody>
          <a:bodyPr wrap="square" lIns="0" tIns="0" rIns="0" bIns="0" rtlCol="0" anchor="ctr"/>
          <a:lstStyle/>
          <a:p>
            <a:pPr marL="0" indent="0">
              <a:buNone/>
            </a:pPr>
            <a:r>
              <a:rPr lang="en-US" sz="1350" b="1" dirty="0">
                <a:solidFill>
                  <a:srgbClr val="065A82"/>
                </a:solidFill>
                <a:latin typeface="Cambria" pitchFamily="34" charset="0"/>
                <a:ea typeface="Cambria" pitchFamily="34" charset="-122"/>
                <a:cs typeface="Cambria" pitchFamily="34" charset="-120"/>
              </a:rPr>
              <a:t>Normality</a:t>
            </a:r>
            <a:endParaRPr lang="en-US" sz="1350" dirty="0"/>
          </a:p>
        </p:txBody>
      </p:sp>
      <p:sp>
        <p:nvSpPr>
          <p:cNvPr id="24" name="Text 22"/>
          <p:cNvSpPr/>
          <p:nvPr/>
        </p:nvSpPr>
        <p:spPr>
          <a:xfrm>
            <a:off x="5303520" y="3017520"/>
            <a:ext cx="3337560" cy="640080"/>
          </a:xfrm>
          <a:prstGeom prst="rect">
            <a:avLst/>
          </a:prstGeom>
          <a:noFill/>
          <a:ln/>
        </p:spPr>
        <p:txBody>
          <a:bodyPr wrap="square" lIns="0" tIns="0" rIns="0" bIns="0" rtlCol="0" anchor="t"/>
          <a:lstStyle/>
          <a:p>
            <a:pPr marL="0" indent="0">
              <a:buNone/>
            </a:pPr>
            <a:r>
              <a:rPr lang="en-US" sz="1150" dirty="0">
                <a:solidFill>
                  <a:srgbClr val="1A2D3D"/>
                </a:solidFill>
                <a:latin typeface="Calibri" pitchFamily="34" charset="0"/>
                <a:ea typeface="Calibri" pitchFamily="34" charset="-122"/>
                <a:cs typeface="Calibri" pitchFamily="34" charset="-120"/>
              </a:rPr>
              <a:t>Histograms, skewness/kurtosis, Q-Q plots; transform if needed</a:t>
            </a:r>
            <a:endParaRPr lang="en-US" sz="1150" dirty="0"/>
          </a:p>
        </p:txBody>
      </p:sp>
      <p:sp>
        <p:nvSpPr>
          <p:cNvPr id="25" name="Shape 23"/>
          <p:cNvSpPr/>
          <p:nvPr/>
        </p:nvSpPr>
        <p:spPr>
          <a:xfrm>
            <a:off x="411480" y="3840480"/>
            <a:ext cx="4069080" cy="1115568"/>
          </a:xfrm>
          <a:prstGeom prst="rect">
            <a:avLst/>
          </a:prstGeom>
          <a:solidFill>
            <a:srgbClr val="FFFFFF"/>
          </a:solidFill>
          <a:ln w="12700">
            <a:solidFill>
              <a:srgbClr val="D6E4EC"/>
            </a:solidFill>
            <a:prstDash val="solid"/>
          </a:ln>
          <a:effectLst>
            <a:outerShdw blurRad="50800" dist="25400" dir="8100000" algn="bl" rotWithShape="0">
              <a:srgbClr val="000000">
                <a:alpha val="8000"/>
              </a:srgbClr>
            </a:outerShdw>
          </a:effectLst>
        </p:spPr>
        <p:txBody>
          <a:bodyPr/>
          <a:lstStyle/>
          <a:p>
            <a:endParaRPr lang="en-US"/>
          </a:p>
        </p:txBody>
      </p:sp>
      <p:sp>
        <p:nvSpPr>
          <p:cNvPr id="26" name="Shape 24"/>
          <p:cNvSpPr/>
          <p:nvPr/>
        </p:nvSpPr>
        <p:spPr>
          <a:xfrm>
            <a:off x="411480" y="3840480"/>
            <a:ext cx="548640" cy="1115568"/>
          </a:xfrm>
          <a:prstGeom prst="rect">
            <a:avLst/>
          </a:prstGeom>
          <a:solidFill>
            <a:srgbClr val="1C7293"/>
          </a:solidFill>
          <a:ln w="12700">
            <a:solidFill>
              <a:srgbClr val="1C7293"/>
            </a:solidFill>
            <a:prstDash val="solid"/>
          </a:ln>
        </p:spPr>
        <p:txBody>
          <a:bodyPr/>
          <a:lstStyle/>
          <a:p>
            <a:endParaRPr lang="en-US"/>
          </a:p>
        </p:txBody>
      </p:sp>
      <p:sp>
        <p:nvSpPr>
          <p:cNvPr id="27" name="Text 25"/>
          <p:cNvSpPr/>
          <p:nvPr/>
        </p:nvSpPr>
        <p:spPr>
          <a:xfrm>
            <a:off x="411480" y="4114800"/>
            <a:ext cx="54864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05</a:t>
            </a:r>
            <a:endParaRPr lang="en-US" sz="2000" dirty="0"/>
          </a:p>
        </p:txBody>
      </p:sp>
      <p:sp>
        <p:nvSpPr>
          <p:cNvPr id="28" name="Text 26"/>
          <p:cNvSpPr/>
          <p:nvPr/>
        </p:nvSpPr>
        <p:spPr>
          <a:xfrm>
            <a:off x="1051560" y="3895344"/>
            <a:ext cx="3337560" cy="347472"/>
          </a:xfrm>
          <a:prstGeom prst="rect">
            <a:avLst/>
          </a:prstGeom>
          <a:noFill/>
          <a:ln/>
        </p:spPr>
        <p:txBody>
          <a:bodyPr wrap="square" lIns="0" tIns="0" rIns="0" bIns="0" rtlCol="0" anchor="ctr"/>
          <a:lstStyle/>
          <a:p>
            <a:pPr marL="0" indent="0">
              <a:buNone/>
            </a:pPr>
            <a:r>
              <a:rPr lang="en-US" sz="1350" b="1" dirty="0">
                <a:solidFill>
                  <a:srgbClr val="1C7293"/>
                </a:solidFill>
                <a:latin typeface="Cambria" pitchFamily="34" charset="0"/>
                <a:ea typeface="Cambria" pitchFamily="34" charset="-122"/>
                <a:cs typeface="Cambria" pitchFamily="34" charset="-120"/>
              </a:rPr>
              <a:t>Linearity</a:t>
            </a:r>
            <a:endParaRPr lang="en-US" sz="1350" dirty="0"/>
          </a:p>
        </p:txBody>
      </p:sp>
      <p:sp>
        <p:nvSpPr>
          <p:cNvPr id="29" name="Text 27"/>
          <p:cNvSpPr/>
          <p:nvPr/>
        </p:nvSpPr>
        <p:spPr>
          <a:xfrm>
            <a:off x="1051560" y="4251960"/>
            <a:ext cx="3337560" cy="640080"/>
          </a:xfrm>
          <a:prstGeom prst="rect">
            <a:avLst/>
          </a:prstGeom>
          <a:noFill/>
          <a:ln/>
        </p:spPr>
        <p:txBody>
          <a:bodyPr wrap="square" lIns="0" tIns="0" rIns="0" bIns="0" rtlCol="0" anchor="t"/>
          <a:lstStyle/>
          <a:p>
            <a:pPr marL="0" indent="0">
              <a:buNone/>
            </a:pPr>
            <a:r>
              <a:rPr lang="en-US" sz="1150" dirty="0">
                <a:solidFill>
                  <a:srgbClr val="1A2D3D"/>
                </a:solidFill>
                <a:latin typeface="Calibri" pitchFamily="34" charset="0"/>
                <a:ea typeface="Calibri" pitchFamily="34" charset="-122"/>
                <a:cs typeface="Calibri" pitchFamily="34" charset="-120"/>
              </a:rPr>
              <a:t>Scatterplot matrix; curvilinear relationships reduce power</a:t>
            </a:r>
            <a:endParaRPr lang="en-US" sz="1150" dirty="0"/>
          </a:p>
        </p:txBody>
      </p:sp>
      <p:sp>
        <p:nvSpPr>
          <p:cNvPr id="30" name="Shape 28"/>
          <p:cNvSpPr/>
          <p:nvPr/>
        </p:nvSpPr>
        <p:spPr>
          <a:xfrm>
            <a:off x="4663440" y="3840480"/>
            <a:ext cx="4069080" cy="1115568"/>
          </a:xfrm>
          <a:prstGeom prst="rect">
            <a:avLst/>
          </a:prstGeom>
          <a:solidFill>
            <a:srgbClr val="FFFFFF"/>
          </a:solidFill>
          <a:ln w="12700">
            <a:solidFill>
              <a:srgbClr val="D6E4EC"/>
            </a:solidFill>
            <a:prstDash val="solid"/>
          </a:ln>
          <a:effectLst>
            <a:outerShdw blurRad="50800" dist="25400" dir="8100000" algn="bl" rotWithShape="0">
              <a:srgbClr val="000000">
                <a:alpha val="8000"/>
              </a:srgbClr>
            </a:outerShdw>
          </a:effectLst>
        </p:spPr>
        <p:txBody>
          <a:bodyPr/>
          <a:lstStyle/>
          <a:p>
            <a:endParaRPr lang="en-US"/>
          </a:p>
        </p:txBody>
      </p:sp>
      <p:sp>
        <p:nvSpPr>
          <p:cNvPr id="31" name="Shape 29"/>
          <p:cNvSpPr/>
          <p:nvPr/>
        </p:nvSpPr>
        <p:spPr>
          <a:xfrm>
            <a:off x="4663440" y="3840480"/>
            <a:ext cx="548640" cy="1115568"/>
          </a:xfrm>
          <a:prstGeom prst="rect">
            <a:avLst/>
          </a:prstGeom>
          <a:solidFill>
            <a:srgbClr val="E8A838"/>
          </a:solidFill>
          <a:ln w="12700">
            <a:solidFill>
              <a:srgbClr val="E8A838"/>
            </a:solidFill>
            <a:prstDash val="solid"/>
          </a:ln>
        </p:spPr>
        <p:txBody>
          <a:bodyPr/>
          <a:lstStyle/>
          <a:p>
            <a:endParaRPr lang="en-US"/>
          </a:p>
        </p:txBody>
      </p:sp>
      <p:sp>
        <p:nvSpPr>
          <p:cNvPr id="32" name="Text 30"/>
          <p:cNvSpPr/>
          <p:nvPr/>
        </p:nvSpPr>
        <p:spPr>
          <a:xfrm>
            <a:off x="4663440" y="4114800"/>
            <a:ext cx="54864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06</a:t>
            </a:r>
            <a:endParaRPr lang="en-US" sz="2000" dirty="0"/>
          </a:p>
        </p:txBody>
      </p:sp>
      <p:sp>
        <p:nvSpPr>
          <p:cNvPr id="33" name="Text 31"/>
          <p:cNvSpPr/>
          <p:nvPr/>
        </p:nvSpPr>
        <p:spPr>
          <a:xfrm>
            <a:off x="5303520" y="3895344"/>
            <a:ext cx="3337560" cy="347472"/>
          </a:xfrm>
          <a:prstGeom prst="rect">
            <a:avLst/>
          </a:prstGeom>
          <a:noFill/>
          <a:ln/>
        </p:spPr>
        <p:txBody>
          <a:bodyPr wrap="square" lIns="0" tIns="0" rIns="0" bIns="0" rtlCol="0" anchor="ctr"/>
          <a:lstStyle/>
          <a:p>
            <a:pPr marL="0" indent="0">
              <a:buNone/>
            </a:pPr>
            <a:r>
              <a:rPr lang="en-US" sz="1350" b="1" dirty="0">
                <a:solidFill>
                  <a:srgbClr val="E8A838"/>
                </a:solidFill>
                <a:latin typeface="Cambria" pitchFamily="34" charset="0"/>
                <a:ea typeface="Cambria" pitchFamily="34" charset="-122"/>
                <a:cs typeface="Cambria" pitchFamily="34" charset="-120"/>
              </a:rPr>
              <a:t>Homoscedasticity</a:t>
            </a:r>
            <a:endParaRPr lang="en-US" sz="1350" dirty="0"/>
          </a:p>
        </p:txBody>
      </p:sp>
      <p:sp>
        <p:nvSpPr>
          <p:cNvPr id="34" name="Text 32"/>
          <p:cNvSpPr/>
          <p:nvPr/>
        </p:nvSpPr>
        <p:spPr>
          <a:xfrm>
            <a:off x="5303520" y="4251960"/>
            <a:ext cx="3337560" cy="640080"/>
          </a:xfrm>
          <a:prstGeom prst="rect">
            <a:avLst/>
          </a:prstGeom>
          <a:noFill/>
          <a:ln/>
        </p:spPr>
        <p:txBody>
          <a:bodyPr wrap="square" lIns="0" tIns="0" rIns="0" bIns="0" rtlCol="0" anchor="t"/>
          <a:lstStyle/>
          <a:p>
            <a:pPr marL="0" indent="0">
              <a:buNone/>
            </a:pPr>
            <a:r>
              <a:rPr lang="en-US" sz="1150" dirty="0">
                <a:solidFill>
                  <a:srgbClr val="1A2D3D"/>
                </a:solidFill>
                <a:latin typeface="Calibri" pitchFamily="34" charset="0"/>
                <a:ea typeface="Calibri" pitchFamily="34" charset="-122"/>
                <a:cs typeface="Calibri" pitchFamily="34" charset="-120"/>
              </a:rPr>
              <a:t>Residual plots; Box's M for MANOVA; Levene's for ANOVA</a:t>
            </a:r>
            <a:endParaRPr lang="en-US" sz="115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8A838"/>
          </a:solidFill>
          <a:ln w="12700">
            <a:solidFill>
              <a:srgbClr val="E8A838"/>
            </a:solidFill>
            <a:prstDash val="solid"/>
          </a:ln>
        </p:spPr>
        <p:txBody>
          <a:bodyPr/>
          <a:lstStyle/>
          <a:p>
            <a:endParaRPr lang="en-US"/>
          </a:p>
        </p:txBody>
      </p:sp>
      <p:sp>
        <p:nvSpPr>
          <p:cNvPr id="3" name="Text 1"/>
          <p:cNvSpPr/>
          <p:nvPr/>
        </p:nvSpPr>
        <p:spPr>
          <a:xfrm>
            <a:off x="411480" y="164592"/>
            <a:ext cx="8321040" cy="640080"/>
          </a:xfrm>
          <a:prstGeom prst="rect">
            <a:avLst/>
          </a:prstGeom>
          <a:noFill/>
          <a:ln/>
        </p:spPr>
        <p:txBody>
          <a:bodyPr wrap="square" lIns="0" tIns="0" rIns="0" bIns="0" rtlCol="0" anchor="ctr"/>
          <a:lstStyle/>
          <a:p>
            <a:pPr marL="0" indent="0">
              <a:buNone/>
            </a:pPr>
            <a:r>
              <a:rPr lang="en-US" sz="2800" b="1" dirty="0">
                <a:solidFill>
                  <a:srgbClr val="065A82"/>
                </a:solidFill>
                <a:latin typeface="Cambria" pitchFamily="34" charset="0"/>
                <a:ea typeface="Cambria" pitchFamily="34" charset="-122"/>
                <a:cs typeface="Cambria" pitchFamily="34" charset="-120"/>
              </a:rPr>
              <a:t>Missing Data: Patterns &amp; Strategies</a:t>
            </a:r>
            <a:endParaRPr lang="en-US" sz="2800" dirty="0"/>
          </a:p>
        </p:txBody>
      </p:sp>
      <p:sp>
        <p:nvSpPr>
          <p:cNvPr id="4" name="Shape 2"/>
          <p:cNvSpPr/>
          <p:nvPr/>
        </p:nvSpPr>
        <p:spPr>
          <a:xfrm>
            <a:off x="411480" y="960120"/>
            <a:ext cx="4069080" cy="1947672"/>
          </a:xfrm>
          <a:prstGeom prst="rect">
            <a:avLst/>
          </a:prstGeom>
          <a:solidFill>
            <a:srgbClr val="FFFFFF"/>
          </a:solidFill>
          <a:ln w="12700">
            <a:solidFill>
              <a:srgbClr val="D6E4EC"/>
            </a:solidFill>
            <a:prstDash val="solid"/>
          </a:ln>
          <a:effectLst>
            <a:outerShdw blurRad="76200" dist="25400" dir="8100000" algn="bl" rotWithShape="0">
              <a:srgbClr val="000000">
                <a:alpha val="10000"/>
              </a:srgbClr>
            </a:outerShdw>
          </a:effectLst>
        </p:spPr>
        <p:txBody>
          <a:bodyPr/>
          <a:lstStyle/>
          <a:p>
            <a:endParaRPr lang="en-US"/>
          </a:p>
        </p:txBody>
      </p:sp>
      <p:sp>
        <p:nvSpPr>
          <p:cNvPr id="5" name="Shape 3"/>
          <p:cNvSpPr/>
          <p:nvPr/>
        </p:nvSpPr>
        <p:spPr>
          <a:xfrm>
            <a:off x="411480" y="960120"/>
            <a:ext cx="64008" cy="1947672"/>
          </a:xfrm>
          <a:prstGeom prst="rect">
            <a:avLst/>
          </a:prstGeom>
          <a:solidFill>
            <a:srgbClr val="065A82"/>
          </a:solidFill>
          <a:ln w="12700">
            <a:solidFill>
              <a:srgbClr val="065A82"/>
            </a:solidFill>
            <a:prstDash val="solid"/>
          </a:ln>
        </p:spPr>
        <p:txBody>
          <a:bodyPr/>
          <a:lstStyle/>
          <a:p>
            <a:endParaRPr lang="en-US"/>
          </a:p>
        </p:txBody>
      </p:sp>
      <p:sp>
        <p:nvSpPr>
          <p:cNvPr id="6" name="Text 4"/>
          <p:cNvSpPr/>
          <p:nvPr/>
        </p:nvSpPr>
        <p:spPr>
          <a:xfrm>
            <a:off x="548640" y="1033272"/>
            <a:ext cx="3886200" cy="347472"/>
          </a:xfrm>
          <a:prstGeom prst="rect">
            <a:avLst/>
          </a:prstGeom>
          <a:noFill/>
          <a:ln/>
        </p:spPr>
        <p:txBody>
          <a:bodyPr wrap="square" lIns="0" tIns="0" rIns="0" bIns="0" rtlCol="0" anchor="ctr"/>
          <a:lstStyle/>
          <a:p>
            <a:pPr marL="0" indent="0">
              <a:buNone/>
            </a:pPr>
            <a:r>
              <a:rPr lang="en-US" sz="1300" b="1" dirty="0">
                <a:solidFill>
                  <a:srgbClr val="065A82"/>
                </a:solidFill>
                <a:latin typeface="Cambria" pitchFamily="34" charset="0"/>
                <a:ea typeface="Cambria" pitchFamily="34" charset="-122"/>
                <a:cs typeface="Cambria" pitchFamily="34" charset="-120"/>
              </a:rPr>
              <a:t>MCAR — Missing Completely At Random</a:t>
            </a:r>
            <a:endParaRPr lang="en-US" sz="1300" dirty="0"/>
          </a:p>
        </p:txBody>
      </p:sp>
      <p:sp>
        <p:nvSpPr>
          <p:cNvPr id="7" name="Text 5"/>
          <p:cNvSpPr/>
          <p:nvPr/>
        </p:nvSpPr>
        <p:spPr>
          <a:xfrm>
            <a:off x="548640" y="1371600"/>
            <a:ext cx="3886200" cy="1444752"/>
          </a:xfrm>
          <a:prstGeom prst="rect">
            <a:avLst/>
          </a:prstGeom>
          <a:noFill/>
          <a:ln/>
        </p:spPr>
        <p:txBody>
          <a:bodyPr wrap="square" lIns="0" tIns="0" rIns="0" bIns="0" rtlCol="0" anchor="t"/>
          <a:lstStyle/>
          <a:p>
            <a:pPr marL="0" indent="0">
              <a:buNone/>
            </a:pPr>
            <a:r>
              <a:rPr lang="en-US" sz="1200" dirty="0">
                <a:solidFill>
                  <a:srgbClr val="1A2D3D"/>
                </a:solidFill>
                <a:latin typeface="Calibri" pitchFamily="34" charset="0"/>
                <a:ea typeface="Calibri" pitchFamily="34" charset="-122"/>
                <a:cs typeface="Calibri" pitchFamily="34" charset="-120"/>
              </a:rPr>
              <a:t>Missingness is unrelated to any variable (observed or unobserved). Listwise deletion valid but wastes data. Rare in practice.</a:t>
            </a:r>
            <a:endParaRPr lang="en-US" sz="1200" dirty="0"/>
          </a:p>
        </p:txBody>
      </p:sp>
      <p:sp>
        <p:nvSpPr>
          <p:cNvPr id="8" name="Shape 6"/>
          <p:cNvSpPr/>
          <p:nvPr/>
        </p:nvSpPr>
        <p:spPr>
          <a:xfrm>
            <a:off x="4663440" y="960120"/>
            <a:ext cx="4069080" cy="1947672"/>
          </a:xfrm>
          <a:prstGeom prst="rect">
            <a:avLst/>
          </a:prstGeom>
          <a:solidFill>
            <a:srgbClr val="FFFFFF"/>
          </a:solidFill>
          <a:ln w="12700">
            <a:solidFill>
              <a:srgbClr val="D6E4EC"/>
            </a:solidFill>
            <a:prstDash val="solid"/>
          </a:ln>
          <a:effectLst>
            <a:outerShdw blurRad="76200" dist="25400" dir="8100000" algn="bl" rotWithShape="0">
              <a:srgbClr val="000000">
                <a:alpha val="10000"/>
              </a:srgbClr>
            </a:outerShdw>
          </a:effectLst>
        </p:spPr>
        <p:txBody>
          <a:bodyPr/>
          <a:lstStyle/>
          <a:p>
            <a:endParaRPr lang="en-US"/>
          </a:p>
        </p:txBody>
      </p:sp>
      <p:sp>
        <p:nvSpPr>
          <p:cNvPr id="9" name="Shape 7"/>
          <p:cNvSpPr/>
          <p:nvPr/>
        </p:nvSpPr>
        <p:spPr>
          <a:xfrm>
            <a:off x="4663440" y="960120"/>
            <a:ext cx="64008" cy="1947672"/>
          </a:xfrm>
          <a:prstGeom prst="rect">
            <a:avLst/>
          </a:prstGeom>
          <a:solidFill>
            <a:srgbClr val="1C7293"/>
          </a:solidFill>
          <a:ln w="12700">
            <a:solidFill>
              <a:srgbClr val="1C7293"/>
            </a:solidFill>
            <a:prstDash val="solid"/>
          </a:ln>
        </p:spPr>
        <p:txBody>
          <a:bodyPr/>
          <a:lstStyle/>
          <a:p>
            <a:endParaRPr lang="en-US"/>
          </a:p>
        </p:txBody>
      </p:sp>
      <p:sp>
        <p:nvSpPr>
          <p:cNvPr id="10" name="Text 8"/>
          <p:cNvSpPr/>
          <p:nvPr/>
        </p:nvSpPr>
        <p:spPr>
          <a:xfrm>
            <a:off x="4800600" y="1033272"/>
            <a:ext cx="3886200" cy="347472"/>
          </a:xfrm>
          <a:prstGeom prst="rect">
            <a:avLst/>
          </a:prstGeom>
          <a:noFill/>
          <a:ln/>
        </p:spPr>
        <p:txBody>
          <a:bodyPr wrap="square" lIns="0" tIns="0" rIns="0" bIns="0" rtlCol="0" anchor="ctr"/>
          <a:lstStyle/>
          <a:p>
            <a:pPr marL="0" indent="0">
              <a:buNone/>
            </a:pPr>
            <a:r>
              <a:rPr lang="en-US" sz="1300" b="1" dirty="0">
                <a:solidFill>
                  <a:srgbClr val="1C7293"/>
                </a:solidFill>
                <a:latin typeface="Cambria" pitchFamily="34" charset="0"/>
                <a:ea typeface="Cambria" pitchFamily="34" charset="-122"/>
                <a:cs typeface="Cambria" pitchFamily="34" charset="-120"/>
              </a:rPr>
              <a:t>MAR — Missing At Random</a:t>
            </a:r>
            <a:endParaRPr lang="en-US" sz="1300" dirty="0"/>
          </a:p>
        </p:txBody>
      </p:sp>
      <p:sp>
        <p:nvSpPr>
          <p:cNvPr id="11" name="Text 9"/>
          <p:cNvSpPr/>
          <p:nvPr/>
        </p:nvSpPr>
        <p:spPr>
          <a:xfrm>
            <a:off x="4800600" y="1371600"/>
            <a:ext cx="3886200" cy="1444752"/>
          </a:xfrm>
          <a:prstGeom prst="rect">
            <a:avLst/>
          </a:prstGeom>
          <a:noFill/>
          <a:ln/>
        </p:spPr>
        <p:txBody>
          <a:bodyPr wrap="square" lIns="0" tIns="0" rIns="0" bIns="0" rtlCol="0" anchor="t"/>
          <a:lstStyle/>
          <a:p>
            <a:pPr marL="0" indent="0">
              <a:buNone/>
            </a:pPr>
            <a:r>
              <a:rPr lang="en-US" sz="1200" dirty="0">
                <a:solidFill>
                  <a:srgbClr val="1A2D3D"/>
                </a:solidFill>
                <a:latin typeface="Calibri" pitchFamily="34" charset="0"/>
                <a:ea typeface="Calibri" pitchFamily="34" charset="-122"/>
                <a:cs typeface="Calibri" pitchFamily="34" charset="-120"/>
              </a:rPr>
              <a:t>Missingness is related to observed (not missing) variables. Multiple Imputation (MI) and Full Information Maximum Likelihood (FIML) are unbiased.</a:t>
            </a:r>
            <a:endParaRPr lang="en-US" sz="1200" dirty="0"/>
          </a:p>
        </p:txBody>
      </p:sp>
      <p:sp>
        <p:nvSpPr>
          <p:cNvPr id="12" name="Shape 10"/>
          <p:cNvSpPr/>
          <p:nvPr/>
        </p:nvSpPr>
        <p:spPr>
          <a:xfrm>
            <a:off x="411480" y="3044952"/>
            <a:ext cx="4069080" cy="1947672"/>
          </a:xfrm>
          <a:prstGeom prst="rect">
            <a:avLst/>
          </a:prstGeom>
          <a:solidFill>
            <a:srgbClr val="FFFFFF"/>
          </a:solidFill>
          <a:ln w="12700">
            <a:solidFill>
              <a:srgbClr val="D6E4EC"/>
            </a:solidFill>
            <a:prstDash val="solid"/>
          </a:ln>
          <a:effectLst>
            <a:outerShdw blurRad="76200" dist="25400" dir="8100000" algn="bl" rotWithShape="0">
              <a:srgbClr val="000000">
                <a:alpha val="10000"/>
              </a:srgbClr>
            </a:outerShdw>
          </a:effectLst>
        </p:spPr>
        <p:txBody>
          <a:bodyPr/>
          <a:lstStyle/>
          <a:p>
            <a:endParaRPr lang="en-US"/>
          </a:p>
        </p:txBody>
      </p:sp>
      <p:sp>
        <p:nvSpPr>
          <p:cNvPr id="13" name="Shape 11"/>
          <p:cNvSpPr/>
          <p:nvPr/>
        </p:nvSpPr>
        <p:spPr>
          <a:xfrm>
            <a:off x="411480" y="3044952"/>
            <a:ext cx="64008" cy="1947672"/>
          </a:xfrm>
          <a:prstGeom prst="rect">
            <a:avLst/>
          </a:prstGeom>
          <a:solidFill>
            <a:srgbClr val="E8A838"/>
          </a:solidFill>
          <a:ln w="12700">
            <a:solidFill>
              <a:srgbClr val="E8A838"/>
            </a:solidFill>
            <a:prstDash val="solid"/>
          </a:ln>
        </p:spPr>
        <p:txBody>
          <a:bodyPr/>
          <a:lstStyle/>
          <a:p>
            <a:endParaRPr lang="en-US"/>
          </a:p>
        </p:txBody>
      </p:sp>
      <p:sp>
        <p:nvSpPr>
          <p:cNvPr id="14" name="Text 12"/>
          <p:cNvSpPr/>
          <p:nvPr/>
        </p:nvSpPr>
        <p:spPr>
          <a:xfrm>
            <a:off x="548640" y="3118104"/>
            <a:ext cx="3886200" cy="347472"/>
          </a:xfrm>
          <a:prstGeom prst="rect">
            <a:avLst/>
          </a:prstGeom>
          <a:noFill/>
          <a:ln/>
        </p:spPr>
        <p:txBody>
          <a:bodyPr wrap="square" lIns="0" tIns="0" rIns="0" bIns="0" rtlCol="0" anchor="ctr"/>
          <a:lstStyle/>
          <a:p>
            <a:pPr marL="0" indent="0">
              <a:buNone/>
            </a:pPr>
            <a:r>
              <a:rPr lang="en-US" sz="1300" b="1" dirty="0">
                <a:solidFill>
                  <a:srgbClr val="E8A838"/>
                </a:solidFill>
                <a:latin typeface="Cambria" pitchFamily="34" charset="0"/>
                <a:ea typeface="Cambria" pitchFamily="34" charset="-122"/>
                <a:cs typeface="Cambria" pitchFamily="34" charset="-120"/>
              </a:rPr>
              <a:t>MNAR — Missing Not At Random</a:t>
            </a:r>
            <a:endParaRPr lang="en-US" sz="1300" dirty="0"/>
          </a:p>
        </p:txBody>
      </p:sp>
      <p:sp>
        <p:nvSpPr>
          <p:cNvPr id="15" name="Text 13"/>
          <p:cNvSpPr/>
          <p:nvPr/>
        </p:nvSpPr>
        <p:spPr>
          <a:xfrm>
            <a:off x="548640" y="3456432"/>
            <a:ext cx="3886200" cy="1444752"/>
          </a:xfrm>
          <a:prstGeom prst="rect">
            <a:avLst/>
          </a:prstGeom>
          <a:noFill/>
          <a:ln/>
        </p:spPr>
        <p:txBody>
          <a:bodyPr wrap="square" lIns="0" tIns="0" rIns="0" bIns="0" rtlCol="0" anchor="t"/>
          <a:lstStyle/>
          <a:p>
            <a:pPr marL="0" indent="0">
              <a:buNone/>
            </a:pPr>
            <a:r>
              <a:rPr lang="en-US" sz="1200" dirty="0">
                <a:solidFill>
                  <a:srgbClr val="1A2D3D"/>
                </a:solidFill>
                <a:latin typeface="Calibri" pitchFamily="34" charset="0"/>
                <a:ea typeface="Calibri" pitchFamily="34" charset="-122"/>
                <a:cs typeface="Calibri" pitchFamily="34" charset="-120"/>
              </a:rPr>
              <a:t>Missingness depends on the unobserved value itself (e.g., depressed patients skip depression items). Requires selection models or sensitivity analysis.</a:t>
            </a:r>
            <a:endParaRPr lang="en-US" sz="1200" dirty="0"/>
          </a:p>
        </p:txBody>
      </p:sp>
      <p:sp>
        <p:nvSpPr>
          <p:cNvPr id="16" name="Shape 14"/>
          <p:cNvSpPr/>
          <p:nvPr/>
        </p:nvSpPr>
        <p:spPr>
          <a:xfrm>
            <a:off x="4663440" y="3044952"/>
            <a:ext cx="4069080" cy="1947672"/>
          </a:xfrm>
          <a:prstGeom prst="rect">
            <a:avLst/>
          </a:prstGeom>
          <a:solidFill>
            <a:srgbClr val="FFFFFF"/>
          </a:solidFill>
          <a:ln w="12700">
            <a:solidFill>
              <a:srgbClr val="D6E4EC"/>
            </a:solidFill>
            <a:prstDash val="solid"/>
          </a:ln>
          <a:effectLst>
            <a:outerShdw blurRad="76200" dist="25400" dir="8100000" algn="bl" rotWithShape="0">
              <a:srgbClr val="000000">
                <a:alpha val="10000"/>
              </a:srgbClr>
            </a:outerShdw>
          </a:effectLst>
        </p:spPr>
        <p:txBody>
          <a:bodyPr/>
          <a:lstStyle/>
          <a:p>
            <a:endParaRPr lang="en-US"/>
          </a:p>
        </p:txBody>
      </p:sp>
      <p:sp>
        <p:nvSpPr>
          <p:cNvPr id="17" name="Shape 15"/>
          <p:cNvSpPr/>
          <p:nvPr/>
        </p:nvSpPr>
        <p:spPr>
          <a:xfrm>
            <a:off x="4663440" y="3044952"/>
            <a:ext cx="64008" cy="1947672"/>
          </a:xfrm>
          <a:prstGeom prst="rect">
            <a:avLst/>
          </a:prstGeom>
          <a:solidFill>
            <a:srgbClr val="065A82"/>
          </a:solidFill>
          <a:ln w="12700">
            <a:solidFill>
              <a:srgbClr val="065A82"/>
            </a:solidFill>
            <a:prstDash val="solid"/>
          </a:ln>
        </p:spPr>
        <p:txBody>
          <a:bodyPr/>
          <a:lstStyle/>
          <a:p>
            <a:endParaRPr lang="en-US"/>
          </a:p>
        </p:txBody>
      </p:sp>
      <p:sp>
        <p:nvSpPr>
          <p:cNvPr id="18" name="Text 16"/>
          <p:cNvSpPr/>
          <p:nvPr/>
        </p:nvSpPr>
        <p:spPr>
          <a:xfrm>
            <a:off x="4800600" y="3118104"/>
            <a:ext cx="3886200" cy="347472"/>
          </a:xfrm>
          <a:prstGeom prst="rect">
            <a:avLst/>
          </a:prstGeom>
          <a:noFill/>
          <a:ln/>
        </p:spPr>
        <p:txBody>
          <a:bodyPr wrap="square" lIns="0" tIns="0" rIns="0" bIns="0" rtlCol="0" anchor="ctr"/>
          <a:lstStyle/>
          <a:p>
            <a:pPr marL="0" indent="0">
              <a:buNone/>
            </a:pPr>
            <a:r>
              <a:rPr lang="en-US" sz="1300" b="1" dirty="0">
                <a:solidFill>
                  <a:srgbClr val="065A82"/>
                </a:solidFill>
                <a:latin typeface="Cambria" pitchFamily="34" charset="0"/>
                <a:ea typeface="Cambria" pitchFamily="34" charset="-122"/>
                <a:cs typeface="Cambria" pitchFamily="34" charset="-120"/>
              </a:rPr>
              <a:t>Recommended Strategy</a:t>
            </a:r>
            <a:endParaRPr lang="en-US" sz="1300" dirty="0"/>
          </a:p>
        </p:txBody>
      </p:sp>
      <p:sp>
        <p:nvSpPr>
          <p:cNvPr id="19" name="Text 17"/>
          <p:cNvSpPr/>
          <p:nvPr/>
        </p:nvSpPr>
        <p:spPr>
          <a:xfrm>
            <a:off x="4800600" y="3456432"/>
            <a:ext cx="3886200" cy="1444752"/>
          </a:xfrm>
          <a:prstGeom prst="rect">
            <a:avLst/>
          </a:prstGeom>
          <a:noFill/>
          <a:ln/>
        </p:spPr>
        <p:txBody>
          <a:bodyPr wrap="square" lIns="0" tIns="0" rIns="0" bIns="0" rtlCol="0" anchor="t"/>
          <a:lstStyle/>
          <a:p>
            <a:pPr marL="0" indent="0">
              <a:buNone/>
            </a:pPr>
            <a:r>
              <a:rPr lang="en-US" sz="1200" dirty="0">
                <a:solidFill>
                  <a:srgbClr val="1A2D3D"/>
                </a:solidFill>
                <a:latin typeface="Calibri" pitchFamily="34" charset="0"/>
                <a:ea typeface="Calibri" pitchFamily="34" charset="-122"/>
                <a:cs typeface="Calibri" pitchFamily="34" charset="-120"/>
              </a:rPr>
              <a:t>Use MI with 5–20 imputed datasets (Rubin's rules). FIML in SEM. Avoid pairwise deletion. Document all decisions and threshold (e.g., &gt;5% triggers investigation).</a:t>
            </a:r>
            <a:endParaRPr lang="en-US" sz="12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2011680"/>
            <a:ext cx="9144000" cy="1143000"/>
          </a:xfrm>
          <a:prstGeom prst="rect">
            <a:avLst/>
          </a:prstGeom>
          <a:solidFill>
            <a:srgbClr val="1C7293"/>
          </a:solidFill>
          <a:ln w="12700">
            <a:solidFill>
              <a:srgbClr val="1C7293"/>
            </a:solidFill>
            <a:prstDash val="solid"/>
          </a:ln>
        </p:spPr>
        <p:txBody>
          <a:bodyPr/>
          <a:lstStyle/>
          <a:p>
            <a:endParaRPr lang="en-US"/>
          </a:p>
        </p:txBody>
      </p:sp>
      <p:sp>
        <p:nvSpPr>
          <p:cNvPr id="3" name="Shape 1"/>
          <p:cNvSpPr/>
          <p:nvPr/>
        </p:nvSpPr>
        <p:spPr>
          <a:xfrm>
            <a:off x="0" y="0"/>
            <a:ext cx="9144000" cy="91440"/>
          </a:xfrm>
          <a:prstGeom prst="rect">
            <a:avLst/>
          </a:prstGeom>
          <a:solidFill>
            <a:srgbClr val="E8A838"/>
          </a:solidFill>
          <a:ln w="12700">
            <a:solidFill>
              <a:srgbClr val="E8A838"/>
            </a:solidFill>
            <a:prstDash val="solid"/>
          </a:ln>
        </p:spPr>
        <p:txBody>
          <a:bodyPr/>
          <a:lstStyle/>
          <a:p>
            <a:endParaRPr lang="en-US"/>
          </a:p>
        </p:txBody>
      </p:sp>
      <p:sp>
        <p:nvSpPr>
          <p:cNvPr id="4" name="Text 2"/>
          <p:cNvSpPr/>
          <p:nvPr/>
        </p:nvSpPr>
        <p:spPr>
          <a:xfrm>
            <a:off x="457200" y="457200"/>
            <a:ext cx="8229600" cy="457200"/>
          </a:xfrm>
          <a:prstGeom prst="rect">
            <a:avLst/>
          </a:prstGeom>
          <a:noFill/>
          <a:ln/>
        </p:spPr>
        <p:txBody>
          <a:bodyPr wrap="square" lIns="0" tIns="0" rIns="0" bIns="0" rtlCol="0" anchor="ctr"/>
          <a:lstStyle/>
          <a:p>
            <a:pPr marL="0" indent="0" algn="ctr">
              <a:buNone/>
            </a:pPr>
            <a:r>
              <a:rPr lang="en-US" sz="1400" b="1" kern="0" spc="600" dirty="0">
                <a:solidFill>
                  <a:srgbClr val="9EC8D8"/>
                </a:solidFill>
                <a:latin typeface="Calibri" pitchFamily="34" charset="0"/>
                <a:ea typeface="Calibri" pitchFamily="34" charset="-122"/>
                <a:cs typeface="Calibri" pitchFamily="34" charset="-120"/>
              </a:rPr>
              <a:t>SECTION 04</a:t>
            </a:r>
            <a:endParaRPr lang="en-US" sz="1400" dirty="0"/>
          </a:p>
        </p:txBody>
      </p:sp>
      <p:sp>
        <p:nvSpPr>
          <p:cNvPr id="5" name="Text 3"/>
          <p:cNvSpPr/>
          <p:nvPr/>
        </p:nvSpPr>
        <p:spPr>
          <a:xfrm>
            <a:off x="457200" y="2057400"/>
            <a:ext cx="8229600" cy="1051560"/>
          </a:xfrm>
          <a:prstGeom prst="rect">
            <a:avLst/>
          </a:prstGeom>
          <a:noFill/>
          <a:ln/>
        </p:spPr>
        <p:txBody>
          <a:bodyPr wrap="square" lIns="0" tIns="0" rIns="0" bIns="0" rtlCol="0" anchor="ctr"/>
          <a:lstStyle/>
          <a:p>
            <a:pPr marL="0" indent="0" algn="ctr">
              <a:buNone/>
            </a:pPr>
            <a:r>
              <a:rPr lang="en-US" sz="3400" b="1" dirty="0">
                <a:solidFill>
                  <a:srgbClr val="FFFFFF"/>
                </a:solidFill>
                <a:latin typeface="Cambria" pitchFamily="34" charset="0"/>
                <a:ea typeface="Cambria" pitchFamily="34" charset="-122"/>
                <a:cs typeface="Cambria" pitchFamily="34" charset="-120"/>
              </a:rPr>
              <a:t>Analysis of Variance</a:t>
            </a:r>
            <a:endParaRPr lang="en-US" sz="3400" dirty="0"/>
          </a:p>
          <a:p>
            <a:pPr marL="0" indent="0" algn="ctr">
              <a:buNone/>
            </a:pPr>
            <a:r>
              <a:rPr lang="en-US" sz="3400" b="1" dirty="0">
                <a:solidFill>
                  <a:srgbClr val="FFFFFF"/>
                </a:solidFill>
                <a:latin typeface="Cambria" pitchFamily="34" charset="0"/>
                <a:ea typeface="Cambria" pitchFamily="34" charset="-122"/>
                <a:cs typeface="Cambria" pitchFamily="34" charset="-120"/>
              </a:rPr>
              <a:t>&amp; MANOVA</a:t>
            </a:r>
            <a:endParaRPr lang="en-US" sz="3400" dirty="0"/>
          </a:p>
        </p:txBody>
      </p:sp>
      <p:sp>
        <p:nvSpPr>
          <p:cNvPr id="6" name="Text 4"/>
          <p:cNvSpPr/>
          <p:nvPr/>
        </p:nvSpPr>
        <p:spPr>
          <a:xfrm>
            <a:off x="914400" y="3337560"/>
            <a:ext cx="7315200" cy="640080"/>
          </a:xfrm>
          <a:prstGeom prst="rect">
            <a:avLst/>
          </a:prstGeom>
          <a:noFill/>
          <a:ln/>
        </p:spPr>
        <p:txBody>
          <a:bodyPr wrap="square" lIns="0" tIns="0" rIns="0" bIns="0" rtlCol="0" anchor="ctr"/>
          <a:lstStyle/>
          <a:p>
            <a:pPr marL="0" indent="0" algn="ctr">
              <a:buNone/>
            </a:pPr>
            <a:r>
              <a:rPr lang="en-US" sz="1500" i="1" dirty="0">
                <a:solidFill>
                  <a:srgbClr val="9EC8D8"/>
                </a:solidFill>
                <a:latin typeface="Calibri" pitchFamily="34" charset="0"/>
                <a:ea typeface="Calibri" pitchFamily="34" charset="-122"/>
                <a:cs typeface="Calibri" pitchFamily="34" charset="-120"/>
              </a:rPr>
              <a:t>Testing group differences on one or multiple outcomes simultaneously</a:t>
            </a:r>
            <a:endParaRPr lang="en-US" sz="15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8A838"/>
          </a:solidFill>
          <a:ln w="12700">
            <a:solidFill>
              <a:srgbClr val="E8A838"/>
            </a:solidFill>
            <a:prstDash val="solid"/>
          </a:ln>
        </p:spPr>
        <p:txBody>
          <a:bodyPr/>
          <a:lstStyle/>
          <a:p>
            <a:endParaRPr lang="en-US"/>
          </a:p>
        </p:txBody>
      </p:sp>
      <p:sp>
        <p:nvSpPr>
          <p:cNvPr id="3" name="Text 1"/>
          <p:cNvSpPr/>
          <p:nvPr/>
        </p:nvSpPr>
        <p:spPr>
          <a:xfrm>
            <a:off x="411480" y="164592"/>
            <a:ext cx="8321040" cy="640080"/>
          </a:xfrm>
          <a:prstGeom prst="rect">
            <a:avLst/>
          </a:prstGeom>
          <a:noFill/>
          <a:ln/>
        </p:spPr>
        <p:txBody>
          <a:bodyPr wrap="square" lIns="0" tIns="0" rIns="0" bIns="0" rtlCol="0" anchor="ctr"/>
          <a:lstStyle/>
          <a:p>
            <a:pPr marL="0" indent="0">
              <a:buNone/>
            </a:pPr>
            <a:r>
              <a:rPr lang="en-US" sz="2800" b="1" dirty="0">
                <a:solidFill>
                  <a:srgbClr val="065A82"/>
                </a:solidFill>
                <a:latin typeface="Cambria" pitchFamily="34" charset="0"/>
                <a:ea typeface="Cambria" pitchFamily="34" charset="-122"/>
                <a:cs typeface="Cambria" pitchFamily="34" charset="-120"/>
              </a:rPr>
              <a:t>ANCOVA and MANOVA in Public Health</a:t>
            </a:r>
            <a:endParaRPr lang="en-US" sz="2800" dirty="0"/>
          </a:p>
        </p:txBody>
      </p:sp>
      <p:sp>
        <p:nvSpPr>
          <p:cNvPr id="4" name="Shape 2"/>
          <p:cNvSpPr/>
          <p:nvPr/>
        </p:nvSpPr>
        <p:spPr>
          <a:xfrm>
            <a:off x="411480" y="960120"/>
            <a:ext cx="3977640" cy="3977640"/>
          </a:xfrm>
          <a:prstGeom prst="rect">
            <a:avLst/>
          </a:prstGeom>
          <a:solidFill>
            <a:srgbClr val="FFFFFF"/>
          </a:solidFill>
          <a:ln w="12700">
            <a:solidFill>
              <a:srgbClr val="D6E4EC"/>
            </a:solidFill>
            <a:prstDash val="solid"/>
          </a:ln>
          <a:effectLst>
            <a:outerShdw blurRad="63500" dist="25400" dir="8100000" algn="bl" rotWithShape="0">
              <a:srgbClr val="000000">
                <a:alpha val="8000"/>
              </a:srgbClr>
            </a:outerShdw>
          </a:effectLst>
        </p:spPr>
        <p:txBody>
          <a:bodyPr/>
          <a:lstStyle/>
          <a:p>
            <a:endParaRPr lang="en-US"/>
          </a:p>
        </p:txBody>
      </p:sp>
      <p:sp>
        <p:nvSpPr>
          <p:cNvPr id="5" name="Shape 3"/>
          <p:cNvSpPr/>
          <p:nvPr/>
        </p:nvSpPr>
        <p:spPr>
          <a:xfrm>
            <a:off x="411480" y="960120"/>
            <a:ext cx="3977640" cy="64008"/>
          </a:xfrm>
          <a:prstGeom prst="rect">
            <a:avLst/>
          </a:prstGeom>
          <a:solidFill>
            <a:srgbClr val="065A82"/>
          </a:solidFill>
          <a:ln w="12700">
            <a:solidFill>
              <a:srgbClr val="065A82"/>
            </a:solidFill>
            <a:prstDash val="solid"/>
          </a:ln>
        </p:spPr>
        <p:txBody>
          <a:bodyPr/>
          <a:lstStyle/>
          <a:p>
            <a:endParaRPr lang="en-US"/>
          </a:p>
        </p:txBody>
      </p:sp>
      <p:sp>
        <p:nvSpPr>
          <p:cNvPr id="6" name="Text 4"/>
          <p:cNvSpPr/>
          <p:nvPr/>
        </p:nvSpPr>
        <p:spPr>
          <a:xfrm>
            <a:off x="502920" y="1005840"/>
            <a:ext cx="3794760" cy="457200"/>
          </a:xfrm>
          <a:prstGeom prst="rect">
            <a:avLst/>
          </a:prstGeom>
          <a:noFill/>
          <a:ln/>
        </p:spPr>
        <p:txBody>
          <a:bodyPr wrap="square" lIns="0" tIns="0" rIns="0" bIns="0" rtlCol="0" anchor="ctr"/>
          <a:lstStyle/>
          <a:p>
            <a:pPr marL="0" indent="0">
              <a:buNone/>
            </a:pPr>
            <a:r>
              <a:rPr lang="en-US" sz="1800" b="1" dirty="0">
                <a:solidFill>
                  <a:srgbClr val="065A82"/>
                </a:solidFill>
                <a:latin typeface="Cambria" pitchFamily="34" charset="0"/>
                <a:ea typeface="Cambria" pitchFamily="34" charset="-122"/>
                <a:cs typeface="Cambria" pitchFamily="34" charset="-120"/>
              </a:rPr>
              <a:t>ANCOVA</a:t>
            </a:r>
            <a:endParaRPr lang="en-US" sz="1800" dirty="0"/>
          </a:p>
        </p:txBody>
      </p:sp>
      <p:sp>
        <p:nvSpPr>
          <p:cNvPr id="7" name="Text 5"/>
          <p:cNvSpPr/>
          <p:nvPr/>
        </p:nvSpPr>
        <p:spPr>
          <a:xfrm>
            <a:off x="502920" y="1508760"/>
            <a:ext cx="3794760" cy="3291840"/>
          </a:xfrm>
          <a:prstGeom prst="rect">
            <a:avLst/>
          </a:prstGeom>
          <a:noFill/>
          <a:ln/>
        </p:spPr>
        <p:txBody>
          <a:bodyPr wrap="square" rtlCol="0" anchor="t"/>
          <a:lstStyle/>
          <a:p>
            <a:pPr marL="342900" indent="-342900">
              <a:buSzPct val="100000"/>
              <a:buChar char="•"/>
            </a:pPr>
            <a:r>
              <a:rPr lang="en-US" sz="1300" dirty="0">
                <a:solidFill>
                  <a:srgbClr val="1A2D3D"/>
                </a:solidFill>
                <a:latin typeface="Calibri" pitchFamily="34" charset="0"/>
                <a:ea typeface="Calibri" pitchFamily="34" charset="-122"/>
                <a:cs typeface="Calibri" pitchFamily="34" charset="-120"/>
              </a:rPr>
              <a:t>Extends ANOVA by controlling one or more continuous covariates</a:t>
            </a:r>
            <a:endParaRPr lang="en-US" sz="1300" dirty="0"/>
          </a:p>
          <a:p>
            <a:pPr marL="342900" indent="-342900">
              <a:buSzPct val="100000"/>
              <a:buChar char="•"/>
            </a:pPr>
            <a:r>
              <a:rPr lang="en-US" sz="1300" dirty="0">
                <a:solidFill>
                  <a:srgbClr val="1A2D3D"/>
                </a:solidFill>
                <a:latin typeface="Calibri" pitchFamily="34" charset="0"/>
                <a:ea typeface="Calibri" pitchFamily="34" charset="-122"/>
                <a:cs typeface="Calibri" pitchFamily="34" charset="-120"/>
              </a:rPr>
              <a:t>Removes covariate variance before testing group differences → increases power</a:t>
            </a:r>
            <a:endParaRPr lang="en-US" sz="1300" dirty="0"/>
          </a:p>
          <a:p>
            <a:pPr marL="342900" indent="-342900">
              <a:buSzPct val="100000"/>
              <a:buChar char="•"/>
            </a:pPr>
            <a:r>
              <a:rPr lang="en-US" sz="1300" dirty="0">
                <a:solidFill>
                  <a:srgbClr val="1A2D3D"/>
                </a:solidFill>
                <a:latin typeface="Calibri" pitchFamily="34" charset="0"/>
                <a:ea typeface="Calibri" pitchFamily="34" charset="-122"/>
                <a:cs typeface="Calibri" pitchFamily="34" charset="-120"/>
              </a:rPr>
              <a:t>Essential in RCTs: compare post-test means controlling for baseline</a:t>
            </a:r>
            <a:endParaRPr lang="en-US" sz="1300" dirty="0"/>
          </a:p>
          <a:p>
            <a:pPr marL="342900" indent="-342900">
              <a:buSzPct val="100000"/>
              <a:buChar char="•"/>
            </a:pPr>
            <a:r>
              <a:rPr lang="en-US" sz="1300" dirty="0">
                <a:solidFill>
                  <a:srgbClr val="1A2D3D"/>
                </a:solidFill>
                <a:latin typeface="Calibri" pitchFamily="34" charset="0"/>
                <a:ea typeface="Calibri" pitchFamily="34" charset="-122"/>
                <a:cs typeface="Calibri" pitchFamily="34" charset="-120"/>
              </a:rPr>
              <a:t>Assumption: Homogeneity of regression slopes (covariate × group interaction non-significant)</a:t>
            </a:r>
            <a:endParaRPr lang="en-US" sz="1300" dirty="0"/>
          </a:p>
          <a:p>
            <a:pPr marL="342900" indent="-342900">
              <a:buSzPct val="100000"/>
              <a:buChar char="•"/>
            </a:pPr>
            <a:r>
              <a:rPr lang="en-US" sz="1300" dirty="0">
                <a:solidFill>
                  <a:srgbClr val="1A2D3D"/>
                </a:solidFill>
                <a:latin typeface="Calibri" pitchFamily="34" charset="0"/>
                <a:ea typeface="Calibri" pitchFamily="34" charset="-122"/>
                <a:cs typeface="Calibri" pitchFamily="34" charset="-120"/>
              </a:rPr>
              <a:t>PH Example: Compare 3 exercise programs on HbA1c controlling for baseline HbA1c and age</a:t>
            </a:r>
            <a:endParaRPr lang="en-US" sz="1300" dirty="0"/>
          </a:p>
        </p:txBody>
      </p:sp>
      <p:sp>
        <p:nvSpPr>
          <p:cNvPr id="8" name="Shape 6"/>
          <p:cNvSpPr/>
          <p:nvPr/>
        </p:nvSpPr>
        <p:spPr>
          <a:xfrm>
            <a:off x="4754880" y="960120"/>
            <a:ext cx="3977640" cy="3977640"/>
          </a:xfrm>
          <a:prstGeom prst="rect">
            <a:avLst/>
          </a:prstGeom>
          <a:solidFill>
            <a:srgbClr val="FFFFFF"/>
          </a:solidFill>
          <a:ln w="12700">
            <a:solidFill>
              <a:srgbClr val="D6E4EC"/>
            </a:solidFill>
            <a:prstDash val="solid"/>
          </a:ln>
          <a:effectLst>
            <a:outerShdw blurRad="63500" dist="25400" dir="8100000" algn="bl" rotWithShape="0">
              <a:srgbClr val="000000">
                <a:alpha val="8000"/>
              </a:srgbClr>
            </a:outerShdw>
          </a:effectLst>
        </p:spPr>
        <p:txBody>
          <a:bodyPr/>
          <a:lstStyle/>
          <a:p>
            <a:endParaRPr lang="en-US"/>
          </a:p>
        </p:txBody>
      </p:sp>
      <p:sp>
        <p:nvSpPr>
          <p:cNvPr id="9" name="Shape 7"/>
          <p:cNvSpPr/>
          <p:nvPr/>
        </p:nvSpPr>
        <p:spPr>
          <a:xfrm>
            <a:off x="4754880" y="960120"/>
            <a:ext cx="3977640" cy="64008"/>
          </a:xfrm>
          <a:prstGeom prst="rect">
            <a:avLst/>
          </a:prstGeom>
          <a:solidFill>
            <a:srgbClr val="E8A838"/>
          </a:solidFill>
          <a:ln w="12700">
            <a:solidFill>
              <a:srgbClr val="E8A838"/>
            </a:solidFill>
            <a:prstDash val="solid"/>
          </a:ln>
        </p:spPr>
        <p:txBody>
          <a:bodyPr/>
          <a:lstStyle/>
          <a:p>
            <a:endParaRPr lang="en-US"/>
          </a:p>
        </p:txBody>
      </p:sp>
      <p:sp>
        <p:nvSpPr>
          <p:cNvPr id="10" name="Text 8"/>
          <p:cNvSpPr/>
          <p:nvPr/>
        </p:nvSpPr>
        <p:spPr>
          <a:xfrm>
            <a:off x="4846320" y="1005840"/>
            <a:ext cx="3794760" cy="457200"/>
          </a:xfrm>
          <a:prstGeom prst="rect">
            <a:avLst/>
          </a:prstGeom>
          <a:noFill/>
          <a:ln/>
        </p:spPr>
        <p:txBody>
          <a:bodyPr wrap="square" lIns="0" tIns="0" rIns="0" bIns="0" rtlCol="0" anchor="ctr"/>
          <a:lstStyle/>
          <a:p>
            <a:pPr marL="0" indent="0">
              <a:buNone/>
            </a:pPr>
            <a:r>
              <a:rPr lang="en-US" sz="1800" b="1" dirty="0">
                <a:solidFill>
                  <a:srgbClr val="E8A838"/>
                </a:solidFill>
                <a:latin typeface="Cambria" pitchFamily="34" charset="0"/>
                <a:ea typeface="Cambria" pitchFamily="34" charset="-122"/>
                <a:cs typeface="Cambria" pitchFamily="34" charset="-120"/>
              </a:rPr>
              <a:t>MANOVA</a:t>
            </a:r>
            <a:endParaRPr lang="en-US" sz="1800" dirty="0"/>
          </a:p>
        </p:txBody>
      </p:sp>
      <p:sp>
        <p:nvSpPr>
          <p:cNvPr id="11" name="Text 9"/>
          <p:cNvSpPr/>
          <p:nvPr/>
        </p:nvSpPr>
        <p:spPr>
          <a:xfrm>
            <a:off x="4846320" y="1508760"/>
            <a:ext cx="3794760" cy="3291840"/>
          </a:xfrm>
          <a:prstGeom prst="rect">
            <a:avLst/>
          </a:prstGeom>
          <a:noFill/>
          <a:ln/>
        </p:spPr>
        <p:txBody>
          <a:bodyPr wrap="square" rtlCol="0" anchor="t"/>
          <a:lstStyle/>
          <a:p>
            <a:pPr marL="342900" indent="-342900">
              <a:buSzPct val="100000"/>
              <a:buChar char="•"/>
            </a:pPr>
            <a:r>
              <a:rPr lang="en-US" sz="1300" dirty="0">
                <a:solidFill>
                  <a:srgbClr val="1A2D3D"/>
                </a:solidFill>
                <a:latin typeface="Calibri" pitchFamily="34" charset="0"/>
                <a:ea typeface="Calibri" pitchFamily="34" charset="-122"/>
                <a:cs typeface="Calibri" pitchFamily="34" charset="-120"/>
              </a:rPr>
              <a:t>Tests group differences on multiple DVs simultaneously</a:t>
            </a:r>
            <a:endParaRPr lang="en-US" sz="1300" dirty="0"/>
          </a:p>
          <a:p>
            <a:pPr marL="342900" indent="-342900">
              <a:buSzPct val="100000"/>
              <a:buChar char="•"/>
            </a:pPr>
            <a:r>
              <a:rPr lang="en-US" sz="1300" dirty="0">
                <a:solidFill>
                  <a:srgbClr val="1A2D3D"/>
                </a:solidFill>
                <a:latin typeface="Calibri" pitchFamily="34" charset="0"/>
                <a:ea typeface="Calibri" pitchFamily="34" charset="-122"/>
                <a:cs typeface="Calibri" pitchFamily="34" charset="-120"/>
              </a:rPr>
              <a:t>Controls Type I error inflation from running multiple ANOVAs</a:t>
            </a:r>
            <a:endParaRPr lang="en-US" sz="1300" dirty="0"/>
          </a:p>
          <a:p>
            <a:pPr marL="342900" indent="-342900">
              <a:buSzPct val="100000"/>
              <a:buChar char="•"/>
            </a:pPr>
            <a:r>
              <a:rPr lang="en-US" sz="1300" dirty="0">
                <a:solidFill>
                  <a:srgbClr val="1A2D3D"/>
                </a:solidFill>
                <a:latin typeface="Calibri" pitchFamily="34" charset="0"/>
                <a:ea typeface="Calibri" pitchFamily="34" charset="-122"/>
                <a:cs typeface="Calibri" pitchFamily="34" charset="-120"/>
              </a:rPr>
              <a:t>Creates a linear combination of DVs (variate) that maximises group separation</a:t>
            </a:r>
            <a:endParaRPr lang="en-US" sz="1300" dirty="0"/>
          </a:p>
          <a:p>
            <a:pPr marL="342900" indent="-342900">
              <a:buSzPct val="100000"/>
              <a:buChar char="•"/>
            </a:pPr>
            <a:r>
              <a:rPr lang="en-US" sz="1300" dirty="0">
                <a:solidFill>
                  <a:srgbClr val="1A2D3D"/>
                </a:solidFill>
                <a:latin typeface="Calibri" pitchFamily="34" charset="0"/>
                <a:ea typeface="Calibri" pitchFamily="34" charset="-122"/>
                <a:cs typeface="Calibri" pitchFamily="34" charset="-120"/>
              </a:rPr>
              <a:t>Multivariate test statistics: Wilks' Λ, Pillai's V, Hotelling's T², Roy's largest root</a:t>
            </a:r>
            <a:endParaRPr lang="en-US" sz="1300" dirty="0"/>
          </a:p>
          <a:p>
            <a:pPr marL="342900" indent="-342900">
              <a:buSzPct val="100000"/>
              <a:buChar char="•"/>
            </a:pPr>
            <a:r>
              <a:rPr lang="en-US" sz="1300" dirty="0">
                <a:solidFill>
                  <a:srgbClr val="1A2D3D"/>
                </a:solidFill>
                <a:latin typeface="Calibri" pitchFamily="34" charset="0"/>
                <a:ea typeface="Calibri" pitchFamily="34" charset="-122"/>
                <a:cs typeface="Calibri" pitchFamily="34" charset="-120"/>
              </a:rPr>
              <a:t>Follow up significant MANOVA with univariate ANOVAs and discriminant analysis</a:t>
            </a:r>
            <a:endParaRPr lang="en-US" sz="1300" dirty="0"/>
          </a:p>
          <a:p>
            <a:pPr marL="342900" indent="-342900">
              <a:buSzPct val="100000"/>
              <a:buChar char="•"/>
            </a:pPr>
            <a:r>
              <a:rPr lang="en-US" sz="1300" dirty="0">
                <a:solidFill>
                  <a:srgbClr val="1A2D3D"/>
                </a:solidFill>
                <a:latin typeface="Calibri" pitchFamily="34" charset="0"/>
                <a:ea typeface="Calibri" pitchFamily="34" charset="-122"/>
                <a:cs typeface="Calibri" pitchFamily="34" charset="-120"/>
              </a:rPr>
              <a:t>PH Example: Compare urban vs rural vs semi-urban on BMI + BP + cholesterol + glucose</a:t>
            </a:r>
            <a:endParaRPr lang="en-US" sz="13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82296"/>
          </a:xfrm>
          <a:prstGeom prst="rect">
            <a:avLst/>
          </a:prstGeom>
          <a:solidFill>
            <a:srgbClr val="6D2E46"/>
          </a:solidFill>
          <a:ln w="12700">
            <a:solidFill>
              <a:srgbClr val="6D2E46"/>
            </a:solidFill>
            <a:prstDash val="solid"/>
          </a:ln>
        </p:spPr>
        <p:txBody>
          <a:bodyPr/>
          <a:lstStyle/>
          <a:p>
            <a:endParaRPr lang="en-US"/>
          </a:p>
        </p:txBody>
      </p:sp>
      <p:sp>
        <p:nvSpPr>
          <p:cNvPr id="3" name="Text 1"/>
          <p:cNvSpPr/>
          <p:nvPr/>
        </p:nvSpPr>
        <p:spPr>
          <a:xfrm>
            <a:off x="411480" y="137160"/>
            <a:ext cx="8321040" cy="658368"/>
          </a:xfrm>
          <a:prstGeom prst="rect">
            <a:avLst/>
          </a:prstGeom>
          <a:noFill/>
          <a:ln/>
        </p:spPr>
        <p:txBody>
          <a:bodyPr wrap="square" lIns="0" tIns="0" rIns="0" bIns="0" rtlCol="0" anchor="ctr"/>
          <a:lstStyle/>
          <a:p>
            <a:pPr marL="0" indent="0">
              <a:buNone/>
            </a:pPr>
            <a:r>
              <a:rPr lang="en-US" sz="2700" b="1" dirty="0">
                <a:solidFill>
                  <a:srgbClr val="6D2E46"/>
                </a:solidFill>
                <a:latin typeface="Georgia" pitchFamily="34" charset="0"/>
                <a:ea typeface="Georgia" pitchFamily="34" charset="-122"/>
                <a:cs typeface="Georgia" pitchFamily="34" charset="-120"/>
              </a:rPr>
              <a:t>MANOVA: Multivariate Analysis of Variance</a:t>
            </a:r>
            <a:endParaRPr lang="en-US" sz="2700" dirty="0"/>
          </a:p>
        </p:txBody>
      </p:sp>
      <p:sp>
        <p:nvSpPr>
          <p:cNvPr id="4" name="Text 2"/>
          <p:cNvSpPr/>
          <p:nvPr/>
        </p:nvSpPr>
        <p:spPr>
          <a:xfrm>
            <a:off x="411480" y="822960"/>
            <a:ext cx="8321040" cy="320040"/>
          </a:xfrm>
          <a:prstGeom prst="rect">
            <a:avLst/>
          </a:prstGeom>
          <a:noFill/>
          <a:ln/>
        </p:spPr>
        <p:txBody>
          <a:bodyPr wrap="square" lIns="0" tIns="0" rIns="0" bIns="0" rtlCol="0" anchor="ctr"/>
          <a:lstStyle/>
          <a:p>
            <a:pPr marL="0" indent="0">
              <a:buNone/>
            </a:pPr>
            <a:r>
              <a:rPr lang="en-US" sz="1300" i="1" dirty="0">
                <a:solidFill>
                  <a:srgbClr val="5C5F7A"/>
                </a:solidFill>
                <a:latin typeface="Calibri" pitchFamily="34" charset="0"/>
                <a:ea typeface="Calibri" pitchFamily="34" charset="-122"/>
                <a:cs typeface="Calibri" pitchFamily="34" charset="-120"/>
              </a:rPr>
              <a:t>The multivariate extension of ANOVA — tests group differences on multiple DVs simultaneously</a:t>
            </a:r>
            <a:endParaRPr lang="en-US" sz="1300" dirty="0"/>
          </a:p>
        </p:txBody>
      </p:sp>
      <p:sp>
        <p:nvSpPr>
          <p:cNvPr id="5" name="Shape 3"/>
          <p:cNvSpPr/>
          <p:nvPr/>
        </p:nvSpPr>
        <p:spPr>
          <a:xfrm>
            <a:off x="365760" y="1115568"/>
            <a:ext cx="4069080" cy="3822192"/>
          </a:xfrm>
          <a:prstGeom prst="rect">
            <a:avLst/>
          </a:prstGeom>
          <a:solidFill>
            <a:srgbClr val="FFFFFF"/>
          </a:solidFill>
          <a:ln w="12700">
            <a:solidFill>
              <a:srgbClr val="DDE0F0"/>
            </a:solidFill>
            <a:prstDash val="solid"/>
          </a:ln>
          <a:effectLst>
            <a:outerShdw blurRad="76200" dist="25400" dir="8100000" algn="bl" rotWithShape="0">
              <a:srgbClr val="000000">
                <a:alpha val="10000"/>
              </a:srgbClr>
            </a:outerShdw>
          </a:effectLst>
        </p:spPr>
        <p:txBody>
          <a:bodyPr/>
          <a:lstStyle/>
          <a:p>
            <a:endParaRPr lang="en-US"/>
          </a:p>
        </p:txBody>
      </p:sp>
      <p:sp>
        <p:nvSpPr>
          <p:cNvPr id="6" name="Shape 4"/>
          <p:cNvSpPr/>
          <p:nvPr/>
        </p:nvSpPr>
        <p:spPr>
          <a:xfrm>
            <a:off x="365760" y="1115568"/>
            <a:ext cx="4069080" cy="64008"/>
          </a:xfrm>
          <a:prstGeom prst="rect">
            <a:avLst/>
          </a:prstGeom>
          <a:solidFill>
            <a:srgbClr val="6D2E46"/>
          </a:solidFill>
          <a:ln w="12700">
            <a:solidFill>
              <a:srgbClr val="6D2E46"/>
            </a:solidFill>
            <a:prstDash val="solid"/>
          </a:ln>
        </p:spPr>
        <p:txBody>
          <a:bodyPr/>
          <a:lstStyle/>
          <a:p>
            <a:endParaRPr lang="en-US"/>
          </a:p>
        </p:txBody>
      </p:sp>
      <p:sp>
        <p:nvSpPr>
          <p:cNvPr id="7" name="Text 5"/>
          <p:cNvSpPr/>
          <p:nvPr/>
        </p:nvSpPr>
        <p:spPr>
          <a:xfrm>
            <a:off x="493776" y="1161288"/>
            <a:ext cx="3840480" cy="384048"/>
          </a:xfrm>
          <a:prstGeom prst="rect">
            <a:avLst/>
          </a:prstGeom>
          <a:noFill/>
          <a:ln/>
        </p:spPr>
        <p:txBody>
          <a:bodyPr wrap="square" lIns="0" tIns="0" rIns="0" bIns="0" rtlCol="0" anchor="ctr"/>
          <a:lstStyle/>
          <a:p>
            <a:pPr marL="0" indent="0">
              <a:buNone/>
            </a:pPr>
            <a:r>
              <a:rPr lang="en-US" sz="1400" b="1" dirty="0">
                <a:solidFill>
                  <a:srgbClr val="6D2E46"/>
                </a:solidFill>
                <a:latin typeface="Georgia" pitchFamily="34" charset="0"/>
                <a:ea typeface="Georgia" pitchFamily="34" charset="-122"/>
                <a:cs typeface="Georgia" pitchFamily="34" charset="-120"/>
              </a:rPr>
              <a:t>How MANOVA Works</a:t>
            </a:r>
            <a:endParaRPr lang="en-US" sz="1400" dirty="0"/>
          </a:p>
        </p:txBody>
      </p:sp>
      <p:sp>
        <p:nvSpPr>
          <p:cNvPr id="8" name="Text 6"/>
          <p:cNvSpPr/>
          <p:nvPr/>
        </p:nvSpPr>
        <p:spPr>
          <a:xfrm>
            <a:off x="493776" y="1591056"/>
            <a:ext cx="3840480" cy="3273552"/>
          </a:xfrm>
          <a:prstGeom prst="rect">
            <a:avLst/>
          </a:prstGeom>
          <a:noFill/>
          <a:ln/>
        </p:spPr>
        <p:txBody>
          <a:bodyPr wrap="square" rtlCol="0" anchor="t"/>
          <a:lstStyle/>
          <a:p>
            <a:pPr marL="342900" indent="-342900">
              <a:buSzPct val="100000"/>
              <a:buChar char="•"/>
            </a:pPr>
            <a:r>
              <a:rPr lang="en-US" sz="1250" dirty="0">
                <a:solidFill>
                  <a:srgbClr val="1A1A2E"/>
                </a:solidFill>
                <a:latin typeface="Calibri" pitchFamily="34" charset="0"/>
                <a:ea typeface="Calibri" pitchFamily="34" charset="-122"/>
                <a:cs typeface="Calibri" pitchFamily="34" charset="-120"/>
              </a:rPr>
              <a:t>Forms a linear combination (variate) of DVs that maximises group separation</a:t>
            </a:r>
            <a:endParaRPr lang="en-US" sz="1250" dirty="0"/>
          </a:p>
          <a:p>
            <a:pPr marL="342900" indent="-342900">
              <a:buSzPct val="100000"/>
              <a:buChar char="•"/>
            </a:pPr>
            <a:r>
              <a:rPr lang="en-US" sz="1250" dirty="0">
                <a:solidFill>
                  <a:srgbClr val="1A1A2E"/>
                </a:solidFill>
                <a:latin typeface="Calibri" pitchFamily="34" charset="0"/>
                <a:ea typeface="Calibri" pitchFamily="34" charset="-122"/>
                <a:cs typeface="Calibri" pitchFamily="34" charset="-120"/>
              </a:rPr>
              <a:t>Tests whether group centroids (multivariate means) differ significantly</a:t>
            </a:r>
            <a:endParaRPr lang="en-US" sz="1250" dirty="0"/>
          </a:p>
          <a:p>
            <a:pPr marL="342900" indent="-342900">
              <a:buSzPct val="100000"/>
              <a:buChar char="•"/>
            </a:pPr>
            <a:r>
              <a:rPr lang="en-US" sz="1250" dirty="0">
                <a:solidFill>
                  <a:srgbClr val="1A1A2E"/>
                </a:solidFill>
                <a:latin typeface="Calibri" pitchFamily="34" charset="0"/>
                <a:ea typeface="Calibri" pitchFamily="34" charset="-122"/>
                <a:cs typeface="Calibri" pitchFamily="34" charset="-120"/>
              </a:rPr>
              <a:t>Produces FOUR test statistics — each has advantages in different situations</a:t>
            </a:r>
            <a:endParaRPr lang="en-US" sz="1250" dirty="0"/>
          </a:p>
          <a:p>
            <a:pPr marL="342900" indent="-342900">
              <a:buSzPct val="100000"/>
              <a:buChar char="•"/>
            </a:pPr>
            <a:r>
              <a:rPr lang="en-US" sz="1250" dirty="0">
                <a:solidFill>
                  <a:srgbClr val="1A1A2E"/>
                </a:solidFill>
                <a:latin typeface="Calibri" pitchFamily="34" charset="0"/>
                <a:ea typeface="Calibri" pitchFamily="34" charset="-122"/>
                <a:cs typeface="Calibri" pitchFamily="34" charset="-120"/>
              </a:rPr>
              <a:t>Follow-up: univariate ANOVAs and discriminant analysis to interpret which DVs drive differences</a:t>
            </a:r>
            <a:endParaRPr lang="en-US" sz="1250" dirty="0"/>
          </a:p>
          <a:p>
            <a:pPr marL="342900" indent="-342900">
              <a:buSzPct val="100000"/>
              <a:buChar char="•"/>
            </a:pPr>
            <a:r>
              <a:rPr lang="en-US" sz="1250" dirty="0">
                <a:solidFill>
                  <a:srgbClr val="1A1A2E"/>
                </a:solidFill>
                <a:latin typeface="Calibri" pitchFamily="34" charset="0"/>
                <a:ea typeface="Calibri" pitchFamily="34" charset="-122"/>
                <a:cs typeface="Calibri" pitchFamily="34" charset="-120"/>
              </a:rPr>
              <a:t>Requires: homogeneity of variance-covariance matrices (Box's M test) and multivariate normality</a:t>
            </a:r>
            <a:endParaRPr lang="en-US" sz="1250" dirty="0"/>
          </a:p>
        </p:txBody>
      </p:sp>
      <p:sp>
        <p:nvSpPr>
          <p:cNvPr id="9" name="Shape 7"/>
          <p:cNvSpPr/>
          <p:nvPr/>
        </p:nvSpPr>
        <p:spPr>
          <a:xfrm>
            <a:off x="4709160" y="1115568"/>
            <a:ext cx="4069080" cy="3822192"/>
          </a:xfrm>
          <a:prstGeom prst="rect">
            <a:avLst/>
          </a:prstGeom>
          <a:solidFill>
            <a:srgbClr val="FFFFFF"/>
          </a:solidFill>
          <a:ln w="12700">
            <a:solidFill>
              <a:srgbClr val="DDE0F0"/>
            </a:solidFill>
            <a:prstDash val="solid"/>
          </a:ln>
          <a:effectLst>
            <a:outerShdw blurRad="76200" dist="25400" dir="8100000" algn="bl" rotWithShape="0">
              <a:srgbClr val="000000">
                <a:alpha val="10000"/>
              </a:srgbClr>
            </a:outerShdw>
          </a:effectLst>
        </p:spPr>
        <p:txBody>
          <a:bodyPr/>
          <a:lstStyle/>
          <a:p>
            <a:endParaRPr lang="en-US"/>
          </a:p>
        </p:txBody>
      </p:sp>
      <p:sp>
        <p:nvSpPr>
          <p:cNvPr id="10" name="Shape 8"/>
          <p:cNvSpPr/>
          <p:nvPr/>
        </p:nvSpPr>
        <p:spPr>
          <a:xfrm>
            <a:off x="4709160" y="1115568"/>
            <a:ext cx="4069080" cy="64008"/>
          </a:xfrm>
          <a:prstGeom prst="rect">
            <a:avLst/>
          </a:prstGeom>
          <a:solidFill>
            <a:srgbClr val="1E2761"/>
          </a:solidFill>
          <a:ln w="12700">
            <a:solidFill>
              <a:srgbClr val="1E2761"/>
            </a:solidFill>
            <a:prstDash val="solid"/>
          </a:ln>
        </p:spPr>
        <p:txBody>
          <a:bodyPr/>
          <a:lstStyle/>
          <a:p>
            <a:endParaRPr lang="en-US"/>
          </a:p>
        </p:txBody>
      </p:sp>
      <p:sp>
        <p:nvSpPr>
          <p:cNvPr id="11" name="Text 9"/>
          <p:cNvSpPr/>
          <p:nvPr/>
        </p:nvSpPr>
        <p:spPr>
          <a:xfrm>
            <a:off x="4846320" y="1161288"/>
            <a:ext cx="3840480" cy="384048"/>
          </a:xfrm>
          <a:prstGeom prst="rect">
            <a:avLst/>
          </a:prstGeom>
          <a:noFill/>
          <a:ln/>
        </p:spPr>
        <p:txBody>
          <a:bodyPr wrap="square" lIns="0" tIns="0" rIns="0" bIns="0" rtlCol="0" anchor="ctr"/>
          <a:lstStyle/>
          <a:p>
            <a:pPr marL="0" indent="0">
              <a:buNone/>
            </a:pPr>
            <a:r>
              <a:rPr lang="en-US" sz="1400" b="1" dirty="0">
                <a:solidFill>
                  <a:srgbClr val="1E2761"/>
                </a:solidFill>
                <a:latin typeface="Georgia" pitchFamily="34" charset="0"/>
                <a:ea typeface="Georgia" pitchFamily="34" charset="-122"/>
                <a:cs typeface="Georgia" pitchFamily="34" charset="-120"/>
              </a:rPr>
              <a:t>The Four Test Statistics</a:t>
            </a:r>
            <a:endParaRPr lang="en-US" sz="1400" dirty="0"/>
          </a:p>
        </p:txBody>
      </p:sp>
      <p:sp>
        <p:nvSpPr>
          <p:cNvPr id="12" name="Shape 10"/>
          <p:cNvSpPr/>
          <p:nvPr/>
        </p:nvSpPr>
        <p:spPr>
          <a:xfrm>
            <a:off x="4800600" y="1600200"/>
            <a:ext cx="3840480" cy="749808"/>
          </a:xfrm>
          <a:prstGeom prst="rect">
            <a:avLst/>
          </a:prstGeom>
          <a:solidFill>
            <a:srgbClr val="ECEEF8"/>
          </a:solidFill>
          <a:ln w="12700">
            <a:solidFill>
              <a:srgbClr val="DDE0F0"/>
            </a:solidFill>
            <a:prstDash val="solid"/>
          </a:ln>
        </p:spPr>
        <p:txBody>
          <a:bodyPr/>
          <a:lstStyle/>
          <a:p>
            <a:endParaRPr lang="en-US"/>
          </a:p>
        </p:txBody>
      </p:sp>
      <p:sp>
        <p:nvSpPr>
          <p:cNvPr id="13" name="Text 11"/>
          <p:cNvSpPr/>
          <p:nvPr/>
        </p:nvSpPr>
        <p:spPr>
          <a:xfrm>
            <a:off x="4892040" y="1645920"/>
            <a:ext cx="3657600" cy="274320"/>
          </a:xfrm>
          <a:prstGeom prst="rect">
            <a:avLst/>
          </a:prstGeom>
          <a:noFill/>
          <a:ln/>
        </p:spPr>
        <p:txBody>
          <a:bodyPr wrap="square" lIns="0" tIns="0" rIns="0" bIns="0" rtlCol="0" anchor="ctr"/>
          <a:lstStyle/>
          <a:p>
            <a:pPr marL="0" indent="0">
              <a:buNone/>
            </a:pPr>
            <a:r>
              <a:rPr lang="en-US" sz="1200" b="1" dirty="0">
                <a:solidFill>
                  <a:srgbClr val="6D2E46"/>
                </a:solidFill>
                <a:latin typeface="Georgia" pitchFamily="34" charset="0"/>
                <a:ea typeface="Georgia" pitchFamily="34" charset="-122"/>
                <a:cs typeface="Georgia" pitchFamily="34" charset="-120"/>
              </a:rPr>
              <a:t>Pillai's Trace (V)</a:t>
            </a:r>
            <a:endParaRPr lang="en-US" sz="1200" dirty="0"/>
          </a:p>
        </p:txBody>
      </p:sp>
      <p:sp>
        <p:nvSpPr>
          <p:cNvPr id="14" name="Text 12"/>
          <p:cNvSpPr/>
          <p:nvPr/>
        </p:nvSpPr>
        <p:spPr>
          <a:xfrm>
            <a:off x="4892040" y="1929384"/>
            <a:ext cx="3657600" cy="365760"/>
          </a:xfrm>
          <a:prstGeom prst="rect">
            <a:avLst/>
          </a:prstGeom>
          <a:noFill/>
          <a:ln/>
        </p:spPr>
        <p:txBody>
          <a:bodyPr wrap="square" lIns="0" tIns="0" rIns="0" bIns="0" rtlCol="0" anchor="ctr"/>
          <a:lstStyle/>
          <a:p>
            <a:pPr marL="0" indent="0">
              <a:buNone/>
            </a:pPr>
            <a:r>
              <a:rPr lang="en-US" sz="1150" dirty="0">
                <a:solidFill>
                  <a:srgbClr val="1A1A2E"/>
                </a:solidFill>
                <a:latin typeface="Calibri" pitchFamily="34" charset="0"/>
                <a:ea typeface="Calibri" pitchFamily="34" charset="-122"/>
                <a:cs typeface="Calibri" pitchFamily="34" charset="-120"/>
              </a:rPr>
              <a:t>Most robust; recommended when N is small or assumptions are violated. Use by default.</a:t>
            </a:r>
            <a:endParaRPr lang="en-US" sz="1150" dirty="0"/>
          </a:p>
        </p:txBody>
      </p:sp>
      <p:sp>
        <p:nvSpPr>
          <p:cNvPr id="15" name="Shape 13"/>
          <p:cNvSpPr/>
          <p:nvPr/>
        </p:nvSpPr>
        <p:spPr>
          <a:xfrm>
            <a:off x="4800600" y="2468880"/>
            <a:ext cx="3840480" cy="749808"/>
          </a:xfrm>
          <a:prstGeom prst="rect">
            <a:avLst/>
          </a:prstGeom>
          <a:solidFill>
            <a:srgbClr val="FFFFFF"/>
          </a:solidFill>
          <a:ln w="12700">
            <a:solidFill>
              <a:srgbClr val="DDE0F0"/>
            </a:solidFill>
            <a:prstDash val="solid"/>
          </a:ln>
        </p:spPr>
        <p:txBody>
          <a:bodyPr/>
          <a:lstStyle/>
          <a:p>
            <a:endParaRPr lang="en-US"/>
          </a:p>
        </p:txBody>
      </p:sp>
      <p:sp>
        <p:nvSpPr>
          <p:cNvPr id="16" name="Text 14"/>
          <p:cNvSpPr/>
          <p:nvPr/>
        </p:nvSpPr>
        <p:spPr>
          <a:xfrm>
            <a:off x="4892040" y="2514600"/>
            <a:ext cx="3657600" cy="274320"/>
          </a:xfrm>
          <a:prstGeom prst="rect">
            <a:avLst/>
          </a:prstGeom>
          <a:noFill/>
          <a:ln/>
        </p:spPr>
        <p:txBody>
          <a:bodyPr wrap="square" lIns="0" tIns="0" rIns="0" bIns="0" rtlCol="0" anchor="ctr"/>
          <a:lstStyle/>
          <a:p>
            <a:pPr marL="0" indent="0">
              <a:buNone/>
            </a:pPr>
            <a:r>
              <a:rPr lang="en-US" sz="1200" b="1" dirty="0">
                <a:solidFill>
                  <a:srgbClr val="6D2E46"/>
                </a:solidFill>
                <a:latin typeface="Georgia" pitchFamily="34" charset="0"/>
                <a:ea typeface="Georgia" pitchFamily="34" charset="-122"/>
                <a:cs typeface="Georgia" pitchFamily="34" charset="-120"/>
              </a:rPr>
              <a:t>Wilks' Lambda (Λ)</a:t>
            </a:r>
            <a:endParaRPr lang="en-US" sz="1200" dirty="0"/>
          </a:p>
        </p:txBody>
      </p:sp>
      <p:sp>
        <p:nvSpPr>
          <p:cNvPr id="17" name="Text 15"/>
          <p:cNvSpPr/>
          <p:nvPr/>
        </p:nvSpPr>
        <p:spPr>
          <a:xfrm>
            <a:off x="4892040" y="2798064"/>
            <a:ext cx="3657600" cy="365760"/>
          </a:xfrm>
          <a:prstGeom prst="rect">
            <a:avLst/>
          </a:prstGeom>
          <a:noFill/>
          <a:ln/>
        </p:spPr>
        <p:txBody>
          <a:bodyPr wrap="square" lIns="0" tIns="0" rIns="0" bIns="0" rtlCol="0" anchor="ctr"/>
          <a:lstStyle/>
          <a:p>
            <a:pPr marL="0" indent="0">
              <a:buNone/>
            </a:pPr>
            <a:r>
              <a:rPr lang="en-US" sz="1150" dirty="0">
                <a:solidFill>
                  <a:srgbClr val="1A1A2E"/>
                </a:solidFill>
                <a:latin typeface="Calibri" pitchFamily="34" charset="0"/>
                <a:ea typeface="Calibri" pitchFamily="34" charset="-122"/>
                <a:cs typeface="Calibri" pitchFamily="34" charset="-120"/>
              </a:rPr>
              <a:t>Most widely reported. Smaller Λ = larger group difference. Multivariate equivalent of F-ratio.</a:t>
            </a:r>
            <a:endParaRPr lang="en-US" sz="1150" dirty="0"/>
          </a:p>
        </p:txBody>
      </p:sp>
      <p:sp>
        <p:nvSpPr>
          <p:cNvPr id="18" name="Shape 16"/>
          <p:cNvSpPr/>
          <p:nvPr/>
        </p:nvSpPr>
        <p:spPr>
          <a:xfrm>
            <a:off x="4800600" y="3337560"/>
            <a:ext cx="3840480" cy="749808"/>
          </a:xfrm>
          <a:prstGeom prst="rect">
            <a:avLst/>
          </a:prstGeom>
          <a:solidFill>
            <a:srgbClr val="ECEEF8"/>
          </a:solidFill>
          <a:ln w="12700">
            <a:solidFill>
              <a:srgbClr val="DDE0F0"/>
            </a:solidFill>
            <a:prstDash val="solid"/>
          </a:ln>
        </p:spPr>
        <p:txBody>
          <a:bodyPr/>
          <a:lstStyle/>
          <a:p>
            <a:endParaRPr lang="en-US"/>
          </a:p>
        </p:txBody>
      </p:sp>
      <p:sp>
        <p:nvSpPr>
          <p:cNvPr id="19" name="Text 17"/>
          <p:cNvSpPr/>
          <p:nvPr/>
        </p:nvSpPr>
        <p:spPr>
          <a:xfrm>
            <a:off x="4892040" y="3383280"/>
            <a:ext cx="3657600" cy="274320"/>
          </a:xfrm>
          <a:prstGeom prst="rect">
            <a:avLst/>
          </a:prstGeom>
          <a:noFill/>
          <a:ln/>
        </p:spPr>
        <p:txBody>
          <a:bodyPr wrap="square" lIns="0" tIns="0" rIns="0" bIns="0" rtlCol="0" anchor="ctr"/>
          <a:lstStyle/>
          <a:p>
            <a:pPr marL="0" indent="0">
              <a:buNone/>
            </a:pPr>
            <a:r>
              <a:rPr lang="en-US" sz="1200" b="1" dirty="0">
                <a:solidFill>
                  <a:srgbClr val="6D2E46"/>
                </a:solidFill>
                <a:latin typeface="Georgia" pitchFamily="34" charset="0"/>
                <a:ea typeface="Georgia" pitchFamily="34" charset="-122"/>
                <a:cs typeface="Georgia" pitchFamily="34" charset="-120"/>
              </a:rPr>
              <a:t>Hotelling's Trace (T²)</a:t>
            </a:r>
            <a:endParaRPr lang="en-US" sz="1200" dirty="0"/>
          </a:p>
        </p:txBody>
      </p:sp>
      <p:sp>
        <p:nvSpPr>
          <p:cNvPr id="20" name="Text 18"/>
          <p:cNvSpPr/>
          <p:nvPr/>
        </p:nvSpPr>
        <p:spPr>
          <a:xfrm>
            <a:off x="4892040" y="3666744"/>
            <a:ext cx="3657600" cy="365760"/>
          </a:xfrm>
          <a:prstGeom prst="rect">
            <a:avLst/>
          </a:prstGeom>
          <a:noFill/>
          <a:ln/>
        </p:spPr>
        <p:txBody>
          <a:bodyPr wrap="square" lIns="0" tIns="0" rIns="0" bIns="0" rtlCol="0" anchor="ctr"/>
          <a:lstStyle/>
          <a:p>
            <a:pPr marL="0" indent="0">
              <a:buNone/>
            </a:pPr>
            <a:r>
              <a:rPr lang="en-US" sz="1150" dirty="0">
                <a:solidFill>
                  <a:srgbClr val="1A1A2E"/>
                </a:solidFill>
                <a:latin typeface="Calibri" pitchFamily="34" charset="0"/>
                <a:ea typeface="Calibri" pitchFamily="34" charset="-122"/>
                <a:cs typeface="Calibri" pitchFamily="34" charset="-120"/>
              </a:rPr>
              <a:t>Powerful when groups are separated on one dimension. Use with 2 groups.</a:t>
            </a:r>
            <a:endParaRPr lang="en-US" sz="1150" dirty="0"/>
          </a:p>
        </p:txBody>
      </p:sp>
      <p:sp>
        <p:nvSpPr>
          <p:cNvPr id="21" name="Shape 19"/>
          <p:cNvSpPr/>
          <p:nvPr/>
        </p:nvSpPr>
        <p:spPr>
          <a:xfrm>
            <a:off x="4800600" y="4206240"/>
            <a:ext cx="3840480" cy="749808"/>
          </a:xfrm>
          <a:prstGeom prst="rect">
            <a:avLst/>
          </a:prstGeom>
          <a:solidFill>
            <a:srgbClr val="FFFFFF"/>
          </a:solidFill>
          <a:ln w="12700">
            <a:solidFill>
              <a:srgbClr val="DDE0F0"/>
            </a:solidFill>
            <a:prstDash val="solid"/>
          </a:ln>
        </p:spPr>
        <p:txBody>
          <a:bodyPr/>
          <a:lstStyle/>
          <a:p>
            <a:endParaRPr lang="en-US"/>
          </a:p>
        </p:txBody>
      </p:sp>
      <p:sp>
        <p:nvSpPr>
          <p:cNvPr id="22" name="Text 20"/>
          <p:cNvSpPr/>
          <p:nvPr/>
        </p:nvSpPr>
        <p:spPr>
          <a:xfrm>
            <a:off x="4892040" y="4251960"/>
            <a:ext cx="3657600" cy="274320"/>
          </a:xfrm>
          <a:prstGeom prst="rect">
            <a:avLst/>
          </a:prstGeom>
          <a:noFill/>
          <a:ln/>
        </p:spPr>
        <p:txBody>
          <a:bodyPr wrap="square" lIns="0" tIns="0" rIns="0" bIns="0" rtlCol="0" anchor="ctr"/>
          <a:lstStyle/>
          <a:p>
            <a:pPr marL="0" indent="0">
              <a:buNone/>
            </a:pPr>
            <a:r>
              <a:rPr lang="en-US" sz="1200" b="1" dirty="0">
                <a:solidFill>
                  <a:srgbClr val="6D2E46"/>
                </a:solidFill>
                <a:latin typeface="Georgia" pitchFamily="34" charset="0"/>
                <a:ea typeface="Georgia" pitchFamily="34" charset="-122"/>
                <a:cs typeface="Georgia" pitchFamily="34" charset="-120"/>
              </a:rPr>
              <a:t>Roy's Largest Root</a:t>
            </a:r>
            <a:endParaRPr lang="en-US" sz="1200" dirty="0"/>
          </a:p>
        </p:txBody>
      </p:sp>
      <p:sp>
        <p:nvSpPr>
          <p:cNvPr id="23" name="Text 21"/>
          <p:cNvSpPr/>
          <p:nvPr/>
        </p:nvSpPr>
        <p:spPr>
          <a:xfrm>
            <a:off x="4892040" y="4535424"/>
            <a:ext cx="3657600" cy="365760"/>
          </a:xfrm>
          <a:prstGeom prst="rect">
            <a:avLst/>
          </a:prstGeom>
          <a:noFill/>
          <a:ln/>
        </p:spPr>
        <p:txBody>
          <a:bodyPr wrap="square" lIns="0" tIns="0" rIns="0" bIns="0" rtlCol="0" anchor="ctr"/>
          <a:lstStyle/>
          <a:p>
            <a:pPr marL="0" indent="0">
              <a:buNone/>
            </a:pPr>
            <a:r>
              <a:rPr lang="en-US" sz="1150" dirty="0">
                <a:solidFill>
                  <a:srgbClr val="1A1A2E"/>
                </a:solidFill>
                <a:latin typeface="Calibri" pitchFamily="34" charset="0"/>
                <a:ea typeface="Calibri" pitchFamily="34" charset="-122"/>
                <a:cs typeface="Calibri" pitchFamily="34" charset="-120"/>
              </a:rPr>
              <a:t>Most powerful if one variate explains most variance; liberal when assumptions violated.</a:t>
            </a:r>
            <a:endParaRPr lang="en-US" sz="115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82296"/>
          </a:xfrm>
          <a:prstGeom prst="rect">
            <a:avLst/>
          </a:prstGeom>
          <a:solidFill>
            <a:srgbClr val="6D2E46"/>
          </a:solidFill>
          <a:ln w="12700">
            <a:solidFill>
              <a:srgbClr val="6D2E46"/>
            </a:solidFill>
            <a:prstDash val="solid"/>
          </a:ln>
        </p:spPr>
        <p:txBody>
          <a:bodyPr/>
          <a:lstStyle/>
          <a:p>
            <a:endParaRPr lang="en-US"/>
          </a:p>
        </p:txBody>
      </p:sp>
      <p:sp>
        <p:nvSpPr>
          <p:cNvPr id="3" name="Text 1"/>
          <p:cNvSpPr/>
          <p:nvPr/>
        </p:nvSpPr>
        <p:spPr>
          <a:xfrm>
            <a:off x="411480" y="137160"/>
            <a:ext cx="8321040" cy="658368"/>
          </a:xfrm>
          <a:prstGeom prst="rect">
            <a:avLst/>
          </a:prstGeom>
          <a:noFill/>
          <a:ln/>
        </p:spPr>
        <p:txBody>
          <a:bodyPr wrap="square" lIns="0" tIns="0" rIns="0" bIns="0" rtlCol="0" anchor="ctr"/>
          <a:lstStyle/>
          <a:p>
            <a:pPr marL="0" indent="0">
              <a:buNone/>
            </a:pPr>
            <a:r>
              <a:rPr lang="en-US" sz="2700" b="1" dirty="0">
                <a:solidFill>
                  <a:srgbClr val="6D2E46"/>
                </a:solidFill>
                <a:latin typeface="Georgia" pitchFamily="34" charset="0"/>
                <a:ea typeface="Georgia" pitchFamily="34" charset="-122"/>
                <a:cs typeface="Georgia" pitchFamily="34" charset="-120"/>
              </a:rPr>
              <a:t>MANCOVA &amp; Profile Analysis</a:t>
            </a:r>
            <a:endParaRPr lang="en-US" sz="2700" dirty="0"/>
          </a:p>
        </p:txBody>
      </p:sp>
      <p:sp>
        <p:nvSpPr>
          <p:cNvPr id="4" name="Text 2"/>
          <p:cNvSpPr/>
          <p:nvPr/>
        </p:nvSpPr>
        <p:spPr>
          <a:xfrm>
            <a:off x="411480" y="822960"/>
            <a:ext cx="8321040" cy="320040"/>
          </a:xfrm>
          <a:prstGeom prst="rect">
            <a:avLst/>
          </a:prstGeom>
          <a:noFill/>
          <a:ln/>
        </p:spPr>
        <p:txBody>
          <a:bodyPr wrap="square" lIns="0" tIns="0" rIns="0" bIns="0" rtlCol="0" anchor="ctr"/>
          <a:lstStyle/>
          <a:p>
            <a:pPr marL="0" indent="0">
              <a:buNone/>
            </a:pPr>
            <a:r>
              <a:rPr lang="en-US" sz="1300" i="1" dirty="0">
                <a:solidFill>
                  <a:srgbClr val="5C5F7A"/>
                </a:solidFill>
                <a:latin typeface="Calibri" pitchFamily="34" charset="0"/>
                <a:ea typeface="Calibri" pitchFamily="34" charset="-122"/>
                <a:cs typeface="Calibri" pitchFamily="34" charset="-120"/>
              </a:rPr>
              <a:t>Extensions of MANOVA for covariate adjustment and repeated measures</a:t>
            </a:r>
            <a:endParaRPr lang="en-US" sz="1300" dirty="0"/>
          </a:p>
        </p:txBody>
      </p:sp>
      <p:sp>
        <p:nvSpPr>
          <p:cNvPr id="5" name="Shape 3"/>
          <p:cNvSpPr/>
          <p:nvPr/>
        </p:nvSpPr>
        <p:spPr>
          <a:xfrm>
            <a:off x="365760" y="1115568"/>
            <a:ext cx="4069080" cy="2148840"/>
          </a:xfrm>
          <a:prstGeom prst="rect">
            <a:avLst/>
          </a:prstGeom>
          <a:solidFill>
            <a:srgbClr val="FFFFFF"/>
          </a:solidFill>
          <a:ln w="12700">
            <a:solidFill>
              <a:srgbClr val="DDE0F0"/>
            </a:solidFill>
            <a:prstDash val="solid"/>
          </a:ln>
          <a:effectLst>
            <a:outerShdw blurRad="76200" dist="25400" dir="8100000" algn="bl" rotWithShape="0">
              <a:srgbClr val="000000">
                <a:alpha val="10000"/>
              </a:srgbClr>
            </a:outerShdw>
          </a:effectLst>
        </p:spPr>
        <p:txBody>
          <a:bodyPr/>
          <a:lstStyle/>
          <a:p>
            <a:endParaRPr lang="en-US"/>
          </a:p>
        </p:txBody>
      </p:sp>
      <p:sp>
        <p:nvSpPr>
          <p:cNvPr id="6" name="Shape 4"/>
          <p:cNvSpPr/>
          <p:nvPr/>
        </p:nvSpPr>
        <p:spPr>
          <a:xfrm>
            <a:off x="365760" y="1115568"/>
            <a:ext cx="64008" cy="2148840"/>
          </a:xfrm>
          <a:prstGeom prst="rect">
            <a:avLst/>
          </a:prstGeom>
          <a:solidFill>
            <a:srgbClr val="6D2E46"/>
          </a:solidFill>
          <a:ln w="12700">
            <a:solidFill>
              <a:srgbClr val="6D2E46"/>
            </a:solidFill>
            <a:prstDash val="solid"/>
          </a:ln>
        </p:spPr>
        <p:txBody>
          <a:bodyPr/>
          <a:lstStyle/>
          <a:p>
            <a:endParaRPr lang="en-US"/>
          </a:p>
        </p:txBody>
      </p:sp>
      <p:sp>
        <p:nvSpPr>
          <p:cNvPr id="7" name="Text 5"/>
          <p:cNvSpPr/>
          <p:nvPr/>
        </p:nvSpPr>
        <p:spPr>
          <a:xfrm>
            <a:off x="512064" y="1188720"/>
            <a:ext cx="3867912" cy="347472"/>
          </a:xfrm>
          <a:prstGeom prst="rect">
            <a:avLst/>
          </a:prstGeom>
          <a:noFill/>
          <a:ln/>
        </p:spPr>
        <p:txBody>
          <a:bodyPr wrap="square" lIns="0" tIns="0" rIns="0" bIns="0" rtlCol="0" anchor="ctr"/>
          <a:lstStyle/>
          <a:p>
            <a:pPr marL="0" indent="0">
              <a:buNone/>
            </a:pPr>
            <a:r>
              <a:rPr lang="en-US" sz="1300" b="1" dirty="0">
                <a:solidFill>
                  <a:srgbClr val="6D2E46"/>
                </a:solidFill>
                <a:latin typeface="Georgia" pitchFamily="34" charset="0"/>
                <a:ea typeface="Georgia" pitchFamily="34" charset="-122"/>
                <a:cs typeface="Georgia" pitchFamily="34" charset="-120"/>
              </a:rPr>
              <a:t>MANCOVA</a:t>
            </a:r>
            <a:endParaRPr lang="en-US" sz="1300" dirty="0"/>
          </a:p>
        </p:txBody>
      </p:sp>
      <p:sp>
        <p:nvSpPr>
          <p:cNvPr id="8" name="Text 6"/>
          <p:cNvSpPr/>
          <p:nvPr/>
        </p:nvSpPr>
        <p:spPr>
          <a:xfrm>
            <a:off x="512064" y="1554480"/>
            <a:ext cx="3867912" cy="1618488"/>
          </a:xfrm>
          <a:prstGeom prst="rect">
            <a:avLst/>
          </a:prstGeom>
          <a:noFill/>
          <a:ln/>
        </p:spPr>
        <p:txBody>
          <a:bodyPr wrap="square" lIns="0" tIns="0" rIns="0" bIns="0" rtlCol="0" anchor="t"/>
          <a:lstStyle/>
          <a:p>
            <a:pPr marL="0" indent="0">
              <a:buNone/>
            </a:pPr>
            <a:r>
              <a:rPr lang="en-US" sz="1150" dirty="0">
                <a:solidFill>
                  <a:srgbClr val="1A1A2E"/>
                </a:solidFill>
                <a:latin typeface="Calibri" pitchFamily="34" charset="0"/>
                <a:ea typeface="Calibri" pitchFamily="34" charset="-122"/>
                <a:cs typeface="Calibri" pitchFamily="34" charset="-120"/>
              </a:rPr>
              <a:t>Extends MANOVA by statistically controlling one or more continuous covariates.</a:t>
            </a:r>
            <a:endParaRPr lang="en-US" sz="1150" dirty="0"/>
          </a:p>
          <a:p>
            <a:pPr marL="0" indent="0">
              <a:buNone/>
            </a:pPr>
            <a:endParaRPr lang="en-US" sz="1150" dirty="0"/>
          </a:p>
          <a:p>
            <a:pPr marL="0" indent="0">
              <a:buNone/>
            </a:pPr>
            <a:r>
              <a:rPr lang="en-US" sz="1150" dirty="0">
                <a:solidFill>
                  <a:srgbClr val="1A1A2E"/>
                </a:solidFill>
                <a:latin typeface="Calibri" pitchFamily="34" charset="0"/>
                <a:ea typeface="Calibri" pitchFamily="34" charset="-122"/>
                <a:cs typeface="Calibri" pitchFamily="34" charset="-120"/>
              </a:rPr>
              <a:t>Use when groups differ on a covariate that affects all DVs (e.g., baseline values in an RCT).</a:t>
            </a:r>
            <a:endParaRPr lang="en-US" sz="1150" dirty="0"/>
          </a:p>
          <a:p>
            <a:pPr marL="0" indent="0">
              <a:buNone/>
            </a:pPr>
            <a:endParaRPr lang="en-US" sz="1150" dirty="0"/>
          </a:p>
          <a:p>
            <a:pPr marL="0" indent="0">
              <a:buNone/>
            </a:pPr>
            <a:r>
              <a:rPr lang="en-US" sz="1150" dirty="0">
                <a:solidFill>
                  <a:srgbClr val="1A1A2E"/>
                </a:solidFill>
                <a:latin typeface="Calibri" pitchFamily="34" charset="0"/>
                <a:ea typeface="Calibri" pitchFamily="34" charset="-122"/>
                <a:cs typeface="Calibri" pitchFamily="34" charset="-120"/>
              </a:rPr>
              <a:t>Assumption: Homogeneity of regression — covariate must have the same relationship to DVs across groups (test the group × covariate interaction).</a:t>
            </a:r>
            <a:endParaRPr lang="en-US" sz="1150" dirty="0"/>
          </a:p>
          <a:p>
            <a:pPr marL="0" indent="0">
              <a:buNone/>
            </a:pPr>
            <a:endParaRPr lang="en-US" sz="1150" dirty="0"/>
          </a:p>
          <a:p>
            <a:pPr marL="0" indent="0">
              <a:buNone/>
            </a:pPr>
            <a:r>
              <a:rPr lang="en-US" sz="1150" dirty="0">
                <a:solidFill>
                  <a:srgbClr val="1A1A2E"/>
                </a:solidFill>
                <a:latin typeface="Calibri" pitchFamily="34" charset="0"/>
                <a:ea typeface="Calibri" pitchFamily="34" charset="-122"/>
                <a:cs typeface="Calibri" pitchFamily="34" charset="-120"/>
              </a:rPr>
              <a:t>PH Example: Compare 3 nutrition interventions on BMI + cholesterol + glucose controlling for baseline BMI and age.</a:t>
            </a:r>
            <a:endParaRPr lang="en-US" sz="1150" dirty="0"/>
          </a:p>
        </p:txBody>
      </p:sp>
      <p:sp>
        <p:nvSpPr>
          <p:cNvPr id="9" name="Shape 7"/>
          <p:cNvSpPr/>
          <p:nvPr/>
        </p:nvSpPr>
        <p:spPr>
          <a:xfrm>
            <a:off x="4709160" y="1115568"/>
            <a:ext cx="4069080" cy="2148840"/>
          </a:xfrm>
          <a:prstGeom prst="rect">
            <a:avLst/>
          </a:prstGeom>
          <a:solidFill>
            <a:srgbClr val="FFFFFF"/>
          </a:solidFill>
          <a:ln w="12700">
            <a:solidFill>
              <a:srgbClr val="DDE0F0"/>
            </a:solidFill>
            <a:prstDash val="solid"/>
          </a:ln>
          <a:effectLst>
            <a:outerShdw blurRad="76200" dist="25400" dir="8100000" algn="bl" rotWithShape="0">
              <a:srgbClr val="000000">
                <a:alpha val="10000"/>
              </a:srgbClr>
            </a:outerShdw>
          </a:effectLst>
        </p:spPr>
        <p:txBody>
          <a:bodyPr/>
          <a:lstStyle/>
          <a:p>
            <a:endParaRPr lang="en-US"/>
          </a:p>
        </p:txBody>
      </p:sp>
      <p:sp>
        <p:nvSpPr>
          <p:cNvPr id="10" name="Shape 8"/>
          <p:cNvSpPr/>
          <p:nvPr/>
        </p:nvSpPr>
        <p:spPr>
          <a:xfrm>
            <a:off x="4709160" y="1115568"/>
            <a:ext cx="64008" cy="2148840"/>
          </a:xfrm>
          <a:prstGeom prst="rect">
            <a:avLst/>
          </a:prstGeom>
          <a:solidFill>
            <a:srgbClr val="1E2761"/>
          </a:solidFill>
          <a:ln w="12700">
            <a:solidFill>
              <a:srgbClr val="1E2761"/>
            </a:solidFill>
            <a:prstDash val="solid"/>
          </a:ln>
        </p:spPr>
        <p:txBody>
          <a:bodyPr/>
          <a:lstStyle/>
          <a:p>
            <a:endParaRPr lang="en-US"/>
          </a:p>
        </p:txBody>
      </p:sp>
      <p:sp>
        <p:nvSpPr>
          <p:cNvPr id="11" name="Text 9"/>
          <p:cNvSpPr/>
          <p:nvPr/>
        </p:nvSpPr>
        <p:spPr>
          <a:xfrm>
            <a:off x="4855464" y="1188720"/>
            <a:ext cx="3867912" cy="347472"/>
          </a:xfrm>
          <a:prstGeom prst="rect">
            <a:avLst/>
          </a:prstGeom>
          <a:noFill/>
          <a:ln/>
        </p:spPr>
        <p:txBody>
          <a:bodyPr wrap="square" lIns="0" tIns="0" rIns="0" bIns="0" rtlCol="0" anchor="ctr"/>
          <a:lstStyle/>
          <a:p>
            <a:pPr marL="0" indent="0">
              <a:buNone/>
            </a:pPr>
            <a:r>
              <a:rPr lang="en-US" sz="1300" b="1" dirty="0">
                <a:solidFill>
                  <a:srgbClr val="1E2761"/>
                </a:solidFill>
                <a:latin typeface="Georgia" pitchFamily="34" charset="0"/>
                <a:ea typeface="Georgia" pitchFamily="34" charset="-122"/>
                <a:cs typeface="Georgia" pitchFamily="34" charset="-120"/>
              </a:rPr>
              <a:t>Profile Analysis</a:t>
            </a:r>
            <a:endParaRPr lang="en-US" sz="1300" dirty="0"/>
          </a:p>
        </p:txBody>
      </p:sp>
      <p:sp>
        <p:nvSpPr>
          <p:cNvPr id="12" name="Text 10"/>
          <p:cNvSpPr/>
          <p:nvPr/>
        </p:nvSpPr>
        <p:spPr>
          <a:xfrm>
            <a:off x="4855464" y="1554480"/>
            <a:ext cx="3867912" cy="1618488"/>
          </a:xfrm>
          <a:prstGeom prst="rect">
            <a:avLst/>
          </a:prstGeom>
          <a:noFill/>
          <a:ln/>
        </p:spPr>
        <p:txBody>
          <a:bodyPr wrap="square" lIns="0" tIns="0" rIns="0" bIns="0" rtlCol="0" anchor="t"/>
          <a:lstStyle/>
          <a:p>
            <a:pPr marL="0" indent="0">
              <a:buNone/>
            </a:pPr>
            <a:r>
              <a:rPr lang="en-US" sz="1150" dirty="0">
                <a:solidFill>
                  <a:srgbClr val="1A1A2E"/>
                </a:solidFill>
                <a:latin typeface="Calibri" pitchFamily="34" charset="0"/>
                <a:ea typeface="Calibri" pitchFamily="34" charset="-122"/>
                <a:cs typeface="Calibri" pitchFamily="34" charset="-120"/>
              </a:rPr>
              <a:t>Special case of MANOVA for repeated measures or multiple similar DVs (same construct, different times/conditions).</a:t>
            </a:r>
            <a:endParaRPr lang="en-US" sz="1150" dirty="0"/>
          </a:p>
          <a:p>
            <a:pPr marL="0" indent="0">
              <a:buNone/>
            </a:pPr>
            <a:endParaRPr lang="en-US" sz="1150" dirty="0"/>
          </a:p>
          <a:p>
            <a:pPr marL="0" indent="0">
              <a:buNone/>
            </a:pPr>
            <a:r>
              <a:rPr lang="en-US" sz="1150" dirty="0">
                <a:solidFill>
                  <a:srgbClr val="1A1A2E"/>
                </a:solidFill>
                <a:latin typeface="Calibri" pitchFamily="34" charset="0"/>
                <a:ea typeface="Calibri" pitchFamily="34" charset="-122"/>
                <a:cs typeface="Calibri" pitchFamily="34" charset="-120"/>
              </a:rPr>
              <a:t>Tests three hypotheses:</a:t>
            </a:r>
            <a:endParaRPr lang="en-US" sz="1150" dirty="0"/>
          </a:p>
          <a:p>
            <a:pPr marL="0" indent="0">
              <a:buNone/>
            </a:pPr>
            <a:r>
              <a:rPr lang="en-US" sz="1150" dirty="0">
                <a:solidFill>
                  <a:srgbClr val="1A1A2E"/>
                </a:solidFill>
                <a:latin typeface="Calibri" pitchFamily="34" charset="0"/>
                <a:ea typeface="Calibri" pitchFamily="34" charset="-122"/>
                <a:cs typeface="Calibri" pitchFamily="34" charset="-120"/>
              </a:rPr>
              <a:t>1. Parallelism: Do group profiles run parallel?</a:t>
            </a:r>
            <a:endParaRPr lang="en-US" sz="1150" dirty="0"/>
          </a:p>
          <a:p>
            <a:pPr marL="0" indent="0">
              <a:buNone/>
            </a:pPr>
            <a:r>
              <a:rPr lang="en-US" sz="1150" dirty="0">
                <a:solidFill>
                  <a:srgbClr val="1A1A2E"/>
                </a:solidFill>
                <a:latin typeface="Calibri" pitchFamily="34" charset="0"/>
                <a:ea typeface="Calibri" pitchFamily="34" charset="-122"/>
                <a:cs typeface="Calibri" pitchFamily="34" charset="-120"/>
              </a:rPr>
              <a:t>2. Equal levels: Are overall profiles at same height?</a:t>
            </a:r>
            <a:endParaRPr lang="en-US" sz="1150" dirty="0"/>
          </a:p>
          <a:p>
            <a:pPr marL="0" indent="0">
              <a:buNone/>
            </a:pPr>
            <a:r>
              <a:rPr lang="en-US" sz="1150" dirty="0">
                <a:solidFill>
                  <a:srgbClr val="1A1A2E"/>
                </a:solidFill>
                <a:latin typeface="Calibri" pitchFamily="34" charset="0"/>
                <a:ea typeface="Calibri" pitchFamily="34" charset="-122"/>
                <a:cs typeface="Calibri" pitchFamily="34" charset="-120"/>
              </a:rPr>
              <a:t>3. Flatness: Is the profile flat (no change)?</a:t>
            </a:r>
            <a:endParaRPr lang="en-US" sz="1150" dirty="0"/>
          </a:p>
          <a:p>
            <a:pPr marL="0" indent="0">
              <a:buNone/>
            </a:pPr>
            <a:endParaRPr lang="en-US" sz="1150" dirty="0"/>
          </a:p>
          <a:p>
            <a:pPr marL="0" indent="0">
              <a:buNone/>
            </a:pPr>
            <a:r>
              <a:rPr lang="en-US" sz="1150" dirty="0">
                <a:solidFill>
                  <a:srgbClr val="1A1A2E"/>
                </a:solidFill>
                <a:latin typeface="Calibri" pitchFamily="34" charset="0"/>
                <a:ea typeface="Calibri" pitchFamily="34" charset="-122"/>
                <a:cs typeface="Calibri" pitchFamily="34" charset="-120"/>
              </a:rPr>
              <a:t>PH Example: Compare male vs female profiles of mood, anxiety, fatigue, and pain scores over 4 measurement occasions.</a:t>
            </a:r>
            <a:endParaRPr lang="en-US" sz="1150" dirty="0"/>
          </a:p>
        </p:txBody>
      </p:sp>
      <p:sp>
        <p:nvSpPr>
          <p:cNvPr id="13" name="Shape 11"/>
          <p:cNvSpPr/>
          <p:nvPr/>
        </p:nvSpPr>
        <p:spPr>
          <a:xfrm>
            <a:off x="365760" y="3364992"/>
            <a:ext cx="4069080" cy="1572768"/>
          </a:xfrm>
          <a:prstGeom prst="rect">
            <a:avLst/>
          </a:prstGeom>
          <a:solidFill>
            <a:srgbClr val="FFFFFF"/>
          </a:solidFill>
          <a:ln w="12700">
            <a:solidFill>
              <a:srgbClr val="DDE0F0"/>
            </a:solidFill>
            <a:prstDash val="solid"/>
          </a:ln>
          <a:effectLst>
            <a:outerShdw blurRad="76200" dist="25400" dir="8100000" algn="bl" rotWithShape="0">
              <a:srgbClr val="000000">
                <a:alpha val="10000"/>
              </a:srgbClr>
            </a:outerShdw>
          </a:effectLst>
        </p:spPr>
        <p:txBody>
          <a:bodyPr/>
          <a:lstStyle/>
          <a:p>
            <a:endParaRPr lang="en-US"/>
          </a:p>
        </p:txBody>
      </p:sp>
      <p:sp>
        <p:nvSpPr>
          <p:cNvPr id="14" name="Shape 12"/>
          <p:cNvSpPr/>
          <p:nvPr/>
        </p:nvSpPr>
        <p:spPr>
          <a:xfrm>
            <a:off x="365760" y="3364992"/>
            <a:ext cx="64008" cy="1572768"/>
          </a:xfrm>
          <a:prstGeom prst="rect">
            <a:avLst/>
          </a:prstGeom>
          <a:solidFill>
            <a:srgbClr val="A26769"/>
          </a:solidFill>
          <a:ln w="12700">
            <a:solidFill>
              <a:srgbClr val="A26769"/>
            </a:solidFill>
            <a:prstDash val="solid"/>
          </a:ln>
        </p:spPr>
        <p:txBody>
          <a:bodyPr/>
          <a:lstStyle/>
          <a:p>
            <a:endParaRPr lang="en-US"/>
          </a:p>
        </p:txBody>
      </p:sp>
      <p:sp>
        <p:nvSpPr>
          <p:cNvPr id="15" name="Text 13"/>
          <p:cNvSpPr/>
          <p:nvPr/>
        </p:nvSpPr>
        <p:spPr>
          <a:xfrm>
            <a:off x="512064" y="3438144"/>
            <a:ext cx="3867912" cy="347472"/>
          </a:xfrm>
          <a:prstGeom prst="rect">
            <a:avLst/>
          </a:prstGeom>
          <a:noFill/>
          <a:ln/>
        </p:spPr>
        <p:txBody>
          <a:bodyPr wrap="square" lIns="0" tIns="0" rIns="0" bIns="0" rtlCol="0" anchor="ctr"/>
          <a:lstStyle/>
          <a:p>
            <a:pPr marL="0" indent="0">
              <a:buNone/>
            </a:pPr>
            <a:r>
              <a:rPr lang="en-US" sz="1300" b="1" dirty="0">
                <a:solidFill>
                  <a:srgbClr val="A26769"/>
                </a:solidFill>
                <a:latin typeface="Georgia" pitchFamily="34" charset="0"/>
                <a:ea typeface="Georgia" pitchFamily="34" charset="-122"/>
                <a:cs typeface="Georgia" pitchFamily="34" charset="-120"/>
              </a:rPr>
              <a:t>Assumptions: MANCOVA</a:t>
            </a:r>
            <a:endParaRPr lang="en-US" sz="1300" dirty="0"/>
          </a:p>
        </p:txBody>
      </p:sp>
      <p:sp>
        <p:nvSpPr>
          <p:cNvPr id="16" name="Text 14"/>
          <p:cNvSpPr/>
          <p:nvPr/>
        </p:nvSpPr>
        <p:spPr>
          <a:xfrm>
            <a:off x="512064" y="3803904"/>
            <a:ext cx="3867912" cy="1042416"/>
          </a:xfrm>
          <a:prstGeom prst="rect">
            <a:avLst/>
          </a:prstGeom>
          <a:noFill/>
          <a:ln/>
        </p:spPr>
        <p:txBody>
          <a:bodyPr wrap="square" lIns="0" tIns="0" rIns="0" bIns="0" rtlCol="0" anchor="t"/>
          <a:lstStyle/>
          <a:p>
            <a:pPr marL="0" indent="0">
              <a:buNone/>
            </a:pPr>
            <a:r>
              <a:rPr lang="en-US" sz="1150" dirty="0">
                <a:solidFill>
                  <a:srgbClr val="1A1A2E"/>
                </a:solidFill>
                <a:latin typeface="Calibri" pitchFamily="34" charset="0"/>
                <a:ea typeface="Calibri" pitchFamily="34" charset="-122"/>
                <a:cs typeface="Calibri" pitchFamily="34" charset="-120"/>
              </a:rPr>
              <a:t>• Multivariate normality (Mardia's test)</a:t>
            </a:r>
            <a:endParaRPr lang="en-US" sz="1150" dirty="0"/>
          </a:p>
          <a:p>
            <a:pPr marL="0" indent="0">
              <a:buNone/>
            </a:pPr>
            <a:r>
              <a:rPr lang="en-US" sz="1150" dirty="0">
                <a:solidFill>
                  <a:srgbClr val="1A1A2E"/>
                </a:solidFill>
                <a:latin typeface="Calibri" pitchFamily="34" charset="0"/>
                <a:ea typeface="Calibri" pitchFamily="34" charset="-122"/>
                <a:cs typeface="Calibri" pitchFamily="34" charset="-120"/>
              </a:rPr>
              <a:t>• Homogeneity of variance-covariance matrices (Box's M)</a:t>
            </a:r>
            <a:endParaRPr lang="en-US" sz="1150" dirty="0"/>
          </a:p>
          <a:p>
            <a:pPr marL="0" indent="0">
              <a:buNone/>
            </a:pPr>
            <a:r>
              <a:rPr lang="en-US" sz="1150" dirty="0">
                <a:solidFill>
                  <a:srgbClr val="1A1A2E"/>
                </a:solidFill>
                <a:latin typeface="Calibri" pitchFamily="34" charset="0"/>
                <a:ea typeface="Calibri" pitchFamily="34" charset="-122"/>
                <a:cs typeface="Calibri" pitchFamily="34" charset="-120"/>
              </a:rPr>
              <a:t>• Linear relationship between covariates and DVs</a:t>
            </a:r>
            <a:endParaRPr lang="en-US" sz="1150" dirty="0"/>
          </a:p>
          <a:p>
            <a:pPr marL="0" indent="0">
              <a:buNone/>
            </a:pPr>
            <a:r>
              <a:rPr lang="en-US" sz="1150" dirty="0">
                <a:solidFill>
                  <a:srgbClr val="1A1A2E"/>
                </a:solidFill>
                <a:latin typeface="Calibri" pitchFamily="34" charset="0"/>
                <a:ea typeface="Calibri" pitchFamily="34" charset="-122"/>
                <a:cs typeface="Calibri" pitchFamily="34" charset="-120"/>
              </a:rPr>
              <a:t>• Independence of covariate and group membership</a:t>
            </a:r>
            <a:endParaRPr lang="en-US" sz="1150" dirty="0"/>
          </a:p>
          <a:p>
            <a:pPr marL="0" indent="0">
              <a:buNone/>
            </a:pPr>
            <a:r>
              <a:rPr lang="en-US" sz="1150" dirty="0">
                <a:solidFill>
                  <a:srgbClr val="1A1A2E"/>
                </a:solidFill>
                <a:latin typeface="Calibri" pitchFamily="34" charset="0"/>
                <a:ea typeface="Calibri" pitchFamily="34" charset="-122"/>
                <a:cs typeface="Calibri" pitchFamily="34" charset="-120"/>
              </a:rPr>
              <a:t>• Sufficient n per cell (recommend ≥20)</a:t>
            </a:r>
            <a:endParaRPr lang="en-US" sz="1150" dirty="0"/>
          </a:p>
        </p:txBody>
      </p:sp>
      <p:sp>
        <p:nvSpPr>
          <p:cNvPr id="17" name="Shape 15"/>
          <p:cNvSpPr/>
          <p:nvPr/>
        </p:nvSpPr>
        <p:spPr>
          <a:xfrm>
            <a:off x="4709160" y="3364992"/>
            <a:ext cx="4069080" cy="1572768"/>
          </a:xfrm>
          <a:prstGeom prst="rect">
            <a:avLst/>
          </a:prstGeom>
          <a:solidFill>
            <a:srgbClr val="FFFFFF"/>
          </a:solidFill>
          <a:ln w="12700">
            <a:solidFill>
              <a:srgbClr val="DDE0F0"/>
            </a:solidFill>
            <a:prstDash val="solid"/>
          </a:ln>
          <a:effectLst>
            <a:outerShdw blurRad="76200" dist="25400" dir="8100000" algn="bl" rotWithShape="0">
              <a:srgbClr val="000000">
                <a:alpha val="10000"/>
              </a:srgbClr>
            </a:outerShdw>
          </a:effectLst>
        </p:spPr>
        <p:txBody>
          <a:bodyPr/>
          <a:lstStyle/>
          <a:p>
            <a:endParaRPr lang="en-US"/>
          </a:p>
        </p:txBody>
      </p:sp>
      <p:sp>
        <p:nvSpPr>
          <p:cNvPr id="18" name="Shape 16"/>
          <p:cNvSpPr/>
          <p:nvPr/>
        </p:nvSpPr>
        <p:spPr>
          <a:xfrm>
            <a:off x="4709160" y="3364992"/>
            <a:ext cx="64008" cy="1572768"/>
          </a:xfrm>
          <a:prstGeom prst="rect">
            <a:avLst/>
          </a:prstGeom>
          <a:solidFill>
            <a:srgbClr val="2E8B72"/>
          </a:solidFill>
          <a:ln w="12700">
            <a:solidFill>
              <a:srgbClr val="2E8B72"/>
            </a:solidFill>
            <a:prstDash val="solid"/>
          </a:ln>
        </p:spPr>
        <p:txBody>
          <a:bodyPr/>
          <a:lstStyle/>
          <a:p>
            <a:endParaRPr lang="en-US"/>
          </a:p>
        </p:txBody>
      </p:sp>
      <p:sp>
        <p:nvSpPr>
          <p:cNvPr id="19" name="Text 17"/>
          <p:cNvSpPr/>
          <p:nvPr/>
        </p:nvSpPr>
        <p:spPr>
          <a:xfrm>
            <a:off x="4855464" y="3438144"/>
            <a:ext cx="3867912" cy="347472"/>
          </a:xfrm>
          <a:prstGeom prst="rect">
            <a:avLst/>
          </a:prstGeom>
          <a:noFill/>
          <a:ln/>
        </p:spPr>
        <p:txBody>
          <a:bodyPr wrap="square" lIns="0" tIns="0" rIns="0" bIns="0" rtlCol="0" anchor="ctr"/>
          <a:lstStyle/>
          <a:p>
            <a:pPr marL="0" indent="0">
              <a:buNone/>
            </a:pPr>
            <a:r>
              <a:rPr lang="en-US" sz="1300" b="1" dirty="0">
                <a:solidFill>
                  <a:srgbClr val="2E8B72"/>
                </a:solidFill>
                <a:latin typeface="Georgia" pitchFamily="34" charset="0"/>
                <a:ea typeface="Georgia" pitchFamily="34" charset="-122"/>
                <a:cs typeface="Georgia" pitchFamily="34" charset="-120"/>
              </a:rPr>
              <a:t>Effect Sizes to Report</a:t>
            </a:r>
            <a:endParaRPr lang="en-US" sz="1300" dirty="0"/>
          </a:p>
        </p:txBody>
      </p:sp>
      <p:sp>
        <p:nvSpPr>
          <p:cNvPr id="20" name="Text 18"/>
          <p:cNvSpPr/>
          <p:nvPr/>
        </p:nvSpPr>
        <p:spPr>
          <a:xfrm>
            <a:off x="4855464" y="3803904"/>
            <a:ext cx="3867912" cy="1042416"/>
          </a:xfrm>
          <a:prstGeom prst="rect">
            <a:avLst/>
          </a:prstGeom>
          <a:noFill/>
          <a:ln/>
        </p:spPr>
        <p:txBody>
          <a:bodyPr wrap="square" lIns="0" tIns="0" rIns="0" bIns="0" rtlCol="0" anchor="t"/>
          <a:lstStyle/>
          <a:p>
            <a:pPr marL="0" indent="0">
              <a:buNone/>
            </a:pPr>
            <a:r>
              <a:rPr lang="en-US" sz="1150" dirty="0">
                <a:solidFill>
                  <a:srgbClr val="1A1A2E"/>
                </a:solidFill>
                <a:latin typeface="Calibri" pitchFamily="34" charset="0"/>
                <a:ea typeface="Calibri" pitchFamily="34" charset="-122"/>
                <a:cs typeface="Calibri" pitchFamily="34" charset="-120"/>
              </a:rPr>
              <a:t>• η²p (partial eta-squared) for each MANOVA effect</a:t>
            </a:r>
            <a:endParaRPr lang="en-US" sz="1150" dirty="0"/>
          </a:p>
          <a:p>
            <a:pPr marL="0" indent="0">
              <a:buNone/>
            </a:pPr>
            <a:r>
              <a:rPr lang="en-US" sz="1150" dirty="0">
                <a:solidFill>
                  <a:srgbClr val="1A1A2E"/>
                </a:solidFill>
                <a:latin typeface="Calibri" pitchFamily="34" charset="0"/>
                <a:ea typeface="Calibri" pitchFamily="34" charset="-122"/>
                <a:cs typeface="Calibri" pitchFamily="34" charset="-120"/>
              </a:rPr>
              <a:t>• Cohen's d for follow-up univariate contrasts</a:t>
            </a:r>
            <a:endParaRPr lang="en-US" sz="1150" dirty="0"/>
          </a:p>
          <a:p>
            <a:pPr marL="0" indent="0">
              <a:buNone/>
            </a:pPr>
            <a:r>
              <a:rPr lang="en-US" sz="1150" dirty="0">
                <a:solidFill>
                  <a:srgbClr val="1A1A2E"/>
                </a:solidFill>
                <a:latin typeface="Calibri" pitchFamily="34" charset="0"/>
                <a:ea typeface="Calibri" pitchFamily="34" charset="-122"/>
                <a:cs typeface="Calibri" pitchFamily="34" charset="-120"/>
              </a:rPr>
              <a:t>• Wilks' Λ converted to F (partial η² = 1 − Λ^(1/s))</a:t>
            </a:r>
            <a:endParaRPr lang="en-US" sz="1150" dirty="0"/>
          </a:p>
          <a:p>
            <a:pPr marL="0" indent="0">
              <a:buNone/>
            </a:pPr>
            <a:r>
              <a:rPr lang="en-US" sz="1150" dirty="0">
                <a:solidFill>
                  <a:srgbClr val="1A1A2E"/>
                </a:solidFill>
                <a:latin typeface="Calibri" pitchFamily="34" charset="0"/>
                <a:ea typeface="Calibri" pitchFamily="34" charset="-122"/>
                <a:cs typeface="Calibri" pitchFamily="34" charset="-120"/>
              </a:rPr>
              <a:t>• Multivariate effect size: η²mult</a:t>
            </a:r>
            <a:endParaRPr lang="en-US" sz="1150" dirty="0"/>
          </a:p>
          <a:p>
            <a:pPr marL="0" indent="0">
              <a:buNone/>
            </a:pPr>
            <a:r>
              <a:rPr lang="en-US" sz="1150" dirty="0">
                <a:solidFill>
                  <a:srgbClr val="1A1A2E"/>
                </a:solidFill>
                <a:latin typeface="Calibri" pitchFamily="34" charset="0"/>
                <a:ea typeface="Calibri" pitchFamily="34" charset="-122"/>
                <a:cs typeface="Calibri" pitchFamily="34" charset="-120"/>
              </a:rPr>
              <a:t>• Report 95% CI for all effect sizes</a:t>
            </a:r>
            <a:endParaRPr lang="en-US" sz="115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82296"/>
          </a:xfrm>
          <a:prstGeom prst="rect">
            <a:avLst/>
          </a:prstGeom>
          <a:solidFill>
            <a:srgbClr val="6D2E46"/>
          </a:solidFill>
          <a:ln w="12700">
            <a:solidFill>
              <a:srgbClr val="6D2E46"/>
            </a:solidFill>
            <a:prstDash val="solid"/>
          </a:ln>
        </p:spPr>
        <p:txBody>
          <a:bodyPr/>
          <a:lstStyle/>
          <a:p>
            <a:endParaRPr lang="en-US"/>
          </a:p>
        </p:txBody>
      </p:sp>
      <p:sp>
        <p:nvSpPr>
          <p:cNvPr id="3" name="Text 1"/>
          <p:cNvSpPr/>
          <p:nvPr/>
        </p:nvSpPr>
        <p:spPr>
          <a:xfrm>
            <a:off x="411480" y="137160"/>
            <a:ext cx="8321040" cy="658368"/>
          </a:xfrm>
          <a:prstGeom prst="rect">
            <a:avLst/>
          </a:prstGeom>
          <a:noFill/>
          <a:ln/>
        </p:spPr>
        <p:txBody>
          <a:bodyPr wrap="square" lIns="0" tIns="0" rIns="0" bIns="0" rtlCol="0" anchor="ctr"/>
          <a:lstStyle/>
          <a:p>
            <a:pPr marL="0" indent="0">
              <a:buNone/>
            </a:pPr>
            <a:r>
              <a:rPr lang="en-US" sz="2700" b="1" dirty="0">
                <a:solidFill>
                  <a:srgbClr val="6D2E46"/>
                </a:solidFill>
                <a:latin typeface="Georgia" pitchFamily="34" charset="0"/>
                <a:ea typeface="Georgia" pitchFamily="34" charset="-122"/>
                <a:cs typeface="Georgia" pitchFamily="34" charset="-120"/>
              </a:rPr>
              <a:t>Worked Example: MANOVA in Public Health</a:t>
            </a:r>
            <a:endParaRPr lang="en-US" sz="2700" dirty="0"/>
          </a:p>
        </p:txBody>
      </p:sp>
      <p:sp>
        <p:nvSpPr>
          <p:cNvPr id="4" name="Shape 2"/>
          <p:cNvSpPr/>
          <p:nvPr/>
        </p:nvSpPr>
        <p:spPr>
          <a:xfrm>
            <a:off x="365760" y="932688"/>
            <a:ext cx="8412480" cy="502920"/>
          </a:xfrm>
          <a:prstGeom prst="rect">
            <a:avLst/>
          </a:prstGeom>
          <a:solidFill>
            <a:srgbClr val="6D2E46"/>
          </a:solidFill>
          <a:ln w="12700">
            <a:solidFill>
              <a:srgbClr val="6D2E46"/>
            </a:solidFill>
            <a:prstDash val="solid"/>
          </a:ln>
        </p:spPr>
        <p:txBody>
          <a:bodyPr/>
          <a:lstStyle/>
          <a:p>
            <a:endParaRPr lang="en-US"/>
          </a:p>
        </p:txBody>
      </p:sp>
      <p:sp>
        <p:nvSpPr>
          <p:cNvPr id="5" name="Text 3"/>
          <p:cNvSpPr/>
          <p:nvPr/>
        </p:nvSpPr>
        <p:spPr>
          <a:xfrm>
            <a:off x="475488" y="969264"/>
            <a:ext cx="8229600" cy="402336"/>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Research Question: Do three community health programs differ on a cardiovascular risk profile? (N=285, 95 per group)</a:t>
            </a:r>
            <a:endParaRPr lang="en-US" sz="1300" dirty="0"/>
          </a:p>
        </p:txBody>
      </p:sp>
      <p:sp>
        <p:nvSpPr>
          <p:cNvPr id="6" name="Shape 4"/>
          <p:cNvSpPr/>
          <p:nvPr/>
        </p:nvSpPr>
        <p:spPr>
          <a:xfrm>
            <a:off x="365760" y="1536192"/>
            <a:ext cx="8412480" cy="640080"/>
          </a:xfrm>
          <a:prstGeom prst="rect">
            <a:avLst/>
          </a:prstGeom>
          <a:solidFill>
            <a:srgbClr val="ECEEF8"/>
          </a:solidFill>
          <a:ln w="12700">
            <a:solidFill>
              <a:srgbClr val="DDE0F0"/>
            </a:solidFill>
            <a:prstDash val="solid"/>
          </a:ln>
        </p:spPr>
        <p:txBody>
          <a:bodyPr/>
          <a:lstStyle/>
          <a:p>
            <a:endParaRPr lang="en-US"/>
          </a:p>
        </p:txBody>
      </p:sp>
      <p:sp>
        <p:nvSpPr>
          <p:cNvPr id="7" name="Shape 5"/>
          <p:cNvSpPr/>
          <p:nvPr/>
        </p:nvSpPr>
        <p:spPr>
          <a:xfrm>
            <a:off x="365760" y="1536192"/>
            <a:ext cx="475488" cy="640080"/>
          </a:xfrm>
          <a:prstGeom prst="rect">
            <a:avLst/>
          </a:prstGeom>
          <a:solidFill>
            <a:srgbClr val="6D2E46"/>
          </a:solidFill>
          <a:ln w="12700">
            <a:solidFill>
              <a:srgbClr val="6D2E46"/>
            </a:solidFill>
            <a:prstDash val="solid"/>
          </a:ln>
        </p:spPr>
        <p:txBody>
          <a:bodyPr/>
          <a:lstStyle/>
          <a:p>
            <a:endParaRPr lang="en-US"/>
          </a:p>
        </p:txBody>
      </p:sp>
      <p:sp>
        <p:nvSpPr>
          <p:cNvPr id="8" name="Text 6"/>
          <p:cNvSpPr/>
          <p:nvPr/>
        </p:nvSpPr>
        <p:spPr>
          <a:xfrm>
            <a:off x="365760" y="1536192"/>
            <a:ext cx="475488" cy="640080"/>
          </a:xfrm>
          <a:prstGeom prst="rect">
            <a:avLst/>
          </a:prstGeom>
          <a:noFill/>
          <a:ln/>
        </p:spPr>
        <p:txBody>
          <a:bodyPr wrap="square" lIns="0" tIns="0" rIns="0" bIns="0"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1</a:t>
            </a:r>
            <a:endParaRPr lang="en-US" sz="1800" dirty="0"/>
          </a:p>
        </p:txBody>
      </p:sp>
      <p:sp>
        <p:nvSpPr>
          <p:cNvPr id="9" name="Text 7"/>
          <p:cNvSpPr/>
          <p:nvPr/>
        </p:nvSpPr>
        <p:spPr>
          <a:xfrm>
            <a:off x="914400" y="1572768"/>
            <a:ext cx="1554480" cy="548640"/>
          </a:xfrm>
          <a:prstGeom prst="rect">
            <a:avLst/>
          </a:prstGeom>
          <a:noFill/>
          <a:ln/>
        </p:spPr>
        <p:txBody>
          <a:bodyPr wrap="square" lIns="0" tIns="0" rIns="0" bIns="0" rtlCol="0" anchor="t"/>
          <a:lstStyle/>
          <a:p>
            <a:pPr marL="0" indent="0">
              <a:buNone/>
            </a:pPr>
            <a:r>
              <a:rPr lang="en-US" sz="1200" b="1" dirty="0">
                <a:solidFill>
                  <a:srgbClr val="6D2E46"/>
                </a:solidFill>
                <a:latin typeface="Georgia" pitchFamily="34" charset="0"/>
                <a:ea typeface="Georgia" pitchFamily="34" charset="-122"/>
                <a:cs typeface="Georgia" pitchFamily="34" charset="-120"/>
              </a:rPr>
              <a:t>Variables: </a:t>
            </a:r>
            <a:endParaRPr lang="en-US" sz="1200" dirty="0"/>
          </a:p>
        </p:txBody>
      </p:sp>
      <p:sp>
        <p:nvSpPr>
          <p:cNvPr id="10" name="Text 8"/>
          <p:cNvSpPr/>
          <p:nvPr/>
        </p:nvSpPr>
        <p:spPr>
          <a:xfrm>
            <a:off x="2450592" y="1572768"/>
            <a:ext cx="6217920" cy="548640"/>
          </a:xfrm>
          <a:prstGeom prst="rect">
            <a:avLst/>
          </a:prstGeom>
          <a:noFill/>
          <a:ln/>
        </p:spPr>
        <p:txBody>
          <a:bodyPr wrap="square" lIns="0" tIns="0" rIns="0" bIns="0" rtlCol="0" anchor="t"/>
          <a:lstStyle/>
          <a:p>
            <a:pPr marL="0" indent="0">
              <a:buNone/>
            </a:pPr>
            <a:r>
              <a:rPr lang="en-US" sz="1150" dirty="0">
                <a:solidFill>
                  <a:srgbClr val="1A1A2E"/>
                </a:solidFill>
                <a:latin typeface="Calibri" pitchFamily="34" charset="0"/>
                <a:ea typeface="Calibri" pitchFamily="34" charset="-122"/>
                <a:cs typeface="Calibri" pitchFamily="34" charset="-120"/>
              </a:rPr>
              <a:t>IV: Program group (A=Exercise, B=Diet, C=Combined). DVs: SBP, BMI, Total Cholesterol, Fasting Glucose (4 continuous outcomes). Covariate: Baseline BMI.</a:t>
            </a:r>
            <a:endParaRPr lang="en-US" sz="1150" dirty="0"/>
          </a:p>
        </p:txBody>
      </p:sp>
      <p:sp>
        <p:nvSpPr>
          <p:cNvPr id="11" name="Shape 9"/>
          <p:cNvSpPr/>
          <p:nvPr/>
        </p:nvSpPr>
        <p:spPr>
          <a:xfrm>
            <a:off x="365760" y="2249424"/>
            <a:ext cx="8412480" cy="640080"/>
          </a:xfrm>
          <a:prstGeom prst="rect">
            <a:avLst/>
          </a:prstGeom>
          <a:solidFill>
            <a:srgbClr val="FFFFFF"/>
          </a:solidFill>
          <a:ln w="12700">
            <a:solidFill>
              <a:srgbClr val="DDE0F0"/>
            </a:solidFill>
            <a:prstDash val="solid"/>
          </a:ln>
        </p:spPr>
        <p:txBody>
          <a:bodyPr/>
          <a:lstStyle/>
          <a:p>
            <a:endParaRPr lang="en-US"/>
          </a:p>
        </p:txBody>
      </p:sp>
      <p:sp>
        <p:nvSpPr>
          <p:cNvPr id="12" name="Shape 10"/>
          <p:cNvSpPr/>
          <p:nvPr/>
        </p:nvSpPr>
        <p:spPr>
          <a:xfrm>
            <a:off x="365760" y="2249424"/>
            <a:ext cx="475488" cy="640080"/>
          </a:xfrm>
          <a:prstGeom prst="rect">
            <a:avLst/>
          </a:prstGeom>
          <a:solidFill>
            <a:srgbClr val="A26769"/>
          </a:solidFill>
          <a:ln w="12700">
            <a:solidFill>
              <a:srgbClr val="A26769"/>
            </a:solidFill>
            <a:prstDash val="solid"/>
          </a:ln>
        </p:spPr>
        <p:txBody>
          <a:bodyPr/>
          <a:lstStyle/>
          <a:p>
            <a:endParaRPr lang="en-US"/>
          </a:p>
        </p:txBody>
      </p:sp>
      <p:sp>
        <p:nvSpPr>
          <p:cNvPr id="13" name="Text 11"/>
          <p:cNvSpPr/>
          <p:nvPr/>
        </p:nvSpPr>
        <p:spPr>
          <a:xfrm>
            <a:off x="365760" y="2249424"/>
            <a:ext cx="475488" cy="640080"/>
          </a:xfrm>
          <a:prstGeom prst="rect">
            <a:avLst/>
          </a:prstGeom>
          <a:noFill/>
          <a:ln/>
        </p:spPr>
        <p:txBody>
          <a:bodyPr wrap="square" lIns="0" tIns="0" rIns="0" bIns="0"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2</a:t>
            </a:r>
            <a:endParaRPr lang="en-US" sz="1800" dirty="0"/>
          </a:p>
        </p:txBody>
      </p:sp>
      <p:sp>
        <p:nvSpPr>
          <p:cNvPr id="14" name="Text 12"/>
          <p:cNvSpPr/>
          <p:nvPr/>
        </p:nvSpPr>
        <p:spPr>
          <a:xfrm>
            <a:off x="914400" y="2286000"/>
            <a:ext cx="1554480" cy="548640"/>
          </a:xfrm>
          <a:prstGeom prst="rect">
            <a:avLst/>
          </a:prstGeom>
          <a:noFill/>
          <a:ln/>
        </p:spPr>
        <p:txBody>
          <a:bodyPr wrap="square" lIns="0" tIns="0" rIns="0" bIns="0" rtlCol="0" anchor="t"/>
          <a:lstStyle/>
          <a:p>
            <a:pPr marL="0" indent="0">
              <a:buNone/>
            </a:pPr>
            <a:r>
              <a:rPr lang="en-US" sz="1200" b="1" dirty="0">
                <a:solidFill>
                  <a:srgbClr val="A26769"/>
                </a:solidFill>
                <a:latin typeface="Georgia" pitchFamily="34" charset="0"/>
                <a:ea typeface="Georgia" pitchFamily="34" charset="-122"/>
                <a:cs typeface="Georgia" pitchFamily="34" charset="-120"/>
              </a:rPr>
              <a:t>Data screening: </a:t>
            </a:r>
            <a:endParaRPr lang="en-US" sz="1200" dirty="0"/>
          </a:p>
        </p:txBody>
      </p:sp>
      <p:sp>
        <p:nvSpPr>
          <p:cNvPr id="15" name="Text 13"/>
          <p:cNvSpPr/>
          <p:nvPr/>
        </p:nvSpPr>
        <p:spPr>
          <a:xfrm>
            <a:off x="2450592" y="2286000"/>
            <a:ext cx="6217920" cy="548640"/>
          </a:xfrm>
          <a:prstGeom prst="rect">
            <a:avLst/>
          </a:prstGeom>
          <a:noFill/>
          <a:ln/>
        </p:spPr>
        <p:txBody>
          <a:bodyPr wrap="square" lIns="0" tIns="0" rIns="0" bIns="0" rtlCol="0" anchor="t"/>
          <a:lstStyle/>
          <a:p>
            <a:pPr marL="0" indent="0">
              <a:buNone/>
            </a:pPr>
            <a:r>
              <a:rPr lang="en-US" sz="1150" dirty="0">
                <a:solidFill>
                  <a:srgbClr val="1A1A2E"/>
                </a:solidFill>
                <a:latin typeface="Calibri" pitchFamily="34" charset="0"/>
                <a:ea typeface="Calibri" pitchFamily="34" charset="-122"/>
                <a:cs typeface="Calibri" pitchFamily="34" charset="-120"/>
              </a:rPr>
              <a:t>Mardia's test: p=.12 (normality OK). Box's M: F(30,198)=1.41, p=.08 (homogeneity met). 2 multivariate outliers (D²) removed. Determinant of R=0.14 (no redundancy).</a:t>
            </a:r>
            <a:endParaRPr lang="en-US" sz="1150" dirty="0"/>
          </a:p>
        </p:txBody>
      </p:sp>
      <p:sp>
        <p:nvSpPr>
          <p:cNvPr id="16" name="Shape 14"/>
          <p:cNvSpPr/>
          <p:nvPr/>
        </p:nvSpPr>
        <p:spPr>
          <a:xfrm>
            <a:off x="365760" y="2962656"/>
            <a:ext cx="8412480" cy="640080"/>
          </a:xfrm>
          <a:prstGeom prst="rect">
            <a:avLst/>
          </a:prstGeom>
          <a:solidFill>
            <a:srgbClr val="ECEEF8"/>
          </a:solidFill>
          <a:ln w="12700">
            <a:solidFill>
              <a:srgbClr val="DDE0F0"/>
            </a:solidFill>
            <a:prstDash val="solid"/>
          </a:ln>
        </p:spPr>
        <p:txBody>
          <a:bodyPr/>
          <a:lstStyle/>
          <a:p>
            <a:endParaRPr lang="en-US"/>
          </a:p>
        </p:txBody>
      </p:sp>
      <p:sp>
        <p:nvSpPr>
          <p:cNvPr id="17" name="Shape 15"/>
          <p:cNvSpPr/>
          <p:nvPr/>
        </p:nvSpPr>
        <p:spPr>
          <a:xfrm>
            <a:off x="365760" y="2962656"/>
            <a:ext cx="475488" cy="640080"/>
          </a:xfrm>
          <a:prstGeom prst="rect">
            <a:avLst/>
          </a:prstGeom>
          <a:solidFill>
            <a:srgbClr val="2E8B72"/>
          </a:solidFill>
          <a:ln w="12700">
            <a:solidFill>
              <a:srgbClr val="2E8B72"/>
            </a:solidFill>
            <a:prstDash val="solid"/>
          </a:ln>
        </p:spPr>
        <p:txBody>
          <a:bodyPr/>
          <a:lstStyle/>
          <a:p>
            <a:endParaRPr lang="en-US"/>
          </a:p>
        </p:txBody>
      </p:sp>
      <p:sp>
        <p:nvSpPr>
          <p:cNvPr id="18" name="Text 16"/>
          <p:cNvSpPr/>
          <p:nvPr/>
        </p:nvSpPr>
        <p:spPr>
          <a:xfrm>
            <a:off x="365760" y="2962656"/>
            <a:ext cx="475488" cy="640080"/>
          </a:xfrm>
          <a:prstGeom prst="rect">
            <a:avLst/>
          </a:prstGeom>
          <a:noFill/>
          <a:ln/>
        </p:spPr>
        <p:txBody>
          <a:bodyPr wrap="square" lIns="0" tIns="0" rIns="0" bIns="0"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3</a:t>
            </a:r>
            <a:endParaRPr lang="en-US" sz="1800" dirty="0"/>
          </a:p>
        </p:txBody>
      </p:sp>
      <p:sp>
        <p:nvSpPr>
          <p:cNvPr id="19" name="Text 17"/>
          <p:cNvSpPr/>
          <p:nvPr/>
        </p:nvSpPr>
        <p:spPr>
          <a:xfrm>
            <a:off x="914400" y="2999232"/>
            <a:ext cx="1554480" cy="548640"/>
          </a:xfrm>
          <a:prstGeom prst="rect">
            <a:avLst/>
          </a:prstGeom>
          <a:noFill/>
          <a:ln/>
        </p:spPr>
        <p:txBody>
          <a:bodyPr wrap="square" lIns="0" tIns="0" rIns="0" bIns="0" rtlCol="0" anchor="t"/>
          <a:lstStyle/>
          <a:p>
            <a:pPr marL="0" indent="0">
              <a:buNone/>
            </a:pPr>
            <a:r>
              <a:rPr lang="en-US" sz="1200" b="1" dirty="0">
                <a:solidFill>
                  <a:srgbClr val="2E8B72"/>
                </a:solidFill>
                <a:latin typeface="Georgia" pitchFamily="34" charset="0"/>
                <a:ea typeface="Georgia" pitchFamily="34" charset="-122"/>
                <a:cs typeface="Georgia" pitchFamily="34" charset="-120"/>
              </a:rPr>
              <a:t>MANCOVA result: </a:t>
            </a:r>
            <a:endParaRPr lang="en-US" sz="1200" dirty="0"/>
          </a:p>
        </p:txBody>
      </p:sp>
      <p:sp>
        <p:nvSpPr>
          <p:cNvPr id="20" name="Text 18"/>
          <p:cNvSpPr/>
          <p:nvPr/>
        </p:nvSpPr>
        <p:spPr>
          <a:xfrm>
            <a:off x="2450592" y="2999232"/>
            <a:ext cx="6217920" cy="548640"/>
          </a:xfrm>
          <a:prstGeom prst="rect">
            <a:avLst/>
          </a:prstGeom>
          <a:noFill/>
          <a:ln/>
        </p:spPr>
        <p:txBody>
          <a:bodyPr wrap="square" lIns="0" tIns="0" rIns="0" bIns="0" rtlCol="0" anchor="t"/>
          <a:lstStyle/>
          <a:p>
            <a:pPr marL="0" indent="0">
              <a:buNone/>
            </a:pPr>
            <a:r>
              <a:rPr lang="en-US" sz="1150" dirty="0">
                <a:solidFill>
                  <a:srgbClr val="1A1A2E"/>
                </a:solidFill>
                <a:latin typeface="Calibri" pitchFamily="34" charset="0"/>
                <a:ea typeface="Calibri" pitchFamily="34" charset="-122"/>
                <a:cs typeface="Calibri" pitchFamily="34" charset="-120"/>
              </a:rPr>
              <a:t>Pillai's V=0.38, F(8,556)=14.7, p&lt;.001, η²p=.17. Groups differed significantly on the combined DV profile after controlling baseline BMI.</a:t>
            </a:r>
            <a:endParaRPr lang="en-US" sz="1150" dirty="0"/>
          </a:p>
        </p:txBody>
      </p:sp>
      <p:sp>
        <p:nvSpPr>
          <p:cNvPr id="21" name="Shape 19"/>
          <p:cNvSpPr/>
          <p:nvPr/>
        </p:nvSpPr>
        <p:spPr>
          <a:xfrm>
            <a:off x="365760" y="3675888"/>
            <a:ext cx="8412480" cy="640080"/>
          </a:xfrm>
          <a:prstGeom prst="rect">
            <a:avLst/>
          </a:prstGeom>
          <a:solidFill>
            <a:srgbClr val="FFFFFF"/>
          </a:solidFill>
          <a:ln w="12700">
            <a:solidFill>
              <a:srgbClr val="DDE0F0"/>
            </a:solidFill>
            <a:prstDash val="solid"/>
          </a:ln>
        </p:spPr>
        <p:txBody>
          <a:bodyPr/>
          <a:lstStyle/>
          <a:p>
            <a:endParaRPr lang="en-US"/>
          </a:p>
        </p:txBody>
      </p:sp>
      <p:sp>
        <p:nvSpPr>
          <p:cNvPr id="22" name="Shape 20"/>
          <p:cNvSpPr/>
          <p:nvPr/>
        </p:nvSpPr>
        <p:spPr>
          <a:xfrm>
            <a:off x="365760" y="3675888"/>
            <a:ext cx="475488" cy="640080"/>
          </a:xfrm>
          <a:prstGeom prst="rect">
            <a:avLst/>
          </a:prstGeom>
          <a:solidFill>
            <a:srgbClr val="1E2761"/>
          </a:solidFill>
          <a:ln w="12700">
            <a:solidFill>
              <a:srgbClr val="1E2761"/>
            </a:solidFill>
            <a:prstDash val="solid"/>
          </a:ln>
        </p:spPr>
        <p:txBody>
          <a:bodyPr/>
          <a:lstStyle/>
          <a:p>
            <a:endParaRPr lang="en-US"/>
          </a:p>
        </p:txBody>
      </p:sp>
      <p:sp>
        <p:nvSpPr>
          <p:cNvPr id="23" name="Text 21"/>
          <p:cNvSpPr/>
          <p:nvPr/>
        </p:nvSpPr>
        <p:spPr>
          <a:xfrm>
            <a:off x="365760" y="3675888"/>
            <a:ext cx="475488" cy="640080"/>
          </a:xfrm>
          <a:prstGeom prst="rect">
            <a:avLst/>
          </a:prstGeom>
          <a:noFill/>
          <a:ln/>
        </p:spPr>
        <p:txBody>
          <a:bodyPr wrap="square" lIns="0" tIns="0" rIns="0" bIns="0"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4</a:t>
            </a:r>
            <a:endParaRPr lang="en-US" sz="1800" dirty="0"/>
          </a:p>
        </p:txBody>
      </p:sp>
      <p:sp>
        <p:nvSpPr>
          <p:cNvPr id="24" name="Text 22"/>
          <p:cNvSpPr/>
          <p:nvPr/>
        </p:nvSpPr>
        <p:spPr>
          <a:xfrm>
            <a:off x="914400" y="3712464"/>
            <a:ext cx="1554480" cy="548640"/>
          </a:xfrm>
          <a:prstGeom prst="rect">
            <a:avLst/>
          </a:prstGeom>
          <a:noFill/>
          <a:ln/>
        </p:spPr>
        <p:txBody>
          <a:bodyPr wrap="square" lIns="0" tIns="0" rIns="0" bIns="0" rtlCol="0" anchor="t"/>
          <a:lstStyle/>
          <a:p>
            <a:pPr marL="0" indent="0">
              <a:buNone/>
            </a:pPr>
            <a:r>
              <a:rPr lang="en-US" sz="1200" b="1" dirty="0">
                <a:solidFill>
                  <a:srgbClr val="1E2761"/>
                </a:solidFill>
                <a:latin typeface="Georgia" pitchFamily="34" charset="0"/>
                <a:ea typeface="Georgia" pitchFamily="34" charset="-122"/>
                <a:cs typeface="Georgia" pitchFamily="34" charset="-120"/>
              </a:rPr>
              <a:t>Follow-up ANOVAs: </a:t>
            </a:r>
            <a:endParaRPr lang="en-US" sz="1200" dirty="0"/>
          </a:p>
        </p:txBody>
      </p:sp>
      <p:sp>
        <p:nvSpPr>
          <p:cNvPr id="25" name="Text 23"/>
          <p:cNvSpPr/>
          <p:nvPr/>
        </p:nvSpPr>
        <p:spPr>
          <a:xfrm>
            <a:off x="2450592" y="3712464"/>
            <a:ext cx="6217920" cy="548640"/>
          </a:xfrm>
          <a:prstGeom prst="rect">
            <a:avLst/>
          </a:prstGeom>
          <a:noFill/>
          <a:ln/>
        </p:spPr>
        <p:txBody>
          <a:bodyPr wrap="square" lIns="0" tIns="0" rIns="0" bIns="0" rtlCol="0" anchor="t"/>
          <a:lstStyle/>
          <a:p>
            <a:pPr marL="0" indent="0">
              <a:buNone/>
            </a:pPr>
            <a:r>
              <a:rPr lang="en-US" sz="1150" dirty="0">
                <a:solidFill>
                  <a:srgbClr val="1A1A2E"/>
                </a:solidFill>
                <a:latin typeface="Calibri" pitchFamily="34" charset="0"/>
                <a:ea typeface="Calibri" pitchFamily="34" charset="-122"/>
                <a:cs typeface="Calibri" pitchFamily="34" charset="-120"/>
              </a:rPr>
              <a:t>SBP: F(2,282)=18.3, p&lt;.001, ηp²=.11. Cholesterol: F(2,282)=22.1, p&lt;.001. BMI: F(2,282)=9.4, p&lt;.001. Glucose: F(2,282)=3.1, p=.047.</a:t>
            </a:r>
            <a:endParaRPr lang="en-US" sz="1150" dirty="0"/>
          </a:p>
        </p:txBody>
      </p:sp>
      <p:sp>
        <p:nvSpPr>
          <p:cNvPr id="26" name="Shape 24"/>
          <p:cNvSpPr/>
          <p:nvPr/>
        </p:nvSpPr>
        <p:spPr>
          <a:xfrm>
            <a:off x="365760" y="4389120"/>
            <a:ext cx="8412480" cy="640080"/>
          </a:xfrm>
          <a:prstGeom prst="rect">
            <a:avLst/>
          </a:prstGeom>
          <a:solidFill>
            <a:srgbClr val="ECEEF8"/>
          </a:solidFill>
          <a:ln w="12700">
            <a:solidFill>
              <a:srgbClr val="DDE0F0"/>
            </a:solidFill>
            <a:prstDash val="solid"/>
          </a:ln>
        </p:spPr>
        <p:txBody>
          <a:bodyPr/>
          <a:lstStyle/>
          <a:p>
            <a:endParaRPr lang="en-US"/>
          </a:p>
        </p:txBody>
      </p:sp>
      <p:sp>
        <p:nvSpPr>
          <p:cNvPr id="27" name="Shape 25"/>
          <p:cNvSpPr/>
          <p:nvPr/>
        </p:nvSpPr>
        <p:spPr>
          <a:xfrm>
            <a:off x="365760" y="4389120"/>
            <a:ext cx="475488" cy="640080"/>
          </a:xfrm>
          <a:prstGeom prst="rect">
            <a:avLst/>
          </a:prstGeom>
          <a:solidFill>
            <a:srgbClr val="6D2E46"/>
          </a:solidFill>
          <a:ln w="12700">
            <a:solidFill>
              <a:srgbClr val="6D2E46"/>
            </a:solidFill>
            <a:prstDash val="solid"/>
          </a:ln>
        </p:spPr>
        <p:txBody>
          <a:bodyPr/>
          <a:lstStyle/>
          <a:p>
            <a:endParaRPr lang="en-US"/>
          </a:p>
        </p:txBody>
      </p:sp>
      <p:sp>
        <p:nvSpPr>
          <p:cNvPr id="28" name="Text 26"/>
          <p:cNvSpPr/>
          <p:nvPr/>
        </p:nvSpPr>
        <p:spPr>
          <a:xfrm>
            <a:off x="365760" y="4389120"/>
            <a:ext cx="475488" cy="640080"/>
          </a:xfrm>
          <a:prstGeom prst="rect">
            <a:avLst/>
          </a:prstGeom>
          <a:noFill/>
          <a:ln/>
        </p:spPr>
        <p:txBody>
          <a:bodyPr wrap="square" lIns="0" tIns="0" rIns="0" bIns="0"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5</a:t>
            </a:r>
            <a:endParaRPr lang="en-US" sz="1800" dirty="0"/>
          </a:p>
        </p:txBody>
      </p:sp>
      <p:sp>
        <p:nvSpPr>
          <p:cNvPr id="29" name="Text 27"/>
          <p:cNvSpPr/>
          <p:nvPr/>
        </p:nvSpPr>
        <p:spPr>
          <a:xfrm>
            <a:off x="914400" y="4425696"/>
            <a:ext cx="1554480" cy="548640"/>
          </a:xfrm>
          <a:prstGeom prst="rect">
            <a:avLst/>
          </a:prstGeom>
          <a:noFill/>
          <a:ln/>
        </p:spPr>
        <p:txBody>
          <a:bodyPr wrap="square" lIns="0" tIns="0" rIns="0" bIns="0" rtlCol="0" anchor="t"/>
          <a:lstStyle/>
          <a:p>
            <a:pPr marL="0" indent="0">
              <a:buNone/>
            </a:pPr>
            <a:r>
              <a:rPr lang="en-US" sz="1200" b="1" dirty="0">
                <a:solidFill>
                  <a:srgbClr val="6D2E46"/>
                </a:solidFill>
                <a:latin typeface="Georgia" pitchFamily="34" charset="0"/>
                <a:ea typeface="Georgia" pitchFamily="34" charset="-122"/>
                <a:cs typeface="Georgia" pitchFamily="34" charset="-120"/>
              </a:rPr>
              <a:t>Post-hoc &amp; conclusion: </a:t>
            </a:r>
            <a:endParaRPr lang="en-US" sz="1200" dirty="0"/>
          </a:p>
        </p:txBody>
      </p:sp>
      <p:sp>
        <p:nvSpPr>
          <p:cNvPr id="30" name="Text 28"/>
          <p:cNvSpPr/>
          <p:nvPr/>
        </p:nvSpPr>
        <p:spPr>
          <a:xfrm>
            <a:off x="2450592" y="4425696"/>
            <a:ext cx="6217920" cy="548640"/>
          </a:xfrm>
          <a:prstGeom prst="rect">
            <a:avLst/>
          </a:prstGeom>
          <a:noFill/>
          <a:ln/>
        </p:spPr>
        <p:txBody>
          <a:bodyPr wrap="square" lIns="0" tIns="0" rIns="0" bIns="0" rtlCol="0" anchor="t"/>
          <a:lstStyle/>
          <a:p>
            <a:pPr marL="0" indent="0">
              <a:buNone/>
            </a:pPr>
            <a:r>
              <a:rPr lang="en-US" sz="1150" dirty="0">
                <a:solidFill>
                  <a:srgbClr val="1A1A2E"/>
                </a:solidFill>
                <a:latin typeface="Calibri" pitchFamily="34" charset="0"/>
                <a:ea typeface="Calibri" pitchFamily="34" charset="-122"/>
                <a:cs typeface="Calibri" pitchFamily="34" charset="-120"/>
              </a:rPr>
              <a:t>Tukey HSD: Combined &gt; Exercise &gt; Diet on all outcomes. Combined program produced the largest improvement across the full cardiovascular profile. Report all 4 DVs, not just significant ones.</a:t>
            </a:r>
            <a:endParaRPr lang="en-US" sz="115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2011680"/>
            <a:ext cx="9144000" cy="1143000"/>
          </a:xfrm>
          <a:prstGeom prst="rect">
            <a:avLst/>
          </a:prstGeom>
          <a:solidFill>
            <a:srgbClr val="1C7293"/>
          </a:solidFill>
          <a:ln w="12700">
            <a:solidFill>
              <a:srgbClr val="1C7293"/>
            </a:solidFill>
            <a:prstDash val="solid"/>
          </a:ln>
        </p:spPr>
        <p:txBody>
          <a:bodyPr/>
          <a:lstStyle/>
          <a:p>
            <a:endParaRPr lang="en-US"/>
          </a:p>
        </p:txBody>
      </p:sp>
      <p:sp>
        <p:nvSpPr>
          <p:cNvPr id="3" name="Shape 1"/>
          <p:cNvSpPr/>
          <p:nvPr/>
        </p:nvSpPr>
        <p:spPr>
          <a:xfrm>
            <a:off x="0" y="0"/>
            <a:ext cx="9144000" cy="91440"/>
          </a:xfrm>
          <a:prstGeom prst="rect">
            <a:avLst/>
          </a:prstGeom>
          <a:solidFill>
            <a:srgbClr val="E8A838"/>
          </a:solidFill>
          <a:ln w="12700">
            <a:solidFill>
              <a:srgbClr val="E8A838"/>
            </a:solidFill>
            <a:prstDash val="solid"/>
          </a:ln>
        </p:spPr>
        <p:txBody>
          <a:bodyPr/>
          <a:lstStyle/>
          <a:p>
            <a:endParaRPr lang="en-US"/>
          </a:p>
        </p:txBody>
      </p:sp>
      <p:sp>
        <p:nvSpPr>
          <p:cNvPr id="4" name="Text 2"/>
          <p:cNvSpPr/>
          <p:nvPr/>
        </p:nvSpPr>
        <p:spPr>
          <a:xfrm>
            <a:off x="457200" y="457200"/>
            <a:ext cx="8229600" cy="457200"/>
          </a:xfrm>
          <a:prstGeom prst="rect">
            <a:avLst/>
          </a:prstGeom>
          <a:noFill/>
          <a:ln/>
        </p:spPr>
        <p:txBody>
          <a:bodyPr wrap="square" lIns="0" tIns="0" rIns="0" bIns="0" rtlCol="0" anchor="ctr"/>
          <a:lstStyle/>
          <a:p>
            <a:pPr marL="0" indent="0" algn="ctr">
              <a:buNone/>
            </a:pPr>
            <a:r>
              <a:rPr lang="en-US" sz="1400" b="1" kern="0" spc="600" dirty="0">
                <a:solidFill>
                  <a:srgbClr val="9EC8D8"/>
                </a:solidFill>
                <a:latin typeface="Calibri" pitchFamily="34" charset="0"/>
                <a:ea typeface="Calibri" pitchFamily="34" charset="-122"/>
                <a:cs typeface="Calibri" pitchFamily="34" charset="-120"/>
              </a:rPr>
              <a:t>SECTION 05</a:t>
            </a:r>
            <a:endParaRPr lang="en-US" sz="1400" dirty="0"/>
          </a:p>
        </p:txBody>
      </p:sp>
      <p:sp>
        <p:nvSpPr>
          <p:cNvPr id="5" name="Text 3"/>
          <p:cNvSpPr/>
          <p:nvPr/>
        </p:nvSpPr>
        <p:spPr>
          <a:xfrm>
            <a:off x="457200" y="2057400"/>
            <a:ext cx="8229600" cy="1051560"/>
          </a:xfrm>
          <a:prstGeom prst="rect">
            <a:avLst/>
          </a:prstGeom>
          <a:noFill/>
          <a:ln/>
        </p:spPr>
        <p:txBody>
          <a:bodyPr wrap="square" lIns="0" tIns="0" rIns="0" bIns="0" rtlCol="0" anchor="ctr"/>
          <a:lstStyle/>
          <a:p>
            <a:pPr marL="0" indent="0" algn="ctr">
              <a:buNone/>
            </a:pPr>
            <a:r>
              <a:rPr lang="en-US" sz="3400" b="1" dirty="0">
                <a:solidFill>
                  <a:srgbClr val="FFFFFF"/>
                </a:solidFill>
                <a:latin typeface="Cambria" pitchFamily="34" charset="0"/>
                <a:ea typeface="Cambria" pitchFamily="34" charset="-122"/>
                <a:cs typeface="Cambria" pitchFamily="34" charset="-120"/>
              </a:rPr>
              <a:t>Factor Analysis</a:t>
            </a:r>
            <a:endParaRPr lang="en-US" sz="3400" dirty="0"/>
          </a:p>
          <a:p>
            <a:pPr marL="0" indent="0" algn="ctr">
              <a:buNone/>
            </a:pPr>
            <a:r>
              <a:rPr lang="en-US" sz="3400" b="1" dirty="0">
                <a:solidFill>
                  <a:srgbClr val="FFFFFF"/>
                </a:solidFill>
                <a:latin typeface="Cambria" pitchFamily="34" charset="0"/>
                <a:ea typeface="Cambria" pitchFamily="34" charset="-122"/>
                <a:cs typeface="Cambria" pitchFamily="34" charset="-120"/>
              </a:rPr>
              <a:t>&amp; Data Reduction</a:t>
            </a:r>
            <a:endParaRPr lang="en-US" sz="3400" dirty="0"/>
          </a:p>
        </p:txBody>
      </p:sp>
      <p:sp>
        <p:nvSpPr>
          <p:cNvPr id="6" name="Text 4"/>
          <p:cNvSpPr/>
          <p:nvPr/>
        </p:nvSpPr>
        <p:spPr>
          <a:xfrm>
            <a:off x="914400" y="3337560"/>
            <a:ext cx="7315200" cy="640080"/>
          </a:xfrm>
          <a:prstGeom prst="rect">
            <a:avLst/>
          </a:prstGeom>
          <a:noFill/>
          <a:ln/>
        </p:spPr>
        <p:txBody>
          <a:bodyPr wrap="square" lIns="0" tIns="0" rIns="0" bIns="0" rtlCol="0" anchor="ctr"/>
          <a:lstStyle/>
          <a:p>
            <a:pPr marL="0" indent="0" algn="ctr">
              <a:buNone/>
            </a:pPr>
            <a:r>
              <a:rPr lang="en-US" sz="1500" i="1" dirty="0">
                <a:solidFill>
                  <a:srgbClr val="9EC8D8"/>
                </a:solidFill>
                <a:latin typeface="Calibri" pitchFamily="34" charset="0"/>
                <a:ea typeface="Calibri" pitchFamily="34" charset="-122"/>
                <a:cs typeface="Calibri" pitchFamily="34" charset="-120"/>
              </a:rPr>
              <a:t>Uncovering hidden structure in public health surveys and instruments</a:t>
            </a:r>
            <a:endParaRPr lang="en-US" sz="15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8A838"/>
          </a:solidFill>
          <a:ln w="12700">
            <a:solidFill>
              <a:srgbClr val="E8A838"/>
            </a:solidFill>
            <a:prstDash val="solid"/>
          </a:ln>
        </p:spPr>
        <p:txBody>
          <a:bodyPr/>
          <a:lstStyle/>
          <a:p>
            <a:endParaRPr lang="en-US"/>
          </a:p>
        </p:txBody>
      </p:sp>
      <p:sp>
        <p:nvSpPr>
          <p:cNvPr id="3" name="Text 1"/>
          <p:cNvSpPr/>
          <p:nvPr/>
        </p:nvSpPr>
        <p:spPr>
          <a:xfrm>
            <a:off x="411480" y="164592"/>
            <a:ext cx="8321040" cy="640080"/>
          </a:xfrm>
          <a:prstGeom prst="rect">
            <a:avLst/>
          </a:prstGeom>
          <a:noFill/>
          <a:ln/>
        </p:spPr>
        <p:txBody>
          <a:bodyPr wrap="square" lIns="0" tIns="0" rIns="0" bIns="0" rtlCol="0" anchor="ctr"/>
          <a:lstStyle/>
          <a:p>
            <a:pPr marL="0" indent="0">
              <a:buNone/>
            </a:pPr>
            <a:r>
              <a:rPr lang="en-US" sz="2800" b="1" dirty="0">
                <a:solidFill>
                  <a:srgbClr val="065A82"/>
                </a:solidFill>
                <a:latin typeface="Cambria" pitchFamily="34" charset="0"/>
                <a:ea typeface="Cambria" pitchFamily="34" charset="-122"/>
                <a:cs typeface="Cambria" pitchFamily="34" charset="-120"/>
              </a:rPr>
              <a:t>Factor Analysis: EFA vs CFA</a:t>
            </a:r>
            <a:endParaRPr lang="en-US" sz="2800" dirty="0"/>
          </a:p>
        </p:txBody>
      </p:sp>
      <p:sp>
        <p:nvSpPr>
          <p:cNvPr id="4" name="Shape 2"/>
          <p:cNvSpPr/>
          <p:nvPr/>
        </p:nvSpPr>
        <p:spPr>
          <a:xfrm>
            <a:off x="411480" y="960120"/>
            <a:ext cx="4069080" cy="1947672"/>
          </a:xfrm>
          <a:prstGeom prst="rect">
            <a:avLst/>
          </a:prstGeom>
          <a:solidFill>
            <a:srgbClr val="FFFFFF"/>
          </a:solidFill>
          <a:ln w="12700">
            <a:solidFill>
              <a:srgbClr val="D6E4EC"/>
            </a:solidFill>
            <a:prstDash val="solid"/>
          </a:ln>
          <a:effectLst>
            <a:outerShdw blurRad="76200" dist="25400" dir="8100000" algn="bl" rotWithShape="0">
              <a:srgbClr val="000000">
                <a:alpha val="10000"/>
              </a:srgbClr>
            </a:outerShdw>
          </a:effectLst>
        </p:spPr>
        <p:txBody>
          <a:bodyPr/>
          <a:lstStyle/>
          <a:p>
            <a:endParaRPr lang="en-US"/>
          </a:p>
        </p:txBody>
      </p:sp>
      <p:sp>
        <p:nvSpPr>
          <p:cNvPr id="5" name="Shape 3"/>
          <p:cNvSpPr/>
          <p:nvPr/>
        </p:nvSpPr>
        <p:spPr>
          <a:xfrm>
            <a:off x="411480" y="960120"/>
            <a:ext cx="64008" cy="1947672"/>
          </a:xfrm>
          <a:prstGeom prst="rect">
            <a:avLst/>
          </a:prstGeom>
          <a:solidFill>
            <a:srgbClr val="065A82"/>
          </a:solidFill>
          <a:ln w="12700">
            <a:solidFill>
              <a:srgbClr val="065A82"/>
            </a:solidFill>
            <a:prstDash val="solid"/>
          </a:ln>
        </p:spPr>
        <p:txBody>
          <a:bodyPr/>
          <a:lstStyle/>
          <a:p>
            <a:endParaRPr lang="en-US"/>
          </a:p>
        </p:txBody>
      </p:sp>
      <p:sp>
        <p:nvSpPr>
          <p:cNvPr id="6" name="Text 4"/>
          <p:cNvSpPr/>
          <p:nvPr/>
        </p:nvSpPr>
        <p:spPr>
          <a:xfrm>
            <a:off x="548640" y="1033272"/>
            <a:ext cx="3886200" cy="347472"/>
          </a:xfrm>
          <a:prstGeom prst="rect">
            <a:avLst/>
          </a:prstGeom>
          <a:noFill/>
          <a:ln/>
        </p:spPr>
        <p:txBody>
          <a:bodyPr wrap="square" lIns="0" tIns="0" rIns="0" bIns="0" rtlCol="0" anchor="ctr"/>
          <a:lstStyle/>
          <a:p>
            <a:pPr marL="0" indent="0">
              <a:buNone/>
            </a:pPr>
            <a:r>
              <a:rPr lang="en-US" sz="1300" b="1" dirty="0">
                <a:solidFill>
                  <a:srgbClr val="065A82"/>
                </a:solidFill>
                <a:latin typeface="Cambria" pitchFamily="34" charset="0"/>
                <a:ea typeface="Cambria" pitchFamily="34" charset="-122"/>
                <a:cs typeface="Cambria" pitchFamily="34" charset="-120"/>
              </a:rPr>
              <a:t>Exploratory Factor Analysis (EFA)</a:t>
            </a:r>
            <a:endParaRPr lang="en-US" sz="1300" dirty="0"/>
          </a:p>
        </p:txBody>
      </p:sp>
      <p:sp>
        <p:nvSpPr>
          <p:cNvPr id="7" name="Text 5"/>
          <p:cNvSpPr/>
          <p:nvPr/>
        </p:nvSpPr>
        <p:spPr>
          <a:xfrm>
            <a:off x="548640" y="1371600"/>
            <a:ext cx="3886200" cy="1444752"/>
          </a:xfrm>
          <a:prstGeom prst="rect">
            <a:avLst/>
          </a:prstGeom>
          <a:noFill/>
          <a:ln/>
        </p:spPr>
        <p:txBody>
          <a:bodyPr wrap="square" lIns="0" tIns="0" rIns="0" bIns="0" rtlCol="0" anchor="t"/>
          <a:lstStyle/>
          <a:p>
            <a:pPr marL="0" indent="0">
              <a:buNone/>
            </a:pPr>
            <a:r>
              <a:rPr lang="en-US" sz="1200" dirty="0">
                <a:solidFill>
                  <a:srgbClr val="1A2D3D"/>
                </a:solidFill>
                <a:latin typeface="Calibri" pitchFamily="34" charset="0"/>
                <a:ea typeface="Calibri" pitchFamily="34" charset="-122"/>
                <a:cs typeface="Calibri" pitchFamily="34" charset="-120"/>
              </a:rPr>
              <a:t>Discover underlying factor structure — no prior theory needed.</a:t>
            </a:r>
            <a:endParaRPr lang="en-US" sz="1200" dirty="0"/>
          </a:p>
          <a:p>
            <a:pPr marL="0" indent="0">
              <a:buNone/>
            </a:pPr>
            <a:endParaRPr lang="en-US" sz="1200" dirty="0"/>
          </a:p>
          <a:p>
            <a:pPr marL="0" indent="0">
              <a:buNone/>
            </a:pPr>
            <a:r>
              <a:rPr lang="en-US" sz="1200" dirty="0">
                <a:solidFill>
                  <a:srgbClr val="1A2D3D"/>
                </a:solidFill>
                <a:latin typeface="Calibri" pitchFamily="34" charset="0"/>
                <a:ea typeface="Calibri" pitchFamily="34" charset="-122"/>
                <a:cs typeface="Calibri" pitchFamily="34" charset="-120"/>
              </a:rPr>
              <a:t>Extraction: Principal Axis Factoring (T&amp;F recommendation) or Maximum Likelihood.</a:t>
            </a:r>
            <a:endParaRPr lang="en-US" sz="1200" dirty="0"/>
          </a:p>
          <a:p>
            <a:pPr marL="0" indent="0">
              <a:buNone/>
            </a:pPr>
            <a:endParaRPr lang="en-US" sz="1200" dirty="0"/>
          </a:p>
          <a:p>
            <a:pPr marL="0" indent="0">
              <a:buNone/>
            </a:pPr>
            <a:r>
              <a:rPr lang="en-US" sz="1200" dirty="0">
                <a:solidFill>
                  <a:srgbClr val="1A2D3D"/>
                </a:solidFill>
                <a:latin typeface="Calibri" pitchFamily="34" charset="0"/>
                <a:ea typeface="Calibri" pitchFamily="34" charset="-122"/>
                <a:cs typeface="Calibri" pitchFamily="34" charset="-120"/>
              </a:rPr>
              <a:t>Rotation: Orthogonal (Varimax) if factors unrelated; Oblique (Promax, Oblimin) if correlated.</a:t>
            </a:r>
            <a:endParaRPr lang="en-US" sz="1200" dirty="0"/>
          </a:p>
        </p:txBody>
      </p:sp>
      <p:sp>
        <p:nvSpPr>
          <p:cNvPr id="8" name="Shape 6"/>
          <p:cNvSpPr/>
          <p:nvPr/>
        </p:nvSpPr>
        <p:spPr>
          <a:xfrm>
            <a:off x="4663440" y="960120"/>
            <a:ext cx="4069080" cy="1947672"/>
          </a:xfrm>
          <a:prstGeom prst="rect">
            <a:avLst/>
          </a:prstGeom>
          <a:solidFill>
            <a:srgbClr val="FFFFFF"/>
          </a:solidFill>
          <a:ln w="12700">
            <a:solidFill>
              <a:srgbClr val="D6E4EC"/>
            </a:solidFill>
            <a:prstDash val="solid"/>
          </a:ln>
          <a:effectLst>
            <a:outerShdw blurRad="76200" dist="25400" dir="8100000" algn="bl" rotWithShape="0">
              <a:srgbClr val="000000">
                <a:alpha val="10000"/>
              </a:srgbClr>
            </a:outerShdw>
          </a:effectLst>
        </p:spPr>
        <p:txBody>
          <a:bodyPr/>
          <a:lstStyle/>
          <a:p>
            <a:endParaRPr lang="en-US"/>
          </a:p>
        </p:txBody>
      </p:sp>
      <p:sp>
        <p:nvSpPr>
          <p:cNvPr id="9" name="Shape 7"/>
          <p:cNvSpPr/>
          <p:nvPr/>
        </p:nvSpPr>
        <p:spPr>
          <a:xfrm>
            <a:off x="4663440" y="960120"/>
            <a:ext cx="64008" cy="1947672"/>
          </a:xfrm>
          <a:prstGeom prst="rect">
            <a:avLst/>
          </a:prstGeom>
          <a:solidFill>
            <a:srgbClr val="1C7293"/>
          </a:solidFill>
          <a:ln w="12700">
            <a:solidFill>
              <a:srgbClr val="1C7293"/>
            </a:solidFill>
            <a:prstDash val="solid"/>
          </a:ln>
        </p:spPr>
        <p:txBody>
          <a:bodyPr/>
          <a:lstStyle/>
          <a:p>
            <a:endParaRPr lang="en-US"/>
          </a:p>
        </p:txBody>
      </p:sp>
      <p:sp>
        <p:nvSpPr>
          <p:cNvPr id="10" name="Text 8"/>
          <p:cNvSpPr/>
          <p:nvPr/>
        </p:nvSpPr>
        <p:spPr>
          <a:xfrm>
            <a:off x="4800600" y="1033272"/>
            <a:ext cx="3886200" cy="347472"/>
          </a:xfrm>
          <a:prstGeom prst="rect">
            <a:avLst/>
          </a:prstGeom>
          <a:noFill/>
          <a:ln/>
        </p:spPr>
        <p:txBody>
          <a:bodyPr wrap="square" lIns="0" tIns="0" rIns="0" bIns="0" rtlCol="0" anchor="ctr"/>
          <a:lstStyle/>
          <a:p>
            <a:pPr marL="0" indent="0">
              <a:buNone/>
            </a:pPr>
            <a:r>
              <a:rPr lang="en-US" sz="1300" b="1" dirty="0">
                <a:solidFill>
                  <a:srgbClr val="1C7293"/>
                </a:solidFill>
                <a:latin typeface="Cambria" pitchFamily="34" charset="0"/>
                <a:ea typeface="Cambria" pitchFamily="34" charset="-122"/>
                <a:cs typeface="Cambria" pitchFamily="34" charset="-120"/>
              </a:rPr>
              <a:t>Confirmatory Factor Analysis (CFA)</a:t>
            </a:r>
            <a:endParaRPr lang="en-US" sz="1300" dirty="0"/>
          </a:p>
        </p:txBody>
      </p:sp>
      <p:sp>
        <p:nvSpPr>
          <p:cNvPr id="11" name="Text 9"/>
          <p:cNvSpPr/>
          <p:nvPr/>
        </p:nvSpPr>
        <p:spPr>
          <a:xfrm>
            <a:off x="4800600" y="1371600"/>
            <a:ext cx="3886200" cy="1444752"/>
          </a:xfrm>
          <a:prstGeom prst="rect">
            <a:avLst/>
          </a:prstGeom>
          <a:noFill/>
          <a:ln/>
        </p:spPr>
        <p:txBody>
          <a:bodyPr wrap="square" lIns="0" tIns="0" rIns="0" bIns="0" rtlCol="0" anchor="t"/>
          <a:lstStyle/>
          <a:p>
            <a:pPr marL="0" indent="0">
              <a:buNone/>
            </a:pPr>
            <a:r>
              <a:rPr lang="en-US" sz="1200" dirty="0">
                <a:solidFill>
                  <a:srgbClr val="1A2D3D"/>
                </a:solidFill>
                <a:latin typeface="Calibri" pitchFamily="34" charset="0"/>
                <a:ea typeface="Calibri" pitchFamily="34" charset="-122"/>
                <a:cs typeface="Calibri" pitchFamily="34" charset="-120"/>
              </a:rPr>
              <a:t>Test a pre-specified model against data.</a:t>
            </a:r>
            <a:endParaRPr lang="en-US" sz="1200" dirty="0"/>
          </a:p>
          <a:p>
            <a:pPr marL="0" indent="0">
              <a:buNone/>
            </a:pPr>
            <a:endParaRPr lang="en-US" sz="1200" dirty="0"/>
          </a:p>
          <a:p>
            <a:pPr marL="0" indent="0">
              <a:buNone/>
            </a:pPr>
            <a:r>
              <a:rPr lang="en-US" sz="1200" dirty="0">
                <a:solidFill>
                  <a:srgbClr val="1A2D3D"/>
                </a:solidFill>
                <a:latin typeface="Calibri" pitchFamily="34" charset="0"/>
                <a:ea typeface="Calibri" pitchFamily="34" charset="-122"/>
                <a:cs typeface="Calibri" pitchFamily="34" charset="-120"/>
              </a:rPr>
              <a:t>Requires structural equation modelling software (AMOS, lavaan in R, Mplus).</a:t>
            </a:r>
            <a:endParaRPr lang="en-US" sz="1200" dirty="0"/>
          </a:p>
          <a:p>
            <a:pPr marL="0" indent="0">
              <a:buNone/>
            </a:pPr>
            <a:endParaRPr lang="en-US" sz="1200" dirty="0"/>
          </a:p>
          <a:p>
            <a:pPr marL="0" indent="0">
              <a:buNone/>
            </a:pPr>
            <a:r>
              <a:rPr lang="en-US" sz="1200" dirty="0">
                <a:solidFill>
                  <a:srgbClr val="1A2D3D"/>
                </a:solidFill>
                <a:latin typeface="Calibri" pitchFamily="34" charset="0"/>
                <a:ea typeface="Calibri" pitchFamily="34" charset="-122"/>
                <a:cs typeface="Calibri" pitchFamily="34" charset="-120"/>
              </a:rPr>
              <a:t>Fit indices: CFI &gt; .95, RMSEA &lt; .06, SRMR &lt; .08 indicate adequate fit.</a:t>
            </a:r>
            <a:endParaRPr lang="en-US" sz="1200" dirty="0"/>
          </a:p>
        </p:txBody>
      </p:sp>
      <p:sp>
        <p:nvSpPr>
          <p:cNvPr id="12" name="Shape 10"/>
          <p:cNvSpPr/>
          <p:nvPr/>
        </p:nvSpPr>
        <p:spPr>
          <a:xfrm>
            <a:off x="411480" y="3044952"/>
            <a:ext cx="4069080" cy="1947672"/>
          </a:xfrm>
          <a:prstGeom prst="rect">
            <a:avLst/>
          </a:prstGeom>
          <a:solidFill>
            <a:srgbClr val="FFFFFF"/>
          </a:solidFill>
          <a:ln w="12700">
            <a:solidFill>
              <a:srgbClr val="D6E4EC"/>
            </a:solidFill>
            <a:prstDash val="solid"/>
          </a:ln>
          <a:effectLst>
            <a:outerShdw blurRad="76200" dist="25400" dir="8100000" algn="bl" rotWithShape="0">
              <a:srgbClr val="000000">
                <a:alpha val="10000"/>
              </a:srgbClr>
            </a:outerShdw>
          </a:effectLst>
        </p:spPr>
        <p:txBody>
          <a:bodyPr/>
          <a:lstStyle/>
          <a:p>
            <a:endParaRPr lang="en-US"/>
          </a:p>
        </p:txBody>
      </p:sp>
      <p:sp>
        <p:nvSpPr>
          <p:cNvPr id="13" name="Shape 11"/>
          <p:cNvSpPr/>
          <p:nvPr/>
        </p:nvSpPr>
        <p:spPr>
          <a:xfrm>
            <a:off x="411480" y="3044952"/>
            <a:ext cx="64008" cy="1947672"/>
          </a:xfrm>
          <a:prstGeom prst="rect">
            <a:avLst/>
          </a:prstGeom>
          <a:solidFill>
            <a:srgbClr val="E8A838"/>
          </a:solidFill>
          <a:ln w="12700">
            <a:solidFill>
              <a:srgbClr val="E8A838"/>
            </a:solidFill>
            <a:prstDash val="solid"/>
          </a:ln>
        </p:spPr>
        <p:txBody>
          <a:bodyPr/>
          <a:lstStyle/>
          <a:p>
            <a:endParaRPr lang="en-US"/>
          </a:p>
        </p:txBody>
      </p:sp>
      <p:sp>
        <p:nvSpPr>
          <p:cNvPr id="14" name="Text 12"/>
          <p:cNvSpPr/>
          <p:nvPr/>
        </p:nvSpPr>
        <p:spPr>
          <a:xfrm>
            <a:off x="548640" y="3118104"/>
            <a:ext cx="3886200" cy="347472"/>
          </a:xfrm>
          <a:prstGeom prst="rect">
            <a:avLst/>
          </a:prstGeom>
          <a:noFill/>
          <a:ln/>
        </p:spPr>
        <p:txBody>
          <a:bodyPr wrap="square" lIns="0" tIns="0" rIns="0" bIns="0" rtlCol="0" anchor="ctr"/>
          <a:lstStyle/>
          <a:p>
            <a:pPr marL="0" indent="0">
              <a:buNone/>
            </a:pPr>
            <a:r>
              <a:rPr lang="en-US" sz="1300" b="1" dirty="0">
                <a:solidFill>
                  <a:srgbClr val="E8A838"/>
                </a:solidFill>
                <a:latin typeface="Cambria" pitchFamily="34" charset="0"/>
                <a:ea typeface="Cambria" pitchFamily="34" charset="-122"/>
                <a:cs typeface="Cambria" pitchFamily="34" charset="-120"/>
              </a:rPr>
              <a:t>Key Decisions in EFA</a:t>
            </a:r>
            <a:endParaRPr lang="en-US" sz="1300" dirty="0"/>
          </a:p>
        </p:txBody>
      </p:sp>
      <p:sp>
        <p:nvSpPr>
          <p:cNvPr id="15" name="Text 13"/>
          <p:cNvSpPr/>
          <p:nvPr/>
        </p:nvSpPr>
        <p:spPr>
          <a:xfrm>
            <a:off x="548640" y="3456432"/>
            <a:ext cx="3886200" cy="1444752"/>
          </a:xfrm>
          <a:prstGeom prst="rect">
            <a:avLst/>
          </a:prstGeom>
          <a:noFill/>
          <a:ln/>
        </p:spPr>
        <p:txBody>
          <a:bodyPr wrap="square" lIns="0" tIns="0" rIns="0" bIns="0" rtlCol="0" anchor="t"/>
          <a:lstStyle/>
          <a:p>
            <a:pPr marL="0" indent="0">
              <a:buNone/>
            </a:pPr>
            <a:r>
              <a:rPr lang="en-US" sz="1200" dirty="0">
                <a:solidFill>
                  <a:srgbClr val="1A2D3D"/>
                </a:solidFill>
                <a:latin typeface="Calibri" pitchFamily="34" charset="0"/>
                <a:ea typeface="Calibri" pitchFamily="34" charset="-122"/>
                <a:cs typeface="Calibri" pitchFamily="34" charset="-120"/>
              </a:rPr>
              <a:t>How many factors? → Scree plot, parallel analysis, eigenvalue &gt; 1 (Kaiser rule, but weak)</a:t>
            </a:r>
            <a:endParaRPr lang="en-US" sz="1200" dirty="0"/>
          </a:p>
          <a:p>
            <a:pPr marL="0" indent="0">
              <a:buNone/>
            </a:pPr>
            <a:endParaRPr lang="en-US" sz="1200" dirty="0"/>
          </a:p>
          <a:p>
            <a:pPr marL="0" indent="0">
              <a:buNone/>
            </a:pPr>
            <a:r>
              <a:rPr lang="en-US" sz="1200" dirty="0">
                <a:solidFill>
                  <a:srgbClr val="1A2D3D"/>
                </a:solidFill>
                <a:latin typeface="Calibri" pitchFamily="34" charset="0"/>
                <a:ea typeface="Calibri" pitchFamily="34" charset="-122"/>
                <a:cs typeface="Calibri" pitchFamily="34" charset="-120"/>
              </a:rPr>
              <a:t>What loading threshold? → |.32| minimum; |.45| preferred for interpretation</a:t>
            </a:r>
            <a:endParaRPr lang="en-US" sz="1200" dirty="0"/>
          </a:p>
          <a:p>
            <a:pPr marL="0" indent="0">
              <a:buNone/>
            </a:pPr>
            <a:endParaRPr lang="en-US" sz="1200" dirty="0"/>
          </a:p>
          <a:p>
            <a:pPr marL="0" indent="0">
              <a:buNone/>
            </a:pPr>
            <a:r>
              <a:rPr lang="en-US" sz="1200" dirty="0">
                <a:solidFill>
                  <a:srgbClr val="1A2D3D"/>
                </a:solidFill>
                <a:latin typeface="Calibri" pitchFamily="34" charset="0"/>
                <a:ea typeface="Calibri" pitchFamily="34" charset="-122"/>
                <a:cs typeface="Calibri" pitchFamily="34" charset="-120"/>
              </a:rPr>
              <a:t>Delete cross-loading items (load &gt;.32 on 2+ factors)</a:t>
            </a:r>
            <a:endParaRPr lang="en-US" sz="1200" dirty="0"/>
          </a:p>
        </p:txBody>
      </p:sp>
      <p:sp>
        <p:nvSpPr>
          <p:cNvPr id="16" name="Shape 14"/>
          <p:cNvSpPr/>
          <p:nvPr/>
        </p:nvSpPr>
        <p:spPr>
          <a:xfrm>
            <a:off x="4663440" y="3044952"/>
            <a:ext cx="4069080" cy="1947672"/>
          </a:xfrm>
          <a:prstGeom prst="rect">
            <a:avLst/>
          </a:prstGeom>
          <a:solidFill>
            <a:srgbClr val="FFFFFF"/>
          </a:solidFill>
          <a:ln w="12700">
            <a:solidFill>
              <a:srgbClr val="D6E4EC"/>
            </a:solidFill>
            <a:prstDash val="solid"/>
          </a:ln>
          <a:effectLst>
            <a:outerShdw blurRad="76200" dist="25400" dir="8100000" algn="bl" rotWithShape="0">
              <a:srgbClr val="000000">
                <a:alpha val="10000"/>
              </a:srgbClr>
            </a:outerShdw>
          </a:effectLst>
        </p:spPr>
        <p:txBody>
          <a:bodyPr/>
          <a:lstStyle/>
          <a:p>
            <a:endParaRPr lang="en-US"/>
          </a:p>
        </p:txBody>
      </p:sp>
      <p:sp>
        <p:nvSpPr>
          <p:cNvPr id="17" name="Shape 15"/>
          <p:cNvSpPr/>
          <p:nvPr/>
        </p:nvSpPr>
        <p:spPr>
          <a:xfrm>
            <a:off x="4663440" y="3044952"/>
            <a:ext cx="64008" cy="1947672"/>
          </a:xfrm>
          <a:prstGeom prst="rect">
            <a:avLst/>
          </a:prstGeom>
          <a:solidFill>
            <a:srgbClr val="065A82"/>
          </a:solidFill>
          <a:ln w="12700">
            <a:solidFill>
              <a:srgbClr val="065A82"/>
            </a:solidFill>
            <a:prstDash val="solid"/>
          </a:ln>
        </p:spPr>
        <p:txBody>
          <a:bodyPr/>
          <a:lstStyle/>
          <a:p>
            <a:endParaRPr lang="en-US"/>
          </a:p>
        </p:txBody>
      </p:sp>
      <p:sp>
        <p:nvSpPr>
          <p:cNvPr id="18" name="Text 16"/>
          <p:cNvSpPr/>
          <p:nvPr/>
        </p:nvSpPr>
        <p:spPr>
          <a:xfrm>
            <a:off x="4800600" y="3118104"/>
            <a:ext cx="3886200" cy="347472"/>
          </a:xfrm>
          <a:prstGeom prst="rect">
            <a:avLst/>
          </a:prstGeom>
          <a:noFill/>
          <a:ln/>
        </p:spPr>
        <p:txBody>
          <a:bodyPr wrap="square" lIns="0" tIns="0" rIns="0" bIns="0" rtlCol="0" anchor="ctr"/>
          <a:lstStyle/>
          <a:p>
            <a:pPr marL="0" indent="0">
              <a:buNone/>
            </a:pPr>
            <a:r>
              <a:rPr lang="en-US" sz="1300" b="1" dirty="0">
                <a:solidFill>
                  <a:srgbClr val="065A82"/>
                </a:solidFill>
                <a:latin typeface="Cambria" pitchFamily="34" charset="0"/>
                <a:ea typeface="Cambria" pitchFamily="34" charset="-122"/>
                <a:cs typeface="Cambria" pitchFamily="34" charset="-120"/>
              </a:rPr>
              <a:t>Public Health Application</a:t>
            </a:r>
            <a:endParaRPr lang="en-US" sz="1300" dirty="0"/>
          </a:p>
        </p:txBody>
      </p:sp>
      <p:sp>
        <p:nvSpPr>
          <p:cNvPr id="19" name="Text 17"/>
          <p:cNvSpPr/>
          <p:nvPr/>
        </p:nvSpPr>
        <p:spPr>
          <a:xfrm>
            <a:off x="4800600" y="3456432"/>
            <a:ext cx="3886200" cy="1444752"/>
          </a:xfrm>
          <a:prstGeom prst="rect">
            <a:avLst/>
          </a:prstGeom>
          <a:noFill/>
          <a:ln/>
        </p:spPr>
        <p:txBody>
          <a:bodyPr wrap="square" lIns="0" tIns="0" rIns="0" bIns="0" rtlCol="0" anchor="t"/>
          <a:lstStyle/>
          <a:p>
            <a:pPr marL="0" indent="0">
              <a:buNone/>
            </a:pPr>
            <a:r>
              <a:rPr lang="en-US" sz="1200" dirty="0">
                <a:solidFill>
                  <a:srgbClr val="1A2D3D"/>
                </a:solidFill>
                <a:latin typeface="Calibri" pitchFamily="34" charset="0"/>
                <a:ea typeface="Calibri" pitchFamily="34" charset="-122"/>
                <a:cs typeface="Calibri" pitchFamily="34" charset="-120"/>
              </a:rPr>
              <a:t>Scale development: reduce 40 perceived-stress items to 3 underlying dimensions.</a:t>
            </a:r>
            <a:endParaRPr lang="en-US" sz="1200" dirty="0"/>
          </a:p>
          <a:p>
            <a:pPr marL="0" indent="0">
              <a:buNone/>
            </a:pPr>
            <a:endParaRPr lang="en-US" sz="1200" dirty="0"/>
          </a:p>
          <a:p>
            <a:pPr marL="0" indent="0">
              <a:buNone/>
            </a:pPr>
            <a:r>
              <a:rPr lang="en-US" sz="1200" dirty="0">
                <a:solidFill>
                  <a:srgbClr val="1A2D3D"/>
                </a:solidFill>
                <a:latin typeface="Calibri" pitchFamily="34" charset="0"/>
                <a:ea typeface="Calibri" pitchFamily="34" charset="-122"/>
                <a:cs typeface="Calibri" pitchFamily="34" charset="-120"/>
              </a:rPr>
              <a:t>Item reduction: shorten health literacy instrument while preserving construct validity.</a:t>
            </a:r>
            <a:endParaRPr lang="en-US" sz="1200" dirty="0"/>
          </a:p>
          <a:p>
            <a:pPr marL="0" indent="0">
              <a:buNone/>
            </a:pPr>
            <a:endParaRPr lang="en-US" sz="1200" dirty="0"/>
          </a:p>
          <a:p>
            <a:pPr marL="0" indent="0">
              <a:buNone/>
            </a:pPr>
            <a:r>
              <a:rPr lang="en-US" sz="1200" dirty="0">
                <a:solidFill>
                  <a:srgbClr val="1A2D3D"/>
                </a:solidFill>
                <a:latin typeface="Calibri" pitchFamily="34" charset="0"/>
                <a:ea typeface="Calibri" pitchFamily="34" charset="-122"/>
                <a:cs typeface="Calibri" pitchFamily="34" charset="-120"/>
              </a:rPr>
              <a:t>Factor scores can become predictors in subsequent regression.</a:t>
            </a:r>
            <a:endParaRPr lang="en-US" sz="12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8A838"/>
          </a:solidFill>
          <a:ln w="12700">
            <a:solidFill>
              <a:srgbClr val="E8A838"/>
            </a:solidFill>
            <a:prstDash val="solid"/>
          </a:ln>
        </p:spPr>
        <p:txBody>
          <a:bodyPr/>
          <a:lstStyle/>
          <a:p>
            <a:endParaRPr lang="en-US"/>
          </a:p>
        </p:txBody>
      </p:sp>
      <p:sp>
        <p:nvSpPr>
          <p:cNvPr id="3" name="Text 1"/>
          <p:cNvSpPr/>
          <p:nvPr/>
        </p:nvSpPr>
        <p:spPr>
          <a:xfrm>
            <a:off x="411480" y="164592"/>
            <a:ext cx="8321040" cy="640080"/>
          </a:xfrm>
          <a:prstGeom prst="rect">
            <a:avLst/>
          </a:prstGeom>
          <a:noFill/>
          <a:ln/>
        </p:spPr>
        <p:txBody>
          <a:bodyPr wrap="square" lIns="0" tIns="0" rIns="0" bIns="0" rtlCol="0" anchor="ctr"/>
          <a:lstStyle/>
          <a:p>
            <a:pPr marL="0" indent="0">
              <a:buNone/>
            </a:pPr>
            <a:r>
              <a:rPr lang="en-US" sz="2800" b="1" dirty="0">
                <a:solidFill>
                  <a:srgbClr val="065A82"/>
                </a:solidFill>
                <a:latin typeface="Cambria" pitchFamily="34" charset="0"/>
                <a:ea typeface="Cambria" pitchFamily="34" charset="-122"/>
                <a:cs typeface="Cambria" pitchFamily="34" charset="-120"/>
              </a:rPr>
              <a:t>Cluster Analysis &amp; Discriminant Analysis</a:t>
            </a:r>
            <a:endParaRPr lang="en-US" sz="2800" dirty="0"/>
          </a:p>
        </p:txBody>
      </p:sp>
      <p:sp>
        <p:nvSpPr>
          <p:cNvPr id="4" name="Shape 2"/>
          <p:cNvSpPr/>
          <p:nvPr/>
        </p:nvSpPr>
        <p:spPr>
          <a:xfrm>
            <a:off x="411480" y="960120"/>
            <a:ext cx="3977640" cy="3977640"/>
          </a:xfrm>
          <a:prstGeom prst="rect">
            <a:avLst/>
          </a:prstGeom>
          <a:solidFill>
            <a:srgbClr val="FFFFFF"/>
          </a:solidFill>
          <a:ln w="12700">
            <a:solidFill>
              <a:srgbClr val="D6E4EC"/>
            </a:solidFill>
            <a:prstDash val="solid"/>
          </a:ln>
          <a:effectLst>
            <a:outerShdw blurRad="63500" dist="25400" dir="8100000" algn="bl" rotWithShape="0">
              <a:srgbClr val="000000">
                <a:alpha val="8000"/>
              </a:srgbClr>
            </a:outerShdw>
          </a:effectLst>
        </p:spPr>
        <p:txBody>
          <a:bodyPr/>
          <a:lstStyle/>
          <a:p>
            <a:endParaRPr lang="en-US"/>
          </a:p>
        </p:txBody>
      </p:sp>
      <p:sp>
        <p:nvSpPr>
          <p:cNvPr id="5" name="Shape 3"/>
          <p:cNvSpPr/>
          <p:nvPr/>
        </p:nvSpPr>
        <p:spPr>
          <a:xfrm>
            <a:off x="411480" y="960120"/>
            <a:ext cx="3977640" cy="64008"/>
          </a:xfrm>
          <a:prstGeom prst="rect">
            <a:avLst/>
          </a:prstGeom>
          <a:solidFill>
            <a:srgbClr val="065A82"/>
          </a:solidFill>
          <a:ln w="12700">
            <a:solidFill>
              <a:srgbClr val="065A82"/>
            </a:solidFill>
            <a:prstDash val="solid"/>
          </a:ln>
        </p:spPr>
        <p:txBody>
          <a:bodyPr/>
          <a:lstStyle/>
          <a:p>
            <a:endParaRPr lang="en-US"/>
          </a:p>
        </p:txBody>
      </p:sp>
      <p:sp>
        <p:nvSpPr>
          <p:cNvPr id="6" name="Text 4"/>
          <p:cNvSpPr/>
          <p:nvPr/>
        </p:nvSpPr>
        <p:spPr>
          <a:xfrm>
            <a:off x="502920" y="1005840"/>
            <a:ext cx="3794760" cy="457200"/>
          </a:xfrm>
          <a:prstGeom prst="rect">
            <a:avLst/>
          </a:prstGeom>
          <a:noFill/>
          <a:ln/>
        </p:spPr>
        <p:txBody>
          <a:bodyPr wrap="square" lIns="0" tIns="0" rIns="0" bIns="0" rtlCol="0" anchor="ctr"/>
          <a:lstStyle/>
          <a:p>
            <a:pPr marL="0" indent="0">
              <a:buNone/>
            </a:pPr>
            <a:r>
              <a:rPr lang="en-US" sz="1800" b="1" dirty="0">
                <a:solidFill>
                  <a:srgbClr val="065A82"/>
                </a:solidFill>
                <a:latin typeface="Cambria" pitchFamily="34" charset="0"/>
                <a:ea typeface="Cambria" pitchFamily="34" charset="-122"/>
                <a:cs typeface="Cambria" pitchFamily="34" charset="-120"/>
              </a:rPr>
              <a:t>Cluster Analysis</a:t>
            </a:r>
            <a:endParaRPr lang="en-US" sz="1800" dirty="0"/>
          </a:p>
        </p:txBody>
      </p:sp>
      <p:sp>
        <p:nvSpPr>
          <p:cNvPr id="7" name="Text 5"/>
          <p:cNvSpPr/>
          <p:nvPr/>
        </p:nvSpPr>
        <p:spPr>
          <a:xfrm>
            <a:off x="502920" y="1508760"/>
            <a:ext cx="3794760" cy="3291840"/>
          </a:xfrm>
          <a:prstGeom prst="rect">
            <a:avLst/>
          </a:prstGeom>
          <a:noFill/>
          <a:ln/>
        </p:spPr>
        <p:txBody>
          <a:bodyPr wrap="square" rtlCol="0" anchor="t"/>
          <a:lstStyle/>
          <a:p>
            <a:pPr marL="342900" indent="-342900">
              <a:buSzPct val="100000"/>
              <a:buChar char="•"/>
            </a:pPr>
            <a:r>
              <a:rPr lang="en-US" sz="1300" dirty="0">
                <a:solidFill>
                  <a:srgbClr val="1A2D3D"/>
                </a:solidFill>
                <a:latin typeface="Calibri" pitchFamily="34" charset="0"/>
                <a:ea typeface="Calibri" pitchFamily="34" charset="-122"/>
                <a:cs typeface="Calibri" pitchFamily="34" charset="-120"/>
              </a:rPr>
              <a:t>Groups observations (not variables) into homogeneous clusters based on profile similarity</a:t>
            </a:r>
            <a:endParaRPr lang="en-US" sz="1300" dirty="0"/>
          </a:p>
          <a:p>
            <a:pPr marL="342900" indent="-342900">
              <a:buSzPct val="100000"/>
              <a:buChar char="•"/>
            </a:pPr>
            <a:r>
              <a:rPr lang="en-US" sz="1300" dirty="0">
                <a:solidFill>
                  <a:srgbClr val="1A2D3D"/>
                </a:solidFill>
                <a:latin typeface="Calibri" pitchFamily="34" charset="0"/>
                <a:ea typeface="Calibri" pitchFamily="34" charset="-122"/>
                <a:cs typeface="Calibri" pitchFamily="34" charset="-120"/>
              </a:rPr>
              <a:t>Hierarchical: Ward's method (minimises within-cluster variance) — use dendrogram to choose k</a:t>
            </a:r>
            <a:endParaRPr lang="en-US" sz="1300" dirty="0"/>
          </a:p>
          <a:p>
            <a:pPr marL="342900" indent="-342900">
              <a:buSzPct val="100000"/>
              <a:buChar char="•"/>
            </a:pPr>
            <a:r>
              <a:rPr lang="en-US" sz="1300" dirty="0">
                <a:solidFill>
                  <a:srgbClr val="1A2D3D"/>
                </a:solidFill>
                <a:latin typeface="Calibri" pitchFamily="34" charset="0"/>
                <a:ea typeface="Calibri" pitchFamily="34" charset="-122"/>
                <a:cs typeface="Calibri" pitchFamily="34" charset="-120"/>
              </a:rPr>
              <a:t>Non-hierarchical: k-means — requires specifying k in advance; use hierarchical solution to seed</a:t>
            </a:r>
            <a:endParaRPr lang="en-US" sz="1300" dirty="0"/>
          </a:p>
          <a:p>
            <a:pPr marL="342900" indent="-342900">
              <a:buSzPct val="100000"/>
              <a:buChar char="•"/>
            </a:pPr>
            <a:r>
              <a:rPr lang="en-US" sz="1300" dirty="0">
                <a:solidFill>
                  <a:srgbClr val="1A2D3D"/>
                </a:solidFill>
                <a:latin typeface="Calibri" pitchFamily="34" charset="0"/>
                <a:ea typeface="Calibri" pitchFamily="34" charset="-122"/>
                <a:cs typeface="Calibri" pitchFamily="34" charset="-120"/>
              </a:rPr>
              <a:t>Validate clusters: ANOVA on cluster means; discriminant analysis to assess separation</a:t>
            </a:r>
            <a:endParaRPr lang="en-US" sz="1300" dirty="0"/>
          </a:p>
          <a:p>
            <a:pPr marL="342900" indent="-342900">
              <a:buSzPct val="100000"/>
              <a:buChar char="•"/>
            </a:pPr>
            <a:r>
              <a:rPr lang="en-US" sz="1300" dirty="0">
                <a:solidFill>
                  <a:srgbClr val="1A2D3D"/>
                </a:solidFill>
                <a:latin typeface="Calibri" pitchFamily="34" charset="0"/>
                <a:ea typeface="Calibri" pitchFamily="34" charset="-122"/>
                <a:cs typeface="Calibri" pitchFamily="34" charset="-120"/>
              </a:rPr>
              <a:t>PH Example: Identify patient typologies (e.g., multimorbidity clusters) for targeted interventions</a:t>
            </a:r>
            <a:endParaRPr lang="en-US" sz="1300" dirty="0"/>
          </a:p>
          <a:p>
            <a:pPr marL="342900" indent="-342900">
              <a:buSzPct val="100000"/>
              <a:buChar char="•"/>
            </a:pPr>
            <a:r>
              <a:rPr lang="en-US" sz="1300" dirty="0">
                <a:solidFill>
                  <a:srgbClr val="1A2D3D"/>
                </a:solidFill>
                <a:latin typeface="Calibri" pitchFamily="34" charset="0"/>
                <a:ea typeface="Calibri" pitchFamily="34" charset="-122"/>
                <a:cs typeface="Calibri" pitchFamily="34" charset="-120"/>
              </a:rPr>
              <a:t>Cluster membership used as grouping variable in subsequent analyses</a:t>
            </a:r>
            <a:endParaRPr lang="en-US" sz="1300" dirty="0"/>
          </a:p>
        </p:txBody>
      </p:sp>
      <p:sp>
        <p:nvSpPr>
          <p:cNvPr id="8" name="Shape 6"/>
          <p:cNvSpPr/>
          <p:nvPr/>
        </p:nvSpPr>
        <p:spPr>
          <a:xfrm>
            <a:off x="4754880" y="960120"/>
            <a:ext cx="3977640" cy="3977640"/>
          </a:xfrm>
          <a:prstGeom prst="rect">
            <a:avLst/>
          </a:prstGeom>
          <a:solidFill>
            <a:srgbClr val="FFFFFF"/>
          </a:solidFill>
          <a:ln w="12700">
            <a:solidFill>
              <a:srgbClr val="D6E4EC"/>
            </a:solidFill>
            <a:prstDash val="solid"/>
          </a:ln>
          <a:effectLst>
            <a:outerShdw blurRad="63500" dist="25400" dir="8100000" algn="bl" rotWithShape="0">
              <a:srgbClr val="000000">
                <a:alpha val="8000"/>
              </a:srgbClr>
            </a:outerShdw>
          </a:effectLst>
        </p:spPr>
        <p:txBody>
          <a:bodyPr/>
          <a:lstStyle/>
          <a:p>
            <a:endParaRPr lang="en-US"/>
          </a:p>
        </p:txBody>
      </p:sp>
      <p:sp>
        <p:nvSpPr>
          <p:cNvPr id="9" name="Shape 7"/>
          <p:cNvSpPr/>
          <p:nvPr/>
        </p:nvSpPr>
        <p:spPr>
          <a:xfrm>
            <a:off x="4754880" y="960120"/>
            <a:ext cx="3977640" cy="64008"/>
          </a:xfrm>
          <a:prstGeom prst="rect">
            <a:avLst/>
          </a:prstGeom>
          <a:solidFill>
            <a:srgbClr val="E8A838"/>
          </a:solidFill>
          <a:ln w="12700">
            <a:solidFill>
              <a:srgbClr val="E8A838"/>
            </a:solidFill>
            <a:prstDash val="solid"/>
          </a:ln>
        </p:spPr>
        <p:txBody>
          <a:bodyPr/>
          <a:lstStyle/>
          <a:p>
            <a:endParaRPr lang="en-US"/>
          </a:p>
        </p:txBody>
      </p:sp>
      <p:sp>
        <p:nvSpPr>
          <p:cNvPr id="10" name="Text 8"/>
          <p:cNvSpPr/>
          <p:nvPr/>
        </p:nvSpPr>
        <p:spPr>
          <a:xfrm>
            <a:off x="4846320" y="1005840"/>
            <a:ext cx="3794760" cy="457200"/>
          </a:xfrm>
          <a:prstGeom prst="rect">
            <a:avLst/>
          </a:prstGeom>
          <a:noFill/>
          <a:ln/>
        </p:spPr>
        <p:txBody>
          <a:bodyPr wrap="square" lIns="0" tIns="0" rIns="0" bIns="0" rtlCol="0" anchor="ctr"/>
          <a:lstStyle/>
          <a:p>
            <a:pPr marL="0" indent="0">
              <a:buNone/>
            </a:pPr>
            <a:r>
              <a:rPr lang="en-US" sz="1800" b="1" dirty="0">
                <a:solidFill>
                  <a:srgbClr val="E8A838"/>
                </a:solidFill>
                <a:latin typeface="Cambria" pitchFamily="34" charset="0"/>
                <a:ea typeface="Cambria" pitchFamily="34" charset="-122"/>
                <a:cs typeface="Cambria" pitchFamily="34" charset="-120"/>
              </a:rPr>
              <a:t>Discriminant Analysis</a:t>
            </a:r>
            <a:endParaRPr lang="en-US" sz="1800" dirty="0"/>
          </a:p>
        </p:txBody>
      </p:sp>
      <p:sp>
        <p:nvSpPr>
          <p:cNvPr id="11" name="Text 9"/>
          <p:cNvSpPr/>
          <p:nvPr/>
        </p:nvSpPr>
        <p:spPr>
          <a:xfrm>
            <a:off x="4846320" y="1508760"/>
            <a:ext cx="3794760" cy="3291840"/>
          </a:xfrm>
          <a:prstGeom prst="rect">
            <a:avLst/>
          </a:prstGeom>
          <a:noFill/>
          <a:ln/>
        </p:spPr>
        <p:txBody>
          <a:bodyPr wrap="square" rtlCol="0" anchor="t"/>
          <a:lstStyle/>
          <a:p>
            <a:pPr marL="342900" indent="-342900">
              <a:buSzPct val="100000"/>
              <a:buChar char="•"/>
            </a:pPr>
            <a:r>
              <a:rPr lang="en-US" sz="1300" dirty="0">
                <a:solidFill>
                  <a:srgbClr val="1A2D3D"/>
                </a:solidFill>
                <a:latin typeface="Calibri" pitchFamily="34" charset="0"/>
                <a:ea typeface="Calibri" pitchFamily="34" charset="-122"/>
                <a:cs typeface="Calibri" pitchFamily="34" charset="-120"/>
              </a:rPr>
              <a:t>Identifies variables that best discriminate between known groups; classifies new cases</a:t>
            </a:r>
            <a:endParaRPr lang="en-US" sz="1300" dirty="0"/>
          </a:p>
          <a:p>
            <a:pPr marL="342900" indent="-342900">
              <a:buSzPct val="100000"/>
              <a:buChar char="•"/>
            </a:pPr>
            <a:r>
              <a:rPr lang="en-US" sz="1300" dirty="0">
                <a:solidFill>
                  <a:srgbClr val="1A2D3D"/>
                </a:solidFill>
                <a:latin typeface="Calibri" pitchFamily="34" charset="0"/>
                <a:ea typeface="Calibri" pitchFamily="34" charset="-122"/>
                <a:cs typeface="Calibri" pitchFamily="34" charset="-120"/>
              </a:rPr>
              <a:t>Forms discriminant functions (variates) — each a weighted combination of IVs</a:t>
            </a:r>
            <a:endParaRPr lang="en-US" sz="1300" dirty="0"/>
          </a:p>
          <a:p>
            <a:pPr marL="342900" indent="-342900">
              <a:buSzPct val="100000"/>
              <a:buChar char="•"/>
            </a:pPr>
            <a:r>
              <a:rPr lang="en-US" sz="1300" dirty="0">
                <a:solidFill>
                  <a:srgbClr val="1A2D3D"/>
                </a:solidFill>
                <a:latin typeface="Calibri" pitchFamily="34" charset="0"/>
                <a:ea typeface="Calibri" pitchFamily="34" charset="-122"/>
                <a:cs typeface="Calibri" pitchFamily="34" charset="-120"/>
              </a:rPr>
              <a:t>Can follow MANOVA: which DVs account for group separation?</a:t>
            </a:r>
            <a:endParaRPr lang="en-US" sz="1300" dirty="0"/>
          </a:p>
          <a:p>
            <a:pPr marL="342900" indent="-342900">
              <a:buSzPct val="100000"/>
              <a:buChar char="•"/>
            </a:pPr>
            <a:r>
              <a:rPr lang="en-US" sz="1300" dirty="0">
                <a:solidFill>
                  <a:srgbClr val="1A2D3D"/>
                </a:solidFill>
                <a:latin typeface="Calibri" pitchFamily="34" charset="0"/>
                <a:ea typeface="Calibri" pitchFamily="34" charset="-122"/>
                <a:cs typeface="Calibri" pitchFamily="34" charset="-120"/>
              </a:rPr>
              <a:t>Jackknifed (leave-one-out) classification: unbiased accuracy estimate</a:t>
            </a:r>
            <a:endParaRPr lang="en-US" sz="1300" dirty="0"/>
          </a:p>
          <a:p>
            <a:pPr marL="342900" indent="-342900">
              <a:buSzPct val="100000"/>
              <a:buChar char="•"/>
            </a:pPr>
            <a:r>
              <a:rPr lang="en-US" sz="1300" dirty="0">
                <a:solidFill>
                  <a:srgbClr val="1A2D3D"/>
                </a:solidFill>
                <a:latin typeface="Calibri" pitchFamily="34" charset="0"/>
                <a:ea typeface="Calibri" pitchFamily="34" charset="-122"/>
                <a:cs typeface="Calibri" pitchFamily="34" charset="-120"/>
              </a:rPr>
              <a:t>PH Example: Predict HIV risk category (low/medium/high) from behavioural and social predictors</a:t>
            </a:r>
            <a:endParaRPr lang="en-US" sz="1300" dirty="0"/>
          </a:p>
          <a:p>
            <a:pPr marL="342900" indent="-342900">
              <a:buSzPct val="100000"/>
              <a:buChar char="•"/>
            </a:pPr>
            <a:r>
              <a:rPr lang="en-US" sz="1300" dirty="0">
                <a:solidFill>
                  <a:srgbClr val="1A2D3D"/>
                </a:solidFill>
                <a:latin typeface="Calibri" pitchFamily="34" charset="0"/>
                <a:ea typeface="Calibri" pitchFamily="34" charset="-122"/>
                <a:cs typeface="Calibri" pitchFamily="34" charset="-120"/>
              </a:rPr>
              <a:t>Logistic regression preferred when assumptions are severely violated</a:t>
            </a:r>
            <a:endParaRPr lang="en-US" sz="13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82296"/>
          </a:xfrm>
          <a:prstGeom prst="rect">
            <a:avLst/>
          </a:prstGeom>
          <a:solidFill>
            <a:srgbClr val="6D2E46"/>
          </a:solidFill>
          <a:ln w="12700">
            <a:solidFill>
              <a:srgbClr val="6D2E46"/>
            </a:solidFill>
            <a:prstDash val="solid"/>
          </a:ln>
        </p:spPr>
        <p:txBody>
          <a:bodyPr/>
          <a:lstStyle/>
          <a:p>
            <a:endParaRPr lang="en-US"/>
          </a:p>
        </p:txBody>
      </p:sp>
      <p:sp>
        <p:nvSpPr>
          <p:cNvPr id="3" name="Text 1"/>
          <p:cNvSpPr/>
          <p:nvPr/>
        </p:nvSpPr>
        <p:spPr>
          <a:xfrm>
            <a:off x="411480" y="137160"/>
            <a:ext cx="8321040" cy="658368"/>
          </a:xfrm>
          <a:prstGeom prst="rect">
            <a:avLst/>
          </a:prstGeom>
          <a:noFill/>
          <a:ln/>
        </p:spPr>
        <p:txBody>
          <a:bodyPr wrap="square" lIns="0" tIns="0" rIns="0" bIns="0" rtlCol="0" anchor="ctr"/>
          <a:lstStyle/>
          <a:p>
            <a:pPr marL="0" indent="0">
              <a:buNone/>
            </a:pPr>
            <a:r>
              <a:rPr lang="en-US" sz="2700" b="1" dirty="0">
                <a:solidFill>
                  <a:srgbClr val="6D2E46"/>
                </a:solidFill>
                <a:latin typeface="Georgia" pitchFamily="34" charset="0"/>
                <a:ea typeface="Georgia" pitchFamily="34" charset="-122"/>
                <a:cs typeface="Georgia" pitchFamily="34" charset="-120"/>
              </a:rPr>
              <a:t>Factor Analysis &amp; Structural Equation Modelling</a:t>
            </a:r>
            <a:endParaRPr lang="en-US" sz="2700" dirty="0"/>
          </a:p>
        </p:txBody>
      </p:sp>
      <p:sp>
        <p:nvSpPr>
          <p:cNvPr id="4" name="Text 2"/>
          <p:cNvSpPr/>
          <p:nvPr/>
        </p:nvSpPr>
        <p:spPr>
          <a:xfrm>
            <a:off x="411480" y="822960"/>
            <a:ext cx="8321040" cy="320040"/>
          </a:xfrm>
          <a:prstGeom prst="rect">
            <a:avLst/>
          </a:prstGeom>
          <a:noFill/>
          <a:ln/>
        </p:spPr>
        <p:txBody>
          <a:bodyPr wrap="square" lIns="0" tIns="0" rIns="0" bIns="0" rtlCol="0" anchor="ctr"/>
          <a:lstStyle/>
          <a:p>
            <a:pPr marL="0" indent="0">
              <a:buNone/>
            </a:pPr>
            <a:r>
              <a:rPr lang="en-US" sz="1300" i="1" dirty="0">
                <a:solidFill>
                  <a:srgbClr val="5C5F7A"/>
                </a:solidFill>
                <a:latin typeface="Calibri" pitchFamily="34" charset="0"/>
                <a:ea typeface="Calibri" pitchFamily="34" charset="-122"/>
                <a:cs typeface="Calibri" pitchFamily="34" charset="-120"/>
              </a:rPr>
              <a:t>Latent variable multivariate techniques for instrument development and causal modelling</a:t>
            </a:r>
            <a:endParaRPr lang="en-US" sz="1300" dirty="0"/>
          </a:p>
        </p:txBody>
      </p:sp>
      <p:sp>
        <p:nvSpPr>
          <p:cNvPr id="5" name="Shape 3"/>
          <p:cNvSpPr/>
          <p:nvPr/>
        </p:nvSpPr>
        <p:spPr>
          <a:xfrm>
            <a:off x="365760" y="1097280"/>
            <a:ext cx="4069080" cy="3840480"/>
          </a:xfrm>
          <a:prstGeom prst="rect">
            <a:avLst/>
          </a:prstGeom>
          <a:solidFill>
            <a:srgbClr val="FFFFFF"/>
          </a:solidFill>
          <a:ln w="12700">
            <a:solidFill>
              <a:srgbClr val="DDE0F0"/>
            </a:solidFill>
            <a:prstDash val="solid"/>
          </a:ln>
          <a:effectLst>
            <a:outerShdw blurRad="76200" dist="25400" dir="8100000" algn="bl" rotWithShape="0">
              <a:srgbClr val="000000">
                <a:alpha val="10000"/>
              </a:srgbClr>
            </a:outerShdw>
          </a:effectLst>
        </p:spPr>
        <p:txBody>
          <a:bodyPr/>
          <a:lstStyle/>
          <a:p>
            <a:endParaRPr lang="en-US"/>
          </a:p>
        </p:txBody>
      </p:sp>
      <p:sp>
        <p:nvSpPr>
          <p:cNvPr id="6" name="Shape 4"/>
          <p:cNvSpPr/>
          <p:nvPr/>
        </p:nvSpPr>
        <p:spPr>
          <a:xfrm>
            <a:off x="365760" y="1097280"/>
            <a:ext cx="4069080" cy="64008"/>
          </a:xfrm>
          <a:prstGeom prst="rect">
            <a:avLst/>
          </a:prstGeom>
          <a:solidFill>
            <a:srgbClr val="6D2E46"/>
          </a:solidFill>
          <a:ln w="12700">
            <a:solidFill>
              <a:srgbClr val="6D2E46"/>
            </a:solidFill>
            <a:prstDash val="solid"/>
          </a:ln>
        </p:spPr>
        <p:txBody>
          <a:bodyPr/>
          <a:lstStyle/>
          <a:p>
            <a:endParaRPr lang="en-US"/>
          </a:p>
        </p:txBody>
      </p:sp>
      <p:sp>
        <p:nvSpPr>
          <p:cNvPr id="7" name="Text 5"/>
          <p:cNvSpPr/>
          <p:nvPr/>
        </p:nvSpPr>
        <p:spPr>
          <a:xfrm>
            <a:off x="502920" y="1143000"/>
            <a:ext cx="3840480" cy="384048"/>
          </a:xfrm>
          <a:prstGeom prst="rect">
            <a:avLst/>
          </a:prstGeom>
          <a:noFill/>
          <a:ln/>
        </p:spPr>
        <p:txBody>
          <a:bodyPr wrap="square" lIns="0" tIns="0" rIns="0" bIns="0" rtlCol="0" anchor="ctr"/>
          <a:lstStyle/>
          <a:p>
            <a:pPr marL="0" indent="0">
              <a:buNone/>
            </a:pPr>
            <a:r>
              <a:rPr lang="en-US" sz="1400" b="1" dirty="0">
                <a:solidFill>
                  <a:srgbClr val="6D2E46"/>
                </a:solidFill>
                <a:latin typeface="Georgia" pitchFamily="34" charset="0"/>
                <a:ea typeface="Georgia" pitchFamily="34" charset="-122"/>
                <a:cs typeface="Georgia" pitchFamily="34" charset="-120"/>
              </a:rPr>
              <a:t>Factor Analysis (EFA/CFA)</a:t>
            </a:r>
            <a:endParaRPr lang="en-US" sz="1400" dirty="0"/>
          </a:p>
        </p:txBody>
      </p:sp>
      <p:sp>
        <p:nvSpPr>
          <p:cNvPr id="8" name="Text 6"/>
          <p:cNvSpPr/>
          <p:nvPr/>
        </p:nvSpPr>
        <p:spPr>
          <a:xfrm>
            <a:off x="502920" y="1591056"/>
            <a:ext cx="3840480" cy="3291840"/>
          </a:xfrm>
          <a:prstGeom prst="rect">
            <a:avLst/>
          </a:prstGeom>
          <a:noFill/>
          <a:ln/>
        </p:spPr>
        <p:txBody>
          <a:bodyPr wrap="square" rtlCol="0" anchor="t"/>
          <a:lstStyle/>
          <a:p>
            <a:pPr marL="342900" indent="-342900">
              <a:buSzPct val="100000"/>
              <a:buChar char="•"/>
            </a:pPr>
            <a:r>
              <a:rPr lang="en-US" sz="1200" b="1" dirty="0">
                <a:solidFill>
                  <a:srgbClr val="1A1A2E"/>
                </a:solidFill>
                <a:latin typeface="Calibri" pitchFamily="34" charset="0"/>
                <a:ea typeface="Calibri" pitchFamily="34" charset="-122"/>
                <a:cs typeface="Calibri" pitchFamily="34" charset="-120"/>
              </a:rPr>
              <a:t>EFA (Exploratory):</a:t>
            </a:r>
            <a:endParaRPr lang="en-US" sz="1200" dirty="0"/>
          </a:p>
          <a:p>
            <a:pPr marL="685800" lvl="1" indent="-342900">
              <a:buSzPct val="100000"/>
              <a:buChar char="•"/>
            </a:pPr>
            <a:r>
              <a:rPr lang="en-US" sz="1200" dirty="0">
                <a:solidFill>
                  <a:srgbClr val="1A1A2E"/>
                </a:solidFill>
                <a:latin typeface="Calibri" pitchFamily="34" charset="0"/>
                <a:ea typeface="Calibri" pitchFamily="34" charset="-122"/>
                <a:cs typeface="Calibri" pitchFamily="34" charset="-120"/>
              </a:rPr>
              <a:t>Discover latent structure in a set of variables. No prior theory required. Use Principal Axis Factoring + Promax rotation (T&amp;F recommendation)</a:t>
            </a:r>
            <a:endParaRPr lang="en-US" sz="1200" dirty="0"/>
          </a:p>
          <a:p>
            <a:pPr marL="342900" indent="-342900">
              <a:buSzPct val="100000"/>
              <a:buChar char="•"/>
            </a:pPr>
            <a:r>
              <a:rPr lang="en-US" sz="1200" b="1" dirty="0">
                <a:solidFill>
                  <a:srgbClr val="1A1A2E"/>
                </a:solidFill>
                <a:latin typeface="Calibri" pitchFamily="34" charset="0"/>
                <a:ea typeface="Calibri" pitchFamily="34" charset="-122"/>
                <a:cs typeface="Calibri" pitchFamily="34" charset="-120"/>
              </a:rPr>
              <a:t>CFA (Confirmatory):</a:t>
            </a:r>
            <a:endParaRPr lang="en-US" sz="1200" dirty="0"/>
          </a:p>
          <a:p>
            <a:pPr marL="685800" lvl="1" indent="-342900">
              <a:buSzPct val="100000"/>
              <a:buChar char="•"/>
            </a:pPr>
            <a:r>
              <a:rPr lang="en-US" sz="1200" dirty="0">
                <a:solidFill>
                  <a:srgbClr val="1A1A2E"/>
                </a:solidFill>
                <a:latin typeface="Calibri" pitchFamily="34" charset="0"/>
                <a:ea typeface="Calibri" pitchFamily="34" charset="-122"/>
                <a:cs typeface="Calibri" pitchFamily="34" charset="-120"/>
              </a:rPr>
              <a:t>Test a theoretically specified model. Requires SEM software (lavaan, Mplus, AMOS). Report CFI&gt;.95, RMSEA&lt;.06, SRMR&lt;.08</a:t>
            </a:r>
            <a:endParaRPr lang="en-US" sz="1200" dirty="0"/>
          </a:p>
          <a:p>
            <a:pPr marL="342900" indent="-342900">
              <a:buSzPct val="100000"/>
              <a:buChar char="•"/>
            </a:pPr>
            <a:r>
              <a:rPr lang="en-US" sz="1200" b="1" dirty="0">
                <a:solidFill>
                  <a:srgbClr val="1A1A2E"/>
                </a:solidFill>
                <a:latin typeface="Calibri" pitchFamily="34" charset="0"/>
                <a:ea typeface="Calibri" pitchFamily="34" charset="-122"/>
                <a:cs typeface="Calibri" pitchFamily="34" charset="-120"/>
              </a:rPr>
              <a:t>Loading threshold:</a:t>
            </a:r>
            <a:endParaRPr lang="en-US" sz="1200" dirty="0"/>
          </a:p>
          <a:p>
            <a:pPr marL="685800" lvl="1" indent="-342900">
              <a:buSzPct val="100000"/>
              <a:buChar char="•"/>
            </a:pPr>
            <a:r>
              <a:rPr lang="en-US" sz="1200" dirty="0">
                <a:solidFill>
                  <a:srgbClr val="1A1A2E"/>
                </a:solidFill>
                <a:latin typeface="Calibri" pitchFamily="34" charset="0"/>
                <a:ea typeface="Calibri" pitchFamily="34" charset="-122"/>
                <a:cs typeface="Calibri" pitchFamily="34" charset="-120"/>
              </a:rPr>
              <a:t>|.32| minimum; |.45| preferred. Delete cross-loading items. Communality &lt;.30 = poor item</a:t>
            </a:r>
            <a:endParaRPr lang="en-US" sz="1200" dirty="0"/>
          </a:p>
          <a:p>
            <a:pPr marL="685800" lvl="1" indent="-342900">
              <a:buSzPct val="100000"/>
              <a:buChar char="•"/>
            </a:pPr>
            <a:r>
              <a:rPr lang="en-US" sz="1200" dirty="0">
                <a:solidFill>
                  <a:srgbClr val="1A1A2E"/>
                </a:solidFill>
                <a:latin typeface="Calibri" pitchFamily="34" charset="0"/>
                <a:ea typeface="Calibri" pitchFamily="34" charset="-122"/>
                <a:cs typeface="Calibri" pitchFamily="34" charset="-120"/>
              </a:rPr>
              <a:t>PH use: Reduce 30 SF-36 items to latent health dimensions for use as DVs in MANOVA</a:t>
            </a:r>
            <a:endParaRPr lang="en-US" sz="1200" dirty="0"/>
          </a:p>
        </p:txBody>
      </p:sp>
      <p:sp>
        <p:nvSpPr>
          <p:cNvPr id="9" name="Shape 7"/>
          <p:cNvSpPr/>
          <p:nvPr/>
        </p:nvSpPr>
        <p:spPr>
          <a:xfrm>
            <a:off x="4709160" y="1097280"/>
            <a:ext cx="4069080" cy="3840480"/>
          </a:xfrm>
          <a:prstGeom prst="rect">
            <a:avLst/>
          </a:prstGeom>
          <a:solidFill>
            <a:srgbClr val="FFFFFF"/>
          </a:solidFill>
          <a:ln w="12700">
            <a:solidFill>
              <a:srgbClr val="DDE0F0"/>
            </a:solidFill>
            <a:prstDash val="solid"/>
          </a:ln>
          <a:effectLst>
            <a:outerShdw blurRad="76200" dist="25400" dir="8100000" algn="bl" rotWithShape="0">
              <a:srgbClr val="000000">
                <a:alpha val="10000"/>
              </a:srgbClr>
            </a:outerShdw>
          </a:effectLst>
        </p:spPr>
        <p:txBody>
          <a:bodyPr/>
          <a:lstStyle/>
          <a:p>
            <a:endParaRPr lang="en-US"/>
          </a:p>
        </p:txBody>
      </p:sp>
      <p:sp>
        <p:nvSpPr>
          <p:cNvPr id="10" name="Shape 8"/>
          <p:cNvSpPr/>
          <p:nvPr/>
        </p:nvSpPr>
        <p:spPr>
          <a:xfrm>
            <a:off x="4709160" y="1097280"/>
            <a:ext cx="4069080" cy="64008"/>
          </a:xfrm>
          <a:prstGeom prst="rect">
            <a:avLst/>
          </a:prstGeom>
          <a:solidFill>
            <a:srgbClr val="1E2761"/>
          </a:solidFill>
          <a:ln w="12700">
            <a:solidFill>
              <a:srgbClr val="1E2761"/>
            </a:solidFill>
            <a:prstDash val="solid"/>
          </a:ln>
        </p:spPr>
        <p:txBody>
          <a:bodyPr/>
          <a:lstStyle/>
          <a:p>
            <a:endParaRPr lang="en-US"/>
          </a:p>
        </p:txBody>
      </p:sp>
      <p:sp>
        <p:nvSpPr>
          <p:cNvPr id="11" name="Text 9"/>
          <p:cNvSpPr/>
          <p:nvPr/>
        </p:nvSpPr>
        <p:spPr>
          <a:xfrm>
            <a:off x="4846320" y="1143000"/>
            <a:ext cx="3840480" cy="384048"/>
          </a:xfrm>
          <a:prstGeom prst="rect">
            <a:avLst/>
          </a:prstGeom>
          <a:noFill/>
          <a:ln/>
        </p:spPr>
        <p:txBody>
          <a:bodyPr wrap="square" lIns="0" tIns="0" rIns="0" bIns="0" rtlCol="0" anchor="ctr"/>
          <a:lstStyle/>
          <a:p>
            <a:pPr marL="0" indent="0">
              <a:buNone/>
            </a:pPr>
            <a:r>
              <a:rPr lang="en-US" sz="1400" b="1" dirty="0">
                <a:solidFill>
                  <a:srgbClr val="1E2761"/>
                </a:solidFill>
                <a:latin typeface="Georgia" pitchFamily="34" charset="0"/>
                <a:ea typeface="Georgia" pitchFamily="34" charset="-122"/>
                <a:cs typeface="Georgia" pitchFamily="34" charset="-120"/>
              </a:rPr>
              <a:t>Structural Equation Modelling (SEM)</a:t>
            </a:r>
            <a:endParaRPr lang="en-US" sz="1400" dirty="0"/>
          </a:p>
        </p:txBody>
      </p:sp>
      <p:sp>
        <p:nvSpPr>
          <p:cNvPr id="12" name="Text 10"/>
          <p:cNvSpPr/>
          <p:nvPr/>
        </p:nvSpPr>
        <p:spPr>
          <a:xfrm>
            <a:off x="4846320" y="1591056"/>
            <a:ext cx="3840480" cy="3291840"/>
          </a:xfrm>
          <a:prstGeom prst="rect">
            <a:avLst/>
          </a:prstGeom>
          <a:noFill/>
          <a:ln/>
        </p:spPr>
        <p:txBody>
          <a:bodyPr wrap="square" rtlCol="0" anchor="t"/>
          <a:lstStyle/>
          <a:p>
            <a:pPr marL="342900" indent="-342900">
              <a:buSzPct val="100000"/>
              <a:buChar char="•"/>
            </a:pPr>
            <a:r>
              <a:rPr lang="en-US" sz="1200" b="1" dirty="0">
                <a:solidFill>
                  <a:srgbClr val="1A1A2E"/>
                </a:solidFill>
                <a:latin typeface="Calibri" pitchFamily="34" charset="0"/>
                <a:ea typeface="Calibri" pitchFamily="34" charset="-122"/>
                <a:cs typeface="Calibri" pitchFamily="34" charset="-120"/>
              </a:rPr>
              <a:t>Simultaneously estimates:</a:t>
            </a:r>
            <a:endParaRPr lang="en-US" sz="1200" dirty="0"/>
          </a:p>
          <a:p>
            <a:pPr marL="685800" lvl="1" indent="-342900">
              <a:buSzPct val="100000"/>
              <a:buChar char="•"/>
            </a:pPr>
            <a:r>
              <a:rPr lang="en-US" sz="1200" dirty="0">
                <a:solidFill>
                  <a:srgbClr val="1A1A2E"/>
                </a:solidFill>
                <a:latin typeface="Calibri" pitchFamily="34" charset="0"/>
                <a:ea typeface="Calibri" pitchFamily="34" charset="-122"/>
                <a:cs typeface="Calibri" pitchFamily="34" charset="-120"/>
              </a:rPr>
              <a:t>Measurement model (CFA: latent → observed) AND structural model (latent → latent paths)</a:t>
            </a:r>
            <a:endParaRPr lang="en-US" sz="1200" dirty="0"/>
          </a:p>
          <a:p>
            <a:pPr marL="685800" lvl="1" indent="-342900">
              <a:buSzPct val="100000"/>
              <a:buChar char="•"/>
            </a:pPr>
            <a:r>
              <a:rPr lang="en-US" sz="1200" dirty="0">
                <a:solidFill>
                  <a:srgbClr val="1A1A2E"/>
                </a:solidFill>
                <a:latin typeface="Calibri" pitchFamily="34" charset="0"/>
                <a:ea typeface="Calibri" pitchFamily="34" charset="-122"/>
                <a:cs typeface="Calibri" pitchFamily="34" charset="-120"/>
              </a:rPr>
              <a:t>Can test mediation, moderation, and complex causal pathways in a single model</a:t>
            </a:r>
            <a:endParaRPr lang="en-US" sz="1200" dirty="0"/>
          </a:p>
          <a:p>
            <a:pPr marL="342900" indent="-342900">
              <a:buSzPct val="100000"/>
              <a:buChar char="•"/>
            </a:pPr>
            <a:r>
              <a:rPr lang="en-US" sz="1200" b="1" dirty="0">
                <a:solidFill>
                  <a:srgbClr val="1A1A2E"/>
                </a:solidFill>
                <a:latin typeface="Calibri" pitchFamily="34" charset="0"/>
                <a:ea typeface="Calibri" pitchFamily="34" charset="-122"/>
                <a:cs typeface="Calibri" pitchFamily="34" charset="-120"/>
              </a:rPr>
              <a:t>Model fit:</a:t>
            </a:r>
            <a:endParaRPr lang="en-US" sz="1200" dirty="0"/>
          </a:p>
          <a:p>
            <a:pPr marL="685800" lvl="1" indent="-342900">
              <a:buSzPct val="100000"/>
              <a:buChar char="•"/>
            </a:pPr>
            <a:r>
              <a:rPr lang="en-US" sz="1200" dirty="0">
                <a:solidFill>
                  <a:srgbClr val="1A1A2E"/>
                </a:solidFill>
                <a:latin typeface="Calibri" pitchFamily="34" charset="0"/>
                <a:ea typeface="Calibri" pitchFamily="34" charset="-122"/>
                <a:cs typeface="Calibri" pitchFamily="34" charset="-120"/>
              </a:rPr>
              <a:t>Report CFI, TLI, RMSEA (with 90% CI), SRMR, χ² (with df and p)</a:t>
            </a:r>
            <a:endParaRPr lang="en-US" sz="1200" dirty="0"/>
          </a:p>
          <a:p>
            <a:pPr marL="685800" lvl="1" indent="-342900">
              <a:buSzPct val="100000"/>
              <a:buChar char="•"/>
            </a:pPr>
            <a:r>
              <a:rPr lang="en-US" sz="1200" dirty="0">
                <a:solidFill>
                  <a:srgbClr val="1A1A2E"/>
                </a:solidFill>
                <a:latin typeface="Calibri" pitchFamily="34" charset="0"/>
                <a:ea typeface="Calibri" pitchFamily="34" charset="-122"/>
                <a:cs typeface="Calibri" pitchFamily="34" charset="-120"/>
              </a:rPr>
              <a:t>N requirements: minimum 200; prefer 10–20 observations per free parameter</a:t>
            </a:r>
            <a:endParaRPr lang="en-US" sz="1200" dirty="0"/>
          </a:p>
          <a:p>
            <a:pPr marL="685800" lvl="1" indent="-342900">
              <a:buSzPct val="100000"/>
              <a:buChar char="•"/>
            </a:pPr>
            <a:r>
              <a:rPr lang="en-US" sz="1200" dirty="0">
                <a:solidFill>
                  <a:srgbClr val="1A1A2E"/>
                </a:solidFill>
                <a:latin typeface="Calibri" pitchFamily="34" charset="0"/>
                <a:ea typeface="Calibri" pitchFamily="34" charset="-122"/>
                <a:cs typeface="Calibri" pitchFamily="34" charset="-120"/>
              </a:rPr>
              <a:t>PH use: Test whether SES → perceived stress → inflammatory markers → CVD risk; mediation with latent variables</a:t>
            </a:r>
            <a:endParaRPr lang="en-US" sz="12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82296"/>
          </a:xfrm>
          <a:prstGeom prst="rect">
            <a:avLst/>
          </a:prstGeom>
          <a:solidFill>
            <a:srgbClr val="6D2E46"/>
          </a:solidFill>
          <a:ln w="12700">
            <a:solidFill>
              <a:srgbClr val="6D2E46"/>
            </a:solidFill>
            <a:prstDash val="solid"/>
          </a:ln>
        </p:spPr>
        <p:txBody>
          <a:bodyPr/>
          <a:lstStyle/>
          <a:p>
            <a:endParaRPr lang="en-US"/>
          </a:p>
        </p:txBody>
      </p:sp>
      <p:sp>
        <p:nvSpPr>
          <p:cNvPr id="3" name="Text 1"/>
          <p:cNvSpPr/>
          <p:nvPr/>
        </p:nvSpPr>
        <p:spPr>
          <a:xfrm>
            <a:off x="411480" y="137160"/>
            <a:ext cx="8321040" cy="658368"/>
          </a:xfrm>
          <a:prstGeom prst="rect">
            <a:avLst/>
          </a:prstGeom>
          <a:noFill/>
          <a:ln/>
        </p:spPr>
        <p:txBody>
          <a:bodyPr wrap="square" lIns="0" tIns="0" rIns="0" bIns="0" rtlCol="0" anchor="ctr"/>
          <a:lstStyle/>
          <a:p>
            <a:pPr marL="0" indent="0">
              <a:buNone/>
            </a:pPr>
            <a:r>
              <a:rPr lang="en-US" sz="2700" b="1" dirty="0">
                <a:solidFill>
                  <a:srgbClr val="6D2E46"/>
                </a:solidFill>
                <a:latin typeface="Georgia" pitchFamily="34" charset="0"/>
                <a:ea typeface="Georgia" pitchFamily="34" charset="-122"/>
                <a:cs typeface="Georgia" pitchFamily="34" charset="-120"/>
              </a:rPr>
              <a:t>Discriminant &amp; Cluster Analysis</a:t>
            </a:r>
            <a:endParaRPr lang="en-US" sz="2700" dirty="0"/>
          </a:p>
        </p:txBody>
      </p:sp>
      <p:sp>
        <p:nvSpPr>
          <p:cNvPr id="4" name="Text 2"/>
          <p:cNvSpPr/>
          <p:nvPr/>
        </p:nvSpPr>
        <p:spPr>
          <a:xfrm>
            <a:off x="411480" y="822960"/>
            <a:ext cx="8321040" cy="320040"/>
          </a:xfrm>
          <a:prstGeom prst="rect">
            <a:avLst/>
          </a:prstGeom>
          <a:noFill/>
          <a:ln/>
        </p:spPr>
        <p:txBody>
          <a:bodyPr wrap="square" lIns="0" tIns="0" rIns="0" bIns="0" rtlCol="0" anchor="ctr"/>
          <a:lstStyle/>
          <a:p>
            <a:pPr marL="0" indent="0">
              <a:buNone/>
            </a:pPr>
            <a:r>
              <a:rPr lang="en-US" sz="1300" i="1" dirty="0">
                <a:solidFill>
                  <a:srgbClr val="5C5F7A"/>
                </a:solidFill>
                <a:latin typeface="Calibri" pitchFamily="34" charset="0"/>
                <a:ea typeface="Calibri" pitchFamily="34" charset="-122"/>
                <a:cs typeface="Calibri" pitchFamily="34" charset="-120"/>
              </a:rPr>
              <a:t>Classification and grouping techniques in the multivariate family</a:t>
            </a:r>
            <a:endParaRPr lang="en-US" sz="1300" dirty="0"/>
          </a:p>
        </p:txBody>
      </p:sp>
      <p:sp>
        <p:nvSpPr>
          <p:cNvPr id="5" name="Shape 3"/>
          <p:cNvSpPr/>
          <p:nvPr/>
        </p:nvSpPr>
        <p:spPr>
          <a:xfrm>
            <a:off x="365760" y="1115568"/>
            <a:ext cx="4069080" cy="2103120"/>
          </a:xfrm>
          <a:prstGeom prst="rect">
            <a:avLst/>
          </a:prstGeom>
          <a:solidFill>
            <a:srgbClr val="FFFFFF"/>
          </a:solidFill>
          <a:ln w="12700">
            <a:solidFill>
              <a:srgbClr val="DDE0F0"/>
            </a:solidFill>
            <a:prstDash val="solid"/>
          </a:ln>
          <a:effectLst>
            <a:outerShdw blurRad="76200" dist="25400" dir="8100000" algn="bl" rotWithShape="0">
              <a:srgbClr val="000000">
                <a:alpha val="10000"/>
              </a:srgbClr>
            </a:outerShdw>
          </a:effectLst>
        </p:spPr>
        <p:txBody>
          <a:bodyPr/>
          <a:lstStyle/>
          <a:p>
            <a:endParaRPr lang="en-US"/>
          </a:p>
        </p:txBody>
      </p:sp>
      <p:sp>
        <p:nvSpPr>
          <p:cNvPr id="6" name="Shape 4"/>
          <p:cNvSpPr/>
          <p:nvPr/>
        </p:nvSpPr>
        <p:spPr>
          <a:xfrm>
            <a:off x="365760" y="1115568"/>
            <a:ext cx="64008" cy="2103120"/>
          </a:xfrm>
          <a:prstGeom prst="rect">
            <a:avLst/>
          </a:prstGeom>
          <a:solidFill>
            <a:srgbClr val="6D2E46"/>
          </a:solidFill>
          <a:ln w="12700">
            <a:solidFill>
              <a:srgbClr val="6D2E46"/>
            </a:solidFill>
            <a:prstDash val="solid"/>
          </a:ln>
        </p:spPr>
        <p:txBody>
          <a:bodyPr/>
          <a:lstStyle/>
          <a:p>
            <a:endParaRPr lang="en-US"/>
          </a:p>
        </p:txBody>
      </p:sp>
      <p:sp>
        <p:nvSpPr>
          <p:cNvPr id="7" name="Text 5"/>
          <p:cNvSpPr/>
          <p:nvPr/>
        </p:nvSpPr>
        <p:spPr>
          <a:xfrm>
            <a:off x="512064" y="1188720"/>
            <a:ext cx="3867912" cy="347472"/>
          </a:xfrm>
          <a:prstGeom prst="rect">
            <a:avLst/>
          </a:prstGeom>
          <a:noFill/>
          <a:ln/>
        </p:spPr>
        <p:txBody>
          <a:bodyPr wrap="square" lIns="0" tIns="0" rIns="0" bIns="0" rtlCol="0" anchor="ctr"/>
          <a:lstStyle/>
          <a:p>
            <a:pPr marL="0" indent="0">
              <a:buNone/>
            </a:pPr>
            <a:r>
              <a:rPr lang="en-US" sz="1300" b="1" dirty="0">
                <a:solidFill>
                  <a:srgbClr val="6D2E46"/>
                </a:solidFill>
                <a:latin typeface="Georgia" pitchFamily="34" charset="0"/>
                <a:ea typeface="Georgia" pitchFamily="34" charset="-122"/>
                <a:cs typeface="Georgia" pitchFamily="34" charset="-120"/>
              </a:rPr>
              <a:t>Discriminant Analysis (DA)</a:t>
            </a:r>
            <a:endParaRPr lang="en-US" sz="1300" dirty="0"/>
          </a:p>
        </p:txBody>
      </p:sp>
      <p:sp>
        <p:nvSpPr>
          <p:cNvPr id="8" name="Text 6"/>
          <p:cNvSpPr/>
          <p:nvPr/>
        </p:nvSpPr>
        <p:spPr>
          <a:xfrm>
            <a:off x="512064" y="1554480"/>
            <a:ext cx="3867912" cy="1572768"/>
          </a:xfrm>
          <a:prstGeom prst="rect">
            <a:avLst/>
          </a:prstGeom>
          <a:noFill/>
          <a:ln/>
        </p:spPr>
        <p:txBody>
          <a:bodyPr wrap="square" lIns="0" tIns="0" rIns="0" bIns="0" rtlCol="0" anchor="t"/>
          <a:lstStyle/>
          <a:p>
            <a:pPr marL="0" indent="0">
              <a:buNone/>
            </a:pPr>
            <a:r>
              <a:rPr lang="en-US" sz="1150" dirty="0">
                <a:solidFill>
                  <a:srgbClr val="1A1A2E"/>
                </a:solidFill>
                <a:latin typeface="Calibri" pitchFamily="34" charset="0"/>
                <a:ea typeface="Calibri" pitchFamily="34" charset="-122"/>
                <a:cs typeface="Calibri" pitchFamily="34" charset="-120"/>
              </a:rPr>
              <a:t>Identifies which variables best discriminate between known groups; classifies new cases.</a:t>
            </a:r>
            <a:endParaRPr lang="en-US" sz="1150" dirty="0"/>
          </a:p>
          <a:p>
            <a:pPr marL="0" indent="0">
              <a:buNone/>
            </a:pPr>
            <a:endParaRPr lang="en-US" sz="1150" dirty="0"/>
          </a:p>
          <a:p>
            <a:pPr marL="0" indent="0">
              <a:buNone/>
            </a:pPr>
            <a:r>
              <a:rPr lang="en-US" sz="1150" dirty="0">
                <a:solidFill>
                  <a:srgbClr val="1A1A2E"/>
                </a:solidFill>
                <a:latin typeface="Calibri" pitchFamily="34" charset="0"/>
                <a:ea typeface="Calibri" pitchFamily="34" charset="-122"/>
                <a:cs typeface="Calibri" pitchFamily="34" charset="-120"/>
              </a:rPr>
              <a:t>Forms discriminant functions (weighted composites of IVs) that maximise group separation.</a:t>
            </a:r>
            <a:endParaRPr lang="en-US" sz="1150" dirty="0"/>
          </a:p>
          <a:p>
            <a:pPr marL="0" indent="0">
              <a:buNone/>
            </a:pPr>
            <a:endParaRPr lang="en-US" sz="1150" dirty="0"/>
          </a:p>
          <a:p>
            <a:pPr marL="0" indent="0">
              <a:buNone/>
            </a:pPr>
            <a:r>
              <a:rPr lang="en-US" sz="1150" dirty="0">
                <a:solidFill>
                  <a:srgbClr val="1A1A2E"/>
                </a:solidFill>
                <a:latin typeface="Calibri" pitchFamily="34" charset="0"/>
                <a:ea typeface="Calibri" pitchFamily="34" charset="-122"/>
                <a:cs typeface="Calibri" pitchFamily="34" charset="-120"/>
              </a:rPr>
              <a:t>Follow-up to MANOVA: which DVs account for the significant multivariate effect?</a:t>
            </a:r>
            <a:endParaRPr lang="en-US" sz="1150" dirty="0"/>
          </a:p>
          <a:p>
            <a:pPr marL="0" indent="0">
              <a:buNone/>
            </a:pPr>
            <a:endParaRPr lang="en-US" sz="1150" dirty="0"/>
          </a:p>
          <a:p>
            <a:pPr marL="0" indent="0">
              <a:buNone/>
            </a:pPr>
            <a:r>
              <a:rPr lang="en-US" sz="1150" dirty="0">
                <a:solidFill>
                  <a:srgbClr val="1A1A2E"/>
                </a:solidFill>
                <a:latin typeface="Calibri" pitchFamily="34" charset="0"/>
                <a:ea typeface="Calibri" pitchFamily="34" charset="-122"/>
                <a:cs typeface="Calibri" pitchFamily="34" charset="-120"/>
              </a:rPr>
              <a:t>PH Example: Classify patients as low/medium/high CVD risk from biomarker profiles.</a:t>
            </a:r>
            <a:endParaRPr lang="en-US" sz="1150" dirty="0"/>
          </a:p>
        </p:txBody>
      </p:sp>
      <p:sp>
        <p:nvSpPr>
          <p:cNvPr id="9" name="Shape 7"/>
          <p:cNvSpPr/>
          <p:nvPr/>
        </p:nvSpPr>
        <p:spPr>
          <a:xfrm>
            <a:off x="4709160" y="1115568"/>
            <a:ext cx="4069080" cy="2103120"/>
          </a:xfrm>
          <a:prstGeom prst="rect">
            <a:avLst/>
          </a:prstGeom>
          <a:solidFill>
            <a:srgbClr val="FFFFFF"/>
          </a:solidFill>
          <a:ln w="12700">
            <a:solidFill>
              <a:srgbClr val="DDE0F0"/>
            </a:solidFill>
            <a:prstDash val="solid"/>
          </a:ln>
          <a:effectLst>
            <a:outerShdw blurRad="76200" dist="25400" dir="8100000" algn="bl" rotWithShape="0">
              <a:srgbClr val="000000">
                <a:alpha val="10000"/>
              </a:srgbClr>
            </a:outerShdw>
          </a:effectLst>
        </p:spPr>
        <p:txBody>
          <a:bodyPr/>
          <a:lstStyle/>
          <a:p>
            <a:endParaRPr lang="en-US"/>
          </a:p>
        </p:txBody>
      </p:sp>
      <p:sp>
        <p:nvSpPr>
          <p:cNvPr id="10" name="Shape 8"/>
          <p:cNvSpPr/>
          <p:nvPr/>
        </p:nvSpPr>
        <p:spPr>
          <a:xfrm>
            <a:off x="4709160" y="1115568"/>
            <a:ext cx="64008" cy="2103120"/>
          </a:xfrm>
          <a:prstGeom prst="rect">
            <a:avLst/>
          </a:prstGeom>
          <a:solidFill>
            <a:srgbClr val="1E2761"/>
          </a:solidFill>
          <a:ln w="12700">
            <a:solidFill>
              <a:srgbClr val="1E2761"/>
            </a:solidFill>
            <a:prstDash val="solid"/>
          </a:ln>
        </p:spPr>
        <p:txBody>
          <a:bodyPr/>
          <a:lstStyle/>
          <a:p>
            <a:endParaRPr lang="en-US"/>
          </a:p>
        </p:txBody>
      </p:sp>
      <p:sp>
        <p:nvSpPr>
          <p:cNvPr id="11" name="Text 9"/>
          <p:cNvSpPr/>
          <p:nvPr/>
        </p:nvSpPr>
        <p:spPr>
          <a:xfrm>
            <a:off x="4855464" y="1188720"/>
            <a:ext cx="3867912" cy="347472"/>
          </a:xfrm>
          <a:prstGeom prst="rect">
            <a:avLst/>
          </a:prstGeom>
          <a:noFill/>
          <a:ln/>
        </p:spPr>
        <p:txBody>
          <a:bodyPr wrap="square" lIns="0" tIns="0" rIns="0" bIns="0" rtlCol="0" anchor="ctr"/>
          <a:lstStyle/>
          <a:p>
            <a:pPr marL="0" indent="0">
              <a:buNone/>
            </a:pPr>
            <a:r>
              <a:rPr lang="en-US" sz="1300" b="1" dirty="0">
                <a:solidFill>
                  <a:srgbClr val="1E2761"/>
                </a:solidFill>
                <a:latin typeface="Georgia" pitchFamily="34" charset="0"/>
                <a:ea typeface="Georgia" pitchFamily="34" charset="-122"/>
                <a:cs typeface="Georgia" pitchFamily="34" charset="-120"/>
              </a:rPr>
              <a:t>Cluster Analysis</a:t>
            </a:r>
            <a:endParaRPr lang="en-US" sz="1300" dirty="0"/>
          </a:p>
        </p:txBody>
      </p:sp>
      <p:sp>
        <p:nvSpPr>
          <p:cNvPr id="12" name="Text 10"/>
          <p:cNvSpPr/>
          <p:nvPr/>
        </p:nvSpPr>
        <p:spPr>
          <a:xfrm>
            <a:off x="4855464" y="1554480"/>
            <a:ext cx="3867912" cy="1572768"/>
          </a:xfrm>
          <a:prstGeom prst="rect">
            <a:avLst/>
          </a:prstGeom>
          <a:noFill/>
          <a:ln/>
        </p:spPr>
        <p:txBody>
          <a:bodyPr wrap="square" lIns="0" tIns="0" rIns="0" bIns="0" rtlCol="0" anchor="t"/>
          <a:lstStyle/>
          <a:p>
            <a:pPr marL="0" indent="0">
              <a:buNone/>
            </a:pPr>
            <a:r>
              <a:rPr lang="en-US" sz="1150" dirty="0">
                <a:solidFill>
                  <a:srgbClr val="1A1A2E"/>
                </a:solidFill>
                <a:latin typeface="Calibri" pitchFamily="34" charset="0"/>
                <a:ea typeface="Calibri" pitchFamily="34" charset="-122"/>
                <a:cs typeface="Calibri" pitchFamily="34" charset="-120"/>
              </a:rPr>
              <a:t>Groups cases (not variables) into clusters based on similarity across multiple variables.</a:t>
            </a:r>
            <a:endParaRPr lang="en-US" sz="1150" dirty="0"/>
          </a:p>
          <a:p>
            <a:pPr marL="0" indent="0">
              <a:buNone/>
            </a:pPr>
            <a:endParaRPr lang="en-US" sz="1150" dirty="0"/>
          </a:p>
          <a:p>
            <a:pPr marL="0" indent="0">
              <a:buNone/>
            </a:pPr>
            <a:r>
              <a:rPr lang="en-US" sz="1150" dirty="0">
                <a:solidFill>
                  <a:srgbClr val="1A1A2E"/>
                </a:solidFill>
                <a:latin typeface="Calibri" pitchFamily="34" charset="0"/>
                <a:ea typeface="Calibri" pitchFamily="34" charset="-122"/>
                <a:cs typeface="Calibri" pitchFamily="34" charset="-120"/>
              </a:rPr>
              <a:t>Hierarchical (Ward's method) → use dendrogram to choose k. Then k-means to refine.</a:t>
            </a:r>
            <a:endParaRPr lang="en-US" sz="1150" dirty="0"/>
          </a:p>
          <a:p>
            <a:pPr marL="0" indent="0">
              <a:buNone/>
            </a:pPr>
            <a:endParaRPr lang="en-US" sz="1150" dirty="0"/>
          </a:p>
          <a:p>
            <a:pPr marL="0" indent="0">
              <a:buNone/>
            </a:pPr>
            <a:r>
              <a:rPr lang="en-US" sz="1150" dirty="0">
                <a:solidFill>
                  <a:srgbClr val="1A1A2E"/>
                </a:solidFill>
                <a:latin typeface="Calibri" pitchFamily="34" charset="0"/>
                <a:ea typeface="Calibri" pitchFamily="34" charset="-122"/>
                <a:cs typeface="Calibri" pitchFamily="34" charset="-120"/>
              </a:rPr>
              <a:t>Validate: ANOVA on cluster means; DA to assess separation quality.</a:t>
            </a:r>
            <a:endParaRPr lang="en-US" sz="1150" dirty="0"/>
          </a:p>
          <a:p>
            <a:pPr marL="0" indent="0">
              <a:buNone/>
            </a:pPr>
            <a:endParaRPr lang="en-US" sz="1150" dirty="0"/>
          </a:p>
          <a:p>
            <a:pPr marL="0" indent="0">
              <a:buNone/>
            </a:pPr>
            <a:r>
              <a:rPr lang="en-US" sz="1150" dirty="0">
                <a:solidFill>
                  <a:srgbClr val="1A1A2E"/>
                </a:solidFill>
                <a:latin typeface="Calibri" pitchFamily="34" charset="0"/>
                <a:ea typeface="Calibri" pitchFamily="34" charset="-122"/>
                <a:cs typeface="Calibri" pitchFamily="34" charset="-120"/>
              </a:rPr>
              <a:t>PH Example: Identify patient typologies (e.g., lifestyle clusters) for targeted health promotion.</a:t>
            </a:r>
            <a:endParaRPr lang="en-US" sz="1150" dirty="0"/>
          </a:p>
        </p:txBody>
      </p:sp>
      <p:sp>
        <p:nvSpPr>
          <p:cNvPr id="13" name="Shape 11"/>
          <p:cNvSpPr/>
          <p:nvPr/>
        </p:nvSpPr>
        <p:spPr>
          <a:xfrm>
            <a:off x="365760" y="3310128"/>
            <a:ext cx="4069080" cy="1627632"/>
          </a:xfrm>
          <a:prstGeom prst="rect">
            <a:avLst/>
          </a:prstGeom>
          <a:solidFill>
            <a:srgbClr val="FFFFFF"/>
          </a:solidFill>
          <a:ln w="12700">
            <a:solidFill>
              <a:srgbClr val="DDE0F0"/>
            </a:solidFill>
            <a:prstDash val="solid"/>
          </a:ln>
          <a:effectLst>
            <a:outerShdw blurRad="76200" dist="25400" dir="8100000" algn="bl" rotWithShape="0">
              <a:srgbClr val="000000">
                <a:alpha val="10000"/>
              </a:srgbClr>
            </a:outerShdw>
          </a:effectLst>
        </p:spPr>
        <p:txBody>
          <a:bodyPr/>
          <a:lstStyle/>
          <a:p>
            <a:endParaRPr lang="en-US"/>
          </a:p>
        </p:txBody>
      </p:sp>
      <p:sp>
        <p:nvSpPr>
          <p:cNvPr id="14" name="Shape 12"/>
          <p:cNvSpPr/>
          <p:nvPr/>
        </p:nvSpPr>
        <p:spPr>
          <a:xfrm>
            <a:off x="365760" y="3310128"/>
            <a:ext cx="64008" cy="1627632"/>
          </a:xfrm>
          <a:prstGeom prst="rect">
            <a:avLst/>
          </a:prstGeom>
          <a:solidFill>
            <a:srgbClr val="A26769"/>
          </a:solidFill>
          <a:ln w="12700">
            <a:solidFill>
              <a:srgbClr val="A26769"/>
            </a:solidFill>
            <a:prstDash val="solid"/>
          </a:ln>
        </p:spPr>
        <p:txBody>
          <a:bodyPr/>
          <a:lstStyle/>
          <a:p>
            <a:endParaRPr lang="en-US"/>
          </a:p>
        </p:txBody>
      </p:sp>
      <p:sp>
        <p:nvSpPr>
          <p:cNvPr id="15" name="Text 13"/>
          <p:cNvSpPr/>
          <p:nvPr/>
        </p:nvSpPr>
        <p:spPr>
          <a:xfrm>
            <a:off x="512064" y="3383280"/>
            <a:ext cx="3867912" cy="347472"/>
          </a:xfrm>
          <a:prstGeom prst="rect">
            <a:avLst/>
          </a:prstGeom>
          <a:noFill/>
          <a:ln/>
        </p:spPr>
        <p:txBody>
          <a:bodyPr wrap="square" lIns="0" tIns="0" rIns="0" bIns="0" rtlCol="0" anchor="ctr"/>
          <a:lstStyle/>
          <a:p>
            <a:pPr marL="0" indent="0">
              <a:buNone/>
            </a:pPr>
            <a:r>
              <a:rPr lang="en-US" sz="1300" b="1" dirty="0">
                <a:solidFill>
                  <a:srgbClr val="A26769"/>
                </a:solidFill>
                <a:latin typeface="Georgia" pitchFamily="34" charset="0"/>
                <a:ea typeface="Georgia" pitchFamily="34" charset="-122"/>
                <a:cs typeface="Georgia" pitchFamily="34" charset="-120"/>
              </a:rPr>
              <a:t>Key DA Assumptions</a:t>
            </a:r>
            <a:endParaRPr lang="en-US" sz="1300" dirty="0"/>
          </a:p>
        </p:txBody>
      </p:sp>
      <p:sp>
        <p:nvSpPr>
          <p:cNvPr id="16" name="Text 14"/>
          <p:cNvSpPr/>
          <p:nvPr/>
        </p:nvSpPr>
        <p:spPr>
          <a:xfrm>
            <a:off x="512064" y="3749040"/>
            <a:ext cx="3867912" cy="1097280"/>
          </a:xfrm>
          <a:prstGeom prst="rect">
            <a:avLst/>
          </a:prstGeom>
          <a:noFill/>
          <a:ln/>
        </p:spPr>
        <p:txBody>
          <a:bodyPr wrap="square" lIns="0" tIns="0" rIns="0" bIns="0" rtlCol="0" anchor="t"/>
          <a:lstStyle/>
          <a:p>
            <a:pPr marL="0" indent="0">
              <a:buNone/>
            </a:pPr>
            <a:r>
              <a:rPr lang="en-US" sz="1150" dirty="0">
                <a:solidFill>
                  <a:srgbClr val="1A1A2E"/>
                </a:solidFill>
                <a:latin typeface="Calibri" pitchFamily="34" charset="0"/>
                <a:ea typeface="Calibri" pitchFamily="34" charset="-122"/>
                <a:cs typeface="Calibri" pitchFamily="34" charset="-120"/>
              </a:rPr>
              <a:t>• Multivariate normality within groups</a:t>
            </a:r>
            <a:endParaRPr lang="en-US" sz="1150" dirty="0"/>
          </a:p>
          <a:p>
            <a:pPr marL="0" indent="0">
              <a:buNone/>
            </a:pPr>
            <a:r>
              <a:rPr lang="en-US" sz="1150" dirty="0">
                <a:solidFill>
                  <a:srgbClr val="1A1A2E"/>
                </a:solidFill>
                <a:latin typeface="Calibri" pitchFamily="34" charset="0"/>
                <a:ea typeface="Calibri" pitchFamily="34" charset="-122"/>
                <a:cs typeface="Calibri" pitchFamily="34" charset="-120"/>
              </a:rPr>
              <a:t>• Homogeneity of covariance matrices</a:t>
            </a:r>
            <a:endParaRPr lang="en-US" sz="1150" dirty="0"/>
          </a:p>
          <a:p>
            <a:pPr marL="0" indent="0">
              <a:buNone/>
            </a:pPr>
            <a:r>
              <a:rPr lang="en-US" sz="1150" dirty="0">
                <a:solidFill>
                  <a:srgbClr val="1A1A2E"/>
                </a:solidFill>
                <a:latin typeface="Calibri" pitchFamily="34" charset="0"/>
                <a:ea typeface="Calibri" pitchFamily="34" charset="-122"/>
                <a:cs typeface="Calibri" pitchFamily="34" charset="-120"/>
              </a:rPr>
              <a:t>• No extreme outliers (Mahalanobis D²)</a:t>
            </a:r>
            <a:endParaRPr lang="en-US" sz="1150" dirty="0"/>
          </a:p>
          <a:p>
            <a:pPr marL="0" indent="0">
              <a:buNone/>
            </a:pPr>
            <a:r>
              <a:rPr lang="en-US" sz="1150" dirty="0">
                <a:solidFill>
                  <a:srgbClr val="1A1A2E"/>
                </a:solidFill>
                <a:latin typeface="Calibri" pitchFamily="34" charset="0"/>
                <a:ea typeface="Calibri" pitchFamily="34" charset="-122"/>
                <a:cs typeface="Calibri" pitchFamily="34" charset="-120"/>
              </a:rPr>
              <a:t>• Linear relationships among predictors</a:t>
            </a:r>
            <a:endParaRPr lang="en-US" sz="1150" dirty="0"/>
          </a:p>
          <a:p>
            <a:pPr marL="0" indent="0">
              <a:buNone/>
            </a:pPr>
            <a:r>
              <a:rPr lang="en-US" sz="1150" dirty="0">
                <a:solidFill>
                  <a:srgbClr val="1A1A2E"/>
                </a:solidFill>
                <a:latin typeface="Calibri" pitchFamily="34" charset="0"/>
                <a:ea typeface="Calibri" pitchFamily="34" charset="-122"/>
                <a:cs typeface="Calibri" pitchFamily="34" charset="-120"/>
              </a:rPr>
              <a:t>• Cross-validate: jackknifed classification accuracy</a:t>
            </a:r>
            <a:endParaRPr lang="en-US" sz="1150" dirty="0"/>
          </a:p>
        </p:txBody>
      </p:sp>
      <p:sp>
        <p:nvSpPr>
          <p:cNvPr id="17" name="Shape 15"/>
          <p:cNvSpPr/>
          <p:nvPr/>
        </p:nvSpPr>
        <p:spPr>
          <a:xfrm>
            <a:off x="4709160" y="3310128"/>
            <a:ext cx="4069080" cy="1627632"/>
          </a:xfrm>
          <a:prstGeom prst="rect">
            <a:avLst/>
          </a:prstGeom>
          <a:solidFill>
            <a:srgbClr val="FFFFFF"/>
          </a:solidFill>
          <a:ln w="12700">
            <a:solidFill>
              <a:srgbClr val="DDE0F0"/>
            </a:solidFill>
            <a:prstDash val="solid"/>
          </a:ln>
          <a:effectLst>
            <a:outerShdw blurRad="76200" dist="25400" dir="8100000" algn="bl" rotWithShape="0">
              <a:srgbClr val="000000">
                <a:alpha val="10000"/>
              </a:srgbClr>
            </a:outerShdw>
          </a:effectLst>
        </p:spPr>
        <p:txBody>
          <a:bodyPr/>
          <a:lstStyle/>
          <a:p>
            <a:endParaRPr lang="en-US"/>
          </a:p>
        </p:txBody>
      </p:sp>
      <p:sp>
        <p:nvSpPr>
          <p:cNvPr id="18" name="Shape 16"/>
          <p:cNvSpPr/>
          <p:nvPr/>
        </p:nvSpPr>
        <p:spPr>
          <a:xfrm>
            <a:off x="4709160" y="3310128"/>
            <a:ext cx="64008" cy="1627632"/>
          </a:xfrm>
          <a:prstGeom prst="rect">
            <a:avLst/>
          </a:prstGeom>
          <a:solidFill>
            <a:srgbClr val="2E8B72"/>
          </a:solidFill>
          <a:ln w="12700">
            <a:solidFill>
              <a:srgbClr val="2E8B72"/>
            </a:solidFill>
            <a:prstDash val="solid"/>
          </a:ln>
        </p:spPr>
        <p:txBody>
          <a:bodyPr/>
          <a:lstStyle/>
          <a:p>
            <a:endParaRPr lang="en-US"/>
          </a:p>
        </p:txBody>
      </p:sp>
      <p:sp>
        <p:nvSpPr>
          <p:cNvPr id="19" name="Text 17"/>
          <p:cNvSpPr/>
          <p:nvPr/>
        </p:nvSpPr>
        <p:spPr>
          <a:xfrm>
            <a:off x="4855464" y="3383280"/>
            <a:ext cx="3867912" cy="347472"/>
          </a:xfrm>
          <a:prstGeom prst="rect">
            <a:avLst/>
          </a:prstGeom>
          <a:noFill/>
          <a:ln/>
        </p:spPr>
        <p:txBody>
          <a:bodyPr wrap="square" lIns="0" tIns="0" rIns="0" bIns="0" rtlCol="0" anchor="ctr"/>
          <a:lstStyle/>
          <a:p>
            <a:pPr marL="0" indent="0">
              <a:buNone/>
            </a:pPr>
            <a:r>
              <a:rPr lang="en-US" sz="1300" b="1" dirty="0">
                <a:solidFill>
                  <a:srgbClr val="2E8B72"/>
                </a:solidFill>
                <a:latin typeface="Georgia" pitchFamily="34" charset="0"/>
                <a:ea typeface="Georgia" pitchFamily="34" charset="-122"/>
                <a:cs typeface="Georgia" pitchFamily="34" charset="-120"/>
              </a:rPr>
              <a:t>Key Cluster Considerations</a:t>
            </a:r>
            <a:endParaRPr lang="en-US" sz="1300" dirty="0"/>
          </a:p>
        </p:txBody>
      </p:sp>
      <p:sp>
        <p:nvSpPr>
          <p:cNvPr id="20" name="Text 18"/>
          <p:cNvSpPr/>
          <p:nvPr/>
        </p:nvSpPr>
        <p:spPr>
          <a:xfrm>
            <a:off x="4855464" y="3749040"/>
            <a:ext cx="3867912" cy="1097280"/>
          </a:xfrm>
          <a:prstGeom prst="rect">
            <a:avLst/>
          </a:prstGeom>
          <a:noFill/>
          <a:ln/>
        </p:spPr>
        <p:txBody>
          <a:bodyPr wrap="square" lIns="0" tIns="0" rIns="0" bIns="0" rtlCol="0" anchor="t"/>
          <a:lstStyle/>
          <a:p>
            <a:pPr marL="0" indent="0">
              <a:buNone/>
            </a:pPr>
            <a:r>
              <a:rPr lang="en-US" sz="1150" dirty="0">
                <a:solidFill>
                  <a:srgbClr val="1A1A2E"/>
                </a:solidFill>
                <a:latin typeface="Calibri" pitchFamily="34" charset="0"/>
                <a:ea typeface="Calibri" pitchFamily="34" charset="-122"/>
                <a:cs typeface="Calibri" pitchFamily="34" charset="-120"/>
              </a:rPr>
              <a:t>• Standardise all variables before clustering (z-scores)</a:t>
            </a:r>
            <a:endParaRPr lang="en-US" sz="1150" dirty="0"/>
          </a:p>
          <a:p>
            <a:pPr marL="0" indent="0">
              <a:buNone/>
            </a:pPr>
            <a:r>
              <a:rPr lang="en-US" sz="1150" dirty="0">
                <a:solidFill>
                  <a:srgbClr val="1A1A2E"/>
                </a:solidFill>
                <a:latin typeface="Calibri" pitchFamily="34" charset="0"/>
                <a:ea typeface="Calibri" pitchFamily="34" charset="-122"/>
                <a:cs typeface="Calibri" pitchFamily="34" charset="-120"/>
              </a:rPr>
              <a:t>• Choice of distance measure (Euclidean vs squared Euclidean)</a:t>
            </a:r>
            <a:endParaRPr lang="en-US" sz="1150" dirty="0"/>
          </a:p>
          <a:p>
            <a:pPr marL="0" indent="0">
              <a:buNone/>
            </a:pPr>
            <a:r>
              <a:rPr lang="en-US" sz="1150" dirty="0">
                <a:solidFill>
                  <a:srgbClr val="1A1A2E"/>
                </a:solidFill>
                <a:latin typeface="Calibri" pitchFamily="34" charset="0"/>
                <a:ea typeface="Calibri" pitchFamily="34" charset="-122"/>
                <a:cs typeface="Calibri" pitchFamily="34" charset="-120"/>
              </a:rPr>
              <a:t>• Solution is not unique — must be validated externally</a:t>
            </a:r>
            <a:endParaRPr lang="en-US" sz="1150" dirty="0"/>
          </a:p>
          <a:p>
            <a:pPr marL="0" indent="0">
              <a:buNone/>
            </a:pPr>
            <a:r>
              <a:rPr lang="en-US" sz="1150" dirty="0">
                <a:solidFill>
                  <a:srgbClr val="1A1A2E"/>
                </a:solidFill>
                <a:latin typeface="Calibri" pitchFamily="34" charset="0"/>
                <a:ea typeface="Calibri" pitchFamily="34" charset="-122"/>
                <a:cs typeface="Calibri" pitchFamily="34" charset="-120"/>
              </a:rPr>
              <a:t>• Report silhouette coefficients or Calinski-Harabasz index</a:t>
            </a:r>
            <a:endParaRPr lang="en-US" sz="1150" dirty="0"/>
          </a:p>
          <a:p>
            <a:pPr marL="0" indent="0">
              <a:buNone/>
            </a:pPr>
            <a:r>
              <a:rPr lang="en-US" sz="1150" dirty="0">
                <a:solidFill>
                  <a:srgbClr val="1A1A2E"/>
                </a:solidFill>
                <a:latin typeface="Calibri" pitchFamily="34" charset="0"/>
                <a:ea typeface="Calibri" pitchFamily="34" charset="-122"/>
                <a:cs typeface="Calibri" pitchFamily="34" charset="-120"/>
              </a:rPr>
              <a:t>• Cluster membership = IV in subsequent regression</a:t>
            </a:r>
            <a:endParaRPr lang="en-US" sz="115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2011680"/>
            <a:ext cx="9144000" cy="1143000"/>
          </a:xfrm>
          <a:prstGeom prst="rect">
            <a:avLst/>
          </a:prstGeom>
          <a:solidFill>
            <a:srgbClr val="1C7293"/>
          </a:solidFill>
          <a:ln w="12700">
            <a:solidFill>
              <a:srgbClr val="1C7293"/>
            </a:solidFill>
            <a:prstDash val="solid"/>
          </a:ln>
        </p:spPr>
        <p:txBody>
          <a:bodyPr/>
          <a:lstStyle/>
          <a:p>
            <a:endParaRPr lang="en-US"/>
          </a:p>
        </p:txBody>
      </p:sp>
      <p:sp>
        <p:nvSpPr>
          <p:cNvPr id="3" name="Shape 1"/>
          <p:cNvSpPr/>
          <p:nvPr/>
        </p:nvSpPr>
        <p:spPr>
          <a:xfrm>
            <a:off x="0" y="0"/>
            <a:ext cx="9144000" cy="91440"/>
          </a:xfrm>
          <a:prstGeom prst="rect">
            <a:avLst/>
          </a:prstGeom>
          <a:solidFill>
            <a:srgbClr val="E8A838"/>
          </a:solidFill>
          <a:ln w="12700">
            <a:solidFill>
              <a:srgbClr val="E8A838"/>
            </a:solidFill>
            <a:prstDash val="solid"/>
          </a:ln>
        </p:spPr>
        <p:txBody>
          <a:bodyPr/>
          <a:lstStyle/>
          <a:p>
            <a:endParaRPr lang="en-US"/>
          </a:p>
        </p:txBody>
      </p:sp>
      <p:sp>
        <p:nvSpPr>
          <p:cNvPr id="4" name="Text 2"/>
          <p:cNvSpPr/>
          <p:nvPr/>
        </p:nvSpPr>
        <p:spPr>
          <a:xfrm>
            <a:off x="457200" y="457200"/>
            <a:ext cx="8229600" cy="457200"/>
          </a:xfrm>
          <a:prstGeom prst="rect">
            <a:avLst/>
          </a:prstGeom>
          <a:noFill/>
          <a:ln/>
        </p:spPr>
        <p:txBody>
          <a:bodyPr wrap="square" lIns="0" tIns="0" rIns="0" bIns="0" rtlCol="0" anchor="ctr"/>
          <a:lstStyle/>
          <a:p>
            <a:pPr marL="0" indent="0" algn="ctr">
              <a:buNone/>
            </a:pPr>
            <a:r>
              <a:rPr lang="en-US" sz="1400" b="1" kern="0" spc="600" dirty="0">
                <a:solidFill>
                  <a:srgbClr val="9EC8D8"/>
                </a:solidFill>
                <a:latin typeface="Calibri" pitchFamily="34" charset="0"/>
                <a:ea typeface="Calibri" pitchFamily="34" charset="-122"/>
                <a:cs typeface="Calibri" pitchFamily="34" charset="-120"/>
              </a:rPr>
              <a:t>SECTION 06</a:t>
            </a:r>
            <a:endParaRPr lang="en-US" sz="1400" dirty="0"/>
          </a:p>
        </p:txBody>
      </p:sp>
      <p:sp>
        <p:nvSpPr>
          <p:cNvPr id="5" name="Text 3"/>
          <p:cNvSpPr/>
          <p:nvPr/>
        </p:nvSpPr>
        <p:spPr>
          <a:xfrm>
            <a:off x="457200" y="2057400"/>
            <a:ext cx="8229600" cy="1051560"/>
          </a:xfrm>
          <a:prstGeom prst="rect">
            <a:avLst/>
          </a:prstGeom>
          <a:noFill/>
          <a:ln/>
        </p:spPr>
        <p:txBody>
          <a:bodyPr wrap="square" lIns="0" tIns="0" rIns="0" bIns="0" rtlCol="0" anchor="ctr"/>
          <a:lstStyle/>
          <a:p>
            <a:pPr marL="0" indent="0" algn="ctr">
              <a:buNone/>
            </a:pPr>
            <a:r>
              <a:rPr lang="en-US" sz="3400" b="1" dirty="0">
                <a:solidFill>
                  <a:srgbClr val="FFFFFF"/>
                </a:solidFill>
                <a:latin typeface="Cambria" pitchFamily="34" charset="0"/>
                <a:ea typeface="Cambria" pitchFamily="34" charset="-122"/>
                <a:cs typeface="Cambria" pitchFamily="34" charset="-120"/>
              </a:rPr>
              <a:t>Interpretation, Reporting</a:t>
            </a:r>
            <a:endParaRPr lang="en-US" sz="3400" dirty="0"/>
          </a:p>
          <a:p>
            <a:pPr marL="0" indent="0" algn="ctr">
              <a:buNone/>
            </a:pPr>
            <a:r>
              <a:rPr lang="en-US" sz="3400" b="1" dirty="0">
                <a:solidFill>
                  <a:srgbClr val="FFFFFF"/>
                </a:solidFill>
                <a:latin typeface="Cambria" pitchFamily="34" charset="0"/>
                <a:ea typeface="Cambria" pitchFamily="34" charset="-122"/>
                <a:cs typeface="Cambria" pitchFamily="34" charset="-120"/>
              </a:rPr>
              <a:t>&amp; Critical Appraisal</a:t>
            </a:r>
            <a:endParaRPr lang="en-US" sz="3400" dirty="0"/>
          </a:p>
        </p:txBody>
      </p:sp>
      <p:sp>
        <p:nvSpPr>
          <p:cNvPr id="6" name="Text 4"/>
          <p:cNvSpPr/>
          <p:nvPr/>
        </p:nvSpPr>
        <p:spPr>
          <a:xfrm>
            <a:off x="914400" y="3337560"/>
            <a:ext cx="7315200" cy="640080"/>
          </a:xfrm>
          <a:prstGeom prst="rect">
            <a:avLst/>
          </a:prstGeom>
          <a:noFill/>
          <a:ln/>
        </p:spPr>
        <p:txBody>
          <a:bodyPr wrap="square" lIns="0" tIns="0" rIns="0" bIns="0" rtlCol="0" anchor="ctr"/>
          <a:lstStyle/>
          <a:p>
            <a:pPr marL="0" indent="0" algn="ctr">
              <a:buNone/>
            </a:pPr>
            <a:r>
              <a:rPr lang="en-US" sz="1500" i="1" dirty="0">
                <a:solidFill>
                  <a:srgbClr val="9EC8D8"/>
                </a:solidFill>
                <a:latin typeface="Calibri" pitchFamily="34" charset="0"/>
                <a:ea typeface="Calibri" pitchFamily="34" charset="-122"/>
                <a:cs typeface="Calibri" pitchFamily="34" charset="-120"/>
              </a:rPr>
              <a:t>Reading and writing multivariate results with confidence</a:t>
            </a:r>
            <a:endParaRPr lang="en-US" sz="15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8A838"/>
          </a:solidFill>
          <a:ln w="12700">
            <a:solidFill>
              <a:srgbClr val="E8A838"/>
            </a:solidFill>
            <a:prstDash val="solid"/>
          </a:ln>
        </p:spPr>
        <p:txBody>
          <a:bodyPr/>
          <a:lstStyle/>
          <a:p>
            <a:endParaRPr lang="en-US"/>
          </a:p>
        </p:txBody>
      </p:sp>
      <p:sp>
        <p:nvSpPr>
          <p:cNvPr id="3" name="Text 1"/>
          <p:cNvSpPr/>
          <p:nvPr/>
        </p:nvSpPr>
        <p:spPr>
          <a:xfrm>
            <a:off x="411480" y="164592"/>
            <a:ext cx="8321040" cy="640080"/>
          </a:xfrm>
          <a:prstGeom prst="rect">
            <a:avLst/>
          </a:prstGeom>
          <a:noFill/>
          <a:ln/>
        </p:spPr>
        <p:txBody>
          <a:bodyPr wrap="square" lIns="0" tIns="0" rIns="0" bIns="0" rtlCol="0" anchor="ctr"/>
          <a:lstStyle/>
          <a:p>
            <a:pPr marL="0" indent="0">
              <a:buNone/>
            </a:pPr>
            <a:r>
              <a:rPr lang="en-US" sz="2800" b="1" dirty="0">
                <a:solidFill>
                  <a:srgbClr val="065A82"/>
                </a:solidFill>
                <a:latin typeface="Cambria" pitchFamily="34" charset="0"/>
                <a:ea typeface="Cambria" pitchFamily="34" charset="-122"/>
                <a:cs typeface="Cambria" pitchFamily="34" charset="-120"/>
              </a:rPr>
              <a:t>Reporting Multivariate Results (APA 7 Standards)</a:t>
            </a:r>
            <a:endParaRPr lang="en-US" sz="2800" dirty="0"/>
          </a:p>
        </p:txBody>
      </p:sp>
      <p:graphicFrame>
        <p:nvGraphicFramePr>
          <p:cNvPr id="27" name="Table 0"/>
          <p:cNvGraphicFramePr>
            <a:graphicFrameLocks noGrp="1"/>
          </p:cNvGraphicFramePr>
          <p:nvPr/>
        </p:nvGraphicFramePr>
        <p:xfrm>
          <a:off x="228600" y="914400"/>
          <a:ext cx="8686800" cy="3840480"/>
        </p:xfrm>
        <a:graphic>
          <a:graphicData uri="http://schemas.openxmlformats.org/drawingml/2006/table">
            <a:tbl>
              <a:tblPr/>
              <a:tblGrid>
                <a:gridCol w="146304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gridCol w="4023360">
                  <a:extLst>
                    <a:ext uri="{9D8B030D-6E8A-4147-A177-3AD203B41FA5}">
                      <a16:colId xmlns:a16="http://schemas.microsoft.com/office/drawing/2014/main" val="20002"/>
                    </a:ext>
                  </a:extLst>
                </a:gridCol>
              </a:tblGrid>
              <a:tr h="548640">
                <a:tc>
                  <a:txBody>
                    <a:bodyPr/>
                    <a:lstStyle/>
                    <a:p>
                      <a:pPr marL="0" indent="0" algn="l">
                        <a:buNone/>
                      </a:pPr>
                      <a:r>
                        <a:rPr lang="en-US" sz="1150" b="1" dirty="0">
                          <a:solidFill>
                            <a:srgbClr val="FFFFFF"/>
                          </a:solidFill>
                          <a:latin typeface="Calibri" pitchFamily="34" charset="0"/>
                          <a:ea typeface="Calibri" pitchFamily="34" charset="-122"/>
                          <a:cs typeface="Calibri" pitchFamily="34" charset="-120"/>
                        </a:rPr>
                        <a:t>Element</a:t>
                      </a:r>
                      <a:endParaRPr lang="en-US" sz="1150" dirty="0">
                        <a:latin typeface="Calibri" charset="0"/>
                        <a:ea typeface="Calibri" charset="0"/>
                        <a:cs typeface="Calibri" charset="0"/>
                      </a:endParaRPr>
                    </a:p>
                  </a:txBody>
                  <a:tcPr anchor="ctr">
                    <a:lnL w="6350" cap="flat" cmpd="sng" algn="ctr">
                      <a:solidFill>
                        <a:srgbClr val="D6E4EC"/>
                      </a:solidFill>
                      <a:prstDash val="solid"/>
                      <a:round/>
                      <a:headEnd type="none" w="med" len="med"/>
                      <a:tailEnd type="none" w="med" len="med"/>
                    </a:lnL>
                    <a:lnR w="6350" cap="flat" cmpd="sng" algn="ctr">
                      <a:solidFill>
                        <a:srgbClr val="D6E4EC"/>
                      </a:solidFill>
                      <a:prstDash val="solid"/>
                      <a:round/>
                      <a:headEnd type="none" w="med" len="med"/>
                      <a:tailEnd type="none" w="med" len="med"/>
                    </a:lnR>
                    <a:lnT w="6350" cap="flat" cmpd="sng" algn="ctr">
                      <a:solidFill>
                        <a:srgbClr val="D6E4EC"/>
                      </a:solidFill>
                      <a:prstDash val="solid"/>
                      <a:round/>
                      <a:headEnd type="none" w="med" len="med"/>
                      <a:tailEnd type="none" w="med" len="med"/>
                    </a:lnT>
                    <a:lnB w="6350" cap="flat" cmpd="sng" algn="ctr">
                      <a:solidFill>
                        <a:srgbClr val="D6E4EC"/>
                      </a:solidFill>
                      <a:prstDash val="solid"/>
                      <a:round/>
                      <a:headEnd type="none" w="med" len="med"/>
                      <a:tailEnd type="none" w="med" len="med"/>
                    </a:lnB>
                    <a:solidFill>
                      <a:srgbClr val="065A82"/>
                    </a:solidFill>
                  </a:tcPr>
                </a:tc>
                <a:tc>
                  <a:txBody>
                    <a:bodyPr/>
                    <a:lstStyle/>
                    <a:p>
                      <a:pPr marL="0" indent="0" algn="l">
                        <a:buNone/>
                      </a:pPr>
                      <a:r>
                        <a:rPr lang="en-US" sz="1150" b="1" dirty="0">
                          <a:solidFill>
                            <a:srgbClr val="FFFFFF"/>
                          </a:solidFill>
                          <a:latin typeface="Calibri" pitchFamily="34" charset="0"/>
                          <a:ea typeface="Calibri" pitchFamily="34" charset="-122"/>
                          <a:cs typeface="Calibri" pitchFamily="34" charset="-120"/>
                        </a:rPr>
                        <a:t>What to Report</a:t>
                      </a:r>
                      <a:endParaRPr lang="en-US" sz="1150" dirty="0">
                        <a:latin typeface="Calibri" charset="0"/>
                        <a:ea typeface="Calibri" charset="0"/>
                        <a:cs typeface="Calibri" charset="0"/>
                      </a:endParaRPr>
                    </a:p>
                  </a:txBody>
                  <a:tcPr anchor="ctr">
                    <a:lnL w="6350" cap="flat" cmpd="sng" algn="ctr">
                      <a:solidFill>
                        <a:srgbClr val="D6E4EC"/>
                      </a:solidFill>
                      <a:prstDash val="solid"/>
                      <a:round/>
                      <a:headEnd type="none" w="med" len="med"/>
                      <a:tailEnd type="none" w="med" len="med"/>
                    </a:lnL>
                    <a:lnR w="6350" cap="flat" cmpd="sng" algn="ctr">
                      <a:solidFill>
                        <a:srgbClr val="D6E4EC"/>
                      </a:solidFill>
                      <a:prstDash val="solid"/>
                      <a:round/>
                      <a:headEnd type="none" w="med" len="med"/>
                      <a:tailEnd type="none" w="med" len="med"/>
                    </a:lnR>
                    <a:lnT w="6350" cap="flat" cmpd="sng" algn="ctr">
                      <a:solidFill>
                        <a:srgbClr val="D6E4EC"/>
                      </a:solidFill>
                      <a:prstDash val="solid"/>
                      <a:round/>
                      <a:headEnd type="none" w="med" len="med"/>
                      <a:tailEnd type="none" w="med" len="med"/>
                    </a:lnT>
                    <a:lnB w="6350" cap="flat" cmpd="sng" algn="ctr">
                      <a:solidFill>
                        <a:srgbClr val="D6E4EC"/>
                      </a:solidFill>
                      <a:prstDash val="solid"/>
                      <a:round/>
                      <a:headEnd type="none" w="med" len="med"/>
                      <a:tailEnd type="none" w="med" len="med"/>
                    </a:lnB>
                    <a:solidFill>
                      <a:srgbClr val="065A82"/>
                    </a:solidFill>
                  </a:tcPr>
                </a:tc>
                <a:tc>
                  <a:txBody>
                    <a:bodyPr/>
                    <a:lstStyle/>
                    <a:p>
                      <a:pPr marL="0" indent="0" algn="l">
                        <a:buNone/>
                      </a:pPr>
                      <a:r>
                        <a:rPr lang="en-US" sz="1150" b="1" dirty="0">
                          <a:solidFill>
                            <a:srgbClr val="FFFFFF"/>
                          </a:solidFill>
                          <a:latin typeface="Calibri" pitchFamily="34" charset="0"/>
                          <a:ea typeface="Calibri" pitchFamily="34" charset="-122"/>
                          <a:cs typeface="Calibri" pitchFamily="34" charset="-120"/>
                        </a:rPr>
                        <a:t>Example</a:t>
                      </a:r>
                      <a:endParaRPr lang="en-US" sz="1150" dirty="0">
                        <a:latin typeface="Calibri" charset="0"/>
                        <a:ea typeface="Calibri" charset="0"/>
                        <a:cs typeface="Calibri" charset="0"/>
                      </a:endParaRPr>
                    </a:p>
                  </a:txBody>
                  <a:tcPr anchor="ctr">
                    <a:lnL w="6350" cap="flat" cmpd="sng" algn="ctr">
                      <a:solidFill>
                        <a:srgbClr val="D6E4EC"/>
                      </a:solidFill>
                      <a:prstDash val="solid"/>
                      <a:round/>
                      <a:headEnd type="none" w="med" len="med"/>
                      <a:tailEnd type="none" w="med" len="med"/>
                    </a:lnL>
                    <a:lnR w="6350" cap="flat" cmpd="sng" algn="ctr">
                      <a:solidFill>
                        <a:srgbClr val="D6E4EC"/>
                      </a:solidFill>
                      <a:prstDash val="solid"/>
                      <a:round/>
                      <a:headEnd type="none" w="med" len="med"/>
                      <a:tailEnd type="none" w="med" len="med"/>
                    </a:lnR>
                    <a:lnT w="6350" cap="flat" cmpd="sng" algn="ctr">
                      <a:solidFill>
                        <a:srgbClr val="D6E4EC"/>
                      </a:solidFill>
                      <a:prstDash val="solid"/>
                      <a:round/>
                      <a:headEnd type="none" w="med" len="med"/>
                      <a:tailEnd type="none" w="med" len="med"/>
                    </a:lnT>
                    <a:lnB w="6350" cap="flat" cmpd="sng" algn="ctr">
                      <a:solidFill>
                        <a:srgbClr val="D6E4EC"/>
                      </a:solidFill>
                      <a:prstDash val="solid"/>
                      <a:round/>
                      <a:headEnd type="none" w="med" len="med"/>
                      <a:tailEnd type="none" w="med" len="med"/>
                    </a:lnB>
                    <a:solidFill>
                      <a:srgbClr val="065A82"/>
                    </a:solidFill>
                  </a:tcPr>
                </a:tc>
                <a:extLst>
                  <a:ext uri="{0D108BD9-81ED-4DB2-BD59-A6C34878D82A}">
                    <a16:rowId xmlns:a16="http://schemas.microsoft.com/office/drawing/2014/main" val="10000"/>
                  </a:ext>
                </a:extLst>
              </a:tr>
              <a:tr h="548640">
                <a:tc>
                  <a:txBody>
                    <a:bodyPr/>
                    <a:lstStyle/>
                    <a:p>
                      <a:pPr marL="0" indent="0" algn="l">
                        <a:buNone/>
                      </a:pPr>
                      <a:r>
                        <a:rPr lang="en-US" sz="1150" dirty="0">
                          <a:solidFill>
                            <a:srgbClr val="000000"/>
                          </a:solidFill>
                          <a:latin typeface="Calibri" pitchFamily="34" charset="0"/>
                          <a:ea typeface="Calibri" pitchFamily="34" charset="-122"/>
                          <a:cs typeface="Calibri" pitchFamily="34" charset="-120"/>
                        </a:rPr>
                        <a:t>Sample</a:t>
                      </a:r>
                      <a:endParaRPr lang="en-US" sz="1150" dirty="0">
                        <a:latin typeface="Calibri" charset="0"/>
                        <a:ea typeface="Calibri" charset="0"/>
                        <a:cs typeface="Calibri" charset="0"/>
                      </a:endParaRPr>
                    </a:p>
                  </a:txBody>
                  <a:tcPr anchor="ctr">
                    <a:lnL w="6350" cap="flat" cmpd="sng" algn="ctr">
                      <a:solidFill>
                        <a:srgbClr val="D6E4EC"/>
                      </a:solidFill>
                      <a:prstDash val="solid"/>
                      <a:round/>
                      <a:headEnd type="none" w="med" len="med"/>
                      <a:tailEnd type="none" w="med" len="med"/>
                    </a:lnL>
                    <a:lnR w="6350" cap="flat" cmpd="sng" algn="ctr">
                      <a:solidFill>
                        <a:srgbClr val="D6E4EC"/>
                      </a:solidFill>
                      <a:prstDash val="solid"/>
                      <a:round/>
                      <a:headEnd type="none" w="med" len="med"/>
                      <a:tailEnd type="none" w="med" len="med"/>
                    </a:lnR>
                    <a:lnT w="6350" cap="flat" cmpd="sng" algn="ctr">
                      <a:solidFill>
                        <a:srgbClr val="D6E4EC"/>
                      </a:solidFill>
                      <a:prstDash val="solid"/>
                      <a:round/>
                      <a:headEnd type="none" w="med" len="med"/>
                      <a:tailEnd type="none" w="med" len="med"/>
                    </a:lnT>
                    <a:lnB w="6350" cap="flat" cmpd="sng" algn="ctr">
                      <a:solidFill>
                        <a:srgbClr val="D6E4EC"/>
                      </a:solidFill>
                      <a:prstDash val="solid"/>
                      <a:round/>
                      <a:headEnd type="none" w="med" len="med"/>
                      <a:tailEnd type="none" w="med" len="med"/>
                    </a:lnB>
                    <a:solidFill>
                      <a:srgbClr val="FFFFFF"/>
                    </a:solidFill>
                  </a:tcPr>
                </a:tc>
                <a:tc>
                  <a:txBody>
                    <a:bodyPr/>
                    <a:lstStyle/>
                    <a:p>
                      <a:pPr marL="0" indent="0" algn="l">
                        <a:buNone/>
                      </a:pPr>
                      <a:r>
                        <a:rPr lang="en-US" sz="1150" dirty="0">
                          <a:solidFill>
                            <a:srgbClr val="000000"/>
                          </a:solidFill>
                          <a:latin typeface="Calibri" pitchFamily="34" charset="0"/>
                          <a:ea typeface="Calibri" pitchFamily="34" charset="-122"/>
                          <a:cs typeface="Calibri" pitchFamily="34" charset="-120"/>
                        </a:rPr>
                        <a:t>N, missing data handling, inclusion/exclusion criteria</a:t>
                      </a:r>
                      <a:endParaRPr lang="en-US" sz="1150" dirty="0">
                        <a:latin typeface="Calibri" charset="0"/>
                        <a:ea typeface="Calibri" charset="0"/>
                        <a:cs typeface="Calibri" charset="0"/>
                      </a:endParaRPr>
                    </a:p>
                  </a:txBody>
                  <a:tcPr anchor="ctr">
                    <a:lnL w="6350" cap="flat" cmpd="sng" algn="ctr">
                      <a:solidFill>
                        <a:srgbClr val="D6E4EC"/>
                      </a:solidFill>
                      <a:prstDash val="solid"/>
                      <a:round/>
                      <a:headEnd type="none" w="med" len="med"/>
                      <a:tailEnd type="none" w="med" len="med"/>
                    </a:lnL>
                    <a:lnR w="6350" cap="flat" cmpd="sng" algn="ctr">
                      <a:solidFill>
                        <a:srgbClr val="D6E4EC"/>
                      </a:solidFill>
                      <a:prstDash val="solid"/>
                      <a:round/>
                      <a:headEnd type="none" w="med" len="med"/>
                      <a:tailEnd type="none" w="med" len="med"/>
                    </a:lnR>
                    <a:lnT w="6350" cap="flat" cmpd="sng" algn="ctr">
                      <a:solidFill>
                        <a:srgbClr val="D6E4EC"/>
                      </a:solidFill>
                      <a:prstDash val="solid"/>
                      <a:round/>
                      <a:headEnd type="none" w="med" len="med"/>
                      <a:tailEnd type="none" w="med" len="med"/>
                    </a:lnT>
                    <a:lnB w="6350" cap="flat" cmpd="sng" algn="ctr">
                      <a:solidFill>
                        <a:srgbClr val="D6E4EC"/>
                      </a:solidFill>
                      <a:prstDash val="solid"/>
                      <a:round/>
                      <a:headEnd type="none" w="med" len="med"/>
                      <a:tailEnd type="none" w="med" len="med"/>
                    </a:lnB>
                    <a:solidFill>
                      <a:srgbClr val="FFFFFF"/>
                    </a:solidFill>
                  </a:tcPr>
                </a:tc>
                <a:tc>
                  <a:txBody>
                    <a:bodyPr/>
                    <a:lstStyle/>
                    <a:p>
                      <a:pPr marL="0" indent="0" algn="l">
                        <a:buNone/>
                      </a:pPr>
                      <a:r>
                        <a:rPr lang="en-US" sz="1150" dirty="0">
                          <a:solidFill>
                            <a:srgbClr val="000000"/>
                          </a:solidFill>
                          <a:latin typeface="Calibri" pitchFamily="34" charset="0"/>
                          <a:ea typeface="Calibri" pitchFamily="34" charset="-122"/>
                          <a:cs typeface="Calibri" pitchFamily="34" charset="-120"/>
                        </a:rPr>
                        <a:t>N = 342; 4.2% missing; multiply imputed (m = 20)</a:t>
                      </a:r>
                      <a:endParaRPr lang="en-US" sz="1150" dirty="0">
                        <a:latin typeface="Calibri" charset="0"/>
                        <a:ea typeface="Calibri" charset="0"/>
                        <a:cs typeface="Calibri" charset="0"/>
                      </a:endParaRPr>
                    </a:p>
                  </a:txBody>
                  <a:tcPr anchor="ctr">
                    <a:lnL w="6350" cap="flat" cmpd="sng" algn="ctr">
                      <a:solidFill>
                        <a:srgbClr val="D6E4EC"/>
                      </a:solidFill>
                      <a:prstDash val="solid"/>
                      <a:round/>
                      <a:headEnd type="none" w="med" len="med"/>
                      <a:tailEnd type="none" w="med" len="med"/>
                    </a:lnL>
                    <a:lnR w="6350" cap="flat" cmpd="sng" algn="ctr">
                      <a:solidFill>
                        <a:srgbClr val="D6E4EC"/>
                      </a:solidFill>
                      <a:prstDash val="solid"/>
                      <a:round/>
                      <a:headEnd type="none" w="med" len="med"/>
                      <a:tailEnd type="none" w="med" len="med"/>
                    </a:lnR>
                    <a:lnT w="6350" cap="flat" cmpd="sng" algn="ctr">
                      <a:solidFill>
                        <a:srgbClr val="D6E4EC"/>
                      </a:solidFill>
                      <a:prstDash val="solid"/>
                      <a:round/>
                      <a:headEnd type="none" w="med" len="med"/>
                      <a:tailEnd type="none" w="med" len="med"/>
                    </a:lnT>
                    <a:lnB w="6350" cap="flat" cmpd="sng" algn="ctr">
                      <a:solidFill>
                        <a:srgbClr val="D6E4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marL="0" indent="0" algn="l">
                        <a:buNone/>
                      </a:pPr>
                      <a:r>
                        <a:rPr lang="en-US" sz="1150" dirty="0">
                          <a:solidFill>
                            <a:srgbClr val="000000"/>
                          </a:solidFill>
                          <a:latin typeface="Calibri" pitchFamily="34" charset="0"/>
                          <a:ea typeface="Calibri" pitchFamily="34" charset="-122"/>
                          <a:cs typeface="Calibri" pitchFamily="34" charset="-120"/>
                        </a:rPr>
                        <a:t>Assumption checks</a:t>
                      </a:r>
                      <a:endParaRPr lang="en-US" sz="1150" dirty="0">
                        <a:latin typeface="Calibri" charset="0"/>
                        <a:ea typeface="Calibri" charset="0"/>
                        <a:cs typeface="Calibri" charset="0"/>
                      </a:endParaRPr>
                    </a:p>
                  </a:txBody>
                  <a:tcPr anchor="ctr">
                    <a:lnL w="6350" cap="flat" cmpd="sng" algn="ctr">
                      <a:solidFill>
                        <a:srgbClr val="D6E4EC"/>
                      </a:solidFill>
                      <a:prstDash val="solid"/>
                      <a:round/>
                      <a:headEnd type="none" w="med" len="med"/>
                      <a:tailEnd type="none" w="med" len="med"/>
                    </a:lnL>
                    <a:lnR w="6350" cap="flat" cmpd="sng" algn="ctr">
                      <a:solidFill>
                        <a:srgbClr val="D6E4EC"/>
                      </a:solidFill>
                      <a:prstDash val="solid"/>
                      <a:round/>
                      <a:headEnd type="none" w="med" len="med"/>
                      <a:tailEnd type="none" w="med" len="med"/>
                    </a:lnR>
                    <a:lnT w="6350" cap="flat" cmpd="sng" algn="ctr">
                      <a:solidFill>
                        <a:srgbClr val="D6E4EC"/>
                      </a:solidFill>
                      <a:prstDash val="solid"/>
                      <a:round/>
                      <a:headEnd type="none" w="med" len="med"/>
                      <a:tailEnd type="none" w="med" len="med"/>
                    </a:lnT>
                    <a:lnB w="6350" cap="flat" cmpd="sng" algn="ctr">
                      <a:solidFill>
                        <a:srgbClr val="D6E4EC"/>
                      </a:solidFill>
                      <a:prstDash val="solid"/>
                      <a:round/>
                      <a:headEnd type="none" w="med" len="med"/>
                      <a:tailEnd type="none" w="med" len="med"/>
                    </a:lnB>
                    <a:solidFill>
                      <a:srgbClr val="FFFFFF"/>
                    </a:solidFill>
                  </a:tcPr>
                </a:tc>
                <a:tc>
                  <a:txBody>
                    <a:bodyPr/>
                    <a:lstStyle/>
                    <a:p>
                      <a:pPr marL="0" indent="0" algn="l">
                        <a:buNone/>
                      </a:pPr>
                      <a:r>
                        <a:rPr lang="en-US" sz="1150" dirty="0">
                          <a:solidFill>
                            <a:srgbClr val="000000"/>
                          </a:solidFill>
                          <a:latin typeface="Calibri" pitchFamily="34" charset="0"/>
                          <a:ea typeface="Calibri" pitchFamily="34" charset="-122"/>
                          <a:cs typeface="Calibri" pitchFamily="34" charset="-120"/>
                        </a:rPr>
                        <a:t>Normality, outliers, collinearity, homoscedasticity</a:t>
                      </a:r>
                      <a:endParaRPr lang="en-US" sz="1150" dirty="0">
                        <a:latin typeface="Calibri" charset="0"/>
                        <a:ea typeface="Calibri" charset="0"/>
                        <a:cs typeface="Calibri" charset="0"/>
                      </a:endParaRPr>
                    </a:p>
                  </a:txBody>
                  <a:tcPr anchor="ctr">
                    <a:lnL w="6350" cap="flat" cmpd="sng" algn="ctr">
                      <a:solidFill>
                        <a:srgbClr val="D6E4EC"/>
                      </a:solidFill>
                      <a:prstDash val="solid"/>
                      <a:round/>
                      <a:headEnd type="none" w="med" len="med"/>
                      <a:tailEnd type="none" w="med" len="med"/>
                    </a:lnL>
                    <a:lnR w="6350" cap="flat" cmpd="sng" algn="ctr">
                      <a:solidFill>
                        <a:srgbClr val="D6E4EC"/>
                      </a:solidFill>
                      <a:prstDash val="solid"/>
                      <a:round/>
                      <a:headEnd type="none" w="med" len="med"/>
                      <a:tailEnd type="none" w="med" len="med"/>
                    </a:lnR>
                    <a:lnT w="6350" cap="flat" cmpd="sng" algn="ctr">
                      <a:solidFill>
                        <a:srgbClr val="D6E4EC"/>
                      </a:solidFill>
                      <a:prstDash val="solid"/>
                      <a:round/>
                      <a:headEnd type="none" w="med" len="med"/>
                      <a:tailEnd type="none" w="med" len="med"/>
                    </a:lnT>
                    <a:lnB w="6350" cap="flat" cmpd="sng" algn="ctr">
                      <a:solidFill>
                        <a:srgbClr val="D6E4EC"/>
                      </a:solidFill>
                      <a:prstDash val="solid"/>
                      <a:round/>
                      <a:headEnd type="none" w="med" len="med"/>
                      <a:tailEnd type="none" w="med" len="med"/>
                    </a:lnB>
                    <a:solidFill>
                      <a:srgbClr val="FFFFFF"/>
                    </a:solidFill>
                  </a:tcPr>
                </a:tc>
                <a:tc>
                  <a:txBody>
                    <a:bodyPr/>
                    <a:lstStyle/>
                    <a:p>
                      <a:pPr marL="0" indent="0" algn="l">
                        <a:buNone/>
                      </a:pPr>
                      <a:r>
                        <a:rPr lang="en-US" sz="1150" dirty="0">
                          <a:solidFill>
                            <a:srgbClr val="000000"/>
                          </a:solidFill>
                          <a:latin typeface="Calibri" pitchFamily="34" charset="0"/>
                          <a:ea typeface="Calibri" pitchFamily="34" charset="-122"/>
                          <a:cs typeface="Calibri" pitchFamily="34" charset="-120"/>
                        </a:rPr>
                        <a:t>VIF range 1.3–2.1; 3 multivariate outliers removed</a:t>
                      </a:r>
                      <a:endParaRPr lang="en-US" sz="1150" dirty="0">
                        <a:latin typeface="Calibri" charset="0"/>
                        <a:ea typeface="Calibri" charset="0"/>
                        <a:cs typeface="Calibri" charset="0"/>
                      </a:endParaRPr>
                    </a:p>
                  </a:txBody>
                  <a:tcPr anchor="ctr">
                    <a:lnL w="6350" cap="flat" cmpd="sng" algn="ctr">
                      <a:solidFill>
                        <a:srgbClr val="D6E4EC"/>
                      </a:solidFill>
                      <a:prstDash val="solid"/>
                      <a:round/>
                      <a:headEnd type="none" w="med" len="med"/>
                      <a:tailEnd type="none" w="med" len="med"/>
                    </a:lnL>
                    <a:lnR w="6350" cap="flat" cmpd="sng" algn="ctr">
                      <a:solidFill>
                        <a:srgbClr val="D6E4EC"/>
                      </a:solidFill>
                      <a:prstDash val="solid"/>
                      <a:round/>
                      <a:headEnd type="none" w="med" len="med"/>
                      <a:tailEnd type="none" w="med" len="med"/>
                    </a:lnR>
                    <a:lnT w="6350" cap="flat" cmpd="sng" algn="ctr">
                      <a:solidFill>
                        <a:srgbClr val="D6E4EC"/>
                      </a:solidFill>
                      <a:prstDash val="solid"/>
                      <a:round/>
                      <a:headEnd type="none" w="med" len="med"/>
                      <a:tailEnd type="none" w="med" len="med"/>
                    </a:lnT>
                    <a:lnB w="6350" cap="flat" cmpd="sng" algn="ctr">
                      <a:solidFill>
                        <a:srgbClr val="D6E4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48640">
                <a:tc>
                  <a:txBody>
                    <a:bodyPr/>
                    <a:lstStyle/>
                    <a:p>
                      <a:pPr marL="0" indent="0" algn="l">
                        <a:buNone/>
                      </a:pPr>
                      <a:r>
                        <a:rPr lang="en-US" sz="1150" dirty="0">
                          <a:solidFill>
                            <a:srgbClr val="000000"/>
                          </a:solidFill>
                          <a:latin typeface="Calibri" pitchFamily="34" charset="0"/>
                          <a:ea typeface="Calibri" pitchFamily="34" charset="-122"/>
                          <a:cs typeface="Calibri" pitchFamily="34" charset="-120"/>
                        </a:rPr>
                        <a:t>Model fit</a:t>
                      </a:r>
                      <a:endParaRPr lang="en-US" sz="1150" dirty="0">
                        <a:latin typeface="Calibri" charset="0"/>
                        <a:ea typeface="Calibri" charset="0"/>
                        <a:cs typeface="Calibri" charset="0"/>
                      </a:endParaRPr>
                    </a:p>
                  </a:txBody>
                  <a:tcPr anchor="ctr">
                    <a:lnL w="6350" cap="flat" cmpd="sng" algn="ctr">
                      <a:solidFill>
                        <a:srgbClr val="D6E4EC"/>
                      </a:solidFill>
                      <a:prstDash val="solid"/>
                      <a:round/>
                      <a:headEnd type="none" w="med" len="med"/>
                      <a:tailEnd type="none" w="med" len="med"/>
                    </a:lnL>
                    <a:lnR w="6350" cap="flat" cmpd="sng" algn="ctr">
                      <a:solidFill>
                        <a:srgbClr val="D6E4EC"/>
                      </a:solidFill>
                      <a:prstDash val="solid"/>
                      <a:round/>
                      <a:headEnd type="none" w="med" len="med"/>
                      <a:tailEnd type="none" w="med" len="med"/>
                    </a:lnR>
                    <a:lnT w="6350" cap="flat" cmpd="sng" algn="ctr">
                      <a:solidFill>
                        <a:srgbClr val="D6E4EC"/>
                      </a:solidFill>
                      <a:prstDash val="solid"/>
                      <a:round/>
                      <a:headEnd type="none" w="med" len="med"/>
                      <a:tailEnd type="none" w="med" len="med"/>
                    </a:lnT>
                    <a:lnB w="6350" cap="flat" cmpd="sng" algn="ctr">
                      <a:solidFill>
                        <a:srgbClr val="D6E4EC"/>
                      </a:solidFill>
                      <a:prstDash val="solid"/>
                      <a:round/>
                      <a:headEnd type="none" w="med" len="med"/>
                      <a:tailEnd type="none" w="med" len="med"/>
                    </a:lnB>
                    <a:solidFill>
                      <a:srgbClr val="FFFFFF"/>
                    </a:solidFill>
                  </a:tcPr>
                </a:tc>
                <a:tc>
                  <a:txBody>
                    <a:bodyPr/>
                    <a:lstStyle/>
                    <a:p>
                      <a:pPr marL="0" indent="0" algn="l">
                        <a:buNone/>
                      </a:pPr>
                      <a:r>
                        <a:rPr lang="en-US" sz="1150" dirty="0">
                          <a:solidFill>
                            <a:srgbClr val="000000"/>
                          </a:solidFill>
                          <a:latin typeface="Calibri" pitchFamily="34" charset="0"/>
                          <a:ea typeface="Calibri" pitchFamily="34" charset="-122"/>
                          <a:cs typeface="Calibri" pitchFamily="34" charset="-120"/>
                        </a:rPr>
                        <a:t>R², Adjusted R², F, df, p for regression; Wilks' Λ for MANOVA</a:t>
                      </a:r>
                      <a:endParaRPr lang="en-US" sz="1150" dirty="0">
                        <a:latin typeface="Calibri" charset="0"/>
                        <a:ea typeface="Calibri" charset="0"/>
                        <a:cs typeface="Calibri" charset="0"/>
                      </a:endParaRPr>
                    </a:p>
                  </a:txBody>
                  <a:tcPr anchor="ctr">
                    <a:lnL w="6350" cap="flat" cmpd="sng" algn="ctr">
                      <a:solidFill>
                        <a:srgbClr val="D6E4EC"/>
                      </a:solidFill>
                      <a:prstDash val="solid"/>
                      <a:round/>
                      <a:headEnd type="none" w="med" len="med"/>
                      <a:tailEnd type="none" w="med" len="med"/>
                    </a:lnL>
                    <a:lnR w="6350" cap="flat" cmpd="sng" algn="ctr">
                      <a:solidFill>
                        <a:srgbClr val="D6E4EC"/>
                      </a:solidFill>
                      <a:prstDash val="solid"/>
                      <a:round/>
                      <a:headEnd type="none" w="med" len="med"/>
                      <a:tailEnd type="none" w="med" len="med"/>
                    </a:lnR>
                    <a:lnT w="6350" cap="flat" cmpd="sng" algn="ctr">
                      <a:solidFill>
                        <a:srgbClr val="D6E4EC"/>
                      </a:solidFill>
                      <a:prstDash val="solid"/>
                      <a:round/>
                      <a:headEnd type="none" w="med" len="med"/>
                      <a:tailEnd type="none" w="med" len="med"/>
                    </a:lnT>
                    <a:lnB w="6350" cap="flat" cmpd="sng" algn="ctr">
                      <a:solidFill>
                        <a:srgbClr val="D6E4EC"/>
                      </a:solidFill>
                      <a:prstDash val="solid"/>
                      <a:round/>
                      <a:headEnd type="none" w="med" len="med"/>
                      <a:tailEnd type="none" w="med" len="med"/>
                    </a:lnB>
                    <a:solidFill>
                      <a:srgbClr val="FFFFFF"/>
                    </a:solidFill>
                  </a:tcPr>
                </a:tc>
                <a:tc>
                  <a:txBody>
                    <a:bodyPr/>
                    <a:lstStyle/>
                    <a:p>
                      <a:pPr marL="0" indent="0" algn="l">
                        <a:buNone/>
                      </a:pPr>
                      <a:r>
                        <a:rPr lang="en-US" sz="1150" dirty="0">
                          <a:solidFill>
                            <a:srgbClr val="000000"/>
                          </a:solidFill>
                          <a:latin typeface="Calibri" pitchFamily="34" charset="0"/>
                          <a:ea typeface="Calibri" pitchFamily="34" charset="-122"/>
                          <a:cs typeface="Calibri" pitchFamily="34" charset="-120"/>
                        </a:rPr>
                        <a:t>R² = .47, Adj. R² = .44, F(5, 336) = 59.7, p &lt; .001</a:t>
                      </a:r>
                      <a:endParaRPr lang="en-US" sz="1150" dirty="0">
                        <a:latin typeface="Calibri" charset="0"/>
                        <a:ea typeface="Calibri" charset="0"/>
                        <a:cs typeface="Calibri" charset="0"/>
                      </a:endParaRPr>
                    </a:p>
                  </a:txBody>
                  <a:tcPr anchor="ctr">
                    <a:lnL w="6350" cap="flat" cmpd="sng" algn="ctr">
                      <a:solidFill>
                        <a:srgbClr val="D6E4EC"/>
                      </a:solidFill>
                      <a:prstDash val="solid"/>
                      <a:round/>
                      <a:headEnd type="none" w="med" len="med"/>
                      <a:tailEnd type="none" w="med" len="med"/>
                    </a:lnL>
                    <a:lnR w="6350" cap="flat" cmpd="sng" algn="ctr">
                      <a:solidFill>
                        <a:srgbClr val="D6E4EC"/>
                      </a:solidFill>
                      <a:prstDash val="solid"/>
                      <a:round/>
                      <a:headEnd type="none" w="med" len="med"/>
                      <a:tailEnd type="none" w="med" len="med"/>
                    </a:lnR>
                    <a:lnT w="6350" cap="flat" cmpd="sng" algn="ctr">
                      <a:solidFill>
                        <a:srgbClr val="D6E4EC"/>
                      </a:solidFill>
                      <a:prstDash val="solid"/>
                      <a:round/>
                      <a:headEnd type="none" w="med" len="med"/>
                      <a:tailEnd type="none" w="med" len="med"/>
                    </a:lnT>
                    <a:lnB w="6350" cap="flat" cmpd="sng" algn="ctr">
                      <a:solidFill>
                        <a:srgbClr val="D6E4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48640">
                <a:tc>
                  <a:txBody>
                    <a:bodyPr/>
                    <a:lstStyle/>
                    <a:p>
                      <a:pPr marL="0" indent="0" algn="l">
                        <a:buNone/>
                      </a:pPr>
                      <a:r>
                        <a:rPr lang="en-US" sz="1150" dirty="0">
                          <a:solidFill>
                            <a:srgbClr val="000000"/>
                          </a:solidFill>
                          <a:latin typeface="Calibri" pitchFamily="34" charset="0"/>
                          <a:ea typeface="Calibri" pitchFamily="34" charset="-122"/>
                          <a:cs typeface="Calibri" pitchFamily="34" charset="-120"/>
                        </a:rPr>
                        <a:t>Coefficients</a:t>
                      </a:r>
                      <a:endParaRPr lang="en-US" sz="1150" dirty="0">
                        <a:latin typeface="Calibri" charset="0"/>
                        <a:ea typeface="Calibri" charset="0"/>
                        <a:cs typeface="Calibri" charset="0"/>
                      </a:endParaRPr>
                    </a:p>
                  </a:txBody>
                  <a:tcPr anchor="ctr">
                    <a:lnL w="6350" cap="flat" cmpd="sng" algn="ctr">
                      <a:solidFill>
                        <a:srgbClr val="D6E4EC"/>
                      </a:solidFill>
                      <a:prstDash val="solid"/>
                      <a:round/>
                      <a:headEnd type="none" w="med" len="med"/>
                      <a:tailEnd type="none" w="med" len="med"/>
                    </a:lnL>
                    <a:lnR w="6350" cap="flat" cmpd="sng" algn="ctr">
                      <a:solidFill>
                        <a:srgbClr val="D6E4EC"/>
                      </a:solidFill>
                      <a:prstDash val="solid"/>
                      <a:round/>
                      <a:headEnd type="none" w="med" len="med"/>
                      <a:tailEnd type="none" w="med" len="med"/>
                    </a:lnR>
                    <a:lnT w="6350" cap="flat" cmpd="sng" algn="ctr">
                      <a:solidFill>
                        <a:srgbClr val="D6E4EC"/>
                      </a:solidFill>
                      <a:prstDash val="solid"/>
                      <a:round/>
                      <a:headEnd type="none" w="med" len="med"/>
                      <a:tailEnd type="none" w="med" len="med"/>
                    </a:lnT>
                    <a:lnB w="6350" cap="flat" cmpd="sng" algn="ctr">
                      <a:solidFill>
                        <a:srgbClr val="D6E4EC"/>
                      </a:solidFill>
                      <a:prstDash val="solid"/>
                      <a:round/>
                      <a:headEnd type="none" w="med" len="med"/>
                      <a:tailEnd type="none" w="med" len="med"/>
                    </a:lnB>
                    <a:solidFill>
                      <a:srgbClr val="FFFFFF"/>
                    </a:solidFill>
                  </a:tcPr>
                </a:tc>
                <a:tc>
                  <a:txBody>
                    <a:bodyPr/>
                    <a:lstStyle/>
                    <a:p>
                      <a:pPr marL="0" indent="0" algn="l">
                        <a:buNone/>
                      </a:pPr>
                      <a:r>
                        <a:rPr lang="en-US" sz="1150" dirty="0">
                          <a:solidFill>
                            <a:srgbClr val="000000"/>
                          </a:solidFill>
                          <a:latin typeface="Calibri" pitchFamily="34" charset="0"/>
                          <a:ea typeface="Calibri" pitchFamily="34" charset="-122"/>
                          <a:cs typeface="Calibri" pitchFamily="34" charset="-120"/>
                        </a:rPr>
                        <a:t>B, SE, β, t/z, p, 95% CI for each predictor</a:t>
                      </a:r>
                      <a:endParaRPr lang="en-US" sz="1150" dirty="0">
                        <a:latin typeface="Calibri" charset="0"/>
                        <a:ea typeface="Calibri" charset="0"/>
                        <a:cs typeface="Calibri" charset="0"/>
                      </a:endParaRPr>
                    </a:p>
                  </a:txBody>
                  <a:tcPr anchor="ctr">
                    <a:lnL w="6350" cap="flat" cmpd="sng" algn="ctr">
                      <a:solidFill>
                        <a:srgbClr val="D6E4EC"/>
                      </a:solidFill>
                      <a:prstDash val="solid"/>
                      <a:round/>
                      <a:headEnd type="none" w="med" len="med"/>
                      <a:tailEnd type="none" w="med" len="med"/>
                    </a:lnL>
                    <a:lnR w="6350" cap="flat" cmpd="sng" algn="ctr">
                      <a:solidFill>
                        <a:srgbClr val="D6E4EC"/>
                      </a:solidFill>
                      <a:prstDash val="solid"/>
                      <a:round/>
                      <a:headEnd type="none" w="med" len="med"/>
                      <a:tailEnd type="none" w="med" len="med"/>
                    </a:lnR>
                    <a:lnT w="6350" cap="flat" cmpd="sng" algn="ctr">
                      <a:solidFill>
                        <a:srgbClr val="D6E4EC"/>
                      </a:solidFill>
                      <a:prstDash val="solid"/>
                      <a:round/>
                      <a:headEnd type="none" w="med" len="med"/>
                      <a:tailEnd type="none" w="med" len="med"/>
                    </a:lnT>
                    <a:lnB w="6350" cap="flat" cmpd="sng" algn="ctr">
                      <a:solidFill>
                        <a:srgbClr val="D6E4EC"/>
                      </a:solidFill>
                      <a:prstDash val="solid"/>
                      <a:round/>
                      <a:headEnd type="none" w="med" len="med"/>
                      <a:tailEnd type="none" w="med" len="med"/>
                    </a:lnB>
                    <a:solidFill>
                      <a:srgbClr val="FFFFFF"/>
                    </a:solidFill>
                  </a:tcPr>
                </a:tc>
                <a:tc>
                  <a:txBody>
                    <a:bodyPr/>
                    <a:lstStyle/>
                    <a:p>
                      <a:pPr marL="0" indent="0" algn="l">
                        <a:buNone/>
                      </a:pPr>
                      <a:r>
                        <a:rPr lang="en-US" sz="1150" dirty="0">
                          <a:solidFill>
                            <a:srgbClr val="000000"/>
                          </a:solidFill>
                          <a:latin typeface="Calibri" pitchFamily="34" charset="0"/>
                          <a:ea typeface="Calibri" pitchFamily="34" charset="-122"/>
                          <a:cs typeface="Calibri" pitchFamily="34" charset="-120"/>
                        </a:rPr>
                        <a:t>BMI: B = 1.23, SE = 0.18, β = .34, p &lt; .001, CI[0.88, 1.58]</a:t>
                      </a:r>
                      <a:endParaRPr lang="en-US" sz="1150" dirty="0">
                        <a:latin typeface="Calibri" charset="0"/>
                        <a:ea typeface="Calibri" charset="0"/>
                        <a:cs typeface="Calibri" charset="0"/>
                      </a:endParaRPr>
                    </a:p>
                  </a:txBody>
                  <a:tcPr anchor="ctr">
                    <a:lnL w="6350" cap="flat" cmpd="sng" algn="ctr">
                      <a:solidFill>
                        <a:srgbClr val="D6E4EC"/>
                      </a:solidFill>
                      <a:prstDash val="solid"/>
                      <a:round/>
                      <a:headEnd type="none" w="med" len="med"/>
                      <a:tailEnd type="none" w="med" len="med"/>
                    </a:lnL>
                    <a:lnR w="6350" cap="flat" cmpd="sng" algn="ctr">
                      <a:solidFill>
                        <a:srgbClr val="D6E4EC"/>
                      </a:solidFill>
                      <a:prstDash val="solid"/>
                      <a:round/>
                      <a:headEnd type="none" w="med" len="med"/>
                      <a:tailEnd type="none" w="med" len="med"/>
                    </a:lnR>
                    <a:lnT w="6350" cap="flat" cmpd="sng" algn="ctr">
                      <a:solidFill>
                        <a:srgbClr val="D6E4EC"/>
                      </a:solidFill>
                      <a:prstDash val="solid"/>
                      <a:round/>
                      <a:headEnd type="none" w="med" len="med"/>
                      <a:tailEnd type="none" w="med" len="med"/>
                    </a:lnT>
                    <a:lnB w="6350" cap="flat" cmpd="sng" algn="ctr">
                      <a:solidFill>
                        <a:srgbClr val="D6E4E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48640">
                <a:tc>
                  <a:txBody>
                    <a:bodyPr/>
                    <a:lstStyle/>
                    <a:p>
                      <a:pPr marL="0" indent="0" algn="l">
                        <a:buNone/>
                      </a:pPr>
                      <a:r>
                        <a:rPr lang="en-US" sz="1150" dirty="0">
                          <a:solidFill>
                            <a:srgbClr val="000000"/>
                          </a:solidFill>
                          <a:latin typeface="Calibri" pitchFamily="34" charset="0"/>
                          <a:ea typeface="Calibri" pitchFamily="34" charset="-122"/>
                          <a:cs typeface="Calibri" pitchFamily="34" charset="-120"/>
                        </a:rPr>
                        <a:t>Effect sizes</a:t>
                      </a:r>
                      <a:endParaRPr lang="en-US" sz="1150" dirty="0">
                        <a:latin typeface="Calibri" charset="0"/>
                        <a:ea typeface="Calibri" charset="0"/>
                        <a:cs typeface="Calibri" charset="0"/>
                      </a:endParaRPr>
                    </a:p>
                  </a:txBody>
                  <a:tcPr anchor="ctr">
                    <a:lnL w="6350" cap="flat" cmpd="sng" algn="ctr">
                      <a:solidFill>
                        <a:srgbClr val="D6E4EC"/>
                      </a:solidFill>
                      <a:prstDash val="solid"/>
                      <a:round/>
                      <a:headEnd type="none" w="med" len="med"/>
                      <a:tailEnd type="none" w="med" len="med"/>
                    </a:lnL>
                    <a:lnR w="6350" cap="flat" cmpd="sng" algn="ctr">
                      <a:solidFill>
                        <a:srgbClr val="D6E4EC"/>
                      </a:solidFill>
                      <a:prstDash val="solid"/>
                      <a:round/>
                      <a:headEnd type="none" w="med" len="med"/>
                      <a:tailEnd type="none" w="med" len="med"/>
                    </a:lnR>
                    <a:lnT w="6350" cap="flat" cmpd="sng" algn="ctr">
                      <a:solidFill>
                        <a:srgbClr val="D6E4EC"/>
                      </a:solidFill>
                      <a:prstDash val="solid"/>
                      <a:round/>
                      <a:headEnd type="none" w="med" len="med"/>
                      <a:tailEnd type="none" w="med" len="med"/>
                    </a:lnT>
                    <a:lnB w="6350" cap="flat" cmpd="sng" algn="ctr">
                      <a:solidFill>
                        <a:srgbClr val="D6E4EC"/>
                      </a:solidFill>
                      <a:prstDash val="solid"/>
                      <a:round/>
                      <a:headEnd type="none" w="med" len="med"/>
                      <a:tailEnd type="none" w="med" len="med"/>
                    </a:lnB>
                    <a:solidFill>
                      <a:srgbClr val="FFFFFF"/>
                    </a:solidFill>
                  </a:tcPr>
                </a:tc>
                <a:tc>
                  <a:txBody>
                    <a:bodyPr/>
                    <a:lstStyle/>
                    <a:p>
                      <a:pPr marL="0" indent="0" algn="l">
                        <a:buNone/>
                      </a:pPr>
                      <a:r>
                        <a:rPr lang="en-US" sz="1150" dirty="0">
                          <a:solidFill>
                            <a:srgbClr val="000000"/>
                          </a:solidFill>
                          <a:latin typeface="Calibri" pitchFamily="34" charset="0"/>
                          <a:ea typeface="Calibri" pitchFamily="34" charset="-122"/>
                          <a:cs typeface="Calibri" pitchFamily="34" charset="-120"/>
                        </a:rPr>
                        <a:t>R², sr², η², ω², Cohen's d, OR</a:t>
                      </a:r>
                      <a:endParaRPr lang="en-US" sz="1150" dirty="0">
                        <a:latin typeface="Calibri" charset="0"/>
                        <a:ea typeface="Calibri" charset="0"/>
                        <a:cs typeface="Calibri" charset="0"/>
                      </a:endParaRPr>
                    </a:p>
                  </a:txBody>
                  <a:tcPr anchor="ctr">
                    <a:lnL w="6350" cap="flat" cmpd="sng" algn="ctr">
                      <a:solidFill>
                        <a:srgbClr val="D6E4EC"/>
                      </a:solidFill>
                      <a:prstDash val="solid"/>
                      <a:round/>
                      <a:headEnd type="none" w="med" len="med"/>
                      <a:tailEnd type="none" w="med" len="med"/>
                    </a:lnL>
                    <a:lnR w="6350" cap="flat" cmpd="sng" algn="ctr">
                      <a:solidFill>
                        <a:srgbClr val="D6E4EC"/>
                      </a:solidFill>
                      <a:prstDash val="solid"/>
                      <a:round/>
                      <a:headEnd type="none" w="med" len="med"/>
                      <a:tailEnd type="none" w="med" len="med"/>
                    </a:lnR>
                    <a:lnT w="6350" cap="flat" cmpd="sng" algn="ctr">
                      <a:solidFill>
                        <a:srgbClr val="D6E4EC"/>
                      </a:solidFill>
                      <a:prstDash val="solid"/>
                      <a:round/>
                      <a:headEnd type="none" w="med" len="med"/>
                      <a:tailEnd type="none" w="med" len="med"/>
                    </a:lnT>
                    <a:lnB w="6350" cap="flat" cmpd="sng" algn="ctr">
                      <a:solidFill>
                        <a:srgbClr val="D6E4EC"/>
                      </a:solidFill>
                      <a:prstDash val="solid"/>
                      <a:round/>
                      <a:headEnd type="none" w="med" len="med"/>
                      <a:tailEnd type="none" w="med" len="med"/>
                    </a:lnB>
                    <a:solidFill>
                      <a:srgbClr val="FFFFFF"/>
                    </a:solidFill>
                  </a:tcPr>
                </a:tc>
                <a:tc>
                  <a:txBody>
                    <a:bodyPr/>
                    <a:lstStyle/>
                    <a:p>
                      <a:pPr marL="0" indent="0" algn="l">
                        <a:buNone/>
                      </a:pPr>
                      <a:r>
                        <a:rPr lang="en-US" sz="1150" dirty="0">
                          <a:solidFill>
                            <a:srgbClr val="000000"/>
                          </a:solidFill>
                          <a:latin typeface="Calibri" pitchFamily="34" charset="0"/>
                          <a:ea typeface="Calibri" pitchFamily="34" charset="-122"/>
                          <a:cs typeface="Calibri" pitchFamily="34" charset="-120"/>
                        </a:rPr>
                        <a:t>sr² = .08 for BMI; ηp² = .12 for group effect</a:t>
                      </a:r>
                      <a:endParaRPr lang="en-US" sz="1150" dirty="0">
                        <a:latin typeface="Calibri" charset="0"/>
                        <a:ea typeface="Calibri" charset="0"/>
                        <a:cs typeface="Calibri" charset="0"/>
                      </a:endParaRPr>
                    </a:p>
                  </a:txBody>
                  <a:tcPr anchor="ctr">
                    <a:lnL w="6350" cap="flat" cmpd="sng" algn="ctr">
                      <a:solidFill>
                        <a:srgbClr val="D6E4EC"/>
                      </a:solidFill>
                      <a:prstDash val="solid"/>
                      <a:round/>
                      <a:headEnd type="none" w="med" len="med"/>
                      <a:tailEnd type="none" w="med" len="med"/>
                    </a:lnL>
                    <a:lnR w="6350" cap="flat" cmpd="sng" algn="ctr">
                      <a:solidFill>
                        <a:srgbClr val="D6E4EC"/>
                      </a:solidFill>
                      <a:prstDash val="solid"/>
                      <a:round/>
                      <a:headEnd type="none" w="med" len="med"/>
                      <a:tailEnd type="none" w="med" len="med"/>
                    </a:lnR>
                    <a:lnT w="6350" cap="flat" cmpd="sng" algn="ctr">
                      <a:solidFill>
                        <a:srgbClr val="D6E4EC"/>
                      </a:solidFill>
                      <a:prstDash val="solid"/>
                      <a:round/>
                      <a:headEnd type="none" w="med" len="med"/>
                      <a:tailEnd type="none" w="med" len="med"/>
                    </a:lnT>
                    <a:lnB w="6350" cap="flat" cmpd="sng" algn="ctr">
                      <a:solidFill>
                        <a:srgbClr val="D6E4E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48640">
                <a:tc>
                  <a:txBody>
                    <a:bodyPr/>
                    <a:lstStyle/>
                    <a:p>
                      <a:pPr marL="0" indent="0" algn="l">
                        <a:buNone/>
                      </a:pPr>
                      <a:r>
                        <a:rPr lang="en-US" sz="1150" dirty="0">
                          <a:solidFill>
                            <a:srgbClr val="000000"/>
                          </a:solidFill>
                          <a:latin typeface="Calibri" pitchFamily="34" charset="0"/>
                          <a:ea typeface="Calibri" pitchFamily="34" charset="-122"/>
                          <a:cs typeface="Calibri" pitchFamily="34" charset="-120"/>
                        </a:rPr>
                        <a:t>Power</a:t>
                      </a:r>
                      <a:endParaRPr lang="en-US" sz="1150" dirty="0">
                        <a:latin typeface="Calibri" charset="0"/>
                        <a:ea typeface="Calibri" charset="0"/>
                        <a:cs typeface="Calibri" charset="0"/>
                      </a:endParaRPr>
                    </a:p>
                  </a:txBody>
                  <a:tcPr anchor="ctr">
                    <a:lnL w="6350" cap="flat" cmpd="sng" algn="ctr">
                      <a:solidFill>
                        <a:srgbClr val="D6E4EC"/>
                      </a:solidFill>
                      <a:prstDash val="solid"/>
                      <a:round/>
                      <a:headEnd type="none" w="med" len="med"/>
                      <a:tailEnd type="none" w="med" len="med"/>
                    </a:lnL>
                    <a:lnR w="6350" cap="flat" cmpd="sng" algn="ctr">
                      <a:solidFill>
                        <a:srgbClr val="D6E4EC"/>
                      </a:solidFill>
                      <a:prstDash val="solid"/>
                      <a:round/>
                      <a:headEnd type="none" w="med" len="med"/>
                      <a:tailEnd type="none" w="med" len="med"/>
                    </a:lnR>
                    <a:lnT w="6350" cap="flat" cmpd="sng" algn="ctr">
                      <a:solidFill>
                        <a:srgbClr val="D6E4EC"/>
                      </a:solidFill>
                      <a:prstDash val="solid"/>
                      <a:round/>
                      <a:headEnd type="none" w="med" len="med"/>
                      <a:tailEnd type="none" w="med" len="med"/>
                    </a:lnT>
                    <a:lnB w="6350" cap="flat" cmpd="sng" algn="ctr">
                      <a:solidFill>
                        <a:srgbClr val="D6E4EC"/>
                      </a:solidFill>
                      <a:prstDash val="solid"/>
                      <a:round/>
                      <a:headEnd type="none" w="med" len="med"/>
                      <a:tailEnd type="none" w="med" len="med"/>
                    </a:lnB>
                    <a:solidFill>
                      <a:srgbClr val="FFFFFF"/>
                    </a:solidFill>
                  </a:tcPr>
                </a:tc>
                <a:tc>
                  <a:txBody>
                    <a:bodyPr/>
                    <a:lstStyle/>
                    <a:p>
                      <a:pPr marL="0" indent="0" algn="l">
                        <a:buNone/>
                      </a:pPr>
                      <a:r>
                        <a:rPr lang="en-US" sz="1150" dirty="0">
                          <a:solidFill>
                            <a:srgbClr val="000000"/>
                          </a:solidFill>
                          <a:latin typeface="Calibri" pitchFamily="34" charset="0"/>
                          <a:ea typeface="Calibri" pitchFamily="34" charset="-122"/>
                          <a:cs typeface="Calibri" pitchFamily="34" charset="-120"/>
                        </a:rPr>
                        <a:t>Achieved power or priori power analysis</a:t>
                      </a:r>
                      <a:endParaRPr lang="en-US" sz="1150" dirty="0">
                        <a:latin typeface="Calibri" charset="0"/>
                        <a:ea typeface="Calibri" charset="0"/>
                        <a:cs typeface="Calibri" charset="0"/>
                      </a:endParaRPr>
                    </a:p>
                  </a:txBody>
                  <a:tcPr anchor="ctr">
                    <a:lnL w="6350" cap="flat" cmpd="sng" algn="ctr">
                      <a:solidFill>
                        <a:srgbClr val="D6E4EC"/>
                      </a:solidFill>
                      <a:prstDash val="solid"/>
                      <a:round/>
                      <a:headEnd type="none" w="med" len="med"/>
                      <a:tailEnd type="none" w="med" len="med"/>
                    </a:lnL>
                    <a:lnR w="6350" cap="flat" cmpd="sng" algn="ctr">
                      <a:solidFill>
                        <a:srgbClr val="D6E4EC"/>
                      </a:solidFill>
                      <a:prstDash val="solid"/>
                      <a:round/>
                      <a:headEnd type="none" w="med" len="med"/>
                      <a:tailEnd type="none" w="med" len="med"/>
                    </a:lnR>
                    <a:lnT w="6350" cap="flat" cmpd="sng" algn="ctr">
                      <a:solidFill>
                        <a:srgbClr val="D6E4EC"/>
                      </a:solidFill>
                      <a:prstDash val="solid"/>
                      <a:round/>
                      <a:headEnd type="none" w="med" len="med"/>
                      <a:tailEnd type="none" w="med" len="med"/>
                    </a:lnT>
                    <a:lnB w="6350" cap="flat" cmpd="sng" algn="ctr">
                      <a:solidFill>
                        <a:srgbClr val="D6E4EC"/>
                      </a:solidFill>
                      <a:prstDash val="solid"/>
                      <a:round/>
                      <a:headEnd type="none" w="med" len="med"/>
                      <a:tailEnd type="none" w="med" len="med"/>
                    </a:lnB>
                    <a:solidFill>
                      <a:srgbClr val="FFFFFF"/>
                    </a:solidFill>
                  </a:tcPr>
                </a:tc>
                <a:tc>
                  <a:txBody>
                    <a:bodyPr/>
                    <a:lstStyle/>
                    <a:p>
                      <a:pPr marL="0" indent="0" algn="l">
                        <a:buNone/>
                      </a:pPr>
                      <a:r>
                        <a:rPr lang="en-US" sz="1150" dirty="0">
                          <a:solidFill>
                            <a:srgbClr val="000000"/>
                          </a:solidFill>
                          <a:latin typeface="Calibri" pitchFamily="34" charset="0"/>
                          <a:ea typeface="Calibri" pitchFamily="34" charset="-122"/>
                          <a:cs typeface="Calibri" pitchFamily="34" charset="-120"/>
                        </a:rPr>
                        <a:t>Post-hoc power = 0.92 (G*Power 3.1, medium f²)</a:t>
                      </a:r>
                      <a:endParaRPr lang="en-US" sz="1150" dirty="0">
                        <a:latin typeface="Calibri" charset="0"/>
                        <a:ea typeface="Calibri" charset="0"/>
                        <a:cs typeface="Calibri" charset="0"/>
                      </a:endParaRPr>
                    </a:p>
                  </a:txBody>
                  <a:tcPr anchor="ctr">
                    <a:lnL w="6350" cap="flat" cmpd="sng" algn="ctr">
                      <a:solidFill>
                        <a:srgbClr val="D6E4EC"/>
                      </a:solidFill>
                      <a:prstDash val="solid"/>
                      <a:round/>
                      <a:headEnd type="none" w="med" len="med"/>
                      <a:tailEnd type="none" w="med" len="med"/>
                    </a:lnL>
                    <a:lnR w="6350" cap="flat" cmpd="sng" algn="ctr">
                      <a:solidFill>
                        <a:srgbClr val="D6E4EC"/>
                      </a:solidFill>
                      <a:prstDash val="solid"/>
                      <a:round/>
                      <a:headEnd type="none" w="med" len="med"/>
                      <a:tailEnd type="none" w="med" len="med"/>
                    </a:lnR>
                    <a:lnT w="6350" cap="flat" cmpd="sng" algn="ctr">
                      <a:solidFill>
                        <a:srgbClr val="D6E4EC"/>
                      </a:solidFill>
                      <a:prstDash val="solid"/>
                      <a:round/>
                      <a:headEnd type="none" w="med" len="med"/>
                      <a:tailEnd type="none" w="med" len="med"/>
                    </a:lnT>
                    <a:lnB w="6350" cap="flat" cmpd="sng" algn="ctr">
                      <a:solidFill>
                        <a:srgbClr val="D6E4E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8A838"/>
          </a:solidFill>
          <a:ln w="12700">
            <a:solidFill>
              <a:srgbClr val="E8A838"/>
            </a:solidFill>
            <a:prstDash val="solid"/>
          </a:ln>
        </p:spPr>
        <p:txBody>
          <a:bodyPr/>
          <a:lstStyle/>
          <a:p>
            <a:endParaRPr lang="en-US"/>
          </a:p>
        </p:txBody>
      </p:sp>
      <p:sp>
        <p:nvSpPr>
          <p:cNvPr id="3" name="Text 1"/>
          <p:cNvSpPr/>
          <p:nvPr/>
        </p:nvSpPr>
        <p:spPr>
          <a:xfrm>
            <a:off x="411480" y="164592"/>
            <a:ext cx="8321040" cy="640080"/>
          </a:xfrm>
          <a:prstGeom prst="rect">
            <a:avLst/>
          </a:prstGeom>
          <a:noFill/>
          <a:ln/>
        </p:spPr>
        <p:txBody>
          <a:bodyPr wrap="square" lIns="0" tIns="0" rIns="0" bIns="0" rtlCol="0" anchor="ctr"/>
          <a:lstStyle/>
          <a:p>
            <a:pPr marL="0" indent="0">
              <a:buNone/>
            </a:pPr>
            <a:r>
              <a:rPr lang="en-US" sz="2800" b="1" dirty="0">
                <a:solidFill>
                  <a:srgbClr val="065A82"/>
                </a:solidFill>
                <a:latin typeface="Cambria" pitchFamily="34" charset="0"/>
                <a:ea typeface="Cambria" pitchFamily="34" charset="-122"/>
                <a:cs typeface="Cambria" pitchFamily="34" charset="-120"/>
              </a:rPr>
              <a:t>Critically Appraising Multivariate Studies</a:t>
            </a:r>
            <a:endParaRPr lang="en-US" sz="2800" dirty="0"/>
          </a:p>
        </p:txBody>
      </p:sp>
      <p:sp>
        <p:nvSpPr>
          <p:cNvPr id="4" name="Text 2"/>
          <p:cNvSpPr/>
          <p:nvPr/>
        </p:nvSpPr>
        <p:spPr>
          <a:xfrm>
            <a:off x="411480" y="886968"/>
            <a:ext cx="8321040" cy="347472"/>
          </a:xfrm>
          <a:prstGeom prst="rect">
            <a:avLst/>
          </a:prstGeom>
          <a:noFill/>
          <a:ln/>
        </p:spPr>
        <p:txBody>
          <a:bodyPr wrap="square" lIns="0" tIns="0" rIns="0" bIns="0" rtlCol="0" anchor="ctr"/>
          <a:lstStyle/>
          <a:p>
            <a:pPr marL="0" indent="0">
              <a:buNone/>
            </a:pPr>
            <a:r>
              <a:rPr lang="en-US" sz="1350" i="1" dirty="0">
                <a:solidFill>
                  <a:srgbClr val="5A7080"/>
                </a:solidFill>
                <a:latin typeface="Calibri" pitchFamily="34" charset="0"/>
                <a:ea typeface="Calibri" pitchFamily="34" charset="-122"/>
                <a:cs typeface="Calibri" pitchFamily="34" charset="-120"/>
              </a:rPr>
              <a:t>When reading published multivariate analyses, ask these questions:</a:t>
            </a:r>
            <a:endParaRPr lang="en-US" sz="1350" dirty="0"/>
          </a:p>
        </p:txBody>
      </p:sp>
      <p:sp>
        <p:nvSpPr>
          <p:cNvPr id="5" name="Shape 3"/>
          <p:cNvSpPr/>
          <p:nvPr/>
        </p:nvSpPr>
        <p:spPr>
          <a:xfrm>
            <a:off x="411480" y="1298448"/>
            <a:ext cx="4069080" cy="850392"/>
          </a:xfrm>
          <a:prstGeom prst="rect">
            <a:avLst/>
          </a:prstGeom>
          <a:solidFill>
            <a:srgbClr val="FFFFFF"/>
          </a:solidFill>
          <a:ln w="12700">
            <a:solidFill>
              <a:srgbClr val="D6E4EC"/>
            </a:solidFill>
            <a:prstDash val="solid"/>
          </a:ln>
          <a:effectLst>
            <a:outerShdw blurRad="38100" dist="25400" dir="8100000" algn="bl" rotWithShape="0">
              <a:srgbClr val="000000">
                <a:alpha val="8000"/>
              </a:srgbClr>
            </a:outerShdw>
          </a:effectLst>
        </p:spPr>
        <p:txBody>
          <a:bodyPr/>
          <a:lstStyle/>
          <a:p>
            <a:endParaRPr lang="en-US"/>
          </a:p>
        </p:txBody>
      </p:sp>
      <p:sp>
        <p:nvSpPr>
          <p:cNvPr id="6" name="Shape 4"/>
          <p:cNvSpPr/>
          <p:nvPr/>
        </p:nvSpPr>
        <p:spPr>
          <a:xfrm>
            <a:off x="411480" y="1298448"/>
            <a:ext cx="64008" cy="850392"/>
          </a:xfrm>
          <a:prstGeom prst="rect">
            <a:avLst/>
          </a:prstGeom>
          <a:solidFill>
            <a:srgbClr val="065A82"/>
          </a:solidFill>
          <a:ln w="12700">
            <a:solidFill>
              <a:srgbClr val="065A82"/>
            </a:solidFill>
            <a:prstDash val="solid"/>
          </a:ln>
        </p:spPr>
        <p:txBody>
          <a:bodyPr/>
          <a:lstStyle/>
          <a:p>
            <a:endParaRPr lang="en-US"/>
          </a:p>
        </p:txBody>
      </p:sp>
      <p:sp>
        <p:nvSpPr>
          <p:cNvPr id="7" name="Text 5"/>
          <p:cNvSpPr/>
          <p:nvPr/>
        </p:nvSpPr>
        <p:spPr>
          <a:xfrm>
            <a:off x="539496" y="1335024"/>
            <a:ext cx="3840480" cy="274320"/>
          </a:xfrm>
          <a:prstGeom prst="rect">
            <a:avLst/>
          </a:prstGeom>
          <a:noFill/>
          <a:ln/>
        </p:spPr>
        <p:txBody>
          <a:bodyPr wrap="square" lIns="0" tIns="0" rIns="0" bIns="0" rtlCol="0" anchor="ctr"/>
          <a:lstStyle/>
          <a:p>
            <a:pPr marL="0" indent="0">
              <a:buNone/>
            </a:pPr>
            <a:r>
              <a:rPr lang="en-US" sz="1200" b="1" dirty="0">
                <a:solidFill>
                  <a:srgbClr val="065A82"/>
                </a:solidFill>
                <a:latin typeface="Cambria" pitchFamily="34" charset="0"/>
                <a:ea typeface="Cambria" pitchFamily="34" charset="-122"/>
                <a:cs typeface="Cambria" pitchFamily="34" charset="-120"/>
              </a:rPr>
              <a:t>Technique match</a:t>
            </a:r>
            <a:endParaRPr lang="en-US" sz="1200" dirty="0"/>
          </a:p>
        </p:txBody>
      </p:sp>
      <p:sp>
        <p:nvSpPr>
          <p:cNvPr id="8" name="Text 6"/>
          <p:cNvSpPr/>
          <p:nvPr/>
        </p:nvSpPr>
        <p:spPr>
          <a:xfrm>
            <a:off x="539496" y="1627632"/>
            <a:ext cx="3840480" cy="457200"/>
          </a:xfrm>
          <a:prstGeom prst="rect">
            <a:avLst/>
          </a:prstGeom>
          <a:noFill/>
          <a:ln/>
        </p:spPr>
        <p:txBody>
          <a:bodyPr wrap="square" lIns="0" tIns="0" rIns="0" bIns="0" rtlCol="0" anchor="t"/>
          <a:lstStyle/>
          <a:p>
            <a:pPr marL="0" indent="0">
              <a:buNone/>
            </a:pPr>
            <a:r>
              <a:rPr lang="en-US" sz="1100" dirty="0">
                <a:solidFill>
                  <a:srgbClr val="1A2D3D"/>
                </a:solidFill>
                <a:latin typeface="Calibri" pitchFamily="34" charset="0"/>
                <a:ea typeface="Calibri" pitchFamily="34" charset="-122"/>
                <a:cs typeface="Calibri" pitchFamily="34" charset="-120"/>
              </a:rPr>
              <a:t>Is the technique appropriate for the research question and variable types?</a:t>
            </a:r>
            <a:endParaRPr lang="en-US" sz="1100" dirty="0"/>
          </a:p>
        </p:txBody>
      </p:sp>
      <p:sp>
        <p:nvSpPr>
          <p:cNvPr id="9" name="Shape 7"/>
          <p:cNvSpPr/>
          <p:nvPr/>
        </p:nvSpPr>
        <p:spPr>
          <a:xfrm>
            <a:off x="4663440" y="1298448"/>
            <a:ext cx="4069080" cy="850392"/>
          </a:xfrm>
          <a:prstGeom prst="rect">
            <a:avLst/>
          </a:prstGeom>
          <a:solidFill>
            <a:srgbClr val="FFFFFF"/>
          </a:solidFill>
          <a:ln w="12700">
            <a:solidFill>
              <a:srgbClr val="D6E4EC"/>
            </a:solidFill>
            <a:prstDash val="solid"/>
          </a:ln>
          <a:effectLst>
            <a:outerShdw blurRad="38100" dist="25400" dir="8100000" algn="bl" rotWithShape="0">
              <a:srgbClr val="000000">
                <a:alpha val="8000"/>
              </a:srgbClr>
            </a:outerShdw>
          </a:effectLst>
        </p:spPr>
        <p:txBody>
          <a:bodyPr/>
          <a:lstStyle/>
          <a:p>
            <a:endParaRPr lang="en-US"/>
          </a:p>
        </p:txBody>
      </p:sp>
      <p:sp>
        <p:nvSpPr>
          <p:cNvPr id="10" name="Shape 8"/>
          <p:cNvSpPr/>
          <p:nvPr/>
        </p:nvSpPr>
        <p:spPr>
          <a:xfrm>
            <a:off x="4663440" y="1298448"/>
            <a:ext cx="64008" cy="850392"/>
          </a:xfrm>
          <a:prstGeom prst="rect">
            <a:avLst/>
          </a:prstGeom>
          <a:solidFill>
            <a:srgbClr val="1C7293"/>
          </a:solidFill>
          <a:ln w="12700">
            <a:solidFill>
              <a:srgbClr val="1C7293"/>
            </a:solidFill>
            <a:prstDash val="solid"/>
          </a:ln>
        </p:spPr>
        <p:txBody>
          <a:bodyPr/>
          <a:lstStyle/>
          <a:p>
            <a:endParaRPr lang="en-US"/>
          </a:p>
        </p:txBody>
      </p:sp>
      <p:sp>
        <p:nvSpPr>
          <p:cNvPr id="11" name="Text 9"/>
          <p:cNvSpPr/>
          <p:nvPr/>
        </p:nvSpPr>
        <p:spPr>
          <a:xfrm>
            <a:off x="4791456" y="1335024"/>
            <a:ext cx="3840480" cy="274320"/>
          </a:xfrm>
          <a:prstGeom prst="rect">
            <a:avLst/>
          </a:prstGeom>
          <a:noFill/>
          <a:ln/>
        </p:spPr>
        <p:txBody>
          <a:bodyPr wrap="square" lIns="0" tIns="0" rIns="0" bIns="0" rtlCol="0" anchor="ctr"/>
          <a:lstStyle/>
          <a:p>
            <a:pPr marL="0" indent="0">
              <a:buNone/>
            </a:pPr>
            <a:r>
              <a:rPr lang="en-US" sz="1200" b="1" dirty="0">
                <a:solidFill>
                  <a:srgbClr val="1C7293"/>
                </a:solidFill>
                <a:latin typeface="Cambria" pitchFamily="34" charset="0"/>
                <a:ea typeface="Cambria" pitchFamily="34" charset="-122"/>
                <a:cs typeface="Cambria" pitchFamily="34" charset="-120"/>
              </a:rPr>
              <a:t>Sample size</a:t>
            </a:r>
            <a:endParaRPr lang="en-US" sz="1200" dirty="0"/>
          </a:p>
        </p:txBody>
      </p:sp>
      <p:sp>
        <p:nvSpPr>
          <p:cNvPr id="12" name="Text 10"/>
          <p:cNvSpPr/>
          <p:nvPr/>
        </p:nvSpPr>
        <p:spPr>
          <a:xfrm>
            <a:off x="4791456" y="1627632"/>
            <a:ext cx="3840480" cy="457200"/>
          </a:xfrm>
          <a:prstGeom prst="rect">
            <a:avLst/>
          </a:prstGeom>
          <a:noFill/>
          <a:ln/>
        </p:spPr>
        <p:txBody>
          <a:bodyPr wrap="square" lIns="0" tIns="0" rIns="0" bIns="0" rtlCol="0" anchor="t"/>
          <a:lstStyle/>
          <a:p>
            <a:pPr marL="0" indent="0">
              <a:buNone/>
            </a:pPr>
            <a:r>
              <a:rPr lang="en-US" sz="1100" dirty="0">
                <a:solidFill>
                  <a:srgbClr val="1A2D3D"/>
                </a:solidFill>
                <a:latin typeface="Calibri" pitchFamily="34" charset="0"/>
                <a:ea typeface="Calibri" pitchFamily="34" charset="-122"/>
                <a:cs typeface="Calibri" pitchFamily="34" charset="-120"/>
              </a:rPr>
              <a:t>Is N adequate for the number of predictors/factors? Was power estimated?</a:t>
            </a:r>
            <a:endParaRPr lang="en-US" sz="1100" dirty="0"/>
          </a:p>
        </p:txBody>
      </p:sp>
      <p:sp>
        <p:nvSpPr>
          <p:cNvPr id="13" name="Shape 11"/>
          <p:cNvSpPr/>
          <p:nvPr/>
        </p:nvSpPr>
        <p:spPr>
          <a:xfrm>
            <a:off x="411480" y="2258568"/>
            <a:ext cx="4069080" cy="850392"/>
          </a:xfrm>
          <a:prstGeom prst="rect">
            <a:avLst/>
          </a:prstGeom>
          <a:solidFill>
            <a:srgbClr val="FFFFFF"/>
          </a:solidFill>
          <a:ln w="12700">
            <a:solidFill>
              <a:srgbClr val="D6E4EC"/>
            </a:solidFill>
            <a:prstDash val="solid"/>
          </a:ln>
          <a:effectLst>
            <a:outerShdw blurRad="38100" dist="25400" dir="8100000" algn="bl" rotWithShape="0">
              <a:srgbClr val="000000">
                <a:alpha val="8000"/>
              </a:srgbClr>
            </a:outerShdw>
          </a:effectLst>
        </p:spPr>
        <p:txBody>
          <a:bodyPr/>
          <a:lstStyle/>
          <a:p>
            <a:endParaRPr lang="en-US"/>
          </a:p>
        </p:txBody>
      </p:sp>
      <p:sp>
        <p:nvSpPr>
          <p:cNvPr id="14" name="Shape 12"/>
          <p:cNvSpPr/>
          <p:nvPr/>
        </p:nvSpPr>
        <p:spPr>
          <a:xfrm>
            <a:off x="411480" y="2258568"/>
            <a:ext cx="64008" cy="850392"/>
          </a:xfrm>
          <a:prstGeom prst="rect">
            <a:avLst/>
          </a:prstGeom>
          <a:solidFill>
            <a:srgbClr val="E8A838"/>
          </a:solidFill>
          <a:ln w="12700">
            <a:solidFill>
              <a:srgbClr val="E8A838"/>
            </a:solidFill>
            <a:prstDash val="solid"/>
          </a:ln>
        </p:spPr>
        <p:txBody>
          <a:bodyPr/>
          <a:lstStyle/>
          <a:p>
            <a:endParaRPr lang="en-US"/>
          </a:p>
        </p:txBody>
      </p:sp>
      <p:sp>
        <p:nvSpPr>
          <p:cNvPr id="15" name="Text 13"/>
          <p:cNvSpPr/>
          <p:nvPr/>
        </p:nvSpPr>
        <p:spPr>
          <a:xfrm>
            <a:off x="539496" y="2295144"/>
            <a:ext cx="3840480" cy="274320"/>
          </a:xfrm>
          <a:prstGeom prst="rect">
            <a:avLst/>
          </a:prstGeom>
          <a:noFill/>
          <a:ln/>
        </p:spPr>
        <p:txBody>
          <a:bodyPr wrap="square" lIns="0" tIns="0" rIns="0" bIns="0" rtlCol="0" anchor="ctr"/>
          <a:lstStyle/>
          <a:p>
            <a:pPr marL="0" indent="0">
              <a:buNone/>
            </a:pPr>
            <a:r>
              <a:rPr lang="en-US" sz="1200" b="1" dirty="0">
                <a:solidFill>
                  <a:srgbClr val="E8A838"/>
                </a:solidFill>
                <a:latin typeface="Cambria" pitchFamily="34" charset="0"/>
                <a:ea typeface="Cambria" pitchFamily="34" charset="-122"/>
                <a:cs typeface="Cambria" pitchFamily="34" charset="-120"/>
              </a:rPr>
              <a:t>Assumption reporting</a:t>
            </a:r>
            <a:endParaRPr lang="en-US" sz="1200" dirty="0"/>
          </a:p>
        </p:txBody>
      </p:sp>
      <p:sp>
        <p:nvSpPr>
          <p:cNvPr id="16" name="Text 14"/>
          <p:cNvSpPr/>
          <p:nvPr/>
        </p:nvSpPr>
        <p:spPr>
          <a:xfrm>
            <a:off x="539496" y="2587752"/>
            <a:ext cx="3840480" cy="457200"/>
          </a:xfrm>
          <a:prstGeom prst="rect">
            <a:avLst/>
          </a:prstGeom>
          <a:noFill/>
          <a:ln/>
        </p:spPr>
        <p:txBody>
          <a:bodyPr wrap="square" lIns="0" tIns="0" rIns="0" bIns="0" rtlCol="0" anchor="t"/>
          <a:lstStyle/>
          <a:p>
            <a:pPr marL="0" indent="0">
              <a:buNone/>
            </a:pPr>
            <a:r>
              <a:rPr lang="en-US" sz="1100" dirty="0">
                <a:solidFill>
                  <a:srgbClr val="1A2D3D"/>
                </a:solidFill>
                <a:latin typeface="Calibri" pitchFamily="34" charset="0"/>
                <a:ea typeface="Calibri" pitchFamily="34" charset="-122"/>
                <a:cs typeface="Calibri" pitchFamily="34" charset="-120"/>
              </a:rPr>
              <a:t>Were normality, linearity, outliers, and collinearity examined and reported?</a:t>
            </a:r>
            <a:endParaRPr lang="en-US" sz="1100" dirty="0"/>
          </a:p>
        </p:txBody>
      </p:sp>
      <p:sp>
        <p:nvSpPr>
          <p:cNvPr id="17" name="Shape 15"/>
          <p:cNvSpPr/>
          <p:nvPr/>
        </p:nvSpPr>
        <p:spPr>
          <a:xfrm>
            <a:off x="4663440" y="2258568"/>
            <a:ext cx="4069080" cy="850392"/>
          </a:xfrm>
          <a:prstGeom prst="rect">
            <a:avLst/>
          </a:prstGeom>
          <a:solidFill>
            <a:srgbClr val="FFFFFF"/>
          </a:solidFill>
          <a:ln w="12700">
            <a:solidFill>
              <a:srgbClr val="D6E4EC"/>
            </a:solidFill>
            <a:prstDash val="solid"/>
          </a:ln>
          <a:effectLst>
            <a:outerShdw blurRad="38100" dist="25400" dir="8100000" algn="bl" rotWithShape="0">
              <a:srgbClr val="000000">
                <a:alpha val="8000"/>
              </a:srgbClr>
            </a:outerShdw>
          </a:effectLst>
        </p:spPr>
        <p:txBody>
          <a:bodyPr/>
          <a:lstStyle/>
          <a:p>
            <a:endParaRPr lang="en-US"/>
          </a:p>
        </p:txBody>
      </p:sp>
      <p:sp>
        <p:nvSpPr>
          <p:cNvPr id="18" name="Shape 16"/>
          <p:cNvSpPr/>
          <p:nvPr/>
        </p:nvSpPr>
        <p:spPr>
          <a:xfrm>
            <a:off x="4663440" y="2258568"/>
            <a:ext cx="64008" cy="850392"/>
          </a:xfrm>
          <a:prstGeom prst="rect">
            <a:avLst/>
          </a:prstGeom>
          <a:solidFill>
            <a:srgbClr val="065A82"/>
          </a:solidFill>
          <a:ln w="12700">
            <a:solidFill>
              <a:srgbClr val="065A82"/>
            </a:solidFill>
            <a:prstDash val="solid"/>
          </a:ln>
        </p:spPr>
        <p:txBody>
          <a:bodyPr/>
          <a:lstStyle/>
          <a:p>
            <a:endParaRPr lang="en-US"/>
          </a:p>
        </p:txBody>
      </p:sp>
      <p:sp>
        <p:nvSpPr>
          <p:cNvPr id="19" name="Text 17"/>
          <p:cNvSpPr/>
          <p:nvPr/>
        </p:nvSpPr>
        <p:spPr>
          <a:xfrm>
            <a:off x="4791456" y="2295144"/>
            <a:ext cx="3840480" cy="274320"/>
          </a:xfrm>
          <a:prstGeom prst="rect">
            <a:avLst/>
          </a:prstGeom>
          <a:noFill/>
          <a:ln/>
        </p:spPr>
        <p:txBody>
          <a:bodyPr wrap="square" lIns="0" tIns="0" rIns="0" bIns="0" rtlCol="0" anchor="ctr"/>
          <a:lstStyle/>
          <a:p>
            <a:pPr marL="0" indent="0">
              <a:buNone/>
            </a:pPr>
            <a:r>
              <a:rPr lang="en-US" sz="1200" b="1" dirty="0">
                <a:solidFill>
                  <a:srgbClr val="065A82"/>
                </a:solidFill>
                <a:latin typeface="Cambria" pitchFamily="34" charset="0"/>
                <a:ea typeface="Cambria" pitchFamily="34" charset="-122"/>
                <a:cs typeface="Cambria" pitchFamily="34" charset="-120"/>
              </a:rPr>
              <a:t>Missing data</a:t>
            </a:r>
            <a:endParaRPr lang="en-US" sz="1200" dirty="0"/>
          </a:p>
        </p:txBody>
      </p:sp>
      <p:sp>
        <p:nvSpPr>
          <p:cNvPr id="20" name="Text 18"/>
          <p:cNvSpPr/>
          <p:nvPr/>
        </p:nvSpPr>
        <p:spPr>
          <a:xfrm>
            <a:off x="4791456" y="2587752"/>
            <a:ext cx="3840480" cy="457200"/>
          </a:xfrm>
          <a:prstGeom prst="rect">
            <a:avLst/>
          </a:prstGeom>
          <a:noFill/>
          <a:ln/>
        </p:spPr>
        <p:txBody>
          <a:bodyPr wrap="square" lIns="0" tIns="0" rIns="0" bIns="0" rtlCol="0" anchor="t"/>
          <a:lstStyle/>
          <a:p>
            <a:pPr marL="0" indent="0">
              <a:buNone/>
            </a:pPr>
            <a:r>
              <a:rPr lang="en-US" sz="1100" dirty="0">
                <a:solidFill>
                  <a:srgbClr val="1A2D3D"/>
                </a:solidFill>
                <a:latin typeface="Calibri" pitchFamily="34" charset="0"/>
                <a:ea typeface="Calibri" pitchFamily="34" charset="-122"/>
                <a:cs typeface="Calibri" pitchFamily="34" charset="-120"/>
              </a:rPr>
              <a:t>Was missingness described? Was an appropriate strategy (MI, FIML) used?</a:t>
            </a:r>
            <a:endParaRPr lang="en-US" sz="1100" dirty="0"/>
          </a:p>
        </p:txBody>
      </p:sp>
      <p:sp>
        <p:nvSpPr>
          <p:cNvPr id="21" name="Shape 19"/>
          <p:cNvSpPr/>
          <p:nvPr/>
        </p:nvSpPr>
        <p:spPr>
          <a:xfrm>
            <a:off x="411480" y="3218688"/>
            <a:ext cx="4069080" cy="850392"/>
          </a:xfrm>
          <a:prstGeom prst="rect">
            <a:avLst/>
          </a:prstGeom>
          <a:solidFill>
            <a:srgbClr val="FFFFFF"/>
          </a:solidFill>
          <a:ln w="12700">
            <a:solidFill>
              <a:srgbClr val="D6E4EC"/>
            </a:solidFill>
            <a:prstDash val="solid"/>
          </a:ln>
          <a:effectLst>
            <a:outerShdw blurRad="38100" dist="25400" dir="8100000" algn="bl" rotWithShape="0">
              <a:srgbClr val="000000">
                <a:alpha val="8000"/>
              </a:srgbClr>
            </a:outerShdw>
          </a:effectLst>
        </p:spPr>
        <p:txBody>
          <a:bodyPr/>
          <a:lstStyle/>
          <a:p>
            <a:endParaRPr lang="en-US"/>
          </a:p>
        </p:txBody>
      </p:sp>
      <p:sp>
        <p:nvSpPr>
          <p:cNvPr id="22" name="Shape 20"/>
          <p:cNvSpPr/>
          <p:nvPr/>
        </p:nvSpPr>
        <p:spPr>
          <a:xfrm>
            <a:off x="411480" y="3218688"/>
            <a:ext cx="64008" cy="850392"/>
          </a:xfrm>
          <a:prstGeom prst="rect">
            <a:avLst/>
          </a:prstGeom>
          <a:solidFill>
            <a:srgbClr val="1C7293"/>
          </a:solidFill>
          <a:ln w="12700">
            <a:solidFill>
              <a:srgbClr val="1C7293"/>
            </a:solidFill>
            <a:prstDash val="solid"/>
          </a:ln>
        </p:spPr>
        <p:txBody>
          <a:bodyPr/>
          <a:lstStyle/>
          <a:p>
            <a:endParaRPr lang="en-US"/>
          </a:p>
        </p:txBody>
      </p:sp>
      <p:sp>
        <p:nvSpPr>
          <p:cNvPr id="23" name="Text 21"/>
          <p:cNvSpPr/>
          <p:nvPr/>
        </p:nvSpPr>
        <p:spPr>
          <a:xfrm>
            <a:off x="539496" y="3255264"/>
            <a:ext cx="3840480" cy="274320"/>
          </a:xfrm>
          <a:prstGeom prst="rect">
            <a:avLst/>
          </a:prstGeom>
          <a:noFill/>
          <a:ln/>
        </p:spPr>
        <p:txBody>
          <a:bodyPr wrap="square" lIns="0" tIns="0" rIns="0" bIns="0" rtlCol="0" anchor="ctr"/>
          <a:lstStyle/>
          <a:p>
            <a:pPr marL="0" indent="0">
              <a:buNone/>
            </a:pPr>
            <a:r>
              <a:rPr lang="en-US" sz="1200" b="1" dirty="0">
                <a:solidFill>
                  <a:srgbClr val="1C7293"/>
                </a:solidFill>
                <a:latin typeface="Cambria" pitchFamily="34" charset="0"/>
                <a:ea typeface="Cambria" pitchFamily="34" charset="-122"/>
                <a:cs typeface="Cambria" pitchFamily="34" charset="-120"/>
              </a:rPr>
              <a:t>Overfitting</a:t>
            </a:r>
            <a:endParaRPr lang="en-US" sz="1200" dirty="0"/>
          </a:p>
        </p:txBody>
      </p:sp>
      <p:sp>
        <p:nvSpPr>
          <p:cNvPr id="24" name="Text 22"/>
          <p:cNvSpPr/>
          <p:nvPr/>
        </p:nvSpPr>
        <p:spPr>
          <a:xfrm>
            <a:off x="539496" y="3547872"/>
            <a:ext cx="3840480" cy="457200"/>
          </a:xfrm>
          <a:prstGeom prst="rect">
            <a:avLst/>
          </a:prstGeom>
          <a:noFill/>
          <a:ln/>
        </p:spPr>
        <p:txBody>
          <a:bodyPr wrap="square" lIns="0" tIns="0" rIns="0" bIns="0" rtlCol="0" anchor="t"/>
          <a:lstStyle/>
          <a:p>
            <a:pPr marL="0" indent="0">
              <a:buNone/>
            </a:pPr>
            <a:r>
              <a:rPr lang="en-US" sz="1100" dirty="0">
                <a:solidFill>
                  <a:srgbClr val="1A2D3D"/>
                </a:solidFill>
                <a:latin typeface="Calibri" pitchFamily="34" charset="0"/>
                <a:ea typeface="Calibri" pitchFamily="34" charset="-122"/>
                <a:cs typeface="Calibri" pitchFamily="34" charset="-120"/>
              </a:rPr>
              <a:t>Was the model validated (cross-validation, holdout sample, shrinkage)?</a:t>
            </a:r>
            <a:endParaRPr lang="en-US" sz="1100" dirty="0"/>
          </a:p>
        </p:txBody>
      </p:sp>
      <p:sp>
        <p:nvSpPr>
          <p:cNvPr id="25" name="Shape 23"/>
          <p:cNvSpPr/>
          <p:nvPr/>
        </p:nvSpPr>
        <p:spPr>
          <a:xfrm>
            <a:off x="4663440" y="3218688"/>
            <a:ext cx="4069080" cy="850392"/>
          </a:xfrm>
          <a:prstGeom prst="rect">
            <a:avLst/>
          </a:prstGeom>
          <a:solidFill>
            <a:srgbClr val="FFFFFF"/>
          </a:solidFill>
          <a:ln w="12700">
            <a:solidFill>
              <a:srgbClr val="D6E4EC"/>
            </a:solidFill>
            <a:prstDash val="solid"/>
          </a:ln>
          <a:effectLst>
            <a:outerShdw blurRad="38100" dist="25400" dir="8100000" algn="bl" rotWithShape="0">
              <a:srgbClr val="000000">
                <a:alpha val="8000"/>
              </a:srgbClr>
            </a:outerShdw>
          </a:effectLst>
        </p:spPr>
        <p:txBody>
          <a:bodyPr/>
          <a:lstStyle/>
          <a:p>
            <a:endParaRPr lang="en-US"/>
          </a:p>
        </p:txBody>
      </p:sp>
      <p:sp>
        <p:nvSpPr>
          <p:cNvPr id="26" name="Shape 24"/>
          <p:cNvSpPr/>
          <p:nvPr/>
        </p:nvSpPr>
        <p:spPr>
          <a:xfrm>
            <a:off x="4663440" y="3218688"/>
            <a:ext cx="64008" cy="850392"/>
          </a:xfrm>
          <a:prstGeom prst="rect">
            <a:avLst/>
          </a:prstGeom>
          <a:solidFill>
            <a:srgbClr val="E8A838"/>
          </a:solidFill>
          <a:ln w="12700">
            <a:solidFill>
              <a:srgbClr val="E8A838"/>
            </a:solidFill>
            <a:prstDash val="solid"/>
          </a:ln>
        </p:spPr>
        <p:txBody>
          <a:bodyPr/>
          <a:lstStyle/>
          <a:p>
            <a:endParaRPr lang="en-US"/>
          </a:p>
        </p:txBody>
      </p:sp>
      <p:sp>
        <p:nvSpPr>
          <p:cNvPr id="27" name="Text 25"/>
          <p:cNvSpPr/>
          <p:nvPr/>
        </p:nvSpPr>
        <p:spPr>
          <a:xfrm>
            <a:off x="4791456" y="3255264"/>
            <a:ext cx="3840480" cy="274320"/>
          </a:xfrm>
          <a:prstGeom prst="rect">
            <a:avLst/>
          </a:prstGeom>
          <a:noFill/>
          <a:ln/>
        </p:spPr>
        <p:txBody>
          <a:bodyPr wrap="square" lIns="0" tIns="0" rIns="0" bIns="0" rtlCol="0" anchor="ctr"/>
          <a:lstStyle/>
          <a:p>
            <a:pPr marL="0" indent="0">
              <a:buNone/>
            </a:pPr>
            <a:r>
              <a:rPr lang="en-US" sz="1200" b="1" dirty="0">
                <a:solidFill>
                  <a:srgbClr val="E8A838"/>
                </a:solidFill>
                <a:latin typeface="Cambria" pitchFamily="34" charset="0"/>
                <a:ea typeface="Cambria" pitchFamily="34" charset="-122"/>
                <a:cs typeface="Cambria" pitchFamily="34" charset="-120"/>
              </a:rPr>
              <a:t>Effect sizes</a:t>
            </a:r>
            <a:endParaRPr lang="en-US" sz="1200" dirty="0"/>
          </a:p>
        </p:txBody>
      </p:sp>
      <p:sp>
        <p:nvSpPr>
          <p:cNvPr id="28" name="Text 26"/>
          <p:cNvSpPr/>
          <p:nvPr/>
        </p:nvSpPr>
        <p:spPr>
          <a:xfrm>
            <a:off x="4791456" y="3547872"/>
            <a:ext cx="3840480" cy="457200"/>
          </a:xfrm>
          <a:prstGeom prst="rect">
            <a:avLst/>
          </a:prstGeom>
          <a:noFill/>
          <a:ln/>
        </p:spPr>
        <p:txBody>
          <a:bodyPr wrap="square" lIns="0" tIns="0" rIns="0" bIns="0" rtlCol="0" anchor="t"/>
          <a:lstStyle/>
          <a:p>
            <a:pPr marL="0" indent="0">
              <a:buNone/>
            </a:pPr>
            <a:r>
              <a:rPr lang="en-US" sz="1100" dirty="0">
                <a:solidFill>
                  <a:srgbClr val="1A2D3D"/>
                </a:solidFill>
                <a:latin typeface="Calibri" pitchFamily="34" charset="0"/>
                <a:ea typeface="Calibri" pitchFamily="34" charset="-122"/>
                <a:cs typeface="Calibri" pitchFamily="34" charset="-120"/>
              </a:rPr>
              <a:t>Are effect sizes reported alongside p-values? Are they practically meaningful?</a:t>
            </a:r>
            <a:endParaRPr lang="en-US" sz="1100" dirty="0"/>
          </a:p>
        </p:txBody>
      </p:sp>
      <p:sp>
        <p:nvSpPr>
          <p:cNvPr id="29" name="Shape 27"/>
          <p:cNvSpPr/>
          <p:nvPr/>
        </p:nvSpPr>
        <p:spPr>
          <a:xfrm>
            <a:off x="411480" y="4178808"/>
            <a:ext cx="4069080" cy="850392"/>
          </a:xfrm>
          <a:prstGeom prst="rect">
            <a:avLst/>
          </a:prstGeom>
          <a:solidFill>
            <a:srgbClr val="FFFFFF"/>
          </a:solidFill>
          <a:ln w="12700">
            <a:solidFill>
              <a:srgbClr val="D6E4EC"/>
            </a:solidFill>
            <a:prstDash val="solid"/>
          </a:ln>
          <a:effectLst>
            <a:outerShdw blurRad="38100" dist="25400" dir="8100000" algn="bl" rotWithShape="0">
              <a:srgbClr val="000000">
                <a:alpha val="8000"/>
              </a:srgbClr>
            </a:outerShdw>
          </a:effectLst>
        </p:spPr>
        <p:txBody>
          <a:bodyPr/>
          <a:lstStyle/>
          <a:p>
            <a:endParaRPr lang="en-US"/>
          </a:p>
        </p:txBody>
      </p:sp>
      <p:sp>
        <p:nvSpPr>
          <p:cNvPr id="30" name="Shape 28"/>
          <p:cNvSpPr/>
          <p:nvPr/>
        </p:nvSpPr>
        <p:spPr>
          <a:xfrm>
            <a:off x="411480" y="4178808"/>
            <a:ext cx="64008" cy="850392"/>
          </a:xfrm>
          <a:prstGeom prst="rect">
            <a:avLst/>
          </a:prstGeom>
          <a:solidFill>
            <a:srgbClr val="065A82"/>
          </a:solidFill>
          <a:ln w="12700">
            <a:solidFill>
              <a:srgbClr val="065A82"/>
            </a:solidFill>
            <a:prstDash val="solid"/>
          </a:ln>
        </p:spPr>
        <p:txBody>
          <a:bodyPr/>
          <a:lstStyle/>
          <a:p>
            <a:endParaRPr lang="en-US"/>
          </a:p>
        </p:txBody>
      </p:sp>
      <p:sp>
        <p:nvSpPr>
          <p:cNvPr id="31" name="Text 29"/>
          <p:cNvSpPr/>
          <p:nvPr/>
        </p:nvSpPr>
        <p:spPr>
          <a:xfrm>
            <a:off x="539496" y="4215384"/>
            <a:ext cx="3840480" cy="274320"/>
          </a:xfrm>
          <a:prstGeom prst="rect">
            <a:avLst/>
          </a:prstGeom>
          <a:noFill/>
          <a:ln/>
        </p:spPr>
        <p:txBody>
          <a:bodyPr wrap="square" lIns="0" tIns="0" rIns="0" bIns="0" rtlCol="0" anchor="ctr"/>
          <a:lstStyle/>
          <a:p>
            <a:pPr marL="0" indent="0">
              <a:buNone/>
            </a:pPr>
            <a:r>
              <a:rPr lang="en-US" sz="1200" b="1" dirty="0">
                <a:solidFill>
                  <a:srgbClr val="065A82"/>
                </a:solidFill>
                <a:latin typeface="Cambria" pitchFamily="34" charset="0"/>
                <a:ea typeface="Cambria" pitchFamily="34" charset="-122"/>
                <a:cs typeface="Cambria" pitchFamily="34" charset="-120"/>
              </a:rPr>
              <a:t>Causality claims</a:t>
            </a:r>
            <a:endParaRPr lang="en-US" sz="1200" dirty="0"/>
          </a:p>
        </p:txBody>
      </p:sp>
      <p:sp>
        <p:nvSpPr>
          <p:cNvPr id="32" name="Text 30"/>
          <p:cNvSpPr/>
          <p:nvPr/>
        </p:nvSpPr>
        <p:spPr>
          <a:xfrm>
            <a:off x="539496" y="4507992"/>
            <a:ext cx="3840480" cy="457200"/>
          </a:xfrm>
          <a:prstGeom prst="rect">
            <a:avLst/>
          </a:prstGeom>
          <a:noFill/>
          <a:ln/>
        </p:spPr>
        <p:txBody>
          <a:bodyPr wrap="square" lIns="0" tIns="0" rIns="0" bIns="0" rtlCol="0" anchor="t"/>
          <a:lstStyle/>
          <a:p>
            <a:pPr marL="0" indent="0">
              <a:buNone/>
            </a:pPr>
            <a:r>
              <a:rPr lang="en-US" sz="1100" dirty="0">
                <a:solidFill>
                  <a:srgbClr val="1A2D3D"/>
                </a:solidFill>
                <a:latin typeface="Calibri" pitchFamily="34" charset="0"/>
                <a:ea typeface="Calibri" pitchFamily="34" charset="-122"/>
                <a:cs typeface="Calibri" pitchFamily="34" charset="-120"/>
              </a:rPr>
              <a:t>Does the design support causal inference? Are cross-sectional limitations acknowledged?</a:t>
            </a:r>
            <a:endParaRPr lang="en-US" sz="1100" dirty="0"/>
          </a:p>
        </p:txBody>
      </p:sp>
      <p:sp>
        <p:nvSpPr>
          <p:cNvPr id="33" name="Shape 31"/>
          <p:cNvSpPr/>
          <p:nvPr/>
        </p:nvSpPr>
        <p:spPr>
          <a:xfrm>
            <a:off x="4663440" y="4178808"/>
            <a:ext cx="4069080" cy="850392"/>
          </a:xfrm>
          <a:prstGeom prst="rect">
            <a:avLst/>
          </a:prstGeom>
          <a:solidFill>
            <a:srgbClr val="FFFFFF"/>
          </a:solidFill>
          <a:ln w="12700">
            <a:solidFill>
              <a:srgbClr val="D6E4EC"/>
            </a:solidFill>
            <a:prstDash val="solid"/>
          </a:ln>
          <a:effectLst>
            <a:outerShdw blurRad="38100" dist="25400" dir="8100000" algn="bl" rotWithShape="0">
              <a:srgbClr val="000000">
                <a:alpha val="8000"/>
              </a:srgbClr>
            </a:outerShdw>
          </a:effectLst>
        </p:spPr>
        <p:txBody>
          <a:bodyPr/>
          <a:lstStyle/>
          <a:p>
            <a:endParaRPr lang="en-US"/>
          </a:p>
        </p:txBody>
      </p:sp>
      <p:sp>
        <p:nvSpPr>
          <p:cNvPr id="34" name="Shape 32"/>
          <p:cNvSpPr/>
          <p:nvPr/>
        </p:nvSpPr>
        <p:spPr>
          <a:xfrm>
            <a:off x="4663440" y="4178808"/>
            <a:ext cx="64008" cy="850392"/>
          </a:xfrm>
          <a:prstGeom prst="rect">
            <a:avLst/>
          </a:prstGeom>
          <a:solidFill>
            <a:srgbClr val="1C7293"/>
          </a:solidFill>
          <a:ln w="12700">
            <a:solidFill>
              <a:srgbClr val="1C7293"/>
            </a:solidFill>
            <a:prstDash val="solid"/>
          </a:ln>
        </p:spPr>
        <p:txBody>
          <a:bodyPr/>
          <a:lstStyle/>
          <a:p>
            <a:endParaRPr lang="en-US"/>
          </a:p>
        </p:txBody>
      </p:sp>
      <p:sp>
        <p:nvSpPr>
          <p:cNvPr id="35" name="Text 33"/>
          <p:cNvSpPr/>
          <p:nvPr/>
        </p:nvSpPr>
        <p:spPr>
          <a:xfrm>
            <a:off x="4791456" y="4215384"/>
            <a:ext cx="3840480" cy="274320"/>
          </a:xfrm>
          <a:prstGeom prst="rect">
            <a:avLst/>
          </a:prstGeom>
          <a:noFill/>
          <a:ln/>
        </p:spPr>
        <p:txBody>
          <a:bodyPr wrap="square" lIns="0" tIns="0" rIns="0" bIns="0" rtlCol="0" anchor="ctr"/>
          <a:lstStyle/>
          <a:p>
            <a:pPr marL="0" indent="0">
              <a:buNone/>
            </a:pPr>
            <a:r>
              <a:rPr lang="en-US" sz="1200" b="1" dirty="0">
                <a:solidFill>
                  <a:srgbClr val="1C7293"/>
                </a:solidFill>
                <a:latin typeface="Cambria" pitchFamily="34" charset="0"/>
                <a:ea typeface="Cambria" pitchFamily="34" charset="-122"/>
                <a:cs typeface="Cambria" pitchFamily="34" charset="-120"/>
              </a:rPr>
              <a:t>Replication</a:t>
            </a:r>
            <a:endParaRPr lang="en-US" sz="1200" dirty="0"/>
          </a:p>
        </p:txBody>
      </p:sp>
      <p:sp>
        <p:nvSpPr>
          <p:cNvPr id="36" name="Text 34"/>
          <p:cNvSpPr/>
          <p:nvPr/>
        </p:nvSpPr>
        <p:spPr>
          <a:xfrm>
            <a:off x="4791456" y="4507992"/>
            <a:ext cx="3840480" cy="457200"/>
          </a:xfrm>
          <a:prstGeom prst="rect">
            <a:avLst/>
          </a:prstGeom>
          <a:noFill/>
          <a:ln/>
        </p:spPr>
        <p:txBody>
          <a:bodyPr wrap="square" lIns="0" tIns="0" rIns="0" bIns="0" rtlCol="0" anchor="t"/>
          <a:lstStyle/>
          <a:p>
            <a:pPr marL="0" indent="0">
              <a:buNone/>
            </a:pPr>
            <a:r>
              <a:rPr lang="en-US" sz="1100" dirty="0">
                <a:solidFill>
                  <a:srgbClr val="1A2D3D"/>
                </a:solidFill>
                <a:latin typeface="Calibri" pitchFamily="34" charset="0"/>
                <a:ea typeface="Calibri" pitchFamily="34" charset="-122"/>
                <a:cs typeface="Calibri" pitchFamily="34" charset="-120"/>
              </a:rPr>
              <a:t>Are enough details provided to replicate? Is data/code available?</a:t>
            </a:r>
            <a:endParaRPr lang="en-US" sz="11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8A838"/>
          </a:solidFill>
          <a:ln w="12700">
            <a:solidFill>
              <a:srgbClr val="E8A838"/>
            </a:solidFill>
            <a:prstDash val="solid"/>
          </a:ln>
        </p:spPr>
        <p:txBody>
          <a:bodyPr/>
          <a:lstStyle/>
          <a:p>
            <a:endParaRPr lang="en-US"/>
          </a:p>
        </p:txBody>
      </p:sp>
      <p:sp>
        <p:nvSpPr>
          <p:cNvPr id="3" name="Text 1"/>
          <p:cNvSpPr/>
          <p:nvPr/>
        </p:nvSpPr>
        <p:spPr>
          <a:xfrm>
            <a:off x="411480" y="164592"/>
            <a:ext cx="8321040" cy="640080"/>
          </a:xfrm>
          <a:prstGeom prst="rect">
            <a:avLst/>
          </a:prstGeom>
          <a:noFill/>
          <a:ln/>
        </p:spPr>
        <p:txBody>
          <a:bodyPr wrap="square" lIns="0" tIns="0" rIns="0" bIns="0" rtlCol="0" anchor="ctr"/>
          <a:lstStyle/>
          <a:p>
            <a:pPr marL="0" indent="0">
              <a:buNone/>
            </a:pPr>
            <a:r>
              <a:rPr lang="en-US" sz="2800" b="1" dirty="0">
                <a:solidFill>
                  <a:srgbClr val="065A82"/>
                </a:solidFill>
                <a:latin typeface="Cambria" pitchFamily="34" charset="0"/>
                <a:ea typeface="Cambria" pitchFamily="34" charset="-122"/>
                <a:cs typeface="Cambria" pitchFamily="34" charset="-120"/>
              </a:rPr>
              <a:t>Common Pitfalls in Multivariate Research</a:t>
            </a:r>
            <a:endParaRPr lang="en-US" sz="2800" dirty="0"/>
          </a:p>
        </p:txBody>
      </p:sp>
      <p:sp>
        <p:nvSpPr>
          <p:cNvPr id="4" name="Shape 2"/>
          <p:cNvSpPr/>
          <p:nvPr/>
        </p:nvSpPr>
        <p:spPr>
          <a:xfrm>
            <a:off x="411480" y="960120"/>
            <a:ext cx="4069080" cy="1280160"/>
          </a:xfrm>
          <a:prstGeom prst="rect">
            <a:avLst/>
          </a:prstGeom>
          <a:solidFill>
            <a:srgbClr val="FFFFFF"/>
          </a:solidFill>
          <a:ln w="12700">
            <a:solidFill>
              <a:srgbClr val="D6E4EC"/>
            </a:solidFill>
            <a:prstDash val="solid"/>
          </a:ln>
          <a:effectLst>
            <a:outerShdw blurRad="76200" dist="25400" dir="8100000" algn="bl" rotWithShape="0">
              <a:srgbClr val="000000">
                <a:alpha val="10000"/>
              </a:srgbClr>
            </a:outerShdw>
          </a:effectLst>
        </p:spPr>
        <p:txBody>
          <a:bodyPr/>
          <a:lstStyle/>
          <a:p>
            <a:endParaRPr lang="en-US"/>
          </a:p>
        </p:txBody>
      </p:sp>
      <p:sp>
        <p:nvSpPr>
          <p:cNvPr id="5" name="Shape 3"/>
          <p:cNvSpPr/>
          <p:nvPr/>
        </p:nvSpPr>
        <p:spPr>
          <a:xfrm>
            <a:off x="411480" y="960120"/>
            <a:ext cx="64008" cy="1280160"/>
          </a:xfrm>
          <a:prstGeom prst="rect">
            <a:avLst/>
          </a:prstGeom>
          <a:solidFill>
            <a:srgbClr val="E8A838"/>
          </a:solidFill>
          <a:ln w="12700">
            <a:solidFill>
              <a:srgbClr val="E8A838"/>
            </a:solidFill>
            <a:prstDash val="solid"/>
          </a:ln>
        </p:spPr>
        <p:txBody>
          <a:bodyPr/>
          <a:lstStyle/>
          <a:p>
            <a:endParaRPr lang="en-US"/>
          </a:p>
        </p:txBody>
      </p:sp>
      <p:sp>
        <p:nvSpPr>
          <p:cNvPr id="6" name="Text 4"/>
          <p:cNvSpPr/>
          <p:nvPr/>
        </p:nvSpPr>
        <p:spPr>
          <a:xfrm>
            <a:off x="548640" y="1033272"/>
            <a:ext cx="3886200" cy="347472"/>
          </a:xfrm>
          <a:prstGeom prst="rect">
            <a:avLst/>
          </a:prstGeom>
          <a:noFill/>
          <a:ln/>
        </p:spPr>
        <p:txBody>
          <a:bodyPr wrap="square" lIns="0" tIns="0" rIns="0" bIns="0" rtlCol="0" anchor="ctr"/>
          <a:lstStyle/>
          <a:p>
            <a:pPr marL="0" indent="0">
              <a:buNone/>
            </a:pPr>
            <a:r>
              <a:rPr lang="en-US" sz="1300" b="1" dirty="0">
                <a:solidFill>
                  <a:srgbClr val="E8A838"/>
                </a:solidFill>
                <a:latin typeface="Cambria" pitchFamily="34" charset="0"/>
                <a:ea typeface="Cambria" pitchFamily="34" charset="-122"/>
                <a:cs typeface="Cambria" pitchFamily="34" charset="-120"/>
              </a:rPr>
              <a:t>Fishing for significance</a:t>
            </a:r>
            <a:endParaRPr lang="en-US" sz="1300" dirty="0"/>
          </a:p>
        </p:txBody>
      </p:sp>
      <p:sp>
        <p:nvSpPr>
          <p:cNvPr id="7" name="Text 5"/>
          <p:cNvSpPr/>
          <p:nvPr/>
        </p:nvSpPr>
        <p:spPr>
          <a:xfrm>
            <a:off x="548640" y="1371600"/>
            <a:ext cx="3886200" cy="777240"/>
          </a:xfrm>
          <a:prstGeom prst="rect">
            <a:avLst/>
          </a:prstGeom>
          <a:noFill/>
          <a:ln/>
        </p:spPr>
        <p:txBody>
          <a:bodyPr wrap="square" lIns="0" tIns="0" rIns="0" bIns="0" rtlCol="0" anchor="t"/>
          <a:lstStyle/>
          <a:p>
            <a:pPr marL="0" indent="0">
              <a:buNone/>
            </a:pPr>
            <a:r>
              <a:rPr lang="en-US" sz="1200" dirty="0">
                <a:solidFill>
                  <a:srgbClr val="1A2D3D"/>
                </a:solidFill>
                <a:latin typeface="Calibri" pitchFamily="34" charset="0"/>
                <a:ea typeface="Calibri" pitchFamily="34" charset="-122"/>
                <a:cs typeface="Calibri" pitchFamily="34" charset="-120"/>
              </a:rPr>
              <a:t>Running many analyses and reporting only significant results inflates Type I error. Pre-register hypotheses.</a:t>
            </a:r>
            <a:endParaRPr lang="en-US" sz="1200" dirty="0"/>
          </a:p>
        </p:txBody>
      </p:sp>
      <p:sp>
        <p:nvSpPr>
          <p:cNvPr id="8" name="Shape 6"/>
          <p:cNvSpPr/>
          <p:nvPr/>
        </p:nvSpPr>
        <p:spPr>
          <a:xfrm>
            <a:off x="4663440" y="960120"/>
            <a:ext cx="4069080" cy="1280160"/>
          </a:xfrm>
          <a:prstGeom prst="rect">
            <a:avLst/>
          </a:prstGeom>
          <a:solidFill>
            <a:srgbClr val="FFFFFF"/>
          </a:solidFill>
          <a:ln w="12700">
            <a:solidFill>
              <a:srgbClr val="D6E4EC"/>
            </a:solidFill>
            <a:prstDash val="solid"/>
          </a:ln>
          <a:effectLst>
            <a:outerShdw blurRad="76200" dist="25400" dir="8100000" algn="bl" rotWithShape="0">
              <a:srgbClr val="000000">
                <a:alpha val="10000"/>
              </a:srgbClr>
            </a:outerShdw>
          </a:effectLst>
        </p:spPr>
        <p:txBody>
          <a:bodyPr/>
          <a:lstStyle/>
          <a:p>
            <a:endParaRPr lang="en-US"/>
          </a:p>
        </p:txBody>
      </p:sp>
      <p:sp>
        <p:nvSpPr>
          <p:cNvPr id="9" name="Shape 7"/>
          <p:cNvSpPr/>
          <p:nvPr/>
        </p:nvSpPr>
        <p:spPr>
          <a:xfrm>
            <a:off x="4663440" y="960120"/>
            <a:ext cx="64008" cy="1280160"/>
          </a:xfrm>
          <a:prstGeom prst="rect">
            <a:avLst/>
          </a:prstGeom>
          <a:solidFill>
            <a:srgbClr val="E8A838"/>
          </a:solidFill>
          <a:ln w="12700">
            <a:solidFill>
              <a:srgbClr val="E8A838"/>
            </a:solidFill>
            <a:prstDash val="solid"/>
          </a:ln>
        </p:spPr>
        <p:txBody>
          <a:bodyPr/>
          <a:lstStyle/>
          <a:p>
            <a:endParaRPr lang="en-US"/>
          </a:p>
        </p:txBody>
      </p:sp>
      <p:sp>
        <p:nvSpPr>
          <p:cNvPr id="10" name="Text 8"/>
          <p:cNvSpPr/>
          <p:nvPr/>
        </p:nvSpPr>
        <p:spPr>
          <a:xfrm>
            <a:off x="4800600" y="1033272"/>
            <a:ext cx="3886200" cy="347472"/>
          </a:xfrm>
          <a:prstGeom prst="rect">
            <a:avLst/>
          </a:prstGeom>
          <a:noFill/>
          <a:ln/>
        </p:spPr>
        <p:txBody>
          <a:bodyPr wrap="square" lIns="0" tIns="0" rIns="0" bIns="0" rtlCol="0" anchor="ctr"/>
          <a:lstStyle/>
          <a:p>
            <a:pPr marL="0" indent="0">
              <a:buNone/>
            </a:pPr>
            <a:r>
              <a:rPr lang="en-US" sz="1300" b="1" dirty="0">
                <a:solidFill>
                  <a:srgbClr val="E8A838"/>
                </a:solidFill>
                <a:latin typeface="Cambria" pitchFamily="34" charset="0"/>
                <a:ea typeface="Cambria" pitchFamily="34" charset="-122"/>
                <a:cs typeface="Cambria" pitchFamily="34" charset="-120"/>
              </a:rPr>
              <a:t>Ignoring assumptions</a:t>
            </a:r>
            <a:endParaRPr lang="en-US" sz="1300" dirty="0"/>
          </a:p>
        </p:txBody>
      </p:sp>
      <p:sp>
        <p:nvSpPr>
          <p:cNvPr id="11" name="Text 9"/>
          <p:cNvSpPr/>
          <p:nvPr/>
        </p:nvSpPr>
        <p:spPr>
          <a:xfrm>
            <a:off x="4800600" y="1371600"/>
            <a:ext cx="3886200" cy="777240"/>
          </a:xfrm>
          <a:prstGeom prst="rect">
            <a:avLst/>
          </a:prstGeom>
          <a:noFill/>
          <a:ln/>
        </p:spPr>
        <p:txBody>
          <a:bodyPr wrap="square" lIns="0" tIns="0" rIns="0" bIns="0" rtlCol="0" anchor="t"/>
          <a:lstStyle/>
          <a:p>
            <a:pPr marL="0" indent="0">
              <a:buNone/>
            </a:pPr>
            <a:r>
              <a:rPr lang="en-US" sz="1200" dirty="0">
                <a:solidFill>
                  <a:srgbClr val="1A2D3D"/>
                </a:solidFill>
                <a:latin typeface="Calibri" pitchFamily="34" charset="0"/>
                <a:ea typeface="Calibri" pitchFamily="34" charset="-122"/>
                <a:cs typeface="Calibri" pitchFamily="34" charset="-120"/>
              </a:rPr>
              <a:t>Proceeding without screening data leads to biased estimates. Document and address each violation.</a:t>
            </a:r>
            <a:endParaRPr lang="en-US" sz="1200" dirty="0"/>
          </a:p>
        </p:txBody>
      </p:sp>
      <p:sp>
        <p:nvSpPr>
          <p:cNvPr id="12" name="Shape 10"/>
          <p:cNvSpPr/>
          <p:nvPr/>
        </p:nvSpPr>
        <p:spPr>
          <a:xfrm>
            <a:off x="411480" y="2359152"/>
            <a:ext cx="4069080" cy="1280160"/>
          </a:xfrm>
          <a:prstGeom prst="rect">
            <a:avLst/>
          </a:prstGeom>
          <a:solidFill>
            <a:srgbClr val="FFFFFF"/>
          </a:solidFill>
          <a:ln w="12700">
            <a:solidFill>
              <a:srgbClr val="D6E4EC"/>
            </a:solidFill>
            <a:prstDash val="solid"/>
          </a:ln>
          <a:effectLst>
            <a:outerShdw blurRad="76200" dist="25400" dir="8100000" algn="bl" rotWithShape="0">
              <a:srgbClr val="000000">
                <a:alpha val="10000"/>
              </a:srgbClr>
            </a:outerShdw>
          </a:effectLst>
        </p:spPr>
        <p:txBody>
          <a:bodyPr/>
          <a:lstStyle/>
          <a:p>
            <a:endParaRPr lang="en-US"/>
          </a:p>
        </p:txBody>
      </p:sp>
      <p:sp>
        <p:nvSpPr>
          <p:cNvPr id="13" name="Shape 11"/>
          <p:cNvSpPr/>
          <p:nvPr/>
        </p:nvSpPr>
        <p:spPr>
          <a:xfrm>
            <a:off x="411480" y="2359152"/>
            <a:ext cx="64008" cy="1280160"/>
          </a:xfrm>
          <a:prstGeom prst="rect">
            <a:avLst/>
          </a:prstGeom>
          <a:solidFill>
            <a:srgbClr val="E8A838"/>
          </a:solidFill>
          <a:ln w="12700">
            <a:solidFill>
              <a:srgbClr val="E8A838"/>
            </a:solidFill>
            <a:prstDash val="solid"/>
          </a:ln>
        </p:spPr>
        <p:txBody>
          <a:bodyPr/>
          <a:lstStyle/>
          <a:p>
            <a:endParaRPr lang="en-US"/>
          </a:p>
        </p:txBody>
      </p:sp>
      <p:sp>
        <p:nvSpPr>
          <p:cNvPr id="14" name="Text 12"/>
          <p:cNvSpPr/>
          <p:nvPr/>
        </p:nvSpPr>
        <p:spPr>
          <a:xfrm>
            <a:off x="548640" y="2432304"/>
            <a:ext cx="3886200" cy="347472"/>
          </a:xfrm>
          <a:prstGeom prst="rect">
            <a:avLst/>
          </a:prstGeom>
          <a:noFill/>
          <a:ln/>
        </p:spPr>
        <p:txBody>
          <a:bodyPr wrap="square" lIns="0" tIns="0" rIns="0" bIns="0" rtlCol="0" anchor="ctr"/>
          <a:lstStyle/>
          <a:p>
            <a:pPr marL="0" indent="0">
              <a:buNone/>
            </a:pPr>
            <a:r>
              <a:rPr lang="en-US" sz="1300" b="1" dirty="0">
                <a:solidFill>
                  <a:srgbClr val="E8A838"/>
                </a:solidFill>
                <a:latin typeface="Cambria" pitchFamily="34" charset="0"/>
                <a:ea typeface="Cambria" pitchFamily="34" charset="-122"/>
                <a:cs typeface="Cambria" pitchFamily="34" charset="-120"/>
              </a:rPr>
              <a:t>Conflating statistical &amp; practical significance</a:t>
            </a:r>
            <a:endParaRPr lang="en-US" sz="1300" dirty="0"/>
          </a:p>
        </p:txBody>
      </p:sp>
      <p:sp>
        <p:nvSpPr>
          <p:cNvPr id="15" name="Text 13"/>
          <p:cNvSpPr/>
          <p:nvPr/>
        </p:nvSpPr>
        <p:spPr>
          <a:xfrm>
            <a:off x="548640" y="2770632"/>
            <a:ext cx="3886200" cy="777240"/>
          </a:xfrm>
          <a:prstGeom prst="rect">
            <a:avLst/>
          </a:prstGeom>
          <a:noFill/>
          <a:ln/>
        </p:spPr>
        <p:txBody>
          <a:bodyPr wrap="square" lIns="0" tIns="0" rIns="0" bIns="0" rtlCol="0" anchor="t"/>
          <a:lstStyle/>
          <a:p>
            <a:pPr marL="0" indent="0">
              <a:buNone/>
            </a:pPr>
            <a:r>
              <a:rPr lang="en-US" sz="1200" dirty="0">
                <a:solidFill>
                  <a:srgbClr val="1A2D3D"/>
                </a:solidFill>
                <a:latin typeface="Calibri" pitchFamily="34" charset="0"/>
                <a:ea typeface="Calibri" pitchFamily="34" charset="-122"/>
                <a:cs typeface="Calibri" pitchFamily="34" charset="-120"/>
              </a:rPr>
              <a:t>With large N, trivial effects become significant. Always report R², η², OR alongside p-values.</a:t>
            </a:r>
            <a:endParaRPr lang="en-US" sz="1200" dirty="0"/>
          </a:p>
        </p:txBody>
      </p:sp>
      <p:sp>
        <p:nvSpPr>
          <p:cNvPr id="16" name="Shape 14"/>
          <p:cNvSpPr/>
          <p:nvPr/>
        </p:nvSpPr>
        <p:spPr>
          <a:xfrm>
            <a:off x="4663440" y="2359152"/>
            <a:ext cx="4069080" cy="1280160"/>
          </a:xfrm>
          <a:prstGeom prst="rect">
            <a:avLst/>
          </a:prstGeom>
          <a:solidFill>
            <a:srgbClr val="FFFFFF"/>
          </a:solidFill>
          <a:ln w="12700">
            <a:solidFill>
              <a:srgbClr val="D6E4EC"/>
            </a:solidFill>
            <a:prstDash val="solid"/>
          </a:ln>
          <a:effectLst>
            <a:outerShdw blurRad="76200" dist="25400" dir="8100000" algn="bl" rotWithShape="0">
              <a:srgbClr val="000000">
                <a:alpha val="10000"/>
              </a:srgbClr>
            </a:outerShdw>
          </a:effectLst>
        </p:spPr>
        <p:txBody>
          <a:bodyPr/>
          <a:lstStyle/>
          <a:p>
            <a:endParaRPr lang="en-US"/>
          </a:p>
        </p:txBody>
      </p:sp>
      <p:sp>
        <p:nvSpPr>
          <p:cNvPr id="17" name="Shape 15"/>
          <p:cNvSpPr/>
          <p:nvPr/>
        </p:nvSpPr>
        <p:spPr>
          <a:xfrm>
            <a:off x="4663440" y="2359152"/>
            <a:ext cx="64008" cy="1280160"/>
          </a:xfrm>
          <a:prstGeom prst="rect">
            <a:avLst/>
          </a:prstGeom>
          <a:solidFill>
            <a:srgbClr val="E8A838"/>
          </a:solidFill>
          <a:ln w="12700">
            <a:solidFill>
              <a:srgbClr val="E8A838"/>
            </a:solidFill>
            <a:prstDash val="solid"/>
          </a:ln>
        </p:spPr>
        <p:txBody>
          <a:bodyPr/>
          <a:lstStyle/>
          <a:p>
            <a:endParaRPr lang="en-US"/>
          </a:p>
        </p:txBody>
      </p:sp>
      <p:sp>
        <p:nvSpPr>
          <p:cNvPr id="18" name="Text 16"/>
          <p:cNvSpPr/>
          <p:nvPr/>
        </p:nvSpPr>
        <p:spPr>
          <a:xfrm>
            <a:off x="4800600" y="2432304"/>
            <a:ext cx="3886200" cy="347472"/>
          </a:xfrm>
          <a:prstGeom prst="rect">
            <a:avLst/>
          </a:prstGeom>
          <a:noFill/>
          <a:ln/>
        </p:spPr>
        <p:txBody>
          <a:bodyPr wrap="square" lIns="0" tIns="0" rIns="0" bIns="0" rtlCol="0" anchor="ctr"/>
          <a:lstStyle/>
          <a:p>
            <a:pPr marL="0" indent="0">
              <a:buNone/>
            </a:pPr>
            <a:r>
              <a:rPr lang="en-US" sz="1300" b="1" dirty="0">
                <a:solidFill>
                  <a:srgbClr val="E8A838"/>
                </a:solidFill>
                <a:latin typeface="Cambria" pitchFamily="34" charset="0"/>
                <a:ea typeface="Cambria" pitchFamily="34" charset="-122"/>
                <a:cs typeface="Cambria" pitchFamily="34" charset="-120"/>
              </a:rPr>
              <a:t>Overfitting with stepwise methods</a:t>
            </a:r>
            <a:endParaRPr lang="en-US" sz="1300" dirty="0"/>
          </a:p>
        </p:txBody>
      </p:sp>
      <p:sp>
        <p:nvSpPr>
          <p:cNvPr id="19" name="Text 17"/>
          <p:cNvSpPr/>
          <p:nvPr/>
        </p:nvSpPr>
        <p:spPr>
          <a:xfrm>
            <a:off x="4800600" y="2770632"/>
            <a:ext cx="3886200" cy="777240"/>
          </a:xfrm>
          <a:prstGeom prst="rect">
            <a:avLst/>
          </a:prstGeom>
          <a:noFill/>
          <a:ln/>
        </p:spPr>
        <p:txBody>
          <a:bodyPr wrap="square" lIns="0" tIns="0" rIns="0" bIns="0" rtlCol="0" anchor="t"/>
          <a:lstStyle/>
          <a:p>
            <a:pPr marL="0" indent="0">
              <a:buNone/>
            </a:pPr>
            <a:r>
              <a:rPr lang="en-US" sz="1200" dirty="0">
                <a:solidFill>
                  <a:srgbClr val="1A2D3D"/>
                </a:solidFill>
                <a:latin typeface="Calibri" pitchFamily="34" charset="0"/>
                <a:ea typeface="Calibri" pitchFamily="34" charset="-122"/>
                <a:cs typeface="Calibri" pitchFamily="34" charset="-120"/>
              </a:rPr>
              <a:t>Computer-selected models capitalise on chance variation. Replicate in independent samples.</a:t>
            </a:r>
            <a:endParaRPr lang="en-US" sz="1200" dirty="0"/>
          </a:p>
        </p:txBody>
      </p:sp>
      <p:sp>
        <p:nvSpPr>
          <p:cNvPr id="20" name="Shape 18"/>
          <p:cNvSpPr/>
          <p:nvPr/>
        </p:nvSpPr>
        <p:spPr>
          <a:xfrm>
            <a:off x="411480" y="3758184"/>
            <a:ext cx="4069080" cy="1280160"/>
          </a:xfrm>
          <a:prstGeom prst="rect">
            <a:avLst/>
          </a:prstGeom>
          <a:solidFill>
            <a:srgbClr val="FFFFFF"/>
          </a:solidFill>
          <a:ln w="12700">
            <a:solidFill>
              <a:srgbClr val="D6E4EC"/>
            </a:solidFill>
            <a:prstDash val="solid"/>
          </a:ln>
          <a:effectLst>
            <a:outerShdw blurRad="76200" dist="25400" dir="8100000" algn="bl" rotWithShape="0">
              <a:srgbClr val="000000">
                <a:alpha val="10000"/>
              </a:srgbClr>
            </a:outerShdw>
          </a:effectLst>
        </p:spPr>
        <p:txBody>
          <a:bodyPr/>
          <a:lstStyle/>
          <a:p>
            <a:endParaRPr lang="en-US"/>
          </a:p>
        </p:txBody>
      </p:sp>
      <p:sp>
        <p:nvSpPr>
          <p:cNvPr id="21" name="Shape 19"/>
          <p:cNvSpPr/>
          <p:nvPr/>
        </p:nvSpPr>
        <p:spPr>
          <a:xfrm>
            <a:off x="411480" y="3758184"/>
            <a:ext cx="64008" cy="1280160"/>
          </a:xfrm>
          <a:prstGeom prst="rect">
            <a:avLst/>
          </a:prstGeom>
          <a:solidFill>
            <a:srgbClr val="E8A838"/>
          </a:solidFill>
          <a:ln w="12700">
            <a:solidFill>
              <a:srgbClr val="E8A838"/>
            </a:solidFill>
            <a:prstDash val="solid"/>
          </a:ln>
        </p:spPr>
        <p:txBody>
          <a:bodyPr/>
          <a:lstStyle/>
          <a:p>
            <a:endParaRPr lang="en-US"/>
          </a:p>
        </p:txBody>
      </p:sp>
      <p:sp>
        <p:nvSpPr>
          <p:cNvPr id="22" name="Text 20"/>
          <p:cNvSpPr/>
          <p:nvPr/>
        </p:nvSpPr>
        <p:spPr>
          <a:xfrm>
            <a:off x="548640" y="3831336"/>
            <a:ext cx="3886200" cy="347472"/>
          </a:xfrm>
          <a:prstGeom prst="rect">
            <a:avLst/>
          </a:prstGeom>
          <a:noFill/>
          <a:ln/>
        </p:spPr>
        <p:txBody>
          <a:bodyPr wrap="square" lIns="0" tIns="0" rIns="0" bIns="0" rtlCol="0" anchor="ctr"/>
          <a:lstStyle/>
          <a:p>
            <a:pPr marL="0" indent="0">
              <a:buNone/>
            </a:pPr>
            <a:r>
              <a:rPr lang="en-US" sz="1300" b="1" dirty="0">
                <a:solidFill>
                  <a:srgbClr val="E8A838"/>
                </a:solidFill>
                <a:latin typeface="Cambria" pitchFamily="34" charset="0"/>
                <a:ea typeface="Cambria" pitchFamily="34" charset="-122"/>
                <a:cs typeface="Cambria" pitchFamily="34" charset="-120"/>
              </a:rPr>
              <a:t>Interpreting regression as causal</a:t>
            </a:r>
            <a:endParaRPr lang="en-US" sz="1300" dirty="0"/>
          </a:p>
        </p:txBody>
      </p:sp>
      <p:sp>
        <p:nvSpPr>
          <p:cNvPr id="23" name="Text 21"/>
          <p:cNvSpPr/>
          <p:nvPr/>
        </p:nvSpPr>
        <p:spPr>
          <a:xfrm>
            <a:off x="548640" y="4169664"/>
            <a:ext cx="3886200" cy="777240"/>
          </a:xfrm>
          <a:prstGeom prst="rect">
            <a:avLst/>
          </a:prstGeom>
          <a:noFill/>
          <a:ln/>
        </p:spPr>
        <p:txBody>
          <a:bodyPr wrap="square" lIns="0" tIns="0" rIns="0" bIns="0" rtlCol="0" anchor="t"/>
          <a:lstStyle/>
          <a:p>
            <a:pPr marL="0" indent="0">
              <a:buNone/>
            </a:pPr>
            <a:r>
              <a:rPr lang="en-US" sz="1200" dirty="0">
                <a:solidFill>
                  <a:srgbClr val="1A2D3D"/>
                </a:solidFill>
                <a:latin typeface="Calibri" pitchFamily="34" charset="0"/>
                <a:ea typeface="Calibri" pitchFamily="34" charset="-122"/>
                <a:cs typeface="Calibri" pitchFamily="34" charset="-120"/>
              </a:rPr>
              <a:t>Cross-sectional regression cannot establish causality. Use causal language carefully.</a:t>
            </a:r>
            <a:endParaRPr lang="en-US" sz="1200" dirty="0"/>
          </a:p>
        </p:txBody>
      </p:sp>
      <p:sp>
        <p:nvSpPr>
          <p:cNvPr id="24" name="Shape 22"/>
          <p:cNvSpPr/>
          <p:nvPr/>
        </p:nvSpPr>
        <p:spPr>
          <a:xfrm>
            <a:off x="4663440" y="3758184"/>
            <a:ext cx="4069080" cy="1280160"/>
          </a:xfrm>
          <a:prstGeom prst="rect">
            <a:avLst/>
          </a:prstGeom>
          <a:solidFill>
            <a:srgbClr val="FFFFFF"/>
          </a:solidFill>
          <a:ln w="12700">
            <a:solidFill>
              <a:srgbClr val="D6E4EC"/>
            </a:solidFill>
            <a:prstDash val="solid"/>
          </a:ln>
          <a:effectLst>
            <a:outerShdw blurRad="76200" dist="25400" dir="8100000" algn="bl" rotWithShape="0">
              <a:srgbClr val="000000">
                <a:alpha val="10000"/>
              </a:srgbClr>
            </a:outerShdw>
          </a:effectLst>
        </p:spPr>
        <p:txBody>
          <a:bodyPr/>
          <a:lstStyle/>
          <a:p>
            <a:endParaRPr lang="en-US"/>
          </a:p>
        </p:txBody>
      </p:sp>
      <p:sp>
        <p:nvSpPr>
          <p:cNvPr id="25" name="Shape 23"/>
          <p:cNvSpPr/>
          <p:nvPr/>
        </p:nvSpPr>
        <p:spPr>
          <a:xfrm>
            <a:off x="4663440" y="3758184"/>
            <a:ext cx="64008" cy="1280160"/>
          </a:xfrm>
          <a:prstGeom prst="rect">
            <a:avLst/>
          </a:prstGeom>
          <a:solidFill>
            <a:srgbClr val="E8A838"/>
          </a:solidFill>
          <a:ln w="12700">
            <a:solidFill>
              <a:srgbClr val="E8A838"/>
            </a:solidFill>
            <a:prstDash val="solid"/>
          </a:ln>
        </p:spPr>
        <p:txBody>
          <a:bodyPr/>
          <a:lstStyle/>
          <a:p>
            <a:endParaRPr lang="en-US"/>
          </a:p>
        </p:txBody>
      </p:sp>
      <p:sp>
        <p:nvSpPr>
          <p:cNvPr id="26" name="Text 24"/>
          <p:cNvSpPr/>
          <p:nvPr/>
        </p:nvSpPr>
        <p:spPr>
          <a:xfrm>
            <a:off x="4800600" y="3831336"/>
            <a:ext cx="3886200" cy="347472"/>
          </a:xfrm>
          <a:prstGeom prst="rect">
            <a:avLst/>
          </a:prstGeom>
          <a:noFill/>
          <a:ln/>
        </p:spPr>
        <p:txBody>
          <a:bodyPr wrap="square" lIns="0" tIns="0" rIns="0" bIns="0" rtlCol="0" anchor="ctr"/>
          <a:lstStyle/>
          <a:p>
            <a:pPr marL="0" indent="0">
              <a:buNone/>
            </a:pPr>
            <a:r>
              <a:rPr lang="en-US" sz="1300" b="1" dirty="0">
                <a:solidFill>
                  <a:srgbClr val="E8A838"/>
                </a:solidFill>
                <a:latin typeface="Cambria" pitchFamily="34" charset="0"/>
                <a:ea typeface="Cambria" pitchFamily="34" charset="-122"/>
                <a:cs typeface="Cambria" pitchFamily="34" charset="-120"/>
              </a:rPr>
              <a:t>Underreporting methods</a:t>
            </a:r>
            <a:endParaRPr lang="en-US" sz="1300" dirty="0"/>
          </a:p>
        </p:txBody>
      </p:sp>
      <p:sp>
        <p:nvSpPr>
          <p:cNvPr id="27" name="Text 25"/>
          <p:cNvSpPr/>
          <p:nvPr/>
        </p:nvSpPr>
        <p:spPr>
          <a:xfrm>
            <a:off x="4800600" y="4169664"/>
            <a:ext cx="3886200" cy="777240"/>
          </a:xfrm>
          <a:prstGeom prst="rect">
            <a:avLst/>
          </a:prstGeom>
          <a:noFill/>
          <a:ln/>
        </p:spPr>
        <p:txBody>
          <a:bodyPr wrap="square" lIns="0" tIns="0" rIns="0" bIns="0" rtlCol="0" anchor="t"/>
          <a:lstStyle/>
          <a:p>
            <a:pPr marL="0" indent="0">
              <a:buNone/>
            </a:pPr>
            <a:r>
              <a:rPr lang="en-US" sz="1200" dirty="0">
                <a:solidFill>
                  <a:srgbClr val="1A2D3D"/>
                </a:solidFill>
                <a:latin typeface="Calibri" pitchFamily="34" charset="0"/>
                <a:ea typeface="Calibri" pitchFamily="34" charset="-122"/>
                <a:cs typeface="Calibri" pitchFamily="34" charset="-120"/>
              </a:rPr>
              <a:t>Readers cannot critique what they cannot see. Report all decisions: screening, transformations, outlier handling.</a:t>
            </a:r>
            <a:endParaRPr lang="en-US" sz="12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8A838"/>
          </a:solidFill>
          <a:ln w="12700">
            <a:solidFill>
              <a:srgbClr val="E8A838"/>
            </a:solidFill>
            <a:prstDash val="solid"/>
          </a:ln>
        </p:spPr>
        <p:txBody>
          <a:bodyPr/>
          <a:lstStyle/>
          <a:p>
            <a:endParaRPr lang="en-US"/>
          </a:p>
        </p:txBody>
      </p:sp>
      <p:sp>
        <p:nvSpPr>
          <p:cNvPr id="3" name="Text 1"/>
          <p:cNvSpPr/>
          <p:nvPr/>
        </p:nvSpPr>
        <p:spPr>
          <a:xfrm>
            <a:off x="411480" y="164592"/>
            <a:ext cx="8321040" cy="640080"/>
          </a:xfrm>
          <a:prstGeom prst="rect">
            <a:avLst/>
          </a:prstGeom>
          <a:noFill/>
          <a:ln/>
        </p:spPr>
        <p:txBody>
          <a:bodyPr wrap="square" lIns="0" tIns="0" rIns="0" bIns="0" rtlCol="0" anchor="ctr"/>
          <a:lstStyle/>
          <a:p>
            <a:pPr marL="0" indent="0">
              <a:buNone/>
            </a:pPr>
            <a:r>
              <a:rPr lang="en-US" sz="2800" b="1" dirty="0">
                <a:solidFill>
                  <a:srgbClr val="065A82"/>
                </a:solidFill>
                <a:latin typeface="Cambria" pitchFamily="34" charset="0"/>
                <a:ea typeface="Cambria" pitchFamily="34" charset="-122"/>
                <a:cs typeface="Cambria" pitchFamily="34" charset="-120"/>
              </a:rPr>
              <a:t>Worked Example: Predicting Hypertension Risk</a:t>
            </a:r>
            <a:endParaRPr lang="en-US" sz="2800" dirty="0"/>
          </a:p>
        </p:txBody>
      </p:sp>
      <p:sp>
        <p:nvSpPr>
          <p:cNvPr id="4" name="Shape 2"/>
          <p:cNvSpPr/>
          <p:nvPr/>
        </p:nvSpPr>
        <p:spPr>
          <a:xfrm>
            <a:off x="411480" y="960120"/>
            <a:ext cx="8321040" cy="502920"/>
          </a:xfrm>
          <a:prstGeom prst="rect">
            <a:avLst/>
          </a:prstGeom>
          <a:solidFill>
            <a:srgbClr val="065A82"/>
          </a:solidFill>
          <a:ln w="12700">
            <a:solidFill>
              <a:srgbClr val="065A82"/>
            </a:solidFill>
            <a:prstDash val="solid"/>
          </a:ln>
        </p:spPr>
        <p:txBody>
          <a:bodyPr/>
          <a:lstStyle/>
          <a:p>
            <a:endParaRPr lang="en-US"/>
          </a:p>
        </p:txBody>
      </p:sp>
      <p:sp>
        <p:nvSpPr>
          <p:cNvPr id="5" name="Text 3"/>
          <p:cNvSpPr/>
          <p:nvPr/>
        </p:nvSpPr>
        <p:spPr>
          <a:xfrm>
            <a:off x="502920" y="1005840"/>
            <a:ext cx="8138160" cy="411480"/>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Research Question: Which modifiable factors predict systolic blood pressure in adults aged 40–70?</a:t>
            </a:r>
            <a:endParaRPr lang="en-US" sz="1350" dirty="0"/>
          </a:p>
        </p:txBody>
      </p:sp>
      <p:sp>
        <p:nvSpPr>
          <p:cNvPr id="6" name="Shape 4"/>
          <p:cNvSpPr/>
          <p:nvPr/>
        </p:nvSpPr>
        <p:spPr>
          <a:xfrm>
            <a:off x="411480" y="1536192"/>
            <a:ext cx="8321040" cy="640080"/>
          </a:xfrm>
          <a:prstGeom prst="rect">
            <a:avLst/>
          </a:prstGeom>
          <a:solidFill>
            <a:srgbClr val="EBF4F8"/>
          </a:solidFill>
          <a:ln w="12700">
            <a:solidFill>
              <a:srgbClr val="D6E4EC"/>
            </a:solidFill>
            <a:prstDash val="solid"/>
          </a:ln>
        </p:spPr>
        <p:txBody>
          <a:bodyPr/>
          <a:lstStyle/>
          <a:p>
            <a:endParaRPr lang="en-US"/>
          </a:p>
        </p:txBody>
      </p:sp>
      <p:sp>
        <p:nvSpPr>
          <p:cNvPr id="7" name="Shape 5"/>
          <p:cNvSpPr/>
          <p:nvPr/>
        </p:nvSpPr>
        <p:spPr>
          <a:xfrm>
            <a:off x="411480" y="1536192"/>
            <a:ext cx="457200" cy="640080"/>
          </a:xfrm>
          <a:prstGeom prst="rect">
            <a:avLst/>
          </a:prstGeom>
          <a:solidFill>
            <a:srgbClr val="065A82"/>
          </a:solidFill>
          <a:ln w="12700">
            <a:solidFill>
              <a:srgbClr val="065A82"/>
            </a:solidFill>
            <a:prstDash val="solid"/>
          </a:ln>
        </p:spPr>
        <p:txBody>
          <a:bodyPr/>
          <a:lstStyle/>
          <a:p>
            <a:endParaRPr lang="en-US"/>
          </a:p>
        </p:txBody>
      </p:sp>
      <p:sp>
        <p:nvSpPr>
          <p:cNvPr id="8" name="Text 6"/>
          <p:cNvSpPr/>
          <p:nvPr/>
        </p:nvSpPr>
        <p:spPr>
          <a:xfrm>
            <a:off x="411480" y="1536192"/>
            <a:ext cx="457200" cy="64008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9" name="Text 7"/>
          <p:cNvSpPr/>
          <p:nvPr/>
        </p:nvSpPr>
        <p:spPr>
          <a:xfrm>
            <a:off x="914400" y="1591056"/>
            <a:ext cx="1645920" cy="502920"/>
          </a:xfrm>
          <a:prstGeom prst="rect">
            <a:avLst/>
          </a:prstGeom>
          <a:noFill/>
          <a:ln/>
        </p:spPr>
        <p:txBody>
          <a:bodyPr wrap="square" lIns="0" tIns="0" rIns="0" bIns="0" rtlCol="0" anchor="t"/>
          <a:lstStyle/>
          <a:p>
            <a:pPr marL="0" indent="0">
              <a:buNone/>
            </a:pPr>
            <a:r>
              <a:rPr lang="en-US" sz="1200" b="1" dirty="0">
                <a:solidFill>
                  <a:srgbClr val="065A82"/>
                </a:solidFill>
                <a:latin typeface="Cambria" pitchFamily="34" charset="0"/>
                <a:ea typeface="Cambria" pitchFamily="34" charset="-122"/>
                <a:cs typeface="Cambria" pitchFamily="34" charset="-120"/>
              </a:rPr>
              <a:t>Study Design &amp; Variables: </a:t>
            </a:r>
            <a:endParaRPr lang="en-US" sz="1200" dirty="0"/>
          </a:p>
        </p:txBody>
      </p:sp>
      <p:sp>
        <p:nvSpPr>
          <p:cNvPr id="10" name="Text 8"/>
          <p:cNvSpPr/>
          <p:nvPr/>
        </p:nvSpPr>
        <p:spPr>
          <a:xfrm>
            <a:off x="2514600" y="1591056"/>
            <a:ext cx="6126480" cy="512064"/>
          </a:xfrm>
          <a:prstGeom prst="rect">
            <a:avLst/>
          </a:prstGeom>
          <a:noFill/>
          <a:ln/>
        </p:spPr>
        <p:txBody>
          <a:bodyPr wrap="square" lIns="0" tIns="0" rIns="0" bIns="0" rtlCol="0" anchor="t"/>
          <a:lstStyle/>
          <a:p>
            <a:pPr marL="0" indent="0">
              <a:buNone/>
            </a:pPr>
            <a:r>
              <a:rPr lang="en-US" sz="1150" dirty="0">
                <a:solidFill>
                  <a:srgbClr val="1A2D3D"/>
                </a:solidFill>
                <a:latin typeface="Calibri" pitchFamily="34" charset="0"/>
                <a:ea typeface="Calibri" pitchFamily="34" charset="-122"/>
                <a:cs typeface="Calibri" pitchFamily="34" charset="-120"/>
              </a:rPr>
              <a:t>Cross-sectional survey, N = 520. DV: Systolic BP (continuous). IVs: BMI, age, smoking (y/n), physical activity (MET-min/wk), sodium intake, SES score.</a:t>
            </a:r>
            <a:endParaRPr lang="en-US" sz="1150" dirty="0"/>
          </a:p>
        </p:txBody>
      </p:sp>
      <p:sp>
        <p:nvSpPr>
          <p:cNvPr id="11" name="Shape 9"/>
          <p:cNvSpPr/>
          <p:nvPr/>
        </p:nvSpPr>
        <p:spPr>
          <a:xfrm>
            <a:off x="411480" y="2258568"/>
            <a:ext cx="8321040" cy="640080"/>
          </a:xfrm>
          <a:prstGeom prst="rect">
            <a:avLst/>
          </a:prstGeom>
          <a:solidFill>
            <a:srgbClr val="FFFFFF"/>
          </a:solidFill>
          <a:ln w="12700">
            <a:solidFill>
              <a:srgbClr val="D6E4EC"/>
            </a:solidFill>
            <a:prstDash val="solid"/>
          </a:ln>
        </p:spPr>
        <p:txBody>
          <a:bodyPr/>
          <a:lstStyle/>
          <a:p>
            <a:endParaRPr lang="en-US"/>
          </a:p>
        </p:txBody>
      </p:sp>
      <p:sp>
        <p:nvSpPr>
          <p:cNvPr id="12" name="Shape 10"/>
          <p:cNvSpPr/>
          <p:nvPr/>
        </p:nvSpPr>
        <p:spPr>
          <a:xfrm>
            <a:off x="411480" y="2258568"/>
            <a:ext cx="457200" cy="640080"/>
          </a:xfrm>
          <a:prstGeom prst="rect">
            <a:avLst/>
          </a:prstGeom>
          <a:solidFill>
            <a:srgbClr val="1C7293"/>
          </a:solidFill>
          <a:ln w="12700">
            <a:solidFill>
              <a:srgbClr val="1C7293"/>
            </a:solidFill>
            <a:prstDash val="solid"/>
          </a:ln>
        </p:spPr>
        <p:txBody>
          <a:bodyPr/>
          <a:lstStyle/>
          <a:p>
            <a:endParaRPr lang="en-US"/>
          </a:p>
        </p:txBody>
      </p:sp>
      <p:sp>
        <p:nvSpPr>
          <p:cNvPr id="13" name="Text 11"/>
          <p:cNvSpPr/>
          <p:nvPr/>
        </p:nvSpPr>
        <p:spPr>
          <a:xfrm>
            <a:off x="411480" y="2258568"/>
            <a:ext cx="457200" cy="64008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4" name="Text 12"/>
          <p:cNvSpPr/>
          <p:nvPr/>
        </p:nvSpPr>
        <p:spPr>
          <a:xfrm>
            <a:off x="914400" y="2313432"/>
            <a:ext cx="1645920" cy="502920"/>
          </a:xfrm>
          <a:prstGeom prst="rect">
            <a:avLst/>
          </a:prstGeom>
          <a:noFill/>
          <a:ln/>
        </p:spPr>
        <p:txBody>
          <a:bodyPr wrap="square" lIns="0" tIns="0" rIns="0" bIns="0" rtlCol="0" anchor="t"/>
          <a:lstStyle/>
          <a:p>
            <a:pPr marL="0" indent="0">
              <a:buNone/>
            </a:pPr>
            <a:r>
              <a:rPr lang="en-US" sz="1200" b="1" dirty="0">
                <a:solidFill>
                  <a:srgbClr val="1C7293"/>
                </a:solidFill>
                <a:latin typeface="Cambria" pitchFamily="34" charset="0"/>
                <a:ea typeface="Cambria" pitchFamily="34" charset="-122"/>
                <a:cs typeface="Cambria" pitchFamily="34" charset="-120"/>
              </a:rPr>
              <a:t>Data Screening: </a:t>
            </a:r>
            <a:endParaRPr lang="en-US" sz="1200" dirty="0"/>
          </a:p>
        </p:txBody>
      </p:sp>
      <p:sp>
        <p:nvSpPr>
          <p:cNvPr id="15" name="Text 13"/>
          <p:cNvSpPr/>
          <p:nvPr/>
        </p:nvSpPr>
        <p:spPr>
          <a:xfrm>
            <a:off x="2514600" y="2313432"/>
            <a:ext cx="6126480" cy="512064"/>
          </a:xfrm>
          <a:prstGeom prst="rect">
            <a:avLst/>
          </a:prstGeom>
          <a:noFill/>
          <a:ln/>
        </p:spPr>
        <p:txBody>
          <a:bodyPr wrap="square" lIns="0" tIns="0" rIns="0" bIns="0" rtlCol="0" anchor="t"/>
          <a:lstStyle/>
          <a:p>
            <a:pPr marL="0" indent="0">
              <a:buNone/>
            </a:pPr>
            <a:r>
              <a:rPr lang="en-US" sz="1150" dirty="0">
                <a:solidFill>
                  <a:srgbClr val="1A2D3D"/>
                </a:solidFill>
                <a:latin typeface="Calibri" pitchFamily="34" charset="0"/>
                <a:ea typeface="Calibri" pitchFamily="34" charset="-122"/>
                <a:cs typeface="Calibri" pitchFamily="34" charset="-120"/>
              </a:rPr>
              <a:t>Missing: 3.2% — multiply imputed. 2 multivariate outliers removed. BMI &amp; sodium log-transformed (skewness). VIF max 2.4 — no multicollinearity.</a:t>
            </a:r>
            <a:endParaRPr lang="en-US" sz="1150" dirty="0"/>
          </a:p>
        </p:txBody>
      </p:sp>
      <p:sp>
        <p:nvSpPr>
          <p:cNvPr id="16" name="Shape 14"/>
          <p:cNvSpPr/>
          <p:nvPr/>
        </p:nvSpPr>
        <p:spPr>
          <a:xfrm>
            <a:off x="411480" y="2980944"/>
            <a:ext cx="8321040" cy="640080"/>
          </a:xfrm>
          <a:prstGeom prst="rect">
            <a:avLst/>
          </a:prstGeom>
          <a:solidFill>
            <a:srgbClr val="EBF4F8"/>
          </a:solidFill>
          <a:ln w="12700">
            <a:solidFill>
              <a:srgbClr val="D6E4EC"/>
            </a:solidFill>
            <a:prstDash val="solid"/>
          </a:ln>
        </p:spPr>
        <p:txBody>
          <a:bodyPr/>
          <a:lstStyle/>
          <a:p>
            <a:endParaRPr lang="en-US"/>
          </a:p>
        </p:txBody>
      </p:sp>
      <p:sp>
        <p:nvSpPr>
          <p:cNvPr id="17" name="Shape 15"/>
          <p:cNvSpPr/>
          <p:nvPr/>
        </p:nvSpPr>
        <p:spPr>
          <a:xfrm>
            <a:off x="411480" y="2980944"/>
            <a:ext cx="457200" cy="640080"/>
          </a:xfrm>
          <a:prstGeom prst="rect">
            <a:avLst/>
          </a:prstGeom>
          <a:solidFill>
            <a:srgbClr val="E8A838"/>
          </a:solidFill>
          <a:ln w="12700">
            <a:solidFill>
              <a:srgbClr val="E8A838"/>
            </a:solidFill>
            <a:prstDash val="solid"/>
          </a:ln>
        </p:spPr>
        <p:txBody>
          <a:bodyPr/>
          <a:lstStyle/>
          <a:p>
            <a:endParaRPr lang="en-US"/>
          </a:p>
        </p:txBody>
      </p:sp>
      <p:sp>
        <p:nvSpPr>
          <p:cNvPr id="18" name="Text 16"/>
          <p:cNvSpPr/>
          <p:nvPr/>
        </p:nvSpPr>
        <p:spPr>
          <a:xfrm>
            <a:off x="411480" y="2980944"/>
            <a:ext cx="457200" cy="64008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9" name="Text 17"/>
          <p:cNvSpPr/>
          <p:nvPr/>
        </p:nvSpPr>
        <p:spPr>
          <a:xfrm>
            <a:off x="914400" y="3035808"/>
            <a:ext cx="1645920" cy="502920"/>
          </a:xfrm>
          <a:prstGeom prst="rect">
            <a:avLst/>
          </a:prstGeom>
          <a:noFill/>
          <a:ln/>
        </p:spPr>
        <p:txBody>
          <a:bodyPr wrap="square" lIns="0" tIns="0" rIns="0" bIns="0" rtlCol="0" anchor="t"/>
          <a:lstStyle/>
          <a:p>
            <a:pPr marL="0" indent="0">
              <a:buNone/>
            </a:pPr>
            <a:r>
              <a:rPr lang="en-US" sz="1200" b="1" dirty="0">
                <a:solidFill>
                  <a:srgbClr val="E8A838"/>
                </a:solidFill>
                <a:latin typeface="Cambria" pitchFamily="34" charset="0"/>
                <a:ea typeface="Cambria" pitchFamily="34" charset="-122"/>
                <a:cs typeface="Cambria" pitchFamily="34" charset="-120"/>
              </a:rPr>
              <a:t>Analysis: Hierarchical Regression: </a:t>
            </a:r>
            <a:endParaRPr lang="en-US" sz="1200" dirty="0"/>
          </a:p>
        </p:txBody>
      </p:sp>
      <p:sp>
        <p:nvSpPr>
          <p:cNvPr id="20" name="Text 18"/>
          <p:cNvSpPr/>
          <p:nvPr/>
        </p:nvSpPr>
        <p:spPr>
          <a:xfrm>
            <a:off x="2514600" y="3035808"/>
            <a:ext cx="6126480" cy="512064"/>
          </a:xfrm>
          <a:prstGeom prst="rect">
            <a:avLst/>
          </a:prstGeom>
          <a:noFill/>
          <a:ln/>
        </p:spPr>
        <p:txBody>
          <a:bodyPr wrap="square" lIns="0" tIns="0" rIns="0" bIns="0" rtlCol="0" anchor="t"/>
          <a:lstStyle/>
          <a:p>
            <a:pPr marL="0" indent="0">
              <a:buNone/>
            </a:pPr>
            <a:r>
              <a:rPr lang="en-US" sz="1150" dirty="0">
                <a:solidFill>
                  <a:srgbClr val="1A2D3D"/>
                </a:solidFill>
                <a:latin typeface="Calibri" pitchFamily="34" charset="0"/>
                <a:ea typeface="Calibri" pitchFamily="34" charset="-122"/>
                <a:cs typeface="Calibri" pitchFamily="34" charset="-120"/>
              </a:rPr>
              <a:t>Block 1: Demographics (age, sex) — R² = .21, F(2,517) = 68.7, p&lt;.001. Block 2: + lifestyle IVs — ΔR² = .19, ΔF(4,513) = 31.2, p&lt;.001. Final R² = .40.</a:t>
            </a:r>
            <a:endParaRPr lang="en-US" sz="1150" dirty="0"/>
          </a:p>
        </p:txBody>
      </p:sp>
      <p:sp>
        <p:nvSpPr>
          <p:cNvPr id="21" name="Shape 19"/>
          <p:cNvSpPr/>
          <p:nvPr/>
        </p:nvSpPr>
        <p:spPr>
          <a:xfrm>
            <a:off x="411480" y="3703320"/>
            <a:ext cx="8321040" cy="640080"/>
          </a:xfrm>
          <a:prstGeom prst="rect">
            <a:avLst/>
          </a:prstGeom>
          <a:solidFill>
            <a:srgbClr val="FFFFFF"/>
          </a:solidFill>
          <a:ln w="12700">
            <a:solidFill>
              <a:srgbClr val="D6E4EC"/>
            </a:solidFill>
            <a:prstDash val="solid"/>
          </a:ln>
        </p:spPr>
        <p:txBody>
          <a:bodyPr/>
          <a:lstStyle/>
          <a:p>
            <a:endParaRPr lang="en-US"/>
          </a:p>
        </p:txBody>
      </p:sp>
      <p:sp>
        <p:nvSpPr>
          <p:cNvPr id="22" name="Shape 20"/>
          <p:cNvSpPr/>
          <p:nvPr/>
        </p:nvSpPr>
        <p:spPr>
          <a:xfrm>
            <a:off x="411480" y="3703320"/>
            <a:ext cx="457200" cy="640080"/>
          </a:xfrm>
          <a:prstGeom prst="rect">
            <a:avLst/>
          </a:prstGeom>
          <a:solidFill>
            <a:srgbClr val="065A82"/>
          </a:solidFill>
          <a:ln w="12700">
            <a:solidFill>
              <a:srgbClr val="065A82"/>
            </a:solidFill>
            <a:prstDash val="solid"/>
          </a:ln>
        </p:spPr>
        <p:txBody>
          <a:bodyPr/>
          <a:lstStyle/>
          <a:p>
            <a:endParaRPr lang="en-US"/>
          </a:p>
        </p:txBody>
      </p:sp>
      <p:sp>
        <p:nvSpPr>
          <p:cNvPr id="23" name="Text 21"/>
          <p:cNvSpPr/>
          <p:nvPr/>
        </p:nvSpPr>
        <p:spPr>
          <a:xfrm>
            <a:off x="411480" y="3703320"/>
            <a:ext cx="457200" cy="64008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24" name="Text 22"/>
          <p:cNvSpPr/>
          <p:nvPr/>
        </p:nvSpPr>
        <p:spPr>
          <a:xfrm>
            <a:off x="914400" y="3758184"/>
            <a:ext cx="1645920" cy="502920"/>
          </a:xfrm>
          <a:prstGeom prst="rect">
            <a:avLst/>
          </a:prstGeom>
          <a:noFill/>
          <a:ln/>
        </p:spPr>
        <p:txBody>
          <a:bodyPr wrap="square" lIns="0" tIns="0" rIns="0" bIns="0" rtlCol="0" anchor="t"/>
          <a:lstStyle/>
          <a:p>
            <a:pPr marL="0" indent="0">
              <a:buNone/>
            </a:pPr>
            <a:r>
              <a:rPr lang="en-US" sz="1200" b="1" dirty="0">
                <a:solidFill>
                  <a:srgbClr val="065A82"/>
                </a:solidFill>
                <a:latin typeface="Cambria" pitchFamily="34" charset="0"/>
                <a:ea typeface="Cambria" pitchFamily="34" charset="-122"/>
                <a:cs typeface="Cambria" pitchFamily="34" charset="-120"/>
              </a:rPr>
              <a:t>Results &amp; Interpretation: </a:t>
            </a:r>
            <a:endParaRPr lang="en-US" sz="1200" dirty="0"/>
          </a:p>
        </p:txBody>
      </p:sp>
      <p:sp>
        <p:nvSpPr>
          <p:cNvPr id="25" name="Text 23"/>
          <p:cNvSpPr/>
          <p:nvPr/>
        </p:nvSpPr>
        <p:spPr>
          <a:xfrm>
            <a:off x="2514600" y="3758184"/>
            <a:ext cx="6126480" cy="512064"/>
          </a:xfrm>
          <a:prstGeom prst="rect">
            <a:avLst/>
          </a:prstGeom>
          <a:noFill/>
          <a:ln/>
        </p:spPr>
        <p:txBody>
          <a:bodyPr wrap="square" lIns="0" tIns="0" rIns="0" bIns="0" rtlCol="0" anchor="t"/>
          <a:lstStyle/>
          <a:p>
            <a:pPr marL="0" indent="0">
              <a:buNone/>
            </a:pPr>
            <a:r>
              <a:rPr lang="en-US" sz="1150" dirty="0">
                <a:solidFill>
                  <a:srgbClr val="1A2D3D"/>
                </a:solidFill>
                <a:latin typeface="Calibri" pitchFamily="34" charset="0"/>
                <a:ea typeface="Calibri" pitchFamily="34" charset="-122"/>
                <a:cs typeface="Calibri" pitchFamily="34" charset="-120"/>
              </a:rPr>
              <a:t>Age (β=.31), BMI-log (β=.28), sodium (β=.22) and smoking (β=.14) all significant. Physical activity β=-.18, p&lt;.001 (protective). SES ns after adjustment.</a:t>
            </a:r>
            <a:endParaRPr lang="en-US" sz="1150" dirty="0"/>
          </a:p>
        </p:txBody>
      </p:sp>
      <p:sp>
        <p:nvSpPr>
          <p:cNvPr id="26" name="Shape 24"/>
          <p:cNvSpPr/>
          <p:nvPr/>
        </p:nvSpPr>
        <p:spPr>
          <a:xfrm>
            <a:off x="411480" y="4425696"/>
            <a:ext cx="8321040" cy="640080"/>
          </a:xfrm>
          <a:prstGeom prst="rect">
            <a:avLst/>
          </a:prstGeom>
          <a:solidFill>
            <a:srgbClr val="EBF4F8"/>
          </a:solidFill>
          <a:ln w="12700">
            <a:solidFill>
              <a:srgbClr val="D6E4EC"/>
            </a:solidFill>
            <a:prstDash val="solid"/>
          </a:ln>
        </p:spPr>
        <p:txBody>
          <a:bodyPr/>
          <a:lstStyle/>
          <a:p>
            <a:endParaRPr lang="en-US"/>
          </a:p>
        </p:txBody>
      </p:sp>
      <p:sp>
        <p:nvSpPr>
          <p:cNvPr id="27" name="Shape 25"/>
          <p:cNvSpPr/>
          <p:nvPr/>
        </p:nvSpPr>
        <p:spPr>
          <a:xfrm>
            <a:off x="411480" y="4425696"/>
            <a:ext cx="457200" cy="640080"/>
          </a:xfrm>
          <a:prstGeom prst="rect">
            <a:avLst/>
          </a:prstGeom>
          <a:solidFill>
            <a:srgbClr val="1C7293"/>
          </a:solidFill>
          <a:ln w="12700">
            <a:solidFill>
              <a:srgbClr val="1C7293"/>
            </a:solidFill>
            <a:prstDash val="solid"/>
          </a:ln>
        </p:spPr>
        <p:txBody>
          <a:bodyPr/>
          <a:lstStyle/>
          <a:p>
            <a:endParaRPr lang="en-US"/>
          </a:p>
        </p:txBody>
      </p:sp>
      <p:sp>
        <p:nvSpPr>
          <p:cNvPr id="28" name="Text 26"/>
          <p:cNvSpPr/>
          <p:nvPr/>
        </p:nvSpPr>
        <p:spPr>
          <a:xfrm>
            <a:off x="411480" y="4425696"/>
            <a:ext cx="457200" cy="64008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5</a:t>
            </a:r>
            <a:endParaRPr lang="en-US" sz="1800" dirty="0"/>
          </a:p>
        </p:txBody>
      </p:sp>
      <p:sp>
        <p:nvSpPr>
          <p:cNvPr id="29" name="Text 27"/>
          <p:cNvSpPr/>
          <p:nvPr/>
        </p:nvSpPr>
        <p:spPr>
          <a:xfrm>
            <a:off x="914400" y="4480560"/>
            <a:ext cx="1645920" cy="502920"/>
          </a:xfrm>
          <a:prstGeom prst="rect">
            <a:avLst/>
          </a:prstGeom>
          <a:noFill/>
          <a:ln/>
        </p:spPr>
        <p:txBody>
          <a:bodyPr wrap="square" lIns="0" tIns="0" rIns="0" bIns="0" rtlCol="0" anchor="t"/>
          <a:lstStyle/>
          <a:p>
            <a:pPr marL="0" indent="0">
              <a:buNone/>
            </a:pPr>
            <a:r>
              <a:rPr lang="en-US" sz="1200" b="1" dirty="0">
                <a:solidFill>
                  <a:srgbClr val="1C7293"/>
                </a:solidFill>
                <a:latin typeface="Cambria" pitchFamily="34" charset="0"/>
                <a:ea typeface="Cambria" pitchFamily="34" charset="-122"/>
                <a:cs typeface="Cambria" pitchFamily="34" charset="-120"/>
              </a:rPr>
              <a:t>Reporting: </a:t>
            </a:r>
            <a:endParaRPr lang="en-US" sz="1200" dirty="0"/>
          </a:p>
        </p:txBody>
      </p:sp>
      <p:sp>
        <p:nvSpPr>
          <p:cNvPr id="30" name="Text 28"/>
          <p:cNvSpPr/>
          <p:nvPr/>
        </p:nvSpPr>
        <p:spPr>
          <a:xfrm>
            <a:off x="2514600" y="4480560"/>
            <a:ext cx="6126480" cy="512064"/>
          </a:xfrm>
          <a:prstGeom prst="rect">
            <a:avLst/>
          </a:prstGeom>
          <a:noFill/>
          <a:ln/>
        </p:spPr>
        <p:txBody>
          <a:bodyPr wrap="square" lIns="0" tIns="0" rIns="0" bIns="0" rtlCol="0" anchor="t"/>
          <a:lstStyle/>
          <a:p>
            <a:pPr marL="0" indent="0">
              <a:buNone/>
            </a:pPr>
            <a:r>
              <a:rPr lang="en-US" sz="1150" dirty="0">
                <a:solidFill>
                  <a:srgbClr val="1A2D3D"/>
                </a:solidFill>
                <a:latin typeface="Calibri" pitchFamily="34" charset="0"/>
                <a:ea typeface="Calibri" pitchFamily="34" charset="-122"/>
                <a:cs typeface="Calibri" pitchFamily="34" charset="-120"/>
              </a:rPr>
              <a:t>All β reported with 95% CI, sr², p-values. Achieved power = .97. Sensitivity analysis excluding outliers yielded identical conclusions.</a:t>
            </a:r>
            <a:endParaRPr lang="en-US" sz="115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E8A838"/>
          </a:solidFill>
          <a:ln w="12700">
            <a:solidFill>
              <a:srgbClr val="E8A838"/>
            </a:solidFill>
            <a:prstDash val="solid"/>
          </a:ln>
        </p:spPr>
        <p:txBody>
          <a:bodyPr/>
          <a:lstStyle/>
          <a:p>
            <a:endParaRPr lang="en-US"/>
          </a:p>
        </p:txBody>
      </p:sp>
      <p:sp>
        <p:nvSpPr>
          <p:cNvPr id="3" name="Shape 1"/>
          <p:cNvSpPr/>
          <p:nvPr/>
        </p:nvSpPr>
        <p:spPr>
          <a:xfrm>
            <a:off x="0" y="5029200"/>
            <a:ext cx="9144000" cy="114300"/>
          </a:xfrm>
          <a:prstGeom prst="rect">
            <a:avLst/>
          </a:prstGeom>
          <a:solidFill>
            <a:srgbClr val="1C7293"/>
          </a:solidFill>
          <a:ln w="12700">
            <a:solidFill>
              <a:srgbClr val="1C7293"/>
            </a:solidFill>
            <a:prstDash val="solid"/>
          </a:ln>
        </p:spPr>
        <p:txBody>
          <a:bodyPr/>
          <a:lstStyle/>
          <a:p>
            <a:endParaRPr lang="en-US"/>
          </a:p>
        </p:txBody>
      </p:sp>
      <p:sp>
        <p:nvSpPr>
          <p:cNvPr id="4" name="Text 2"/>
          <p:cNvSpPr/>
          <p:nvPr/>
        </p:nvSpPr>
        <p:spPr>
          <a:xfrm>
            <a:off x="457200" y="228600"/>
            <a:ext cx="8229600" cy="59436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Summary &amp; Key Takeaways</a:t>
            </a:r>
            <a:endParaRPr lang="en-US" sz="3000" dirty="0"/>
          </a:p>
        </p:txBody>
      </p:sp>
      <p:sp>
        <p:nvSpPr>
          <p:cNvPr id="5" name="Shape 3"/>
          <p:cNvSpPr/>
          <p:nvPr/>
        </p:nvSpPr>
        <p:spPr>
          <a:xfrm>
            <a:off x="320040" y="987552"/>
            <a:ext cx="2743200" cy="1755648"/>
          </a:xfrm>
          <a:prstGeom prst="rect">
            <a:avLst/>
          </a:prstGeom>
          <a:solidFill>
            <a:srgbClr val="065A82"/>
          </a:solidFill>
          <a:ln w="12700">
            <a:solidFill>
              <a:srgbClr val="1C7293"/>
            </a:solidFill>
            <a:prstDash val="solid"/>
          </a:ln>
        </p:spPr>
        <p:txBody>
          <a:bodyPr/>
          <a:lstStyle/>
          <a:p>
            <a:endParaRPr lang="en-US"/>
          </a:p>
        </p:txBody>
      </p:sp>
      <p:sp>
        <p:nvSpPr>
          <p:cNvPr id="6" name="Shape 4"/>
          <p:cNvSpPr/>
          <p:nvPr/>
        </p:nvSpPr>
        <p:spPr>
          <a:xfrm>
            <a:off x="320040" y="987552"/>
            <a:ext cx="2743200" cy="64008"/>
          </a:xfrm>
          <a:prstGeom prst="rect">
            <a:avLst/>
          </a:prstGeom>
          <a:solidFill>
            <a:srgbClr val="E8A838"/>
          </a:solidFill>
          <a:ln w="12700">
            <a:solidFill>
              <a:srgbClr val="E8A838"/>
            </a:solidFill>
            <a:prstDash val="solid"/>
          </a:ln>
        </p:spPr>
        <p:txBody>
          <a:bodyPr/>
          <a:lstStyle/>
          <a:p>
            <a:endParaRPr lang="en-US"/>
          </a:p>
        </p:txBody>
      </p:sp>
      <p:sp>
        <p:nvSpPr>
          <p:cNvPr id="7" name="Text 5"/>
          <p:cNvSpPr/>
          <p:nvPr/>
        </p:nvSpPr>
        <p:spPr>
          <a:xfrm>
            <a:off x="448056" y="1078992"/>
            <a:ext cx="2487168" cy="411480"/>
          </a:xfrm>
          <a:prstGeom prst="rect">
            <a:avLst/>
          </a:prstGeom>
          <a:noFill/>
          <a:ln/>
        </p:spPr>
        <p:txBody>
          <a:bodyPr wrap="square" lIns="0" tIns="0" rIns="0" bIns="0" rtlCol="0" anchor="ctr"/>
          <a:lstStyle/>
          <a:p>
            <a:pPr marL="0" indent="0">
              <a:buNone/>
            </a:pPr>
            <a:r>
              <a:rPr lang="en-US" sz="1400" b="1" dirty="0">
                <a:solidFill>
                  <a:srgbClr val="E8A838"/>
                </a:solidFill>
                <a:latin typeface="Cambria" pitchFamily="34" charset="0"/>
                <a:ea typeface="Cambria" pitchFamily="34" charset="-122"/>
                <a:cs typeface="Cambria" pitchFamily="34" charset="-120"/>
              </a:rPr>
              <a:t>Choose wisely</a:t>
            </a:r>
            <a:endParaRPr lang="en-US" sz="1400" dirty="0"/>
          </a:p>
        </p:txBody>
      </p:sp>
      <p:sp>
        <p:nvSpPr>
          <p:cNvPr id="8" name="Text 6"/>
          <p:cNvSpPr/>
          <p:nvPr/>
        </p:nvSpPr>
        <p:spPr>
          <a:xfrm>
            <a:off x="448056" y="1517904"/>
            <a:ext cx="2487168" cy="1143000"/>
          </a:xfrm>
          <a:prstGeom prst="rect">
            <a:avLst/>
          </a:prstGeom>
          <a:noFill/>
          <a:ln/>
        </p:spPr>
        <p:txBody>
          <a:bodyPr wrap="square" lIns="0" tIns="0" rIns="0" bIns="0" rtlCol="0" anchor="t"/>
          <a:lstStyle/>
          <a:p>
            <a:pPr marL="0" indent="0">
              <a:buNone/>
            </a:pPr>
            <a:r>
              <a:rPr lang="en-US" sz="1250" dirty="0">
                <a:solidFill>
                  <a:srgbClr val="D6E4EC"/>
                </a:solidFill>
                <a:latin typeface="Calibri" pitchFamily="34" charset="0"/>
                <a:ea typeface="Calibri" pitchFamily="34" charset="-122"/>
                <a:cs typeface="Calibri" pitchFamily="34" charset="-120"/>
              </a:rPr>
              <a:t>Match technique to research question, DV type, and number of variables</a:t>
            </a:r>
            <a:endParaRPr lang="en-US" sz="1250" dirty="0"/>
          </a:p>
        </p:txBody>
      </p:sp>
      <p:sp>
        <p:nvSpPr>
          <p:cNvPr id="9" name="Shape 7"/>
          <p:cNvSpPr/>
          <p:nvPr/>
        </p:nvSpPr>
        <p:spPr>
          <a:xfrm>
            <a:off x="3200400" y="987552"/>
            <a:ext cx="2743200" cy="1755648"/>
          </a:xfrm>
          <a:prstGeom prst="rect">
            <a:avLst/>
          </a:prstGeom>
          <a:solidFill>
            <a:srgbClr val="065A82"/>
          </a:solidFill>
          <a:ln w="12700">
            <a:solidFill>
              <a:srgbClr val="1C7293"/>
            </a:solidFill>
            <a:prstDash val="solid"/>
          </a:ln>
        </p:spPr>
        <p:txBody>
          <a:bodyPr/>
          <a:lstStyle/>
          <a:p>
            <a:endParaRPr lang="en-US"/>
          </a:p>
        </p:txBody>
      </p:sp>
      <p:sp>
        <p:nvSpPr>
          <p:cNvPr id="10" name="Shape 8"/>
          <p:cNvSpPr/>
          <p:nvPr/>
        </p:nvSpPr>
        <p:spPr>
          <a:xfrm>
            <a:off x="3200400" y="987552"/>
            <a:ext cx="2743200" cy="64008"/>
          </a:xfrm>
          <a:prstGeom prst="rect">
            <a:avLst/>
          </a:prstGeom>
          <a:solidFill>
            <a:srgbClr val="E8A838"/>
          </a:solidFill>
          <a:ln w="12700">
            <a:solidFill>
              <a:srgbClr val="E8A838"/>
            </a:solidFill>
            <a:prstDash val="solid"/>
          </a:ln>
        </p:spPr>
        <p:txBody>
          <a:bodyPr/>
          <a:lstStyle/>
          <a:p>
            <a:endParaRPr lang="en-US"/>
          </a:p>
        </p:txBody>
      </p:sp>
      <p:sp>
        <p:nvSpPr>
          <p:cNvPr id="11" name="Text 9"/>
          <p:cNvSpPr/>
          <p:nvPr/>
        </p:nvSpPr>
        <p:spPr>
          <a:xfrm>
            <a:off x="3328416" y="1078992"/>
            <a:ext cx="2487168" cy="411480"/>
          </a:xfrm>
          <a:prstGeom prst="rect">
            <a:avLst/>
          </a:prstGeom>
          <a:noFill/>
          <a:ln/>
        </p:spPr>
        <p:txBody>
          <a:bodyPr wrap="square" lIns="0" tIns="0" rIns="0" bIns="0" rtlCol="0" anchor="ctr"/>
          <a:lstStyle/>
          <a:p>
            <a:pPr marL="0" indent="0">
              <a:buNone/>
            </a:pPr>
            <a:r>
              <a:rPr lang="en-US" sz="1400" b="1" dirty="0">
                <a:solidFill>
                  <a:srgbClr val="E8A838"/>
                </a:solidFill>
                <a:latin typeface="Cambria" pitchFamily="34" charset="0"/>
                <a:ea typeface="Cambria" pitchFamily="34" charset="-122"/>
                <a:cs typeface="Cambria" pitchFamily="34" charset="-120"/>
              </a:rPr>
              <a:t>Screen first</a:t>
            </a:r>
            <a:endParaRPr lang="en-US" sz="1400" dirty="0"/>
          </a:p>
        </p:txBody>
      </p:sp>
      <p:sp>
        <p:nvSpPr>
          <p:cNvPr id="12" name="Text 10"/>
          <p:cNvSpPr/>
          <p:nvPr/>
        </p:nvSpPr>
        <p:spPr>
          <a:xfrm>
            <a:off x="3328416" y="1517904"/>
            <a:ext cx="2487168" cy="1143000"/>
          </a:xfrm>
          <a:prstGeom prst="rect">
            <a:avLst/>
          </a:prstGeom>
          <a:noFill/>
          <a:ln/>
        </p:spPr>
        <p:txBody>
          <a:bodyPr wrap="square" lIns="0" tIns="0" rIns="0" bIns="0" rtlCol="0" anchor="t"/>
          <a:lstStyle/>
          <a:p>
            <a:pPr marL="0" indent="0">
              <a:buNone/>
            </a:pPr>
            <a:r>
              <a:rPr lang="en-US" sz="1250" dirty="0">
                <a:solidFill>
                  <a:srgbClr val="D6E4EC"/>
                </a:solidFill>
                <a:latin typeface="Calibri" pitchFamily="34" charset="0"/>
                <a:ea typeface="Calibri" pitchFamily="34" charset="-122"/>
                <a:cs typeface="Calibri" pitchFamily="34" charset="-120"/>
              </a:rPr>
              <a:t>Always screen data for outliers, normality, collinearity, and missing data before analysis</a:t>
            </a:r>
            <a:endParaRPr lang="en-US" sz="1250" dirty="0"/>
          </a:p>
        </p:txBody>
      </p:sp>
      <p:sp>
        <p:nvSpPr>
          <p:cNvPr id="13" name="Shape 11"/>
          <p:cNvSpPr/>
          <p:nvPr/>
        </p:nvSpPr>
        <p:spPr>
          <a:xfrm>
            <a:off x="6080760" y="987552"/>
            <a:ext cx="2743200" cy="1755648"/>
          </a:xfrm>
          <a:prstGeom prst="rect">
            <a:avLst/>
          </a:prstGeom>
          <a:solidFill>
            <a:srgbClr val="065A82"/>
          </a:solidFill>
          <a:ln w="12700">
            <a:solidFill>
              <a:srgbClr val="1C7293"/>
            </a:solidFill>
            <a:prstDash val="solid"/>
          </a:ln>
        </p:spPr>
        <p:txBody>
          <a:bodyPr/>
          <a:lstStyle/>
          <a:p>
            <a:endParaRPr lang="en-US"/>
          </a:p>
        </p:txBody>
      </p:sp>
      <p:sp>
        <p:nvSpPr>
          <p:cNvPr id="14" name="Shape 12"/>
          <p:cNvSpPr/>
          <p:nvPr/>
        </p:nvSpPr>
        <p:spPr>
          <a:xfrm>
            <a:off x="6080760" y="987552"/>
            <a:ext cx="2743200" cy="64008"/>
          </a:xfrm>
          <a:prstGeom prst="rect">
            <a:avLst/>
          </a:prstGeom>
          <a:solidFill>
            <a:srgbClr val="E8A838"/>
          </a:solidFill>
          <a:ln w="12700">
            <a:solidFill>
              <a:srgbClr val="E8A838"/>
            </a:solidFill>
            <a:prstDash val="solid"/>
          </a:ln>
        </p:spPr>
        <p:txBody>
          <a:bodyPr/>
          <a:lstStyle/>
          <a:p>
            <a:endParaRPr lang="en-US"/>
          </a:p>
        </p:txBody>
      </p:sp>
      <p:sp>
        <p:nvSpPr>
          <p:cNvPr id="15" name="Text 13"/>
          <p:cNvSpPr/>
          <p:nvPr/>
        </p:nvSpPr>
        <p:spPr>
          <a:xfrm>
            <a:off x="6208776" y="1078992"/>
            <a:ext cx="2487168" cy="411480"/>
          </a:xfrm>
          <a:prstGeom prst="rect">
            <a:avLst/>
          </a:prstGeom>
          <a:noFill/>
          <a:ln/>
        </p:spPr>
        <p:txBody>
          <a:bodyPr wrap="square" lIns="0" tIns="0" rIns="0" bIns="0" rtlCol="0" anchor="ctr"/>
          <a:lstStyle/>
          <a:p>
            <a:pPr marL="0" indent="0">
              <a:buNone/>
            </a:pPr>
            <a:r>
              <a:rPr lang="en-US" sz="1400" b="1" dirty="0">
                <a:solidFill>
                  <a:srgbClr val="E8A838"/>
                </a:solidFill>
                <a:latin typeface="Cambria" pitchFamily="34" charset="0"/>
                <a:ea typeface="Cambria" pitchFamily="34" charset="-122"/>
                <a:cs typeface="Cambria" pitchFamily="34" charset="-120"/>
              </a:rPr>
              <a:t>Report fully</a:t>
            </a:r>
            <a:endParaRPr lang="en-US" sz="1400" dirty="0"/>
          </a:p>
        </p:txBody>
      </p:sp>
      <p:sp>
        <p:nvSpPr>
          <p:cNvPr id="16" name="Text 14"/>
          <p:cNvSpPr/>
          <p:nvPr/>
        </p:nvSpPr>
        <p:spPr>
          <a:xfrm>
            <a:off x="6208776" y="1517904"/>
            <a:ext cx="2487168" cy="1143000"/>
          </a:xfrm>
          <a:prstGeom prst="rect">
            <a:avLst/>
          </a:prstGeom>
          <a:noFill/>
          <a:ln/>
        </p:spPr>
        <p:txBody>
          <a:bodyPr wrap="square" lIns="0" tIns="0" rIns="0" bIns="0" rtlCol="0" anchor="t"/>
          <a:lstStyle/>
          <a:p>
            <a:pPr marL="0" indent="0">
              <a:buNone/>
            </a:pPr>
            <a:r>
              <a:rPr lang="en-US" sz="1250" dirty="0">
                <a:solidFill>
                  <a:srgbClr val="D6E4EC"/>
                </a:solidFill>
                <a:latin typeface="Calibri" pitchFamily="34" charset="0"/>
                <a:ea typeface="Calibri" pitchFamily="34" charset="-122"/>
                <a:cs typeface="Calibri" pitchFamily="34" charset="-120"/>
              </a:rPr>
              <a:t>Assumptions, effect sizes, CIs, power — not just p-values</a:t>
            </a:r>
            <a:endParaRPr lang="en-US" sz="1250" dirty="0"/>
          </a:p>
        </p:txBody>
      </p:sp>
      <p:sp>
        <p:nvSpPr>
          <p:cNvPr id="17" name="Shape 15"/>
          <p:cNvSpPr/>
          <p:nvPr/>
        </p:nvSpPr>
        <p:spPr>
          <a:xfrm>
            <a:off x="320040" y="2907792"/>
            <a:ext cx="2743200" cy="1755648"/>
          </a:xfrm>
          <a:prstGeom prst="rect">
            <a:avLst/>
          </a:prstGeom>
          <a:solidFill>
            <a:srgbClr val="065A82"/>
          </a:solidFill>
          <a:ln w="12700">
            <a:solidFill>
              <a:srgbClr val="1C7293"/>
            </a:solidFill>
            <a:prstDash val="solid"/>
          </a:ln>
        </p:spPr>
        <p:txBody>
          <a:bodyPr/>
          <a:lstStyle/>
          <a:p>
            <a:endParaRPr lang="en-US"/>
          </a:p>
        </p:txBody>
      </p:sp>
      <p:sp>
        <p:nvSpPr>
          <p:cNvPr id="18" name="Shape 16"/>
          <p:cNvSpPr/>
          <p:nvPr/>
        </p:nvSpPr>
        <p:spPr>
          <a:xfrm>
            <a:off x="320040" y="2907792"/>
            <a:ext cx="2743200" cy="64008"/>
          </a:xfrm>
          <a:prstGeom prst="rect">
            <a:avLst/>
          </a:prstGeom>
          <a:solidFill>
            <a:srgbClr val="E8A838"/>
          </a:solidFill>
          <a:ln w="12700">
            <a:solidFill>
              <a:srgbClr val="E8A838"/>
            </a:solidFill>
            <a:prstDash val="solid"/>
          </a:ln>
        </p:spPr>
        <p:txBody>
          <a:bodyPr/>
          <a:lstStyle/>
          <a:p>
            <a:endParaRPr lang="en-US"/>
          </a:p>
        </p:txBody>
      </p:sp>
      <p:sp>
        <p:nvSpPr>
          <p:cNvPr id="19" name="Text 17"/>
          <p:cNvSpPr/>
          <p:nvPr/>
        </p:nvSpPr>
        <p:spPr>
          <a:xfrm>
            <a:off x="448056" y="2999232"/>
            <a:ext cx="2487168" cy="411480"/>
          </a:xfrm>
          <a:prstGeom prst="rect">
            <a:avLst/>
          </a:prstGeom>
          <a:noFill/>
          <a:ln/>
        </p:spPr>
        <p:txBody>
          <a:bodyPr wrap="square" lIns="0" tIns="0" rIns="0" bIns="0" rtlCol="0" anchor="ctr"/>
          <a:lstStyle/>
          <a:p>
            <a:pPr marL="0" indent="0">
              <a:buNone/>
            </a:pPr>
            <a:r>
              <a:rPr lang="en-US" sz="1400" b="1" dirty="0">
                <a:solidFill>
                  <a:srgbClr val="E8A838"/>
                </a:solidFill>
                <a:latin typeface="Cambria" pitchFamily="34" charset="0"/>
                <a:ea typeface="Cambria" pitchFamily="34" charset="-122"/>
                <a:cs typeface="Cambria" pitchFamily="34" charset="-120"/>
              </a:rPr>
              <a:t>Think causally</a:t>
            </a:r>
            <a:endParaRPr lang="en-US" sz="1400" dirty="0"/>
          </a:p>
        </p:txBody>
      </p:sp>
      <p:sp>
        <p:nvSpPr>
          <p:cNvPr id="20" name="Text 18"/>
          <p:cNvSpPr/>
          <p:nvPr/>
        </p:nvSpPr>
        <p:spPr>
          <a:xfrm>
            <a:off x="448056" y="3438144"/>
            <a:ext cx="2487168" cy="1143000"/>
          </a:xfrm>
          <a:prstGeom prst="rect">
            <a:avLst/>
          </a:prstGeom>
          <a:noFill/>
          <a:ln/>
        </p:spPr>
        <p:txBody>
          <a:bodyPr wrap="square" lIns="0" tIns="0" rIns="0" bIns="0" rtlCol="0" anchor="t"/>
          <a:lstStyle/>
          <a:p>
            <a:pPr marL="0" indent="0">
              <a:buNone/>
            </a:pPr>
            <a:r>
              <a:rPr lang="en-US" sz="1250" dirty="0">
                <a:solidFill>
                  <a:srgbClr val="D6E4EC"/>
                </a:solidFill>
                <a:latin typeface="Calibri" pitchFamily="34" charset="0"/>
                <a:ea typeface="Calibri" pitchFamily="34" charset="-122"/>
                <a:cs typeface="Calibri" pitchFamily="34" charset="-120"/>
              </a:rPr>
              <a:t>Statistical control ≠ causal control; acknowledge design limitations</a:t>
            </a:r>
            <a:endParaRPr lang="en-US" sz="1250" dirty="0"/>
          </a:p>
        </p:txBody>
      </p:sp>
      <p:sp>
        <p:nvSpPr>
          <p:cNvPr id="21" name="Shape 19"/>
          <p:cNvSpPr/>
          <p:nvPr/>
        </p:nvSpPr>
        <p:spPr>
          <a:xfrm>
            <a:off x="3200400" y="2907792"/>
            <a:ext cx="2743200" cy="1755648"/>
          </a:xfrm>
          <a:prstGeom prst="rect">
            <a:avLst/>
          </a:prstGeom>
          <a:solidFill>
            <a:srgbClr val="065A82"/>
          </a:solidFill>
          <a:ln w="12700">
            <a:solidFill>
              <a:srgbClr val="1C7293"/>
            </a:solidFill>
            <a:prstDash val="solid"/>
          </a:ln>
        </p:spPr>
        <p:txBody>
          <a:bodyPr/>
          <a:lstStyle/>
          <a:p>
            <a:endParaRPr lang="en-US"/>
          </a:p>
        </p:txBody>
      </p:sp>
      <p:sp>
        <p:nvSpPr>
          <p:cNvPr id="22" name="Shape 20"/>
          <p:cNvSpPr/>
          <p:nvPr/>
        </p:nvSpPr>
        <p:spPr>
          <a:xfrm>
            <a:off x="3200400" y="2907792"/>
            <a:ext cx="2743200" cy="64008"/>
          </a:xfrm>
          <a:prstGeom prst="rect">
            <a:avLst/>
          </a:prstGeom>
          <a:solidFill>
            <a:srgbClr val="E8A838"/>
          </a:solidFill>
          <a:ln w="12700">
            <a:solidFill>
              <a:srgbClr val="E8A838"/>
            </a:solidFill>
            <a:prstDash val="solid"/>
          </a:ln>
        </p:spPr>
        <p:txBody>
          <a:bodyPr/>
          <a:lstStyle/>
          <a:p>
            <a:endParaRPr lang="en-US"/>
          </a:p>
        </p:txBody>
      </p:sp>
      <p:sp>
        <p:nvSpPr>
          <p:cNvPr id="23" name="Text 21"/>
          <p:cNvSpPr/>
          <p:nvPr/>
        </p:nvSpPr>
        <p:spPr>
          <a:xfrm>
            <a:off x="3328416" y="2999232"/>
            <a:ext cx="2487168" cy="411480"/>
          </a:xfrm>
          <a:prstGeom prst="rect">
            <a:avLst/>
          </a:prstGeom>
          <a:noFill/>
          <a:ln/>
        </p:spPr>
        <p:txBody>
          <a:bodyPr wrap="square" lIns="0" tIns="0" rIns="0" bIns="0" rtlCol="0" anchor="ctr"/>
          <a:lstStyle/>
          <a:p>
            <a:pPr marL="0" indent="0">
              <a:buNone/>
            </a:pPr>
            <a:r>
              <a:rPr lang="en-US" sz="1400" b="1" dirty="0">
                <a:solidFill>
                  <a:srgbClr val="E8A838"/>
                </a:solidFill>
                <a:latin typeface="Cambria" pitchFamily="34" charset="0"/>
                <a:ea typeface="Cambria" pitchFamily="34" charset="-122"/>
                <a:cs typeface="Cambria" pitchFamily="34" charset="-120"/>
              </a:rPr>
              <a:t>Validate models</a:t>
            </a:r>
            <a:endParaRPr lang="en-US" sz="1400" dirty="0"/>
          </a:p>
        </p:txBody>
      </p:sp>
      <p:sp>
        <p:nvSpPr>
          <p:cNvPr id="24" name="Text 22"/>
          <p:cNvSpPr/>
          <p:nvPr/>
        </p:nvSpPr>
        <p:spPr>
          <a:xfrm>
            <a:off x="3328416" y="3438144"/>
            <a:ext cx="2487168" cy="1143000"/>
          </a:xfrm>
          <a:prstGeom prst="rect">
            <a:avLst/>
          </a:prstGeom>
          <a:noFill/>
          <a:ln/>
        </p:spPr>
        <p:txBody>
          <a:bodyPr wrap="square" lIns="0" tIns="0" rIns="0" bIns="0" rtlCol="0" anchor="t"/>
          <a:lstStyle/>
          <a:p>
            <a:pPr marL="0" indent="0">
              <a:buNone/>
            </a:pPr>
            <a:r>
              <a:rPr lang="en-US" sz="1250" dirty="0">
                <a:solidFill>
                  <a:srgbClr val="D6E4EC"/>
                </a:solidFill>
                <a:latin typeface="Calibri" pitchFamily="34" charset="0"/>
                <a:ea typeface="Calibri" pitchFamily="34" charset="-122"/>
                <a:cs typeface="Calibri" pitchFamily="34" charset="-120"/>
              </a:rPr>
              <a:t>Cross-validate, replicate; be sceptical of stepwise-selected models</a:t>
            </a:r>
            <a:endParaRPr lang="en-US" sz="1250" dirty="0"/>
          </a:p>
        </p:txBody>
      </p:sp>
      <p:sp>
        <p:nvSpPr>
          <p:cNvPr id="25" name="Shape 23"/>
          <p:cNvSpPr/>
          <p:nvPr/>
        </p:nvSpPr>
        <p:spPr>
          <a:xfrm>
            <a:off x="6080760" y="2907792"/>
            <a:ext cx="2743200" cy="1755648"/>
          </a:xfrm>
          <a:prstGeom prst="rect">
            <a:avLst/>
          </a:prstGeom>
          <a:solidFill>
            <a:srgbClr val="065A82"/>
          </a:solidFill>
          <a:ln w="12700">
            <a:solidFill>
              <a:srgbClr val="1C7293"/>
            </a:solidFill>
            <a:prstDash val="solid"/>
          </a:ln>
        </p:spPr>
        <p:txBody>
          <a:bodyPr/>
          <a:lstStyle/>
          <a:p>
            <a:endParaRPr lang="en-US"/>
          </a:p>
        </p:txBody>
      </p:sp>
      <p:sp>
        <p:nvSpPr>
          <p:cNvPr id="26" name="Shape 24"/>
          <p:cNvSpPr/>
          <p:nvPr/>
        </p:nvSpPr>
        <p:spPr>
          <a:xfrm>
            <a:off x="6080760" y="2907792"/>
            <a:ext cx="2743200" cy="64008"/>
          </a:xfrm>
          <a:prstGeom prst="rect">
            <a:avLst/>
          </a:prstGeom>
          <a:solidFill>
            <a:srgbClr val="E8A838"/>
          </a:solidFill>
          <a:ln w="12700">
            <a:solidFill>
              <a:srgbClr val="E8A838"/>
            </a:solidFill>
            <a:prstDash val="solid"/>
          </a:ln>
        </p:spPr>
        <p:txBody>
          <a:bodyPr/>
          <a:lstStyle/>
          <a:p>
            <a:endParaRPr lang="en-US"/>
          </a:p>
        </p:txBody>
      </p:sp>
      <p:sp>
        <p:nvSpPr>
          <p:cNvPr id="27" name="Text 25"/>
          <p:cNvSpPr/>
          <p:nvPr/>
        </p:nvSpPr>
        <p:spPr>
          <a:xfrm>
            <a:off x="6208776" y="2999232"/>
            <a:ext cx="2487168" cy="411480"/>
          </a:xfrm>
          <a:prstGeom prst="rect">
            <a:avLst/>
          </a:prstGeom>
          <a:noFill/>
          <a:ln/>
        </p:spPr>
        <p:txBody>
          <a:bodyPr wrap="square" lIns="0" tIns="0" rIns="0" bIns="0" rtlCol="0" anchor="ctr"/>
          <a:lstStyle/>
          <a:p>
            <a:pPr marL="0" indent="0">
              <a:buNone/>
            </a:pPr>
            <a:r>
              <a:rPr lang="en-US" sz="1400" b="1" dirty="0">
                <a:solidFill>
                  <a:srgbClr val="E8A838"/>
                </a:solidFill>
                <a:latin typeface="Cambria" pitchFamily="34" charset="0"/>
                <a:ea typeface="Cambria" pitchFamily="34" charset="-122"/>
                <a:cs typeface="Cambria" pitchFamily="34" charset="-120"/>
              </a:rPr>
              <a:t>Keep reading T&amp;F</a:t>
            </a:r>
            <a:endParaRPr lang="en-US" sz="1400" dirty="0"/>
          </a:p>
        </p:txBody>
      </p:sp>
      <p:sp>
        <p:nvSpPr>
          <p:cNvPr id="28" name="Text 26"/>
          <p:cNvSpPr/>
          <p:nvPr/>
        </p:nvSpPr>
        <p:spPr>
          <a:xfrm>
            <a:off x="6208776" y="3438144"/>
            <a:ext cx="2487168" cy="1143000"/>
          </a:xfrm>
          <a:prstGeom prst="rect">
            <a:avLst/>
          </a:prstGeom>
          <a:noFill/>
          <a:ln/>
        </p:spPr>
        <p:txBody>
          <a:bodyPr wrap="square" lIns="0" tIns="0" rIns="0" bIns="0" rtlCol="0" anchor="t"/>
          <a:lstStyle/>
          <a:p>
            <a:pPr marL="0" indent="0">
              <a:buNone/>
            </a:pPr>
            <a:r>
              <a:rPr lang="en-US" sz="1250" dirty="0">
                <a:solidFill>
                  <a:srgbClr val="D6E4EC"/>
                </a:solidFill>
                <a:latin typeface="Calibri" pitchFamily="34" charset="0"/>
                <a:ea typeface="Calibri" pitchFamily="34" charset="-122"/>
                <a:cs typeface="Calibri" pitchFamily="34" charset="-120"/>
              </a:rPr>
              <a:t>Tabachnick &amp; Fidell remains the definitive practical reference — consult specific chapters as needed</a:t>
            </a:r>
            <a:endParaRPr lang="en-US" sz="1250" dirty="0"/>
          </a:p>
        </p:txBody>
      </p:sp>
      <p:sp>
        <p:nvSpPr>
          <p:cNvPr id="29" name="Text 27"/>
          <p:cNvSpPr/>
          <p:nvPr/>
        </p:nvSpPr>
        <p:spPr>
          <a:xfrm>
            <a:off x="457200" y="4773168"/>
            <a:ext cx="8229600" cy="228600"/>
          </a:xfrm>
          <a:prstGeom prst="rect">
            <a:avLst/>
          </a:prstGeom>
          <a:noFill/>
          <a:ln/>
        </p:spPr>
        <p:txBody>
          <a:bodyPr wrap="square" lIns="0" tIns="0" rIns="0" bIns="0" rtlCol="0" anchor="ctr"/>
          <a:lstStyle/>
          <a:p>
            <a:pPr marL="0" indent="0">
              <a:buNone/>
            </a:pPr>
            <a:r>
              <a:rPr lang="en-US" sz="1050" i="1" dirty="0">
                <a:solidFill>
                  <a:srgbClr val="9EC8D8"/>
                </a:solidFill>
                <a:latin typeface="Calibri" pitchFamily="34" charset="0"/>
                <a:ea typeface="Calibri" pitchFamily="34" charset="-122"/>
                <a:cs typeface="Calibri" pitchFamily="34" charset="-120"/>
              </a:rPr>
              <a:t>Reference: Tabachnick, B.G. &amp; Fidell, L.S. (2019). Using Multivariate Statistics (7th ed.). Pearson.</a:t>
            </a:r>
            <a:endParaRPr lang="en-US" sz="105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28090"/>
          </a:solidFill>
          <a:ln/>
        </p:spPr>
        <p:txBody>
          <a:bodyPr/>
          <a:lstStyle/>
          <a:p>
            <a:endParaRPr lang="en-US"/>
          </a:p>
        </p:txBody>
      </p:sp>
      <p:sp>
        <p:nvSpPr>
          <p:cNvPr id="3" name="Text 1"/>
          <p:cNvSpPr/>
          <p:nvPr/>
        </p:nvSpPr>
        <p:spPr>
          <a:xfrm>
            <a:off x="365760" y="0"/>
            <a:ext cx="8229600" cy="1005840"/>
          </a:xfrm>
          <a:prstGeom prst="rect">
            <a:avLst/>
          </a:prstGeom>
          <a:noFill/>
          <a:ln/>
        </p:spPr>
        <p:txBody>
          <a:bodyPr wrap="square" rtlCol="0" anchor="ctr"/>
          <a:lstStyle/>
          <a:p>
            <a:pPr marL="0" indent="0">
              <a:buNone/>
            </a:pPr>
            <a:r>
              <a:rPr lang="en-US" sz="2400" b="1" dirty="0">
                <a:solidFill>
                  <a:srgbClr val="FFFFFF"/>
                </a:solidFill>
                <a:latin typeface="Georgia" pitchFamily="34" charset="0"/>
                <a:ea typeface="Georgia" pitchFamily="34" charset="-122"/>
                <a:cs typeface="Georgia" pitchFamily="34" charset="-120"/>
              </a:rPr>
              <a:t>Key Take-Home Messages</a:t>
            </a:r>
            <a:endParaRPr lang="en-US" sz="2400" dirty="0"/>
          </a:p>
        </p:txBody>
      </p:sp>
      <p:sp>
        <p:nvSpPr>
          <p:cNvPr id="4" name="Shape 2"/>
          <p:cNvSpPr/>
          <p:nvPr/>
        </p:nvSpPr>
        <p:spPr>
          <a:xfrm>
            <a:off x="274320" y="1143000"/>
            <a:ext cx="8595360" cy="676656"/>
          </a:xfrm>
          <a:prstGeom prst="rect">
            <a:avLst/>
          </a:prstGeom>
          <a:solidFill>
            <a:srgbClr val="E8F4F5"/>
          </a:solidFill>
          <a:ln w="12700">
            <a:solidFill>
              <a:srgbClr val="DDDDDD"/>
            </a:solidFill>
            <a:prstDash val="solid"/>
          </a:ln>
          <a:effectLst>
            <a:outerShdw blurRad="101600" dist="38100" dir="8100000" algn="bl" rotWithShape="0">
              <a:srgbClr val="000000">
                <a:alpha val="12000"/>
              </a:srgbClr>
            </a:outerShdw>
          </a:effectLst>
        </p:spPr>
        <p:txBody>
          <a:bodyPr/>
          <a:lstStyle/>
          <a:p>
            <a:endParaRPr lang="en-US"/>
          </a:p>
        </p:txBody>
      </p:sp>
      <p:sp>
        <p:nvSpPr>
          <p:cNvPr id="5" name="Shape 3"/>
          <p:cNvSpPr/>
          <p:nvPr/>
        </p:nvSpPr>
        <p:spPr>
          <a:xfrm>
            <a:off x="347472" y="1271016"/>
            <a:ext cx="420624" cy="420624"/>
          </a:xfrm>
          <a:prstGeom prst="ellipse">
            <a:avLst/>
          </a:prstGeom>
          <a:solidFill>
            <a:srgbClr val="023E5C"/>
          </a:solidFill>
          <a:ln w="12700">
            <a:solidFill>
              <a:srgbClr val="023E5C"/>
            </a:solidFill>
            <a:prstDash val="solid"/>
          </a:ln>
        </p:spPr>
        <p:txBody>
          <a:bodyPr/>
          <a:lstStyle/>
          <a:p>
            <a:endParaRPr lang="en-US"/>
          </a:p>
        </p:txBody>
      </p:sp>
      <p:sp>
        <p:nvSpPr>
          <p:cNvPr id="6" name="Text 4"/>
          <p:cNvSpPr/>
          <p:nvPr/>
        </p:nvSpPr>
        <p:spPr>
          <a:xfrm>
            <a:off x="347472" y="1271016"/>
            <a:ext cx="420624" cy="420624"/>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01</a:t>
            </a:r>
            <a:endParaRPr lang="en-US" sz="1200" dirty="0"/>
          </a:p>
        </p:txBody>
      </p:sp>
      <p:sp>
        <p:nvSpPr>
          <p:cNvPr id="7" name="Text 5"/>
          <p:cNvSpPr/>
          <p:nvPr/>
        </p:nvSpPr>
        <p:spPr>
          <a:xfrm>
            <a:off x="914400" y="1143000"/>
            <a:ext cx="7818120" cy="676656"/>
          </a:xfrm>
          <a:prstGeom prst="rect">
            <a:avLst/>
          </a:prstGeom>
          <a:noFill/>
          <a:ln/>
        </p:spPr>
        <p:txBody>
          <a:bodyPr wrap="square" rtlCol="0" anchor="ctr"/>
          <a:lstStyle/>
          <a:p>
            <a:pPr marL="0" indent="0">
              <a:buNone/>
            </a:pPr>
            <a:r>
              <a:rPr lang="en-US" sz="1300" dirty="0">
                <a:solidFill>
                  <a:srgbClr val="1A2E35"/>
                </a:solidFill>
                <a:latin typeface="Calibri" pitchFamily="34" charset="0"/>
                <a:ea typeface="Calibri" pitchFamily="34" charset="-122"/>
                <a:cs typeface="Calibri" pitchFamily="34" charset="-120"/>
              </a:rPr>
              <a:t>Multivariable ≠ Multivariate. In public health, we almost always mean multivariable (one outcome, many predictors).</a:t>
            </a:r>
            <a:endParaRPr lang="en-US" sz="1300" dirty="0"/>
          </a:p>
        </p:txBody>
      </p:sp>
      <p:sp>
        <p:nvSpPr>
          <p:cNvPr id="8" name="Shape 6"/>
          <p:cNvSpPr/>
          <p:nvPr/>
        </p:nvSpPr>
        <p:spPr>
          <a:xfrm>
            <a:off x="274320" y="1911096"/>
            <a:ext cx="8595360" cy="676656"/>
          </a:xfrm>
          <a:prstGeom prst="rect">
            <a:avLst/>
          </a:prstGeom>
          <a:solidFill>
            <a:srgbClr val="FFFFFF"/>
          </a:solidFill>
          <a:ln w="12700">
            <a:solidFill>
              <a:srgbClr val="DDDDDD"/>
            </a:solidFill>
            <a:prstDash val="solid"/>
          </a:ln>
          <a:effectLst>
            <a:outerShdw blurRad="101600" dist="38100" dir="8100000" algn="bl" rotWithShape="0">
              <a:srgbClr val="000000">
                <a:alpha val="12000"/>
              </a:srgbClr>
            </a:outerShdw>
          </a:effectLst>
        </p:spPr>
        <p:txBody>
          <a:bodyPr/>
          <a:lstStyle/>
          <a:p>
            <a:endParaRPr lang="en-US"/>
          </a:p>
        </p:txBody>
      </p:sp>
      <p:sp>
        <p:nvSpPr>
          <p:cNvPr id="9" name="Shape 7"/>
          <p:cNvSpPr/>
          <p:nvPr/>
        </p:nvSpPr>
        <p:spPr>
          <a:xfrm>
            <a:off x="347472" y="2039112"/>
            <a:ext cx="420624" cy="420624"/>
          </a:xfrm>
          <a:prstGeom prst="ellipse">
            <a:avLst/>
          </a:prstGeom>
          <a:solidFill>
            <a:srgbClr val="023E5C"/>
          </a:solidFill>
          <a:ln w="12700">
            <a:solidFill>
              <a:srgbClr val="023E5C"/>
            </a:solidFill>
            <a:prstDash val="solid"/>
          </a:ln>
        </p:spPr>
        <p:txBody>
          <a:bodyPr/>
          <a:lstStyle/>
          <a:p>
            <a:endParaRPr lang="en-US"/>
          </a:p>
        </p:txBody>
      </p:sp>
      <p:sp>
        <p:nvSpPr>
          <p:cNvPr id="10" name="Text 8"/>
          <p:cNvSpPr/>
          <p:nvPr/>
        </p:nvSpPr>
        <p:spPr>
          <a:xfrm>
            <a:off x="347472" y="2039112"/>
            <a:ext cx="420624" cy="420624"/>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02</a:t>
            </a:r>
            <a:endParaRPr lang="en-US" sz="1200" dirty="0"/>
          </a:p>
        </p:txBody>
      </p:sp>
      <p:sp>
        <p:nvSpPr>
          <p:cNvPr id="11" name="Text 9"/>
          <p:cNvSpPr/>
          <p:nvPr/>
        </p:nvSpPr>
        <p:spPr>
          <a:xfrm>
            <a:off x="914400" y="1911096"/>
            <a:ext cx="7818120" cy="676656"/>
          </a:xfrm>
          <a:prstGeom prst="rect">
            <a:avLst/>
          </a:prstGeom>
          <a:noFill/>
          <a:ln/>
        </p:spPr>
        <p:txBody>
          <a:bodyPr wrap="square" rtlCol="0" anchor="ctr"/>
          <a:lstStyle/>
          <a:p>
            <a:pPr marL="0" indent="0">
              <a:buNone/>
            </a:pPr>
            <a:r>
              <a:rPr lang="en-US" sz="1300" dirty="0">
                <a:solidFill>
                  <a:srgbClr val="1A2E35"/>
                </a:solidFill>
                <a:latin typeface="Calibri" pitchFamily="34" charset="0"/>
                <a:ea typeface="Calibri" pitchFamily="34" charset="-122"/>
                <a:cs typeface="Calibri" pitchFamily="34" charset="-120"/>
              </a:rPr>
              <a:t>The purpose of multivariable analysis is to obtain unconfounded, adjusted estimates of association.</a:t>
            </a:r>
            <a:endParaRPr lang="en-US" sz="1300" dirty="0"/>
          </a:p>
        </p:txBody>
      </p:sp>
      <p:sp>
        <p:nvSpPr>
          <p:cNvPr id="12" name="Shape 10"/>
          <p:cNvSpPr/>
          <p:nvPr/>
        </p:nvSpPr>
        <p:spPr>
          <a:xfrm>
            <a:off x="274320" y="2679192"/>
            <a:ext cx="8595360" cy="676656"/>
          </a:xfrm>
          <a:prstGeom prst="rect">
            <a:avLst/>
          </a:prstGeom>
          <a:solidFill>
            <a:srgbClr val="E8F4F5"/>
          </a:solidFill>
          <a:ln w="12700">
            <a:solidFill>
              <a:srgbClr val="DDDDDD"/>
            </a:solidFill>
            <a:prstDash val="solid"/>
          </a:ln>
          <a:effectLst>
            <a:outerShdw blurRad="101600" dist="38100" dir="8100000" algn="bl" rotWithShape="0">
              <a:srgbClr val="000000">
                <a:alpha val="12000"/>
              </a:srgbClr>
            </a:outerShdw>
          </a:effectLst>
        </p:spPr>
        <p:txBody>
          <a:bodyPr/>
          <a:lstStyle/>
          <a:p>
            <a:endParaRPr lang="en-US"/>
          </a:p>
        </p:txBody>
      </p:sp>
      <p:sp>
        <p:nvSpPr>
          <p:cNvPr id="13" name="Shape 11"/>
          <p:cNvSpPr/>
          <p:nvPr/>
        </p:nvSpPr>
        <p:spPr>
          <a:xfrm>
            <a:off x="347472" y="2807208"/>
            <a:ext cx="420624" cy="420624"/>
          </a:xfrm>
          <a:prstGeom prst="ellipse">
            <a:avLst/>
          </a:prstGeom>
          <a:solidFill>
            <a:srgbClr val="023E5C"/>
          </a:solidFill>
          <a:ln w="12700">
            <a:solidFill>
              <a:srgbClr val="023E5C"/>
            </a:solidFill>
            <a:prstDash val="solid"/>
          </a:ln>
        </p:spPr>
        <p:txBody>
          <a:bodyPr/>
          <a:lstStyle/>
          <a:p>
            <a:endParaRPr lang="en-US"/>
          </a:p>
        </p:txBody>
      </p:sp>
      <p:sp>
        <p:nvSpPr>
          <p:cNvPr id="14" name="Text 12"/>
          <p:cNvSpPr/>
          <p:nvPr/>
        </p:nvSpPr>
        <p:spPr>
          <a:xfrm>
            <a:off x="347472" y="2807208"/>
            <a:ext cx="420624" cy="420624"/>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03</a:t>
            </a:r>
            <a:endParaRPr lang="en-US" sz="1200" dirty="0"/>
          </a:p>
        </p:txBody>
      </p:sp>
      <p:sp>
        <p:nvSpPr>
          <p:cNvPr id="15" name="Text 13"/>
          <p:cNvSpPr/>
          <p:nvPr/>
        </p:nvSpPr>
        <p:spPr>
          <a:xfrm>
            <a:off x="914400" y="2679192"/>
            <a:ext cx="7818120" cy="676656"/>
          </a:xfrm>
          <a:prstGeom prst="rect">
            <a:avLst/>
          </a:prstGeom>
          <a:noFill/>
          <a:ln/>
        </p:spPr>
        <p:txBody>
          <a:bodyPr wrap="square" rtlCol="0" anchor="ctr"/>
          <a:lstStyle/>
          <a:p>
            <a:pPr marL="0" indent="0">
              <a:buNone/>
            </a:pPr>
            <a:r>
              <a:rPr lang="en-US" sz="1300" dirty="0">
                <a:solidFill>
                  <a:srgbClr val="1A2E35"/>
                </a:solidFill>
                <a:latin typeface="Calibri" pitchFamily="34" charset="0"/>
                <a:ea typeface="Calibri" pitchFamily="34" charset="-122"/>
                <a:cs typeface="Calibri" pitchFamily="34" charset="-120"/>
              </a:rPr>
              <a:t>Choose your model based on the outcome type: linear for continuous, logistic for binary, Poisson for counts, Cox for survival.</a:t>
            </a:r>
            <a:endParaRPr lang="en-US" sz="1300" dirty="0"/>
          </a:p>
        </p:txBody>
      </p:sp>
      <p:sp>
        <p:nvSpPr>
          <p:cNvPr id="16" name="Shape 14"/>
          <p:cNvSpPr/>
          <p:nvPr/>
        </p:nvSpPr>
        <p:spPr>
          <a:xfrm>
            <a:off x="274320" y="3447288"/>
            <a:ext cx="8595360" cy="676656"/>
          </a:xfrm>
          <a:prstGeom prst="rect">
            <a:avLst/>
          </a:prstGeom>
          <a:solidFill>
            <a:srgbClr val="FFFFFF"/>
          </a:solidFill>
          <a:ln w="12700">
            <a:solidFill>
              <a:srgbClr val="DDDDDD"/>
            </a:solidFill>
            <a:prstDash val="solid"/>
          </a:ln>
          <a:effectLst>
            <a:outerShdw blurRad="101600" dist="38100" dir="8100000" algn="bl" rotWithShape="0">
              <a:srgbClr val="000000">
                <a:alpha val="12000"/>
              </a:srgbClr>
            </a:outerShdw>
          </a:effectLst>
        </p:spPr>
        <p:txBody>
          <a:bodyPr/>
          <a:lstStyle/>
          <a:p>
            <a:endParaRPr lang="en-US"/>
          </a:p>
        </p:txBody>
      </p:sp>
      <p:sp>
        <p:nvSpPr>
          <p:cNvPr id="17" name="Shape 15"/>
          <p:cNvSpPr/>
          <p:nvPr/>
        </p:nvSpPr>
        <p:spPr>
          <a:xfrm>
            <a:off x="347472" y="3575304"/>
            <a:ext cx="420624" cy="420624"/>
          </a:xfrm>
          <a:prstGeom prst="ellipse">
            <a:avLst/>
          </a:prstGeom>
          <a:solidFill>
            <a:srgbClr val="023E5C"/>
          </a:solidFill>
          <a:ln w="12700">
            <a:solidFill>
              <a:srgbClr val="023E5C"/>
            </a:solidFill>
            <a:prstDash val="solid"/>
          </a:ln>
        </p:spPr>
        <p:txBody>
          <a:bodyPr/>
          <a:lstStyle/>
          <a:p>
            <a:endParaRPr lang="en-US"/>
          </a:p>
        </p:txBody>
      </p:sp>
      <p:sp>
        <p:nvSpPr>
          <p:cNvPr id="18" name="Text 16"/>
          <p:cNvSpPr/>
          <p:nvPr/>
        </p:nvSpPr>
        <p:spPr>
          <a:xfrm>
            <a:off x="347472" y="3575304"/>
            <a:ext cx="420624" cy="420624"/>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04</a:t>
            </a:r>
            <a:endParaRPr lang="en-US" sz="1200" dirty="0"/>
          </a:p>
        </p:txBody>
      </p:sp>
      <p:sp>
        <p:nvSpPr>
          <p:cNvPr id="19" name="Text 17"/>
          <p:cNvSpPr/>
          <p:nvPr/>
        </p:nvSpPr>
        <p:spPr>
          <a:xfrm>
            <a:off x="914400" y="3447288"/>
            <a:ext cx="7818120" cy="676656"/>
          </a:xfrm>
          <a:prstGeom prst="rect">
            <a:avLst/>
          </a:prstGeom>
          <a:noFill/>
          <a:ln/>
        </p:spPr>
        <p:txBody>
          <a:bodyPr wrap="square" rtlCol="0" anchor="ctr"/>
          <a:lstStyle/>
          <a:p>
            <a:pPr marL="0" indent="0">
              <a:buNone/>
            </a:pPr>
            <a:r>
              <a:rPr lang="en-US" sz="1300" dirty="0">
                <a:solidFill>
                  <a:srgbClr val="1A2E35"/>
                </a:solidFill>
                <a:latin typeface="Calibri" pitchFamily="34" charset="0"/>
                <a:ea typeface="Calibri" pitchFamily="34" charset="-122"/>
                <a:cs typeface="Calibri" pitchFamily="34" charset="-120"/>
              </a:rPr>
              <a:t>Always draw a DAG before running your model to guide variable selection and avoid bias.</a:t>
            </a:r>
            <a:endParaRPr lang="en-US" sz="1300" dirty="0"/>
          </a:p>
        </p:txBody>
      </p:sp>
      <p:sp>
        <p:nvSpPr>
          <p:cNvPr id="20" name="Shape 18"/>
          <p:cNvSpPr/>
          <p:nvPr/>
        </p:nvSpPr>
        <p:spPr>
          <a:xfrm>
            <a:off x="274320" y="4215384"/>
            <a:ext cx="8595360" cy="676656"/>
          </a:xfrm>
          <a:prstGeom prst="rect">
            <a:avLst/>
          </a:prstGeom>
          <a:solidFill>
            <a:srgbClr val="E8F4F5"/>
          </a:solidFill>
          <a:ln w="12700">
            <a:solidFill>
              <a:srgbClr val="DDDDDD"/>
            </a:solidFill>
            <a:prstDash val="solid"/>
          </a:ln>
          <a:effectLst>
            <a:outerShdw blurRad="101600" dist="38100" dir="8100000" algn="bl" rotWithShape="0">
              <a:srgbClr val="000000">
                <a:alpha val="12000"/>
              </a:srgbClr>
            </a:outerShdw>
          </a:effectLst>
        </p:spPr>
        <p:txBody>
          <a:bodyPr/>
          <a:lstStyle/>
          <a:p>
            <a:endParaRPr lang="en-US"/>
          </a:p>
        </p:txBody>
      </p:sp>
      <p:sp>
        <p:nvSpPr>
          <p:cNvPr id="21" name="Shape 19"/>
          <p:cNvSpPr/>
          <p:nvPr/>
        </p:nvSpPr>
        <p:spPr>
          <a:xfrm>
            <a:off x="347472" y="4343400"/>
            <a:ext cx="420624" cy="420624"/>
          </a:xfrm>
          <a:prstGeom prst="ellipse">
            <a:avLst/>
          </a:prstGeom>
          <a:solidFill>
            <a:srgbClr val="023E5C"/>
          </a:solidFill>
          <a:ln w="12700">
            <a:solidFill>
              <a:srgbClr val="023E5C"/>
            </a:solidFill>
            <a:prstDash val="solid"/>
          </a:ln>
        </p:spPr>
        <p:txBody>
          <a:bodyPr/>
          <a:lstStyle/>
          <a:p>
            <a:endParaRPr lang="en-US"/>
          </a:p>
        </p:txBody>
      </p:sp>
      <p:sp>
        <p:nvSpPr>
          <p:cNvPr id="22" name="Text 20"/>
          <p:cNvSpPr/>
          <p:nvPr/>
        </p:nvSpPr>
        <p:spPr>
          <a:xfrm>
            <a:off x="347472" y="4343400"/>
            <a:ext cx="420624" cy="420624"/>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05</a:t>
            </a:r>
            <a:endParaRPr lang="en-US" sz="1200" dirty="0"/>
          </a:p>
        </p:txBody>
      </p:sp>
      <p:sp>
        <p:nvSpPr>
          <p:cNvPr id="23" name="Text 21"/>
          <p:cNvSpPr/>
          <p:nvPr/>
        </p:nvSpPr>
        <p:spPr>
          <a:xfrm>
            <a:off x="914400" y="4215384"/>
            <a:ext cx="7818120" cy="676656"/>
          </a:xfrm>
          <a:prstGeom prst="rect">
            <a:avLst/>
          </a:prstGeom>
          <a:noFill/>
          <a:ln/>
        </p:spPr>
        <p:txBody>
          <a:bodyPr wrap="square" rtlCol="0" anchor="ctr"/>
          <a:lstStyle/>
          <a:p>
            <a:pPr marL="0" indent="0">
              <a:buNone/>
            </a:pPr>
            <a:r>
              <a:rPr lang="en-US" sz="1300" dirty="0">
                <a:solidFill>
                  <a:srgbClr val="1A2E35"/>
                </a:solidFill>
                <a:latin typeface="Calibri" pitchFamily="34" charset="0"/>
                <a:ea typeface="Calibri" pitchFamily="34" charset="-122"/>
                <a:cs typeface="Calibri" pitchFamily="34" charset="-120"/>
              </a:rPr>
              <a:t>Report both crude and adjusted estimates; interpret ORs, IRRs, and HRs in plain language with confidence intervals.</a:t>
            </a:r>
            <a:endParaRPr lang="en-US" sz="13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E8A838"/>
          </a:solidFill>
          <a:ln w="12700">
            <a:solidFill>
              <a:srgbClr val="E8A838"/>
            </a:solidFill>
            <a:prstDash val="solid"/>
          </a:ln>
        </p:spPr>
        <p:txBody>
          <a:bodyPr/>
          <a:lstStyle/>
          <a:p>
            <a:endParaRPr lang="en-US"/>
          </a:p>
        </p:txBody>
      </p:sp>
      <p:sp>
        <p:nvSpPr>
          <p:cNvPr id="3" name="Shape 1"/>
          <p:cNvSpPr/>
          <p:nvPr/>
        </p:nvSpPr>
        <p:spPr>
          <a:xfrm>
            <a:off x="0" y="5029200"/>
            <a:ext cx="9144000" cy="114300"/>
          </a:xfrm>
          <a:prstGeom prst="rect">
            <a:avLst/>
          </a:prstGeom>
          <a:solidFill>
            <a:srgbClr val="1C7293"/>
          </a:solidFill>
          <a:ln w="12700">
            <a:solidFill>
              <a:srgbClr val="1C7293"/>
            </a:solidFill>
            <a:prstDash val="solid"/>
          </a:ln>
        </p:spPr>
        <p:txBody>
          <a:bodyPr/>
          <a:lstStyle/>
          <a:p>
            <a:endParaRPr lang="en-US"/>
          </a:p>
        </p:txBody>
      </p:sp>
      <p:sp>
        <p:nvSpPr>
          <p:cNvPr id="4" name="Text 2"/>
          <p:cNvSpPr/>
          <p:nvPr/>
        </p:nvSpPr>
        <p:spPr>
          <a:xfrm>
            <a:off x="457200" y="228600"/>
            <a:ext cx="8229600" cy="59436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Summary &amp; Key Takeaways</a:t>
            </a:r>
            <a:endParaRPr lang="en-US" sz="3000" dirty="0"/>
          </a:p>
        </p:txBody>
      </p:sp>
      <p:sp>
        <p:nvSpPr>
          <p:cNvPr id="5" name="Shape 3"/>
          <p:cNvSpPr/>
          <p:nvPr/>
        </p:nvSpPr>
        <p:spPr>
          <a:xfrm>
            <a:off x="320040" y="987552"/>
            <a:ext cx="2743200" cy="1755648"/>
          </a:xfrm>
          <a:prstGeom prst="rect">
            <a:avLst/>
          </a:prstGeom>
          <a:solidFill>
            <a:srgbClr val="065A82"/>
          </a:solidFill>
          <a:ln w="12700">
            <a:solidFill>
              <a:srgbClr val="1C7293"/>
            </a:solidFill>
            <a:prstDash val="solid"/>
          </a:ln>
        </p:spPr>
        <p:txBody>
          <a:bodyPr/>
          <a:lstStyle/>
          <a:p>
            <a:endParaRPr lang="en-US"/>
          </a:p>
        </p:txBody>
      </p:sp>
      <p:sp>
        <p:nvSpPr>
          <p:cNvPr id="6" name="Shape 4"/>
          <p:cNvSpPr/>
          <p:nvPr/>
        </p:nvSpPr>
        <p:spPr>
          <a:xfrm>
            <a:off x="320040" y="987552"/>
            <a:ext cx="2743200" cy="64008"/>
          </a:xfrm>
          <a:prstGeom prst="rect">
            <a:avLst/>
          </a:prstGeom>
          <a:solidFill>
            <a:srgbClr val="E8A838"/>
          </a:solidFill>
          <a:ln w="12700">
            <a:solidFill>
              <a:srgbClr val="E8A838"/>
            </a:solidFill>
            <a:prstDash val="solid"/>
          </a:ln>
        </p:spPr>
        <p:txBody>
          <a:bodyPr/>
          <a:lstStyle/>
          <a:p>
            <a:endParaRPr lang="en-US"/>
          </a:p>
        </p:txBody>
      </p:sp>
      <p:sp>
        <p:nvSpPr>
          <p:cNvPr id="7" name="Text 5"/>
          <p:cNvSpPr/>
          <p:nvPr/>
        </p:nvSpPr>
        <p:spPr>
          <a:xfrm>
            <a:off x="448056" y="1078992"/>
            <a:ext cx="2487168" cy="411480"/>
          </a:xfrm>
          <a:prstGeom prst="rect">
            <a:avLst/>
          </a:prstGeom>
          <a:noFill/>
          <a:ln/>
        </p:spPr>
        <p:txBody>
          <a:bodyPr wrap="square" lIns="0" tIns="0" rIns="0" bIns="0" rtlCol="0" anchor="ctr"/>
          <a:lstStyle/>
          <a:p>
            <a:pPr marL="0" indent="0">
              <a:buNone/>
            </a:pPr>
            <a:r>
              <a:rPr lang="en-US" sz="1400" b="1" dirty="0">
                <a:solidFill>
                  <a:srgbClr val="E8A838"/>
                </a:solidFill>
                <a:latin typeface="Cambria" pitchFamily="34" charset="0"/>
                <a:ea typeface="Cambria" pitchFamily="34" charset="-122"/>
                <a:cs typeface="Cambria" pitchFamily="34" charset="-120"/>
              </a:rPr>
              <a:t>Choose wisely</a:t>
            </a:r>
            <a:endParaRPr lang="en-US" sz="1400" dirty="0"/>
          </a:p>
        </p:txBody>
      </p:sp>
      <p:sp>
        <p:nvSpPr>
          <p:cNvPr id="8" name="Text 6"/>
          <p:cNvSpPr/>
          <p:nvPr/>
        </p:nvSpPr>
        <p:spPr>
          <a:xfrm>
            <a:off x="448056" y="1517904"/>
            <a:ext cx="2487168" cy="1143000"/>
          </a:xfrm>
          <a:prstGeom prst="rect">
            <a:avLst/>
          </a:prstGeom>
          <a:noFill/>
          <a:ln/>
        </p:spPr>
        <p:txBody>
          <a:bodyPr wrap="square" lIns="0" tIns="0" rIns="0" bIns="0" rtlCol="0" anchor="t"/>
          <a:lstStyle/>
          <a:p>
            <a:pPr marL="0" indent="0">
              <a:buNone/>
            </a:pPr>
            <a:r>
              <a:rPr lang="en-US" sz="1250" dirty="0">
                <a:solidFill>
                  <a:srgbClr val="D6E4EC"/>
                </a:solidFill>
                <a:latin typeface="Calibri" pitchFamily="34" charset="0"/>
                <a:ea typeface="Calibri" pitchFamily="34" charset="-122"/>
                <a:cs typeface="Calibri" pitchFamily="34" charset="-120"/>
              </a:rPr>
              <a:t>Match technique to research question, DV type, and number of variables</a:t>
            </a:r>
            <a:endParaRPr lang="en-US" sz="1250" dirty="0"/>
          </a:p>
        </p:txBody>
      </p:sp>
      <p:sp>
        <p:nvSpPr>
          <p:cNvPr id="9" name="Shape 7"/>
          <p:cNvSpPr/>
          <p:nvPr/>
        </p:nvSpPr>
        <p:spPr>
          <a:xfrm>
            <a:off x="3200400" y="987552"/>
            <a:ext cx="2743200" cy="1755648"/>
          </a:xfrm>
          <a:prstGeom prst="rect">
            <a:avLst/>
          </a:prstGeom>
          <a:solidFill>
            <a:srgbClr val="065A82"/>
          </a:solidFill>
          <a:ln w="12700">
            <a:solidFill>
              <a:srgbClr val="1C7293"/>
            </a:solidFill>
            <a:prstDash val="solid"/>
          </a:ln>
        </p:spPr>
        <p:txBody>
          <a:bodyPr/>
          <a:lstStyle/>
          <a:p>
            <a:endParaRPr lang="en-US"/>
          </a:p>
        </p:txBody>
      </p:sp>
      <p:sp>
        <p:nvSpPr>
          <p:cNvPr id="10" name="Shape 8"/>
          <p:cNvSpPr/>
          <p:nvPr/>
        </p:nvSpPr>
        <p:spPr>
          <a:xfrm>
            <a:off x="3200400" y="987552"/>
            <a:ext cx="2743200" cy="64008"/>
          </a:xfrm>
          <a:prstGeom prst="rect">
            <a:avLst/>
          </a:prstGeom>
          <a:solidFill>
            <a:srgbClr val="E8A838"/>
          </a:solidFill>
          <a:ln w="12700">
            <a:solidFill>
              <a:srgbClr val="E8A838"/>
            </a:solidFill>
            <a:prstDash val="solid"/>
          </a:ln>
        </p:spPr>
        <p:txBody>
          <a:bodyPr/>
          <a:lstStyle/>
          <a:p>
            <a:endParaRPr lang="en-US"/>
          </a:p>
        </p:txBody>
      </p:sp>
      <p:sp>
        <p:nvSpPr>
          <p:cNvPr id="11" name="Text 9"/>
          <p:cNvSpPr/>
          <p:nvPr/>
        </p:nvSpPr>
        <p:spPr>
          <a:xfrm>
            <a:off x="3328416" y="1078992"/>
            <a:ext cx="2487168" cy="411480"/>
          </a:xfrm>
          <a:prstGeom prst="rect">
            <a:avLst/>
          </a:prstGeom>
          <a:noFill/>
          <a:ln/>
        </p:spPr>
        <p:txBody>
          <a:bodyPr wrap="square" lIns="0" tIns="0" rIns="0" bIns="0" rtlCol="0" anchor="ctr"/>
          <a:lstStyle/>
          <a:p>
            <a:pPr marL="0" indent="0">
              <a:buNone/>
            </a:pPr>
            <a:r>
              <a:rPr lang="en-US" sz="1400" b="1" dirty="0">
                <a:solidFill>
                  <a:srgbClr val="E8A838"/>
                </a:solidFill>
                <a:latin typeface="Cambria" pitchFamily="34" charset="0"/>
                <a:ea typeface="Cambria" pitchFamily="34" charset="-122"/>
                <a:cs typeface="Cambria" pitchFamily="34" charset="-120"/>
              </a:rPr>
              <a:t>Screen first</a:t>
            </a:r>
            <a:endParaRPr lang="en-US" sz="1400" dirty="0"/>
          </a:p>
        </p:txBody>
      </p:sp>
      <p:sp>
        <p:nvSpPr>
          <p:cNvPr id="12" name="Text 10"/>
          <p:cNvSpPr/>
          <p:nvPr/>
        </p:nvSpPr>
        <p:spPr>
          <a:xfrm>
            <a:off x="3328416" y="1517904"/>
            <a:ext cx="2487168" cy="1143000"/>
          </a:xfrm>
          <a:prstGeom prst="rect">
            <a:avLst/>
          </a:prstGeom>
          <a:noFill/>
          <a:ln/>
        </p:spPr>
        <p:txBody>
          <a:bodyPr wrap="square" lIns="0" tIns="0" rIns="0" bIns="0" rtlCol="0" anchor="t"/>
          <a:lstStyle/>
          <a:p>
            <a:pPr marL="0" indent="0">
              <a:buNone/>
            </a:pPr>
            <a:r>
              <a:rPr lang="en-US" sz="1250" dirty="0">
                <a:solidFill>
                  <a:srgbClr val="D6E4EC"/>
                </a:solidFill>
                <a:latin typeface="Calibri" pitchFamily="34" charset="0"/>
                <a:ea typeface="Calibri" pitchFamily="34" charset="-122"/>
                <a:cs typeface="Calibri" pitchFamily="34" charset="-120"/>
              </a:rPr>
              <a:t>Always screen data for outliers, normality, collinearity, and missing data before analysis</a:t>
            </a:r>
            <a:endParaRPr lang="en-US" sz="1250" dirty="0"/>
          </a:p>
        </p:txBody>
      </p:sp>
      <p:sp>
        <p:nvSpPr>
          <p:cNvPr id="13" name="Shape 11"/>
          <p:cNvSpPr/>
          <p:nvPr/>
        </p:nvSpPr>
        <p:spPr>
          <a:xfrm>
            <a:off x="6080760" y="987552"/>
            <a:ext cx="2743200" cy="1755648"/>
          </a:xfrm>
          <a:prstGeom prst="rect">
            <a:avLst/>
          </a:prstGeom>
          <a:solidFill>
            <a:srgbClr val="065A82"/>
          </a:solidFill>
          <a:ln w="12700">
            <a:solidFill>
              <a:srgbClr val="1C7293"/>
            </a:solidFill>
            <a:prstDash val="solid"/>
          </a:ln>
        </p:spPr>
        <p:txBody>
          <a:bodyPr/>
          <a:lstStyle/>
          <a:p>
            <a:endParaRPr lang="en-US"/>
          </a:p>
        </p:txBody>
      </p:sp>
      <p:sp>
        <p:nvSpPr>
          <p:cNvPr id="14" name="Shape 12"/>
          <p:cNvSpPr/>
          <p:nvPr/>
        </p:nvSpPr>
        <p:spPr>
          <a:xfrm>
            <a:off x="6080760" y="987552"/>
            <a:ext cx="2743200" cy="64008"/>
          </a:xfrm>
          <a:prstGeom prst="rect">
            <a:avLst/>
          </a:prstGeom>
          <a:solidFill>
            <a:srgbClr val="E8A838"/>
          </a:solidFill>
          <a:ln w="12700">
            <a:solidFill>
              <a:srgbClr val="E8A838"/>
            </a:solidFill>
            <a:prstDash val="solid"/>
          </a:ln>
        </p:spPr>
        <p:txBody>
          <a:bodyPr/>
          <a:lstStyle/>
          <a:p>
            <a:endParaRPr lang="en-US"/>
          </a:p>
        </p:txBody>
      </p:sp>
      <p:sp>
        <p:nvSpPr>
          <p:cNvPr id="15" name="Text 13"/>
          <p:cNvSpPr/>
          <p:nvPr/>
        </p:nvSpPr>
        <p:spPr>
          <a:xfrm>
            <a:off x="6208776" y="1078992"/>
            <a:ext cx="2487168" cy="411480"/>
          </a:xfrm>
          <a:prstGeom prst="rect">
            <a:avLst/>
          </a:prstGeom>
          <a:noFill/>
          <a:ln/>
        </p:spPr>
        <p:txBody>
          <a:bodyPr wrap="square" lIns="0" tIns="0" rIns="0" bIns="0" rtlCol="0" anchor="ctr"/>
          <a:lstStyle/>
          <a:p>
            <a:pPr marL="0" indent="0">
              <a:buNone/>
            </a:pPr>
            <a:r>
              <a:rPr lang="en-US" sz="1400" b="1" dirty="0">
                <a:solidFill>
                  <a:srgbClr val="E8A838"/>
                </a:solidFill>
                <a:latin typeface="Cambria" pitchFamily="34" charset="0"/>
                <a:ea typeface="Cambria" pitchFamily="34" charset="-122"/>
                <a:cs typeface="Cambria" pitchFamily="34" charset="-120"/>
              </a:rPr>
              <a:t>Report fully</a:t>
            </a:r>
            <a:endParaRPr lang="en-US" sz="1400" dirty="0"/>
          </a:p>
        </p:txBody>
      </p:sp>
      <p:sp>
        <p:nvSpPr>
          <p:cNvPr id="16" name="Text 14"/>
          <p:cNvSpPr/>
          <p:nvPr/>
        </p:nvSpPr>
        <p:spPr>
          <a:xfrm>
            <a:off x="6208776" y="1517904"/>
            <a:ext cx="2487168" cy="1143000"/>
          </a:xfrm>
          <a:prstGeom prst="rect">
            <a:avLst/>
          </a:prstGeom>
          <a:noFill/>
          <a:ln/>
        </p:spPr>
        <p:txBody>
          <a:bodyPr wrap="square" lIns="0" tIns="0" rIns="0" bIns="0" rtlCol="0" anchor="t"/>
          <a:lstStyle/>
          <a:p>
            <a:pPr marL="0" indent="0">
              <a:buNone/>
            </a:pPr>
            <a:r>
              <a:rPr lang="en-US" sz="1250" dirty="0">
                <a:solidFill>
                  <a:srgbClr val="D6E4EC"/>
                </a:solidFill>
                <a:latin typeface="Calibri" pitchFamily="34" charset="0"/>
                <a:ea typeface="Calibri" pitchFamily="34" charset="-122"/>
                <a:cs typeface="Calibri" pitchFamily="34" charset="-120"/>
              </a:rPr>
              <a:t>Assumptions, effect sizes, CIs, power — not just p-values</a:t>
            </a:r>
            <a:endParaRPr lang="en-US" sz="1250" dirty="0"/>
          </a:p>
        </p:txBody>
      </p:sp>
      <p:sp>
        <p:nvSpPr>
          <p:cNvPr id="17" name="Shape 15"/>
          <p:cNvSpPr/>
          <p:nvPr/>
        </p:nvSpPr>
        <p:spPr>
          <a:xfrm>
            <a:off x="320040" y="2907792"/>
            <a:ext cx="2743200" cy="1755648"/>
          </a:xfrm>
          <a:prstGeom prst="rect">
            <a:avLst/>
          </a:prstGeom>
          <a:solidFill>
            <a:srgbClr val="065A82"/>
          </a:solidFill>
          <a:ln w="12700">
            <a:solidFill>
              <a:srgbClr val="1C7293"/>
            </a:solidFill>
            <a:prstDash val="solid"/>
          </a:ln>
        </p:spPr>
        <p:txBody>
          <a:bodyPr/>
          <a:lstStyle/>
          <a:p>
            <a:endParaRPr lang="en-US"/>
          </a:p>
        </p:txBody>
      </p:sp>
      <p:sp>
        <p:nvSpPr>
          <p:cNvPr id="18" name="Shape 16"/>
          <p:cNvSpPr/>
          <p:nvPr/>
        </p:nvSpPr>
        <p:spPr>
          <a:xfrm>
            <a:off x="320040" y="2907792"/>
            <a:ext cx="2743200" cy="64008"/>
          </a:xfrm>
          <a:prstGeom prst="rect">
            <a:avLst/>
          </a:prstGeom>
          <a:solidFill>
            <a:srgbClr val="E8A838"/>
          </a:solidFill>
          <a:ln w="12700">
            <a:solidFill>
              <a:srgbClr val="E8A838"/>
            </a:solidFill>
            <a:prstDash val="solid"/>
          </a:ln>
        </p:spPr>
        <p:txBody>
          <a:bodyPr/>
          <a:lstStyle/>
          <a:p>
            <a:endParaRPr lang="en-US"/>
          </a:p>
        </p:txBody>
      </p:sp>
      <p:sp>
        <p:nvSpPr>
          <p:cNvPr id="19" name="Text 17"/>
          <p:cNvSpPr/>
          <p:nvPr/>
        </p:nvSpPr>
        <p:spPr>
          <a:xfrm>
            <a:off x="448056" y="2999232"/>
            <a:ext cx="2487168" cy="411480"/>
          </a:xfrm>
          <a:prstGeom prst="rect">
            <a:avLst/>
          </a:prstGeom>
          <a:noFill/>
          <a:ln/>
        </p:spPr>
        <p:txBody>
          <a:bodyPr wrap="square" lIns="0" tIns="0" rIns="0" bIns="0" rtlCol="0" anchor="ctr"/>
          <a:lstStyle/>
          <a:p>
            <a:pPr marL="0" indent="0">
              <a:buNone/>
            </a:pPr>
            <a:r>
              <a:rPr lang="en-US" sz="1400" b="1" dirty="0">
                <a:solidFill>
                  <a:srgbClr val="E8A838"/>
                </a:solidFill>
                <a:latin typeface="Cambria" pitchFamily="34" charset="0"/>
                <a:ea typeface="Cambria" pitchFamily="34" charset="-122"/>
                <a:cs typeface="Cambria" pitchFamily="34" charset="-120"/>
              </a:rPr>
              <a:t>Think causally</a:t>
            </a:r>
            <a:endParaRPr lang="en-US" sz="1400" dirty="0"/>
          </a:p>
        </p:txBody>
      </p:sp>
      <p:sp>
        <p:nvSpPr>
          <p:cNvPr id="20" name="Text 18"/>
          <p:cNvSpPr/>
          <p:nvPr/>
        </p:nvSpPr>
        <p:spPr>
          <a:xfrm>
            <a:off x="448056" y="3438144"/>
            <a:ext cx="2487168" cy="1143000"/>
          </a:xfrm>
          <a:prstGeom prst="rect">
            <a:avLst/>
          </a:prstGeom>
          <a:noFill/>
          <a:ln/>
        </p:spPr>
        <p:txBody>
          <a:bodyPr wrap="square" lIns="0" tIns="0" rIns="0" bIns="0" rtlCol="0" anchor="t"/>
          <a:lstStyle/>
          <a:p>
            <a:pPr marL="0" indent="0">
              <a:buNone/>
            </a:pPr>
            <a:r>
              <a:rPr lang="en-US" sz="1250" dirty="0">
                <a:solidFill>
                  <a:srgbClr val="D6E4EC"/>
                </a:solidFill>
                <a:latin typeface="Calibri" pitchFamily="34" charset="0"/>
                <a:ea typeface="Calibri" pitchFamily="34" charset="-122"/>
                <a:cs typeface="Calibri" pitchFamily="34" charset="-120"/>
              </a:rPr>
              <a:t>Statistical control ≠ causal control; acknowledge design limitations</a:t>
            </a:r>
            <a:endParaRPr lang="en-US" sz="1250" dirty="0"/>
          </a:p>
        </p:txBody>
      </p:sp>
      <p:sp>
        <p:nvSpPr>
          <p:cNvPr id="21" name="Shape 19"/>
          <p:cNvSpPr/>
          <p:nvPr/>
        </p:nvSpPr>
        <p:spPr>
          <a:xfrm>
            <a:off x="3200400" y="2907792"/>
            <a:ext cx="2743200" cy="1755648"/>
          </a:xfrm>
          <a:prstGeom prst="rect">
            <a:avLst/>
          </a:prstGeom>
          <a:solidFill>
            <a:srgbClr val="065A82"/>
          </a:solidFill>
          <a:ln w="12700">
            <a:solidFill>
              <a:srgbClr val="1C7293"/>
            </a:solidFill>
            <a:prstDash val="solid"/>
          </a:ln>
        </p:spPr>
        <p:txBody>
          <a:bodyPr/>
          <a:lstStyle/>
          <a:p>
            <a:endParaRPr lang="en-US"/>
          </a:p>
        </p:txBody>
      </p:sp>
      <p:sp>
        <p:nvSpPr>
          <p:cNvPr id="22" name="Shape 20"/>
          <p:cNvSpPr/>
          <p:nvPr/>
        </p:nvSpPr>
        <p:spPr>
          <a:xfrm>
            <a:off x="3200400" y="2907792"/>
            <a:ext cx="2743200" cy="64008"/>
          </a:xfrm>
          <a:prstGeom prst="rect">
            <a:avLst/>
          </a:prstGeom>
          <a:solidFill>
            <a:srgbClr val="E8A838"/>
          </a:solidFill>
          <a:ln w="12700">
            <a:solidFill>
              <a:srgbClr val="E8A838"/>
            </a:solidFill>
            <a:prstDash val="solid"/>
          </a:ln>
        </p:spPr>
        <p:txBody>
          <a:bodyPr/>
          <a:lstStyle/>
          <a:p>
            <a:endParaRPr lang="en-US"/>
          </a:p>
        </p:txBody>
      </p:sp>
      <p:sp>
        <p:nvSpPr>
          <p:cNvPr id="23" name="Text 21"/>
          <p:cNvSpPr/>
          <p:nvPr/>
        </p:nvSpPr>
        <p:spPr>
          <a:xfrm>
            <a:off x="3328416" y="2999232"/>
            <a:ext cx="2487168" cy="411480"/>
          </a:xfrm>
          <a:prstGeom prst="rect">
            <a:avLst/>
          </a:prstGeom>
          <a:noFill/>
          <a:ln/>
        </p:spPr>
        <p:txBody>
          <a:bodyPr wrap="square" lIns="0" tIns="0" rIns="0" bIns="0" rtlCol="0" anchor="ctr"/>
          <a:lstStyle/>
          <a:p>
            <a:pPr marL="0" indent="0">
              <a:buNone/>
            </a:pPr>
            <a:r>
              <a:rPr lang="en-US" sz="1400" b="1" dirty="0">
                <a:solidFill>
                  <a:srgbClr val="E8A838"/>
                </a:solidFill>
                <a:latin typeface="Cambria" pitchFamily="34" charset="0"/>
                <a:ea typeface="Cambria" pitchFamily="34" charset="-122"/>
                <a:cs typeface="Cambria" pitchFamily="34" charset="-120"/>
              </a:rPr>
              <a:t>Validate models</a:t>
            </a:r>
            <a:endParaRPr lang="en-US" sz="1400" dirty="0"/>
          </a:p>
        </p:txBody>
      </p:sp>
      <p:sp>
        <p:nvSpPr>
          <p:cNvPr id="24" name="Text 22"/>
          <p:cNvSpPr/>
          <p:nvPr/>
        </p:nvSpPr>
        <p:spPr>
          <a:xfrm>
            <a:off x="3328416" y="3438144"/>
            <a:ext cx="2487168" cy="1143000"/>
          </a:xfrm>
          <a:prstGeom prst="rect">
            <a:avLst/>
          </a:prstGeom>
          <a:noFill/>
          <a:ln/>
        </p:spPr>
        <p:txBody>
          <a:bodyPr wrap="square" lIns="0" tIns="0" rIns="0" bIns="0" rtlCol="0" anchor="t"/>
          <a:lstStyle/>
          <a:p>
            <a:pPr marL="0" indent="0">
              <a:buNone/>
            </a:pPr>
            <a:r>
              <a:rPr lang="en-US" sz="1250" dirty="0">
                <a:solidFill>
                  <a:srgbClr val="D6E4EC"/>
                </a:solidFill>
                <a:latin typeface="Calibri" pitchFamily="34" charset="0"/>
                <a:ea typeface="Calibri" pitchFamily="34" charset="-122"/>
                <a:cs typeface="Calibri" pitchFamily="34" charset="-120"/>
              </a:rPr>
              <a:t>Cross-validate, replicate; be sceptical of stepwise-selected models</a:t>
            </a:r>
            <a:endParaRPr lang="en-US" sz="1250" dirty="0"/>
          </a:p>
        </p:txBody>
      </p:sp>
      <p:sp>
        <p:nvSpPr>
          <p:cNvPr id="25" name="Shape 23"/>
          <p:cNvSpPr/>
          <p:nvPr/>
        </p:nvSpPr>
        <p:spPr>
          <a:xfrm>
            <a:off x="6080760" y="2907792"/>
            <a:ext cx="2743200" cy="1755648"/>
          </a:xfrm>
          <a:prstGeom prst="rect">
            <a:avLst/>
          </a:prstGeom>
          <a:solidFill>
            <a:srgbClr val="065A82"/>
          </a:solidFill>
          <a:ln w="12700">
            <a:solidFill>
              <a:srgbClr val="1C7293"/>
            </a:solidFill>
            <a:prstDash val="solid"/>
          </a:ln>
        </p:spPr>
        <p:txBody>
          <a:bodyPr/>
          <a:lstStyle/>
          <a:p>
            <a:endParaRPr lang="en-US"/>
          </a:p>
        </p:txBody>
      </p:sp>
      <p:sp>
        <p:nvSpPr>
          <p:cNvPr id="26" name="Shape 24"/>
          <p:cNvSpPr/>
          <p:nvPr/>
        </p:nvSpPr>
        <p:spPr>
          <a:xfrm>
            <a:off x="6080760" y="2907792"/>
            <a:ext cx="2743200" cy="64008"/>
          </a:xfrm>
          <a:prstGeom prst="rect">
            <a:avLst/>
          </a:prstGeom>
          <a:solidFill>
            <a:srgbClr val="E8A838"/>
          </a:solidFill>
          <a:ln w="12700">
            <a:solidFill>
              <a:srgbClr val="E8A838"/>
            </a:solidFill>
            <a:prstDash val="solid"/>
          </a:ln>
        </p:spPr>
        <p:txBody>
          <a:bodyPr/>
          <a:lstStyle/>
          <a:p>
            <a:endParaRPr lang="en-US"/>
          </a:p>
        </p:txBody>
      </p:sp>
      <p:sp>
        <p:nvSpPr>
          <p:cNvPr id="27" name="Text 25"/>
          <p:cNvSpPr/>
          <p:nvPr/>
        </p:nvSpPr>
        <p:spPr>
          <a:xfrm>
            <a:off x="6208776" y="2999232"/>
            <a:ext cx="2487168" cy="411480"/>
          </a:xfrm>
          <a:prstGeom prst="rect">
            <a:avLst/>
          </a:prstGeom>
          <a:noFill/>
          <a:ln/>
        </p:spPr>
        <p:txBody>
          <a:bodyPr wrap="square" lIns="0" tIns="0" rIns="0" bIns="0" rtlCol="0" anchor="ctr"/>
          <a:lstStyle/>
          <a:p>
            <a:pPr marL="0" indent="0">
              <a:buNone/>
            </a:pPr>
            <a:r>
              <a:rPr lang="en-US" sz="1400" b="1" dirty="0">
                <a:solidFill>
                  <a:srgbClr val="E8A838"/>
                </a:solidFill>
                <a:latin typeface="Cambria" pitchFamily="34" charset="0"/>
                <a:ea typeface="Cambria" pitchFamily="34" charset="-122"/>
                <a:cs typeface="Cambria" pitchFamily="34" charset="-120"/>
              </a:rPr>
              <a:t>Keep reading T&amp;F</a:t>
            </a:r>
            <a:endParaRPr lang="en-US" sz="1400" dirty="0"/>
          </a:p>
        </p:txBody>
      </p:sp>
      <p:sp>
        <p:nvSpPr>
          <p:cNvPr id="28" name="Text 26"/>
          <p:cNvSpPr/>
          <p:nvPr/>
        </p:nvSpPr>
        <p:spPr>
          <a:xfrm>
            <a:off x="6208776" y="3438144"/>
            <a:ext cx="2487168" cy="1143000"/>
          </a:xfrm>
          <a:prstGeom prst="rect">
            <a:avLst/>
          </a:prstGeom>
          <a:noFill/>
          <a:ln/>
        </p:spPr>
        <p:txBody>
          <a:bodyPr wrap="square" lIns="0" tIns="0" rIns="0" bIns="0" rtlCol="0" anchor="t"/>
          <a:lstStyle/>
          <a:p>
            <a:pPr marL="0" indent="0">
              <a:buNone/>
            </a:pPr>
            <a:r>
              <a:rPr lang="en-US" sz="1250" dirty="0">
                <a:solidFill>
                  <a:srgbClr val="D6E4EC"/>
                </a:solidFill>
                <a:latin typeface="Calibri" pitchFamily="34" charset="0"/>
                <a:ea typeface="Calibri" pitchFamily="34" charset="-122"/>
                <a:cs typeface="Calibri" pitchFamily="34" charset="-120"/>
              </a:rPr>
              <a:t>Tabachnick &amp; Fidell remains the definitive practical reference — consult specific chapters as needed</a:t>
            </a:r>
            <a:endParaRPr lang="en-US" sz="1250" dirty="0"/>
          </a:p>
        </p:txBody>
      </p:sp>
      <p:sp>
        <p:nvSpPr>
          <p:cNvPr id="29" name="Text 27"/>
          <p:cNvSpPr/>
          <p:nvPr/>
        </p:nvSpPr>
        <p:spPr>
          <a:xfrm>
            <a:off x="457200" y="4773168"/>
            <a:ext cx="8229600" cy="228600"/>
          </a:xfrm>
          <a:prstGeom prst="rect">
            <a:avLst/>
          </a:prstGeom>
          <a:noFill/>
          <a:ln/>
        </p:spPr>
        <p:txBody>
          <a:bodyPr wrap="square" lIns="0" tIns="0" rIns="0" bIns="0" rtlCol="0" anchor="ctr"/>
          <a:lstStyle/>
          <a:p>
            <a:pPr marL="0" indent="0">
              <a:buNone/>
            </a:pPr>
            <a:r>
              <a:rPr lang="en-US" sz="1050" i="1" dirty="0">
                <a:solidFill>
                  <a:srgbClr val="9EC8D8"/>
                </a:solidFill>
                <a:latin typeface="Calibri" pitchFamily="34" charset="0"/>
                <a:ea typeface="Calibri" pitchFamily="34" charset="-122"/>
                <a:cs typeface="Calibri" pitchFamily="34" charset="-120"/>
              </a:rPr>
              <a:t>Reference: Tabachnick, B.G. &amp; Fidell, L.S. (2019). Using Multivariate Statistics (7th ed.). Pearson.</a:t>
            </a:r>
            <a:endParaRPr lang="en-US" sz="105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82296"/>
          </a:xfrm>
          <a:prstGeom prst="rect">
            <a:avLst/>
          </a:prstGeom>
          <a:solidFill>
            <a:srgbClr val="D4A843"/>
          </a:solidFill>
          <a:ln w="12700">
            <a:solidFill>
              <a:srgbClr val="D4A843"/>
            </a:solidFill>
            <a:prstDash val="solid"/>
          </a:ln>
        </p:spPr>
        <p:txBody>
          <a:bodyPr/>
          <a:lstStyle/>
          <a:p>
            <a:endParaRPr lang="en-US"/>
          </a:p>
        </p:txBody>
      </p:sp>
      <p:sp>
        <p:nvSpPr>
          <p:cNvPr id="3" name="Text 1"/>
          <p:cNvSpPr/>
          <p:nvPr/>
        </p:nvSpPr>
        <p:spPr>
          <a:xfrm>
            <a:off x="411480" y="137160"/>
            <a:ext cx="8321040" cy="658368"/>
          </a:xfrm>
          <a:prstGeom prst="rect">
            <a:avLst/>
          </a:prstGeom>
          <a:noFill/>
          <a:ln/>
        </p:spPr>
        <p:txBody>
          <a:bodyPr wrap="square" lIns="0" tIns="0" rIns="0" bIns="0" rtlCol="0" anchor="ctr"/>
          <a:lstStyle/>
          <a:p>
            <a:pPr marL="0" indent="0">
              <a:buNone/>
            </a:pPr>
            <a:r>
              <a:rPr lang="en-US" sz="2700" b="1" dirty="0">
                <a:solidFill>
                  <a:srgbClr val="1E2761"/>
                </a:solidFill>
                <a:latin typeface="Georgia" pitchFamily="34" charset="0"/>
                <a:ea typeface="Georgia" pitchFamily="34" charset="-122"/>
                <a:cs typeface="Georgia" pitchFamily="34" charset="-120"/>
              </a:rPr>
              <a:t>Reporting Standards: What Must Be Included</a:t>
            </a:r>
            <a:endParaRPr lang="en-US" sz="2700" dirty="0"/>
          </a:p>
        </p:txBody>
      </p:sp>
      <p:sp>
        <p:nvSpPr>
          <p:cNvPr id="4" name="Text 2"/>
          <p:cNvSpPr/>
          <p:nvPr/>
        </p:nvSpPr>
        <p:spPr>
          <a:xfrm>
            <a:off x="411480" y="822960"/>
            <a:ext cx="8321040" cy="320040"/>
          </a:xfrm>
          <a:prstGeom prst="rect">
            <a:avLst/>
          </a:prstGeom>
          <a:noFill/>
          <a:ln/>
        </p:spPr>
        <p:txBody>
          <a:bodyPr wrap="square" lIns="0" tIns="0" rIns="0" bIns="0" rtlCol="0" anchor="ctr"/>
          <a:lstStyle/>
          <a:p>
            <a:pPr marL="0" indent="0">
              <a:buNone/>
            </a:pPr>
            <a:r>
              <a:rPr lang="en-US" sz="1300" i="1" dirty="0">
                <a:solidFill>
                  <a:srgbClr val="5C5F7A"/>
                </a:solidFill>
                <a:latin typeface="Calibri" pitchFamily="34" charset="0"/>
                <a:ea typeface="Calibri" pitchFamily="34" charset="-122"/>
                <a:cs typeface="Calibri" pitchFamily="34" charset="-120"/>
              </a:rPr>
              <a:t>Both STROBE (observational PH) and APA 7 guidelines — applying to multivariable and multivariate equally</a:t>
            </a:r>
            <a:endParaRPr lang="en-US" sz="1300" dirty="0"/>
          </a:p>
        </p:txBody>
      </p:sp>
      <p:graphicFrame>
        <p:nvGraphicFramePr>
          <p:cNvPr id="30" name="Table 0"/>
          <p:cNvGraphicFramePr>
            <a:graphicFrameLocks noGrp="1"/>
          </p:cNvGraphicFramePr>
          <p:nvPr/>
        </p:nvGraphicFramePr>
        <p:xfrm>
          <a:off x="274320" y="1143000"/>
          <a:ext cx="8595360" cy="3703320"/>
        </p:xfrm>
        <a:graphic>
          <a:graphicData uri="http://schemas.openxmlformats.org/drawingml/2006/table">
            <a:tbl>
              <a:tblPr/>
              <a:tblGrid>
                <a:gridCol w="201168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gridCol w="3291840">
                  <a:extLst>
                    <a:ext uri="{9D8B030D-6E8A-4147-A177-3AD203B41FA5}">
                      <a16:colId xmlns:a16="http://schemas.microsoft.com/office/drawing/2014/main" val="20002"/>
                    </a:ext>
                  </a:extLst>
                </a:gridCol>
              </a:tblGrid>
              <a:tr h="411480">
                <a:tc>
                  <a:txBody>
                    <a:bodyPr/>
                    <a:lstStyle/>
                    <a:p>
                      <a:pPr marL="0" indent="0" algn="l">
                        <a:buNone/>
                      </a:pPr>
                      <a:r>
                        <a:rPr lang="en-US" sz="1150" b="1" dirty="0">
                          <a:solidFill>
                            <a:srgbClr val="FFFFFF"/>
                          </a:solidFill>
                          <a:latin typeface="Calibri" pitchFamily="34" charset="0"/>
                          <a:ea typeface="Calibri" pitchFamily="34" charset="-122"/>
                          <a:cs typeface="Calibri" pitchFamily="34" charset="-120"/>
                        </a:rPr>
                        <a:t>Reporting Element</a:t>
                      </a:r>
                      <a:endParaRPr lang="en-US" sz="1150" dirty="0">
                        <a:latin typeface="Calibri" charset="0"/>
                        <a:ea typeface="Calibri" charset="0"/>
                        <a:cs typeface="Calibri" charset="0"/>
                      </a:endParaRPr>
                    </a:p>
                  </a:txBody>
                  <a:tcPr anchor="ctr">
                    <a:lnL w="6350" cap="flat" cmpd="sng" algn="ctr">
                      <a:solidFill>
                        <a:srgbClr val="DDE0F0"/>
                      </a:solidFill>
                      <a:prstDash val="solid"/>
                      <a:round/>
                      <a:headEnd type="none" w="med" len="med"/>
                      <a:tailEnd type="none" w="med" len="med"/>
                    </a:lnL>
                    <a:lnR w="6350" cap="flat" cmpd="sng" algn="ctr">
                      <a:solidFill>
                        <a:srgbClr val="DDE0F0"/>
                      </a:solidFill>
                      <a:prstDash val="solid"/>
                      <a:round/>
                      <a:headEnd type="none" w="med" len="med"/>
                      <a:tailEnd type="none" w="med" len="med"/>
                    </a:lnR>
                    <a:lnT w="6350" cap="flat" cmpd="sng" algn="ctr">
                      <a:solidFill>
                        <a:srgbClr val="DDE0F0"/>
                      </a:solidFill>
                      <a:prstDash val="solid"/>
                      <a:round/>
                      <a:headEnd type="none" w="med" len="med"/>
                      <a:tailEnd type="none" w="med" len="med"/>
                    </a:lnT>
                    <a:lnB w="6350" cap="flat" cmpd="sng" algn="ctr">
                      <a:solidFill>
                        <a:srgbClr val="DDE0F0"/>
                      </a:solidFill>
                      <a:prstDash val="solid"/>
                      <a:round/>
                      <a:headEnd type="none" w="med" len="med"/>
                      <a:tailEnd type="none" w="med" len="med"/>
                    </a:lnB>
                    <a:solidFill>
                      <a:srgbClr val="1A1A2E"/>
                    </a:solidFill>
                  </a:tcPr>
                </a:tc>
                <a:tc>
                  <a:txBody>
                    <a:bodyPr/>
                    <a:lstStyle/>
                    <a:p>
                      <a:pPr marL="0" indent="0" algn="l">
                        <a:buNone/>
                      </a:pPr>
                      <a:r>
                        <a:rPr lang="en-US" sz="1150" b="1" dirty="0">
                          <a:solidFill>
                            <a:srgbClr val="FFFFFF"/>
                          </a:solidFill>
                          <a:latin typeface="Calibri" pitchFamily="34" charset="0"/>
                          <a:ea typeface="Calibri" pitchFamily="34" charset="-122"/>
                          <a:cs typeface="Calibri" pitchFamily="34" charset="-120"/>
                        </a:rPr>
                        <a:t>Multivariable (e.g., Logistic Regression)</a:t>
                      </a:r>
                      <a:endParaRPr lang="en-US" sz="1150" dirty="0">
                        <a:latin typeface="Calibri" charset="0"/>
                        <a:ea typeface="Calibri" charset="0"/>
                        <a:cs typeface="Calibri" charset="0"/>
                      </a:endParaRPr>
                    </a:p>
                  </a:txBody>
                  <a:tcPr anchor="ctr">
                    <a:lnL w="6350" cap="flat" cmpd="sng" algn="ctr">
                      <a:solidFill>
                        <a:srgbClr val="DDE0F0"/>
                      </a:solidFill>
                      <a:prstDash val="solid"/>
                      <a:round/>
                      <a:headEnd type="none" w="med" len="med"/>
                      <a:tailEnd type="none" w="med" len="med"/>
                    </a:lnL>
                    <a:lnR w="6350" cap="flat" cmpd="sng" algn="ctr">
                      <a:solidFill>
                        <a:srgbClr val="DDE0F0"/>
                      </a:solidFill>
                      <a:prstDash val="solid"/>
                      <a:round/>
                      <a:headEnd type="none" w="med" len="med"/>
                      <a:tailEnd type="none" w="med" len="med"/>
                    </a:lnR>
                    <a:lnT w="6350" cap="flat" cmpd="sng" algn="ctr">
                      <a:solidFill>
                        <a:srgbClr val="DDE0F0"/>
                      </a:solidFill>
                      <a:prstDash val="solid"/>
                      <a:round/>
                      <a:headEnd type="none" w="med" len="med"/>
                      <a:tailEnd type="none" w="med" len="med"/>
                    </a:lnT>
                    <a:lnB w="6350" cap="flat" cmpd="sng" algn="ctr">
                      <a:solidFill>
                        <a:srgbClr val="DDE0F0"/>
                      </a:solidFill>
                      <a:prstDash val="solid"/>
                      <a:round/>
                      <a:headEnd type="none" w="med" len="med"/>
                      <a:tailEnd type="none" w="med" len="med"/>
                    </a:lnB>
                    <a:solidFill>
                      <a:srgbClr val="1E2761"/>
                    </a:solidFill>
                  </a:tcPr>
                </a:tc>
                <a:tc>
                  <a:txBody>
                    <a:bodyPr/>
                    <a:lstStyle/>
                    <a:p>
                      <a:pPr marL="0" indent="0" algn="l">
                        <a:buNone/>
                      </a:pPr>
                      <a:r>
                        <a:rPr lang="en-US" sz="1150" b="1" dirty="0">
                          <a:solidFill>
                            <a:srgbClr val="FFFFFF"/>
                          </a:solidFill>
                          <a:latin typeface="Calibri" pitchFamily="34" charset="0"/>
                          <a:ea typeface="Calibri" pitchFamily="34" charset="-122"/>
                          <a:cs typeface="Calibri" pitchFamily="34" charset="-120"/>
                        </a:rPr>
                        <a:t>Multivariate (e.g., MANOVA)</a:t>
                      </a:r>
                      <a:endParaRPr lang="en-US" sz="1150" dirty="0">
                        <a:latin typeface="Calibri" charset="0"/>
                        <a:ea typeface="Calibri" charset="0"/>
                        <a:cs typeface="Calibri" charset="0"/>
                      </a:endParaRPr>
                    </a:p>
                  </a:txBody>
                  <a:tcPr anchor="ctr">
                    <a:lnL w="6350" cap="flat" cmpd="sng" algn="ctr">
                      <a:solidFill>
                        <a:srgbClr val="DDE0F0"/>
                      </a:solidFill>
                      <a:prstDash val="solid"/>
                      <a:round/>
                      <a:headEnd type="none" w="med" len="med"/>
                      <a:tailEnd type="none" w="med" len="med"/>
                    </a:lnL>
                    <a:lnR w="6350" cap="flat" cmpd="sng" algn="ctr">
                      <a:solidFill>
                        <a:srgbClr val="DDE0F0"/>
                      </a:solidFill>
                      <a:prstDash val="solid"/>
                      <a:round/>
                      <a:headEnd type="none" w="med" len="med"/>
                      <a:tailEnd type="none" w="med" len="med"/>
                    </a:lnR>
                    <a:lnT w="6350" cap="flat" cmpd="sng" algn="ctr">
                      <a:solidFill>
                        <a:srgbClr val="DDE0F0"/>
                      </a:solidFill>
                      <a:prstDash val="solid"/>
                      <a:round/>
                      <a:headEnd type="none" w="med" len="med"/>
                      <a:tailEnd type="none" w="med" len="med"/>
                    </a:lnT>
                    <a:lnB w="6350" cap="flat" cmpd="sng" algn="ctr">
                      <a:solidFill>
                        <a:srgbClr val="DDE0F0"/>
                      </a:solidFill>
                      <a:prstDash val="solid"/>
                      <a:round/>
                      <a:headEnd type="none" w="med" len="med"/>
                      <a:tailEnd type="none" w="med" len="med"/>
                    </a:lnB>
                    <a:solidFill>
                      <a:srgbClr val="6D2E46"/>
                    </a:solidFill>
                  </a:tcPr>
                </a:tc>
                <a:extLst>
                  <a:ext uri="{0D108BD9-81ED-4DB2-BD59-A6C34878D82A}">
                    <a16:rowId xmlns:a16="http://schemas.microsoft.com/office/drawing/2014/main" val="10000"/>
                  </a:ext>
                </a:extLst>
              </a:tr>
              <a:tr h="411480">
                <a:tc>
                  <a:txBody>
                    <a:bodyPr/>
                    <a:lstStyle/>
                    <a:p>
                      <a:pPr marL="0" indent="0" algn="l">
                        <a:buNone/>
                      </a:pPr>
                      <a:r>
                        <a:rPr lang="en-US" sz="1150" dirty="0">
                          <a:solidFill>
                            <a:srgbClr val="000000"/>
                          </a:solidFill>
                          <a:latin typeface="Calibri" pitchFamily="34" charset="0"/>
                          <a:ea typeface="Calibri" pitchFamily="34" charset="-122"/>
                          <a:cs typeface="Calibri" pitchFamily="34" charset="-120"/>
                        </a:rPr>
                        <a:t>Sample</a:t>
                      </a:r>
                      <a:endParaRPr lang="en-US" sz="1150" dirty="0">
                        <a:latin typeface="Calibri" charset="0"/>
                        <a:ea typeface="Calibri" charset="0"/>
                        <a:cs typeface="Calibri" charset="0"/>
                      </a:endParaRPr>
                    </a:p>
                  </a:txBody>
                  <a:tcPr anchor="ctr">
                    <a:lnL w="6350" cap="flat" cmpd="sng" algn="ctr">
                      <a:solidFill>
                        <a:srgbClr val="DDE0F0"/>
                      </a:solidFill>
                      <a:prstDash val="solid"/>
                      <a:round/>
                      <a:headEnd type="none" w="med" len="med"/>
                      <a:tailEnd type="none" w="med" len="med"/>
                    </a:lnL>
                    <a:lnR w="6350" cap="flat" cmpd="sng" algn="ctr">
                      <a:solidFill>
                        <a:srgbClr val="DDE0F0"/>
                      </a:solidFill>
                      <a:prstDash val="solid"/>
                      <a:round/>
                      <a:headEnd type="none" w="med" len="med"/>
                      <a:tailEnd type="none" w="med" len="med"/>
                    </a:lnR>
                    <a:lnT w="6350" cap="flat" cmpd="sng" algn="ctr">
                      <a:solidFill>
                        <a:srgbClr val="DDE0F0"/>
                      </a:solidFill>
                      <a:prstDash val="solid"/>
                      <a:round/>
                      <a:headEnd type="none" w="med" len="med"/>
                      <a:tailEnd type="none" w="med" len="med"/>
                    </a:lnT>
                    <a:lnB w="6350" cap="flat" cmpd="sng" algn="ctr">
                      <a:solidFill>
                        <a:srgbClr val="DDE0F0"/>
                      </a:solidFill>
                      <a:prstDash val="solid"/>
                      <a:round/>
                      <a:headEnd type="none" w="med" len="med"/>
                      <a:tailEnd type="none" w="med" len="med"/>
                    </a:lnB>
                    <a:solidFill>
                      <a:srgbClr val="FFFFFF"/>
                    </a:solidFill>
                  </a:tcPr>
                </a:tc>
                <a:tc>
                  <a:txBody>
                    <a:bodyPr/>
                    <a:lstStyle/>
                    <a:p>
                      <a:pPr marL="0" indent="0" algn="l">
                        <a:buNone/>
                      </a:pPr>
                      <a:r>
                        <a:rPr lang="en-US" sz="1150" dirty="0">
                          <a:solidFill>
                            <a:srgbClr val="000000"/>
                          </a:solidFill>
                          <a:latin typeface="Calibri" pitchFamily="34" charset="0"/>
                          <a:ea typeface="Calibri" pitchFamily="34" charset="-122"/>
                          <a:cs typeface="Calibri" pitchFamily="34" charset="-120"/>
                        </a:rPr>
                        <a:t>N, % missing, imputation method</a:t>
                      </a:r>
                      <a:endParaRPr lang="en-US" sz="1150" dirty="0">
                        <a:latin typeface="Calibri" charset="0"/>
                        <a:ea typeface="Calibri" charset="0"/>
                        <a:cs typeface="Calibri" charset="0"/>
                      </a:endParaRPr>
                    </a:p>
                  </a:txBody>
                  <a:tcPr anchor="ctr">
                    <a:lnL w="6350" cap="flat" cmpd="sng" algn="ctr">
                      <a:solidFill>
                        <a:srgbClr val="DDE0F0"/>
                      </a:solidFill>
                      <a:prstDash val="solid"/>
                      <a:round/>
                      <a:headEnd type="none" w="med" len="med"/>
                      <a:tailEnd type="none" w="med" len="med"/>
                    </a:lnL>
                    <a:lnR w="6350" cap="flat" cmpd="sng" algn="ctr">
                      <a:solidFill>
                        <a:srgbClr val="DDE0F0"/>
                      </a:solidFill>
                      <a:prstDash val="solid"/>
                      <a:round/>
                      <a:headEnd type="none" w="med" len="med"/>
                      <a:tailEnd type="none" w="med" len="med"/>
                    </a:lnR>
                    <a:lnT w="6350" cap="flat" cmpd="sng" algn="ctr">
                      <a:solidFill>
                        <a:srgbClr val="DDE0F0"/>
                      </a:solidFill>
                      <a:prstDash val="solid"/>
                      <a:round/>
                      <a:headEnd type="none" w="med" len="med"/>
                      <a:tailEnd type="none" w="med" len="med"/>
                    </a:lnT>
                    <a:lnB w="6350" cap="flat" cmpd="sng" algn="ctr">
                      <a:solidFill>
                        <a:srgbClr val="DDE0F0"/>
                      </a:solidFill>
                      <a:prstDash val="solid"/>
                      <a:round/>
                      <a:headEnd type="none" w="med" len="med"/>
                      <a:tailEnd type="none" w="med" len="med"/>
                    </a:lnB>
                    <a:solidFill>
                      <a:srgbClr val="FFFFFF"/>
                    </a:solidFill>
                  </a:tcPr>
                </a:tc>
                <a:tc>
                  <a:txBody>
                    <a:bodyPr/>
                    <a:lstStyle/>
                    <a:p>
                      <a:pPr marL="0" indent="0" algn="l">
                        <a:buNone/>
                      </a:pPr>
                      <a:r>
                        <a:rPr lang="en-US" sz="1150" dirty="0">
                          <a:solidFill>
                            <a:srgbClr val="000000"/>
                          </a:solidFill>
                          <a:latin typeface="Calibri" pitchFamily="34" charset="0"/>
                          <a:ea typeface="Calibri" pitchFamily="34" charset="-122"/>
                          <a:cs typeface="Calibri" pitchFamily="34" charset="-120"/>
                        </a:rPr>
                        <a:t>N per cell, % missing, imputation</a:t>
                      </a:r>
                      <a:endParaRPr lang="en-US" sz="1150" dirty="0">
                        <a:latin typeface="Calibri" charset="0"/>
                        <a:ea typeface="Calibri" charset="0"/>
                        <a:cs typeface="Calibri" charset="0"/>
                      </a:endParaRPr>
                    </a:p>
                  </a:txBody>
                  <a:tcPr anchor="ctr">
                    <a:lnL w="6350" cap="flat" cmpd="sng" algn="ctr">
                      <a:solidFill>
                        <a:srgbClr val="DDE0F0"/>
                      </a:solidFill>
                      <a:prstDash val="solid"/>
                      <a:round/>
                      <a:headEnd type="none" w="med" len="med"/>
                      <a:tailEnd type="none" w="med" len="med"/>
                    </a:lnL>
                    <a:lnR w="6350" cap="flat" cmpd="sng" algn="ctr">
                      <a:solidFill>
                        <a:srgbClr val="DDE0F0"/>
                      </a:solidFill>
                      <a:prstDash val="solid"/>
                      <a:round/>
                      <a:headEnd type="none" w="med" len="med"/>
                      <a:tailEnd type="none" w="med" len="med"/>
                    </a:lnR>
                    <a:lnT w="6350" cap="flat" cmpd="sng" algn="ctr">
                      <a:solidFill>
                        <a:srgbClr val="DDE0F0"/>
                      </a:solidFill>
                      <a:prstDash val="solid"/>
                      <a:round/>
                      <a:headEnd type="none" w="med" len="med"/>
                      <a:tailEnd type="none" w="med" len="med"/>
                    </a:lnT>
                    <a:lnB w="6350" cap="flat" cmpd="sng" algn="ctr">
                      <a:solidFill>
                        <a:srgbClr val="DDE0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11480">
                <a:tc>
                  <a:txBody>
                    <a:bodyPr/>
                    <a:lstStyle/>
                    <a:p>
                      <a:pPr marL="0" indent="0" algn="l">
                        <a:buNone/>
                      </a:pPr>
                      <a:r>
                        <a:rPr lang="en-US" sz="1150" dirty="0">
                          <a:solidFill>
                            <a:srgbClr val="000000"/>
                          </a:solidFill>
                          <a:latin typeface="Calibri" pitchFamily="34" charset="0"/>
                          <a:ea typeface="Calibri" pitchFamily="34" charset="-122"/>
                          <a:cs typeface="Calibri" pitchFamily="34" charset="-120"/>
                        </a:rPr>
                        <a:t>Assumptions</a:t>
                      </a:r>
                      <a:endParaRPr lang="en-US" sz="1150" dirty="0">
                        <a:latin typeface="Calibri" charset="0"/>
                        <a:ea typeface="Calibri" charset="0"/>
                        <a:cs typeface="Calibri" charset="0"/>
                      </a:endParaRPr>
                    </a:p>
                  </a:txBody>
                  <a:tcPr anchor="ctr">
                    <a:lnL w="6350" cap="flat" cmpd="sng" algn="ctr">
                      <a:solidFill>
                        <a:srgbClr val="DDE0F0"/>
                      </a:solidFill>
                      <a:prstDash val="solid"/>
                      <a:round/>
                      <a:headEnd type="none" w="med" len="med"/>
                      <a:tailEnd type="none" w="med" len="med"/>
                    </a:lnL>
                    <a:lnR w="6350" cap="flat" cmpd="sng" algn="ctr">
                      <a:solidFill>
                        <a:srgbClr val="DDE0F0"/>
                      </a:solidFill>
                      <a:prstDash val="solid"/>
                      <a:round/>
                      <a:headEnd type="none" w="med" len="med"/>
                      <a:tailEnd type="none" w="med" len="med"/>
                    </a:lnR>
                    <a:lnT w="6350" cap="flat" cmpd="sng" algn="ctr">
                      <a:solidFill>
                        <a:srgbClr val="DDE0F0"/>
                      </a:solidFill>
                      <a:prstDash val="solid"/>
                      <a:round/>
                      <a:headEnd type="none" w="med" len="med"/>
                      <a:tailEnd type="none" w="med" len="med"/>
                    </a:lnT>
                    <a:lnB w="6350" cap="flat" cmpd="sng" algn="ctr">
                      <a:solidFill>
                        <a:srgbClr val="DDE0F0"/>
                      </a:solidFill>
                      <a:prstDash val="solid"/>
                      <a:round/>
                      <a:headEnd type="none" w="med" len="med"/>
                      <a:tailEnd type="none" w="med" len="med"/>
                    </a:lnB>
                    <a:solidFill>
                      <a:srgbClr val="FFFFFF"/>
                    </a:solidFill>
                  </a:tcPr>
                </a:tc>
                <a:tc>
                  <a:txBody>
                    <a:bodyPr/>
                    <a:lstStyle/>
                    <a:p>
                      <a:pPr marL="0" indent="0" algn="l">
                        <a:buNone/>
                      </a:pPr>
                      <a:r>
                        <a:rPr lang="en-US" sz="1150" dirty="0">
                          <a:solidFill>
                            <a:srgbClr val="000000"/>
                          </a:solidFill>
                          <a:latin typeface="Calibri" pitchFamily="34" charset="0"/>
                          <a:ea typeface="Calibri" pitchFamily="34" charset="-122"/>
                          <a:cs typeface="Calibri" pitchFamily="34" charset="-120"/>
                        </a:rPr>
                        <a:t>Normality of residuals, VIF, Cook's D</a:t>
                      </a:r>
                      <a:endParaRPr lang="en-US" sz="1150" dirty="0">
                        <a:latin typeface="Calibri" charset="0"/>
                        <a:ea typeface="Calibri" charset="0"/>
                        <a:cs typeface="Calibri" charset="0"/>
                      </a:endParaRPr>
                    </a:p>
                  </a:txBody>
                  <a:tcPr anchor="ctr">
                    <a:lnL w="6350" cap="flat" cmpd="sng" algn="ctr">
                      <a:solidFill>
                        <a:srgbClr val="DDE0F0"/>
                      </a:solidFill>
                      <a:prstDash val="solid"/>
                      <a:round/>
                      <a:headEnd type="none" w="med" len="med"/>
                      <a:tailEnd type="none" w="med" len="med"/>
                    </a:lnL>
                    <a:lnR w="6350" cap="flat" cmpd="sng" algn="ctr">
                      <a:solidFill>
                        <a:srgbClr val="DDE0F0"/>
                      </a:solidFill>
                      <a:prstDash val="solid"/>
                      <a:round/>
                      <a:headEnd type="none" w="med" len="med"/>
                      <a:tailEnd type="none" w="med" len="med"/>
                    </a:lnR>
                    <a:lnT w="6350" cap="flat" cmpd="sng" algn="ctr">
                      <a:solidFill>
                        <a:srgbClr val="DDE0F0"/>
                      </a:solidFill>
                      <a:prstDash val="solid"/>
                      <a:round/>
                      <a:headEnd type="none" w="med" len="med"/>
                      <a:tailEnd type="none" w="med" len="med"/>
                    </a:lnT>
                    <a:lnB w="6350" cap="flat" cmpd="sng" algn="ctr">
                      <a:solidFill>
                        <a:srgbClr val="DDE0F0"/>
                      </a:solidFill>
                      <a:prstDash val="solid"/>
                      <a:round/>
                      <a:headEnd type="none" w="med" len="med"/>
                      <a:tailEnd type="none" w="med" len="med"/>
                    </a:lnB>
                    <a:solidFill>
                      <a:srgbClr val="FFFFFF"/>
                    </a:solidFill>
                  </a:tcPr>
                </a:tc>
                <a:tc>
                  <a:txBody>
                    <a:bodyPr/>
                    <a:lstStyle/>
                    <a:p>
                      <a:pPr marL="0" indent="0" algn="l">
                        <a:buNone/>
                      </a:pPr>
                      <a:r>
                        <a:rPr lang="en-US" sz="1150" dirty="0">
                          <a:solidFill>
                            <a:srgbClr val="000000"/>
                          </a:solidFill>
                          <a:latin typeface="Calibri" pitchFamily="34" charset="0"/>
                          <a:ea typeface="Calibri" pitchFamily="34" charset="-122"/>
                          <a:cs typeface="Calibri" pitchFamily="34" charset="-120"/>
                        </a:rPr>
                        <a:t>Mardia's, Box's M, D², linearity of DVs</a:t>
                      </a:r>
                      <a:endParaRPr lang="en-US" sz="1150" dirty="0">
                        <a:latin typeface="Calibri" charset="0"/>
                        <a:ea typeface="Calibri" charset="0"/>
                        <a:cs typeface="Calibri" charset="0"/>
                      </a:endParaRPr>
                    </a:p>
                  </a:txBody>
                  <a:tcPr anchor="ctr">
                    <a:lnL w="6350" cap="flat" cmpd="sng" algn="ctr">
                      <a:solidFill>
                        <a:srgbClr val="DDE0F0"/>
                      </a:solidFill>
                      <a:prstDash val="solid"/>
                      <a:round/>
                      <a:headEnd type="none" w="med" len="med"/>
                      <a:tailEnd type="none" w="med" len="med"/>
                    </a:lnL>
                    <a:lnR w="6350" cap="flat" cmpd="sng" algn="ctr">
                      <a:solidFill>
                        <a:srgbClr val="DDE0F0"/>
                      </a:solidFill>
                      <a:prstDash val="solid"/>
                      <a:round/>
                      <a:headEnd type="none" w="med" len="med"/>
                      <a:tailEnd type="none" w="med" len="med"/>
                    </a:lnR>
                    <a:lnT w="6350" cap="flat" cmpd="sng" algn="ctr">
                      <a:solidFill>
                        <a:srgbClr val="DDE0F0"/>
                      </a:solidFill>
                      <a:prstDash val="solid"/>
                      <a:round/>
                      <a:headEnd type="none" w="med" len="med"/>
                      <a:tailEnd type="none" w="med" len="med"/>
                    </a:lnT>
                    <a:lnB w="6350" cap="flat" cmpd="sng" algn="ctr">
                      <a:solidFill>
                        <a:srgbClr val="DDE0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11480">
                <a:tc>
                  <a:txBody>
                    <a:bodyPr/>
                    <a:lstStyle/>
                    <a:p>
                      <a:pPr marL="0" indent="0" algn="l">
                        <a:buNone/>
                      </a:pPr>
                      <a:r>
                        <a:rPr lang="en-US" sz="1150" dirty="0">
                          <a:solidFill>
                            <a:srgbClr val="000000"/>
                          </a:solidFill>
                          <a:latin typeface="Calibri" pitchFamily="34" charset="0"/>
                          <a:ea typeface="Calibri" pitchFamily="34" charset="-122"/>
                          <a:cs typeface="Calibri" pitchFamily="34" charset="-120"/>
                        </a:rPr>
                        <a:t>Model specification</a:t>
                      </a:r>
                      <a:endParaRPr lang="en-US" sz="1150" dirty="0">
                        <a:latin typeface="Calibri" charset="0"/>
                        <a:ea typeface="Calibri" charset="0"/>
                        <a:cs typeface="Calibri" charset="0"/>
                      </a:endParaRPr>
                    </a:p>
                  </a:txBody>
                  <a:tcPr anchor="ctr">
                    <a:lnL w="6350" cap="flat" cmpd="sng" algn="ctr">
                      <a:solidFill>
                        <a:srgbClr val="DDE0F0"/>
                      </a:solidFill>
                      <a:prstDash val="solid"/>
                      <a:round/>
                      <a:headEnd type="none" w="med" len="med"/>
                      <a:tailEnd type="none" w="med" len="med"/>
                    </a:lnL>
                    <a:lnR w="6350" cap="flat" cmpd="sng" algn="ctr">
                      <a:solidFill>
                        <a:srgbClr val="DDE0F0"/>
                      </a:solidFill>
                      <a:prstDash val="solid"/>
                      <a:round/>
                      <a:headEnd type="none" w="med" len="med"/>
                      <a:tailEnd type="none" w="med" len="med"/>
                    </a:lnR>
                    <a:lnT w="6350" cap="flat" cmpd="sng" algn="ctr">
                      <a:solidFill>
                        <a:srgbClr val="DDE0F0"/>
                      </a:solidFill>
                      <a:prstDash val="solid"/>
                      <a:round/>
                      <a:headEnd type="none" w="med" len="med"/>
                      <a:tailEnd type="none" w="med" len="med"/>
                    </a:lnT>
                    <a:lnB w="6350" cap="flat" cmpd="sng" algn="ctr">
                      <a:solidFill>
                        <a:srgbClr val="DDE0F0"/>
                      </a:solidFill>
                      <a:prstDash val="solid"/>
                      <a:round/>
                      <a:headEnd type="none" w="med" len="med"/>
                      <a:tailEnd type="none" w="med" len="med"/>
                    </a:lnB>
                    <a:solidFill>
                      <a:srgbClr val="FFFFFF"/>
                    </a:solidFill>
                  </a:tcPr>
                </a:tc>
                <a:tc>
                  <a:txBody>
                    <a:bodyPr/>
                    <a:lstStyle/>
                    <a:p>
                      <a:pPr marL="0" indent="0" algn="l">
                        <a:buNone/>
                      </a:pPr>
                      <a:r>
                        <a:rPr lang="en-US" sz="1150" dirty="0">
                          <a:solidFill>
                            <a:srgbClr val="000000"/>
                          </a:solidFill>
                          <a:latin typeface="Calibri" pitchFamily="34" charset="0"/>
                          <a:ea typeface="Calibri" pitchFamily="34" charset="-122"/>
                          <a:cs typeface="Calibri" pitchFamily="34" charset="-120"/>
                        </a:rPr>
                        <a:t>IVs, blocks, entry method</a:t>
                      </a:r>
                      <a:endParaRPr lang="en-US" sz="1150" dirty="0">
                        <a:latin typeface="Calibri" charset="0"/>
                        <a:ea typeface="Calibri" charset="0"/>
                        <a:cs typeface="Calibri" charset="0"/>
                      </a:endParaRPr>
                    </a:p>
                  </a:txBody>
                  <a:tcPr anchor="ctr">
                    <a:lnL w="6350" cap="flat" cmpd="sng" algn="ctr">
                      <a:solidFill>
                        <a:srgbClr val="DDE0F0"/>
                      </a:solidFill>
                      <a:prstDash val="solid"/>
                      <a:round/>
                      <a:headEnd type="none" w="med" len="med"/>
                      <a:tailEnd type="none" w="med" len="med"/>
                    </a:lnL>
                    <a:lnR w="6350" cap="flat" cmpd="sng" algn="ctr">
                      <a:solidFill>
                        <a:srgbClr val="DDE0F0"/>
                      </a:solidFill>
                      <a:prstDash val="solid"/>
                      <a:round/>
                      <a:headEnd type="none" w="med" len="med"/>
                      <a:tailEnd type="none" w="med" len="med"/>
                    </a:lnR>
                    <a:lnT w="6350" cap="flat" cmpd="sng" algn="ctr">
                      <a:solidFill>
                        <a:srgbClr val="DDE0F0"/>
                      </a:solidFill>
                      <a:prstDash val="solid"/>
                      <a:round/>
                      <a:headEnd type="none" w="med" len="med"/>
                      <a:tailEnd type="none" w="med" len="med"/>
                    </a:lnT>
                    <a:lnB w="6350" cap="flat" cmpd="sng" algn="ctr">
                      <a:solidFill>
                        <a:srgbClr val="DDE0F0"/>
                      </a:solidFill>
                      <a:prstDash val="solid"/>
                      <a:round/>
                      <a:headEnd type="none" w="med" len="med"/>
                      <a:tailEnd type="none" w="med" len="med"/>
                    </a:lnB>
                    <a:solidFill>
                      <a:srgbClr val="FFFFFF"/>
                    </a:solidFill>
                  </a:tcPr>
                </a:tc>
                <a:tc>
                  <a:txBody>
                    <a:bodyPr/>
                    <a:lstStyle/>
                    <a:p>
                      <a:pPr marL="0" indent="0" algn="l">
                        <a:buNone/>
                      </a:pPr>
                      <a:r>
                        <a:rPr lang="en-US" sz="1150" dirty="0">
                          <a:solidFill>
                            <a:srgbClr val="000000"/>
                          </a:solidFill>
                          <a:latin typeface="Calibri" pitchFamily="34" charset="0"/>
                          <a:ea typeface="Calibri" pitchFamily="34" charset="-122"/>
                          <a:cs typeface="Calibri" pitchFamily="34" charset="-120"/>
                        </a:rPr>
                        <a:t>DVs, IVs, covariates, design type</a:t>
                      </a:r>
                      <a:endParaRPr lang="en-US" sz="1150" dirty="0">
                        <a:latin typeface="Calibri" charset="0"/>
                        <a:ea typeface="Calibri" charset="0"/>
                        <a:cs typeface="Calibri" charset="0"/>
                      </a:endParaRPr>
                    </a:p>
                  </a:txBody>
                  <a:tcPr anchor="ctr">
                    <a:lnL w="6350" cap="flat" cmpd="sng" algn="ctr">
                      <a:solidFill>
                        <a:srgbClr val="DDE0F0"/>
                      </a:solidFill>
                      <a:prstDash val="solid"/>
                      <a:round/>
                      <a:headEnd type="none" w="med" len="med"/>
                      <a:tailEnd type="none" w="med" len="med"/>
                    </a:lnL>
                    <a:lnR w="6350" cap="flat" cmpd="sng" algn="ctr">
                      <a:solidFill>
                        <a:srgbClr val="DDE0F0"/>
                      </a:solidFill>
                      <a:prstDash val="solid"/>
                      <a:round/>
                      <a:headEnd type="none" w="med" len="med"/>
                      <a:tailEnd type="none" w="med" len="med"/>
                    </a:lnR>
                    <a:lnT w="6350" cap="flat" cmpd="sng" algn="ctr">
                      <a:solidFill>
                        <a:srgbClr val="DDE0F0"/>
                      </a:solidFill>
                      <a:prstDash val="solid"/>
                      <a:round/>
                      <a:headEnd type="none" w="med" len="med"/>
                      <a:tailEnd type="none" w="med" len="med"/>
                    </a:lnT>
                    <a:lnB w="6350" cap="flat" cmpd="sng" algn="ctr">
                      <a:solidFill>
                        <a:srgbClr val="DDE0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11480">
                <a:tc>
                  <a:txBody>
                    <a:bodyPr/>
                    <a:lstStyle/>
                    <a:p>
                      <a:pPr marL="0" indent="0" algn="l">
                        <a:buNone/>
                      </a:pPr>
                      <a:r>
                        <a:rPr lang="en-US" sz="1150" dirty="0">
                          <a:solidFill>
                            <a:srgbClr val="000000"/>
                          </a:solidFill>
                          <a:latin typeface="Calibri" pitchFamily="34" charset="0"/>
                          <a:ea typeface="Calibri" pitchFamily="34" charset="-122"/>
                          <a:cs typeface="Calibri" pitchFamily="34" charset="-120"/>
                        </a:rPr>
                        <a:t>Overall test</a:t>
                      </a:r>
                      <a:endParaRPr lang="en-US" sz="1150" dirty="0">
                        <a:latin typeface="Calibri" charset="0"/>
                        <a:ea typeface="Calibri" charset="0"/>
                        <a:cs typeface="Calibri" charset="0"/>
                      </a:endParaRPr>
                    </a:p>
                  </a:txBody>
                  <a:tcPr anchor="ctr">
                    <a:lnL w="6350" cap="flat" cmpd="sng" algn="ctr">
                      <a:solidFill>
                        <a:srgbClr val="DDE0F0"/>
                      </a:solidFill>
                      <a:prstDash val="solid"/>
                      <a:round/>
                      <a:headEnd type="none" w="med" len="med"/>
                      <a:tailEnd type="none" w="med" len="med"/>
                    </a:lnL>
                    <a:lnR w="6350" cap="flat" cmpd="sng" algn="ctr">
                      <a:solidFill>
                        <a:srgbClr val="DDE0F0"/>
                      </a:solidFill>
                      <a:prstDash val="solid"/>
                      <a:round/>
                      <a:headEnd type="none" w="med" len="med"/>
                      <a:tailEnd type="none" w="med" len="med"/>
                    </a:lnR>
                    <a:lnT w="6350" cap="flat" cmpd="sng" algn="ctr">
                      <a:solidFill>
                        <a:srgbClr val="DDE0F0"/>
                      </a:solidFill>
                      <a:prstDash val="solid"/>
                      <a:round/>
                      <a:headEnd type="none" w="med" len="med"/>
                      <a:tailEnd type="none" w="med" len="med"/>
                    </a:lnT>
                    <a:lnB w="6350" cap="flat" cmpd="sng" algn="ctr">
                      <a:solidFill>
                        <a:srgbClr val="DDE0F0"/>
                      </a:solidFill>
                      <a:prstDash val="solid"/>
                      <a:round/>
                      <a:headEnd type="none" w="med" len="med"/>
                      <a:tailEnd type="none" w="med" len="med"/>
                    </a:lnB>
                    <a:solidFill>
                      <a:srgbClr val="FFFFFF"/>
                    </a:solidFill>
                  </a:tcPr>
                </a:tc>
                <a:tc>
                  <a:txBody>
                    <a:bodyPr/>
                    <a:lstStyle/>
                    <a:p>
                      <a:pPr marL="0" indent="0" algn="l">
                        <a:buNone/>
                      </a:pPr>
                      <a:r>
                        <a:rPr lang="en-US" sz="1150" dirty="0">
                          <a:solidFill>
                            <a:srgbClr val="000000"/>
                          </a:solidFill>
                          <a:latin typeface="Calibri" pitchFamily="34" charset="0"/>
                          <a:ea typeface="Calibri" pitchFamily="34" charset="-122"/>
                          <a:cs typeface="Calibri" pitchFamily="34" charset="-120"/>
                        </a:rPr>
                        <a:t>−2LL, AIC, χ², R² (Nagelkerke)</a:t>
                      </a:r>
                      <a:endParaRPr lang="en-US" sz="1150" dirty="0">
                        <a:latin typeface="Calibri" charset="0"/>
                        <a:ea typeface="Calibri" charset="0"/>
                        <a:cs typeface="Calibri" charset="0"/>
                      </a:endParaRPr>
                    </a:p>
                  </a:txBody>
                  <a:tcPr anchor="ctr">
                    <a:lnL w="6350" cap="flat" cmpd="sng" algn="ctr">
                      <a:solidFill>
                        <a:srgbClr val="DDE0F0"/>
                      </a:solidFill>
                      <a:prstDash val="solid"/>
                      <a:round/>
                      <a:headEnd type="none" w="med" len="med"/>
                      <a:tailEnd type="none" w="med" len="med"/>
                    </a:lnL>
                    <a:lnR w="6350" cap="flat" cmpd="sng" algn="ctr">
                      <a:solidFill>
                        <a:srgbClr val="DDE0F0"/>
                      </a:solidFill>
                      <a:prstDash val="solid"/>
                      <a:round/>
                      <a:headEnd type="none" w="med" len="med"/>
                      <a:tailEnd type="none" w="med" len="med"/>
                    </a:lnR>
                    <a:lnT w="6350" cap="flat" cmpd="sng" algn="ctr">
                      <a:solidFill>
                        <a:srgbClr val="DDE0F0"/>
                      </a:solidFill>
                      <a:prstDash val="solid"/>
                      <a:round/>
                      <a:headEnd type="none" w="med" len="med"/>
                      <a:tailEnd type="none" w="med" len="med"/>
                    </a:lnT>
                    <a:lnB w="6350" cap="flat" cmpd="sng" algn="ctr">
                      <a:solidFill>
                        <a:srgbClr val="DDE0F0"/>
                      </a:solidFill>
                      <a:prstDash val="solid"/>
                      <a:round/>
                      <a:headEnd type="none" w="med" len="med"/>
                      <a:tailEnd type="none" w="med" len="med"/>
                    </a:lnB>
                    <a:solidFill>
                      <a:srgbClr val="FFFFFF"/>
                    </a:solidFill>
                  </a:tcPr>
                </a:tc>
                <a:tc>
                  <a:txBody>
                    <a:bodyPr/>
                    <a:lstStyle/>
                    <a:p>
                      <a:pPr marL="0" indent="0" algn="l">
                        <a:buNone/>
                      </a:pPr>
                      <a:r>
                        <a:rPr lang="en-US" sz="1150" dirty="0">
                          <a:solidFill>
                            <a:srgbClr val="000000"/>
                          </a:solidFill>
                          <a:latin typeface="Calibri" pitchFamily="34" charset="0"/>
                          <a:ea typeface="Calibri" pitchFamily="34" charset="-122"/>
                          <a:cs typeface="Calibri" pitchFamily="34" charset="-120"/>
                        </a:rPr>
                        <a:t>Pillai's V (preferred), F, df, p</a:t>
                      </a:r>
                      <a:endParaRPr lang="en-US" sz="1150" dirty="0">
                        <a:latin typeface="Calibri" charset="0"/>
                        <a:ea typeface="Calibri" charset="0"/>
                        <a:cs typeface="Calibri" charset="0"/>
                      </a:endParaRPr>
                    </a:p>
                  </a:txBody>
                  <a:tcPr anchor="ctr">
                    <a:lnL w="6350" cap="flat" cmpd="sng" algn="ctr">
                      <a:solidFill>
                        <a:srgbClr val="DDE0F0"/>
                      </a:solidFill>
                      <a:prstDash val="solid"/>
                      <a:round/>
                      <a:headEnd type="none" w="med" len="med"/>
                      <a:tailEnd type="none" w="med" len="med"/>
                    </a:lnL>
                    <a:lnR w="6350" cap="flat" cmpd="sng" algn="ctr">
                      <a:solidFill>
                        <a:srgbClr val="DDE0F0"/>
                      </a:solidFill>
                      <a:prstDash val="solid"/>
                      <a:round/>
                      <a:headEnd type="none" w="med" len="med"/>
                      <a:tailEnd type="none" w="med" len="med"/>
                    </a:lnR>
                    <a:lnT w="6350" cap="flat" cmpd="sng" algn="ctr">
                      <a:solidFill>
                        <a:srgbClr val="DDE0F0"/>
                      </a:solidFill>
                      <a:prstDash val="solid"/>
                      <a:round/>
                      <a:headEnd type="none" w="med" len="med"/>
                      <a:tailEnd type="none" w="med" len="med"/>
                    </a:lnT>
                    <a:lnB w="6350" cap="flat" cmpd="sng" algn="ctr">
                      <a:solidFill>
                        <a:srgbClr val="DDE0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11480">
                <a:tc>
                  <a:txBody>
                    <a:bodyPr/>
                    <a:lstStyle/>
                    <a:p>
                      <a:pPr marL="0" indent="0" algn="l">
                        <a:buNone/>
                      </a:pPr>
                      <a:r>
                        <a:rPr lang="en-US" sz="1150" dirty="0">
                          <a:solidFill>
                            <a:srgbClr val="000000"/>
                          </a:solidFill>
                          <a:latin typeface="Calibri" pitchFamily="34" charset="0"/>
                          <a:ea typeface="Calibri" pitchFamily="34" charset="-122"/>
                          <a:cs typeface="Calibri" pitchFamily="34" charset="-120"/>
                        </a:rPr>
                        <a:t>Effect size</a:t>
                      </a:r>
                      <a:endParaRPr lang="en-US" sz="1150" dirty="0">
                        <a:latin typeface="Calibri" charset="0"/>
                        <a:ea typeface="Calibri" charset="0"/>
                        <a:cs typeface="Calibri" charset="0"/>
                      </a:endParaRPr>
                    </a:p>
                  </a:txBody>
                  <a:tcPr anchor="ctr">
                    <a:lnL w="6350" cap="flat" cmpd="sng" algn="ctr">
                      <a:solidFill>
                        <a:srgbClr val="DDE0F0"/>
                      </a:solidFill>
                      <a:prstDash val="solid"/>
                      <a:round/>
                      <a:headEnd type="none" w="med" len="med"/>
                      <a:tailEnd type="none" w="med" len="med"/>
                    </a:lnL>
                    <a:lnR w="6350" cap="flat" cmpd="sng" algn="ctr">
                      <a:solidFill>
                        <a:srgbClr val="DDE0F0"/>
                      </a:solidFill>
                      <a:prstDash val="solid"/>
                      <a:round/>
                      <a:headEnd type="none" w="med" len="med"/>
                      <a:tailEnd type="none" w="med" len="med"/>
                    </a:lnR>
                    <a:lnT w="6350" cap="flat" cmpd="sng" algn="ctr">
                      <a:solidFill>
                        <a:srgbClr val="DDE0F0"/>
                      </a:solidFill>
                      <a:prstDash val="solid"/>
                      <a:round/>
                      <a:headEnd type="none" w="med" len="med"/>
                      <a:tailEnd type="none" w="med" len="med"/>
                    </a:lnT>
                    <a:lnB w="6350" cap="flat" cmpd="sng" algn="ctr">
                      <a:solidFill>
                        <a:srgbClr val="DDE0F0"/>
                      </a:solidFill>
                      <a:prstDash val="solid"/>
                      <a:round/>
                      <a:headEnd type="none" w="med" len="med"/>
                      <a:tailEnd type="none" w="med" len="med"/>
                    </a:lnB>
                    <a:solidFill>
                      <a:srgbClr val="FFFFFF"/>
                    </a:solidFill>
                  </a:tcPr>
                </a:tc>
                <a:tc>
                  <a:txBody>
                    <a:bodyPr/>
                    <a:lstStyle/>
                    <a:p>
                      <a:pPr marL="0" indent="0" algn="l">
                        <a:buNone/>
                      </a:pPr>
                      <a:r>
                        <a:rPr lang="en-US" sz="1150" dirty="0">
                          <a:solidFill>
                            <a:srgbClr val="000000"/>
                          </a:solidFill>
                          <a:latin typeface="Calibri" pitchFamily="34" charset="0"/>
                          <a:ea typeface="Calibri" pitchFamily="34" charset="-122"/>
                          <a:cs typeface="Calibri" pitchFamily="34" charset="-120"/>
                        </a:rPr>
                        <a:t>OR + 95% CI, Nagelkerke R²</a:t>
                      </a:r>
                      <a:endParaRPr lang="en-US" sz="1150" dirty="0">
                        <a:latin typeface="Calibri" charset="0"/>
                        <a:ea typeface="Calibri" charset="0"/>
                        <a:cs typeface="Calibri" charset="0"/>
                      </a:endParaRPr>
                    </a:p>
                  </a:txBody>
                  <a:tcPr anchor="ctr">
                    <a:lnL w="6350" cap="flat" cmpd="sng" algn="ctr">
                      <a:solidFill>
                        <a:srgbClr val="DDE0F0"/>
                      </a:solidFill>
                      <a:prstDash val="solid"/>
                      <a:round/>
                      <a:headEnd type="none" w="med" len="med"/>
                      <a:tailEnd type="none" w="med" len="med"/>
                    </a:lnL>
                    <a:lnR w="6350" cap="flat" cmpd="sng" algn="ctr">
                      <a:solidFill>
                        <a:srgbClr val="DDE0F0"/>
                      </a:solidFill>
                      <a:prstDash val="solid"/>
                      <a:round/>
                      <a:headEnd type="none" w="med" len="med"/>
                      <a:tailEnd type="none" w="med" len="med"/>
                    </a:lnR>
                    <a:lnT w="6350" cap="flat" cmpd="sng" algn="ctr">
                      <a:solidFill>
                        <a:srgbClr val="DDE0F0"/>
                      </a:solidFill>
                      <a:prstDash val="solid"/>
                      <a:round/>
                      <a:headEnd type="none" w="med" len="med"/>
                      <a:tailEnd type="none" w="med" len="med"/>
                    </a:lnT>
                    <a:lnB w="6350" cap="flat" cmpd="sng" algn="ctr">
                      <a:solidFill>
                        <a:srgbClr val="DDE0F0"/>
                      </a:solidFill>
                      <a:prstDash val="solid"/>
                      <a:round/>
                      <a:headEnd type="none" w="med" len="med"/>
                      <a:tailEnd type="none" w="med" len="med"/>
                    </a:lnB>
                    <a:solidFill>
                      <a:srgbClr val="FFFFFF"/>
                    </a:solidFill>
                  </a:tcPr>
                </a:tc>
                <a:tc>
                  <a:txBody>
                    <a:bodyPr/>
                    <a:lstStyle/>
                    <a:p>
                      <a:pPr marL="0" indent="0" algn="l">
                        <a:buNone/>
                      </a:pPr>
                      <a:r>
                        <a:rPr lang="en-US" sz="1150" dirty="0">
                          <a:solidFill>
                            <a:srgbClr val="000000"/>
                          </a:solidFill>
                          <a:latin typeface="Calibri" pitchFamily="34" charset="0"/>
                          <a:ea typeface="Calibri" pitchFamily="34" charset="-122"/>
                          <a:cs typeface="Calibri" pitchFamily="34" charset="-120"/>
                        </a:rPr>
                        <a:t>η²p per effect; η² per follow-up ANOVA</a:t>
                      </a:r>
                      <a:endParaRPr lang="en-US" sz="1150" dirty="0">
                        <a:latin typeface="Calibri" charset="0"/>
                        <a:ea typeface="Calibri" charset="0"/>
                        <a:cs typeface="Calibri" charset="0"/>
                      </a:endParaRPr>
                    </a:p>
                  </a:txBody>
                  <a:tcPr anchor="ctr">
                    <a:lnL w="6350" cap="flat" cmpd="sng" algn="ctr">
                      <a:solidFill>
                        <a:srgbClr val="DDE0F0"/>
                      </a:solidFill>
                      <a:prstDash val="solid"/>
                      <a:round/>
                      <a:headEnd type="none" w="med" len="med"/>
                      <a:tailEnd type="none" w="med" len="med"/>
                    </a:lnL>
                    <a:lnR w="6350" cap="flat" cmpd="sng" algn="ctr">
                      <a:solidFill>
                        <a:srgbClr val="DDE0F0"/>
                      </a:solidFill>
                      <a:prstDash val="solid"/>
                      <a:round/>
                      <a:headEnd type="none" w="med" len="med"/>
                      <a:tailEnd type="none" w="med" len="med"/>
                    </a:lnR>
                    <a:lnT w="6350" cap="flat" cmpd="sng" algn="ctr">
                      <a:solidFill>
                        <a:srgbClr val="DDE0F0"/>
                      </a:solidFill>
                      <a:prstDash val="solid"/>
                      <a:round/>
                      <a:headEnd type="none" w="med" len="med"/>
                      <a:tailEnd type="none" w="med" len="med"/>
                    </a:lnT>
                    <a:lnB w="6350" cap="flat" cmpd="sng" algn="ctr">
                      <a:solidFill>
                        <a:srgbClr val="DDE0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11480">
                <a:tc>
                  <a:txBody>
                    <a:bodyPr/>
                    <a:lstStyle/>
                    <a:p>
                      <a:pPr marL="0" indent="0" algn="l">
                        <a:buNone/>
                      </a:pPr>
                      <a:r>
                        <a:rPr lang="en-US" sz="1150" dirty="0">
                          <a:solidFill>
                            <a:srgbClr val="000000"/>
                          </a:solidFill>
                          <a:latin typeface="Calibri" pitchFamily="34" charset="0"/>
                          <a:ea typeface="Calibri" pitchFamily="34" charset="-122"/>
                          <a:cs typeface="Calibri" pitchFamily="34" charset="-120"/>
                        </a:rPr>
                        <a:t>Individual effects</a:t>
                      </a:r>
                      <a:endParaRPr lang="en-US" sz="1150" dirty="0">
                        <a:latin typeface="Calibri" charset="0"/>
                        <a:ea typeface="Calibri" charset="0"/>
                        <a:cs typeface="Calibri" charset="0"/>
                      </a:endParaRPr>
                    </a:p>
                  </a:txBody>
                  <a:tcPr anchor="ctr">
                    <a:lnL w="6350" cap="flat" cmpd="sng" algn="ctr">
                      <a:solidFill>
                        <a:srgbClr val="DDE0F0"/>
                      </a:solidFill>
                      <a:prstDash val="solid"/>
                      <a:round/>
                      <a:headEnd type="none" w="med" len="med"/>
                      <a:tailEnd type="none" w="med" len="med"/>
                    </a:lnL>
                    <a:lnR w="6350" cap="flat" cmpd="sng" algn="ctr">
                      <a:solidFill>
                        <a:srgbClr val="DDE0F0"/>
                      </a:solidFill>
                      <a:prstDash val="solid"/>
                      <a:round/>
                      <a:headEnd type="none" w="med" len="med"/>
                      <a:tailEnd type="none" w="med" len="med"/>
                    </a:lnR>
                    <a:lnT w="6350" cap="flat" cmpd="sng" algn="ctr">
                      <a:solidFill>
                        <a:srgbClr val="DDE0F0"/>
                      </a:solidFill>
                      <a:prstDash val="solid"/>
                      <a:round/>
                      <a:headEnd type="none" w="med" len="med"/>
                      <a:tailEnd type="none" w="med" len="med"/>
                    </a:lnT>
                    <a:lnB w="6350" cap="flat" cmpd="sng" algn="ctr">
                      <a:solidFill>
                        <a:srgbClr val="DDE0F0"/>
                      </a:solidFill>
                      <a:prstDash val="solid"/>
                      <a:round/>
                      <a:headEnd type="none" w="med" len="med"/>
                      <a:tailEnd type="none" w="med" len="med"/>
                    </a:lnB>
                    <a:solidFill>
                      <a:srgbClr val="FFFFFF"/>
                    </a:solidFill>
                  </a:tcPr>
                </a:tc>
                <a:tc>
                  <a:txBody>
                    <a:bodyPr/>
                    <a:lstStyle/>
                    <a:p>
                      <a:pPr marL="0" indent="0" algn="l">
                        <a:buNone/>
                      </a:pPr>
                      <a:r>
                        <a:rPr lang="en-US" sz="1150" dirty="0">
                          <a:solidFill>
                            <a:srgbClr val="000000"/>
                          </a:solidFill>
                          <a:latin typeface="Calibri" pitchFamily="34" charset="0"/>
                          <a:ea typeface="Calibri" pitchFamily="34" charset="-122"/>
                          <a:cs typeface="Calibri" pitchFamily="34" charset="-120"/>
                        </a:rPr>
                        <a:t>B, SE, Wald χ², p, 95% CI</a:t>
                      </a:r>
                      <a:endParaRPr lang="en-US" sz="1150" dirty="0">
                        <a:latin typeface="Calibri" charset="0"/>
                        <a:ea typeface="Calibri" charset="0"/>
                        <a:cs typeface="Calibri" charset="0"/>
                      </a:endParaRPr>
                    </a:p>
                  </a:txBody>
                  <a:tcPr anchor="ctr">
                    <a:lnL w="6350" cap="flat" cmpd="sng" algn="ctr">
                      <a:solidFill>
                        <a:srgbClr val="DDE0F0"/>
                      </a:solidFill>
                      <a:prstDash val="solid"/>
                      <a:round/>
                      <a:headEnd type="none" w="med" len="med"/>
                      <a:tailEnd type="none" w="med" len="med"/>
                    </a:lnL>
                    <a:lnR w="6350" cap="flat" cmpd="sng" algn="ctr">
                      <a:solidFill>
                        <a:srgbClr val="DDE0F0"/>
                      </a:solidFill>
                      <a:prstDash val="solid"/>
                      <a:round/>
                      <a:headEnd type="none" w="med" len="med"/>
                      <a:tailEnd type="none" w="med" len="med"/>
                    </a:lnR>
                    <a:lnT w="6350" cap="flat" cmpd="sng" algn="ctr">
                      <a:solidFill>
                        <a:srgbClr val="DDE0F0"/>
                      </a:solidFill>
                      <a:prstDash val="solid"/>
                      <a:round/>
                      <a:headEnd type="none" w="med" len="med"/>
                      <a:tailEnd type="none" w="med" len="med"/>
                    </a:lnT>
                    <a:lnB w="6350" cap="flat" cmpd="sng" algn="ctr">
                      <a:solidFill>
                        <a:srgbClr val="DDE0F0"/>
                      </a:solidFill>
                      <a:prstDash val="solid"/>
                      <a:round/>
                      <a:headEnd type="none" w="med" len="med"/>
                      <a:tailEnd type="none" w="med" len="med"/>
                    </a:lnB>
                    <a:solidFill>
                      <a:srgbClr val="FFFFFF"/>
                    </a:solidFill>
                  </a:tcPr>
                </a:tc>
                <a:tc>
                  <a:txBody>
                    <a:bodyPr/>
                    <a:lstStyle/>
                    <a:p>
                      <a:pPr marL="0" indent="0" algn="l">
                        <a:buNone/>
                      </a:pPr>
                      <a:r>
                        <a:rPr lang="en-US" sz="1150" dirty="0">
                          <a:solidFill>
                            <a:srgbClr val="000000"/>
                          </a:solidFill>
                          <a:latin typeface="Calibri" pitchFamily="34" charset="0"/>
                          <a:ea typeface="Calibri" pitchFamily="34" charset="-122"/>
                          <a:cs typeface="Calibri" pitchFamily="34" charset="-120"/>
                        </a:rPr>
                        <a:t>F, df, p, η²p per DV in follow-up</a:t>
                      </a:r>
                      <a:endParaRPr lang="en-US" sz="1150" dirty="0">
                        <a:latin typeface="Calibri" charset="0"/>
                        <a:ea typeface="Calibri" charset="0"/>
                        <a:cs typeface="Calibri" charset="0"/>
                      </a:endParaRPr>
                    </a:p>
                  </a:txBody>
                  <a:tcPr anchor="ctr">
                    <a:lnL w="6350" cap="flat" cmpd="sng" algn="ctr">
                      <a:solidFill>
                        <a:srgbClr val="DDE0F0"/>
                      </a:solidFill>
                      <a:prstDash val="solid"/>
                      <a:round/>
                      <a:headEnd type="none" w="med" len="med"/>
                      <a:tailEnd type="none" w="med" len="med"/>
                    </a:lnL>
                    <a:lnR w="6350" cap="flat" cmpd="sng" algn="ctr">
                      <a:solidFill>
                        <a:srgbClr val="DDE0F0"/>
                      </a:solidFill>
                      <a:prstDash val="solid"/>
                      <a:round/>
                      <a:headEnd type="none" w="med" len="med"/>
                      <a:tailEnd type="none" w="med" len="med"/>
                    </a:lnR>
                    <a:lnT w="6350" cap="flat" cmpd="sng" algn="ctr">
                      <a:solidFill>
                        <a:srgbClr val="DDE0F0"/>
                      </a:solidFill>
                      <a:prstDash val="solid"/>
                      <a:round/>
                      <a:headEnd type="none" w="med" len="med"/>
                      <a:tailEnd type="none" w="med" len="med"/>
                    </a:lnT>
                    <a:lnB w="6350" cap="flat" cmpd="sng" algn="ctr">
                      <a:solidFill>
                        <a:srgbClr val="DDE0F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11480">
                <a:tc>
                  <a:txBody>
                    <a:bodyPr/>
                    <a:lstStyle/>
                    <a:p>
                      <a:pPr marL="0" indent="0" algn="l">
                        <a:buNone/>
                      </a:pPr>
                      <a:r>
                        <a:rPr lang="en-US" sz="1150" dirty="0">
                          <a:solidFill>
                            <a:srgbClr val="000000"/>
                          </a:solidFill>
                          <a:latin typeface="Calibri" pitchFamily="34" charset="0"/>
                          <a:ea typeface="Calibri" pitchFamily="34" charset="-122"/>
                          <a:cs typeface="Calibri" pitchFamily="34" charset="-120"/>
                        </a:rPr>
                        <a:t>Power</a:t>
                      </a:r>
                      <a:endParaRPr lang="en-US" sz="1150" dirty="0">
                        <a:latin typeface="Calibri" charset="0"/>
                        <a:ea typeface="Calibri" charset="0"/>
                        <a:cs typeface="Calibri" charset="0"/>
                      </a:endParaRPr>
                    </a:p>
                  </a:txBody>
                  <a:tcPr anchor="ctr">
                    <a:lnL w="6350" cap="flat" cmpd="sng" algn="ctr">
                      <a:solidFill>
                        <a:srgbClr val="DDE0F0"/>
                      </a:solidFill>
                      <a:prstDash val="solid"/>
                      <a:round/>
                      <a:headEnd type="none" w="med" len="med"/>
                      <a:tailEnd type="none" w="med" len="med"/>
                    </a:lnL>
                    <a:lnR w="6350" cap="flat" cmpd="sng" algn="ctr">
                      <a:solidFill>
                        <a:srgbClr val="DDE0F0"/>
                      </a:solidFill>
                      <a:prstDash val="solid"/>
                      <a:round/>
                      <a:headEnd type="none" w="med" len="med"/>
                      <a:tailEnd type="none" w="med" len="med"/>
                    </a:lnR>
                    <a:lnT w="6350" cap="flat" cmpd="sng" algn="ctr">
                      <a:solidFill>
                        <a:srgbClr val="DDE0F0"/>
                      </a:solidFill>
                      <a:prstDash val="solid"/>
                      <a:round/>
                      <a:headEnd type="none" w="med" len="med"/>
                      <a:tailEnd type="none" w="med" len="med"/>
                    </a:lnT>
                    <a:lnB w="6350" cap="flat" cmpd="sng" algn="ctr">
                      <a:solidFill>
                        <a:srgbClr val="DDE0F0"/>
                      </a:solidFill>
                      <a:prstDash val="solid"/>
                      <a:round/>
                      <a:headEnd type="none" w="med" len="med"/>
                      <a:tailEnd type="none" w="med" len="med"/>
                    </a:lnB>
                    <a:solidFill>
                      <a:srgbClr val="FFFFFF"/>
                    </a:solidFill>
                  </a:tcPr>
                </a:tc>
                <a:tc>
                  <a:txBody>
                    <a:bodyPr/>
                    <a:lstStyle/>
                    <a:p>
                      <a:pPr marL="0" indent="0" algn="l">
                        <a:buNone/>
                      </a:pPr>
                      <a:r>
                        <a:rPr lang="en-US" sz="1150" dirty="0">
                          <a:solidFill>
                            <a:srgbClr val="000000"/>
                          </a:solidFill>
                          <a:latin typeface="Calibri" pitchFamily="34" charset="0"/>
                          <a:ea typeface="Calibri" pitchFamily="34" charset="-122"/>
                          <a:cs typeface="Calibri" pitchFamily="34" charset="-120"/>
                        </a:rPr>
                        <a:t>A priori or post-hoc (G*Power)</a:t>
                      </a:r>
                      <a:endParaRPr lang="en-US" sz="1150" dirty="0">
                        <a:latin typeface="Calibri" charset="0"/>
                        <a:ea typeface="Calibri" charset="0"/>
                        <a:cs typeface="Calibri" charset="0"/>
                      </a:endParaRPr>
                    </a:p>
                  </a:txBody>
                  <a:tcPr anchor="ctr">
                    <a:lnL w="6350" cap="flat" cmpd="sng" algn="ctr">
                      <a:solidFill>
                        <a:srgbClr val="DDE0F0"/>
                      </a:solidFill>
                      <a:prstDash val="solid"/>
                      <a:round/>
                      <a:headEnd type="none" w="med" len="med"/>
                      <a:tailEnd type="none" w="med" len="med"/>
                    </a:lnL>
                    <a:lnR w="6350" cap="flat" cmpd="sng" algn="ctr">
                      <a:solidFill>
                        <a:srgbClr val="DDE0F0"/>
                      </a:solidFill>
                      <a:prstDash val="solid"/>
                      <a:round/>
                      <a:headEnd type="none" w="med" len="med"/>
                      <a:tailEnd type="none" w="med" len="med"/>
                    </a:lnR>
                    <a:lnT w="6350" cap="flat" cmpd="sng" algn="ctr">
                      <a:solidFill>
                        <a:srgbClr val="DDE0F0"/>
                      </a:solidFill>
                      <a:prstDash val="solid"/>
                      <a:round/>
                      <a:headEnd type="none" w="med" len="med"/>
                      <a:tailEnd type="none" w="med" len="med"/>
                    </a:lnT>
                    <a:lnB w="6350" cap="flat" cmpd="sng" algn="ctr">
                      <a:solidFill>
                        <a:srgbClr val="DDE0F0"/>
                      </a:solidFill>
                      <a:prstDash val="solid"/>
                      <a:round/>
                      <a:headEnd type="none" w="med" len="med"/>
                      <a:tailEnd type="none" w="med" len="med"/>
                    </a:lnB>
                    <a:solidFill>
                      <a:srgbClr val="FFFFFF"/>
                    </a:solidFill>
                  </a:tcPr>
                </a:tc>
                <a:tc>
                  <a:txBody>
                    <a:bodyPr/>
                    <a:lstStyle/>
                    <a:p>
                      <a:pPr marL="0" indent="0" algn="l">
                        <a:buNone/>
                      </a:pPr>
                      <a:r>
                        <a:rPr lang="en-US" sz="1150" dirty="0">
                          <a:solidFill>
                            <a:srgbClr val="000000"/>
                          </a:solidFill>
                          <a:latin typeface="Calibri" pitchFamily="34" charset="0"/>
                          <a:ea typeface="Calibri" pitchFamily="34" charset="-122"/>
                          <a:cs typeface="Calibri" pitchFamily="34" charset="-120"/>
                        </a:rPr>
                        <a:t>A priori or post-hoc (G*Power)</a:t>
                      </a:r>
                      <a:endParaRPr lang="en-US" sz="1150" dirty="0">
                        <a:latin typeface="Calibri" charset="0"/>
                        <a:ea typeface="Calibri" charset="0"/>
                        <a:cs typeface="Calibri" charset="0"/>
                      </a:endParaRPr>
                    </a:p>
                  </a:txBody>
                  <a:tcPr anchor="ctr">
                    <a:lnL w="6350" cap="flat" cmpd="sng" algn="ctr">
                      <a:solidFill>
                        <a:srgbClr val="DDE0F0"/>
                      </a:solidFill>
                      <a:prstDash val="solid"/>
                      <a:round/>
                      <a:headEnd type="none" w="med" len="med"/>
                      <a:tailEnd type="none" w="med" len="med"/>
                    </a:lnL>
                    <a:lnR w="6350" cap="flat" cmpd="sng" algn="ctr">
                      <a:solidFill>
                        <a:srgbClr val="DDE0F0"/>
                      </a:solidFill>
                      <a:prstDash val="solid"/>
                      <a:round/>
                      <a:headEnd type="none" w="med" len="med"/>
                      <a:tailEnd type="none" w="med" len="med"/>
                    </a:lnR>
                    <a:lnT w="6350" cap="flat" cmpd="sng" algn="ctr">
                      <a:solidFill>
                        <a:srgbClr val="DDE0F0"/>
                      </a:solidFill>
                      <a:prstDash val="solid"/>
                      <a:round/>
                      <a:headEnd type="none" w="med" len="med"/>
                      <a:tailEnd type="none" w="med" len="med"/>
                    </a:lnT>
                    <a:lnB w="6350" cap="flat" cmpd="sng" algn="ctr">
                      <a:solidFill>
                        <a:srgbClr val="DDE0F0"/>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411480">
                <a:tc>
                  <a:txBody>
                    <a:bodyPr/>
                    <a:lstStyle/>
                    <a:p>
                      <a:pPr marL="0" indent="0" algn="l">
                        <a:buNone/>
                      </a:pPr>
                      <a:r>
                        <a:rPr lang="en-US" sz="1150" dirty="0">
                          <a:solidFill>
                            <a:srgbClr val="000000"/>
                          </a:solidFill>
                          <a:latin typeface="Calibri" pitchFamily="34" charset="0"/>
                          <a:ea typeface="Calibri" pitchFamily="34" charset="-122"/>
                          <a:cs typeface="Calibri" pitchFamily="34" charset="-120"/>
                        </a:rPr>
                        <a:t>Sensitivity analysis</a:t>
                      </a:r>
                      <a:endParaRPr lang="en-US" sz="1150" dirty="0">
                        <a:latin typeface="Calibri" charset="0"/>
                        <a:ea typeface="Calibri" charset="0"/>
                        <a:cs typeface="Calibri" charset="0"/>
                      </a:endParaRPr>
                    </a:p>
                  </a:txBody>
                  <a:tcPr anchor="ctr">
                    <a:lnL w="6350" cap="flat" cmpd="sng" algn="ctr">
                      <a:solidFill>
                        <a:srgbClr val="DDE0F0"/>
                      </a:solidFill>
                      <a:prstDash val="solid"/>
                      <a:round/>
                      <a:headEnd type="none" w="med" len="med"/>
                      <a:tailEnd type="none" w="med" len="med"/>
                    </a:lnL>
                    <a:lnR w="6350" cap="flat" cmpd="sng" algn="ctr">
                      <a:solidFill>
                        <a:srgbClr val="DDE0F0"/>
                      </a:solidFill>
                      <a:prstDash val="solid"/>
                      <a:round/>
                      <a:headEnd type="none" w="med" len="med"/>
                      <a:tailEnd type="none" w="med" len="med"/>
                    </a:lnR>
                    <a:lnT w="6350" cap="flat" cmpd="sng" algn="ctr">
                      <a:solidFill>
                        <a:srgbClr val="DDE0F0"/>
                      </a:solidFill>
                      <a:prstDash val="solid"/>
                      <a:round/>
                      <a:headEnd type="none" w="med" len="med"/>
                      <a:tailEnd type="none" w="med" len="med"/>
                    </a:lnT>
                    <a:lnB w="6350" cap="flat" cmpd="sng" algn="ctr">
                      <a:solidFill>
                        <a:srgbClr val="DDE0F0"/>
                      </a:solidFill>
                      <a:prstDash val="solid"/>
                      <a:round/>
                      <a:headEnd type="none" w="med" len="med"/>
                      <a:tailEnd type="none" w="med" len="med"/>
                    </a:lnB>
                    <a:solidFill>
                      <a:srgbClr val="FFFFFF"/>
                    </a:solidFill>
                  </a:tcPr>
                </a:tc>
                <a:tc>
                  <a:txBody>
                    <a:bodyPr/>
                    <a:lstStyle/>
                    <a:p>
                      <a:pPr marL="0" indent="0" algn="l">
                        <a:buNone/>
                      </a:pPr>
                      <a:r>
                        <a:rPr lang="en-US" sz="1150" dirty="0">
                          <a:solidFill>
                            <a:srgbClr val="000000"/>
                          </a:solidFill>
                          <a:latin typeface="Calibri" pitchFamily="34" charset="0"/>
                          <a:ea typeface="Calibri" pitchFamily="34" charset="-122"/>
                          <a:cs typeface="Calibri" pitchFamily="34" charset="-120"/>
                        </a:rPr>
                        <a:t>Results with/without outliers</a:t>
                      </a:r>
                      <a:endParaRPr lang="en-US" sz="1150" dirty="0">
                        <a:latin typeface="Calibri" charset="0"/>
                        <a:ea typeface="Calibri" charset="0"/>
                        <a:cs typeface="Calibri" charset="0"/>
                      </a:endParaRPr>
                    </a:p>
                  </a:txBody>
                  <a:tcPr anchor="ctr">
                    <a:lnL w="6350" cap="flat" cmpd="sng" algn="ctr">
                      <a:solidFill>
                        <a:srgbClr val="DDE0F0"/>
                      </a:solidFill>
                      <a:prstDash val="solid"/>
                      <a:round/>
                      <a:headEnd type="none" w="med" len="med"/>
                      <a:tailEnd type="none" w="med" len="med"/>
                    </a:lnL>
                    <a:lnR w="6350" cap="flat" cmpd="sng" algn="ctr">
                      <a:solidFill>
                        <a:srgbClr val="DDE0F0"/>
                      </a:solidFill>
                      <a:prstDash val="solid"/>
                      <a:round/>
                      <a:headEnd type="none" w="med" len="med"/>
                      <a:tailEnd type="none" w="med" len="med"/>
                    </a:lnR>
                    <a:lnT w="6350" cap="flat" cmpd="sng" algn="ctr">
                      <a:solidFill>
                        <a:srgbClr val="DDE0F0"/>
                      </a:solidFill>
                      <a:prstDash val="solid"/>
                      <a:round/>
                      <a:headEnd type="none" w="med" len="med"/>
                      <a:tailEnd type="none" w="med" len="med"/>
                    </a:lnT>
                    <a:lnB w="6350" cap="flat" cmpd="sng" algn="ctr">
                      <a:solidFill>
                        <a:srgbClr val="DDE0F0"/>
                      </a:solidFill>
                      <a:prstDash val="solid"/>
                      <a:round/>
                      <a:headEnd type="none" w="med" len="med"/>
                      <a:tailEnd type="none" w="med" len="med"/>
                    </a:lnB>
                    <a:solidFill>
                      <a:srgbClr val="FFFFFF"/>
                    </a:solidFill>
                  </a:tcPr>
                </a:tc>
                <a:tc>
                  <a:txBody>
                    <a:bodyPr/>
                    <a:lstStyle/>
                    <a:p>
                      <a:pPr marL="0" indent="0" algn="l">
                        <a:buNone/>
                      </a:pPr>
                      <a:r>
                        <a:rPr lang="en-US" sz="1150" dirty="0">
                          <a:solidFill>
                            <a:srgbClr val="000000"/>
                          </a:solidFill>
                          <a:latin typeface="Calibri" pitchFamily="34" charset="0"/>
                          <a:ea typeface="Calibri" pitchFamily="34" charset="-122"/>
                          <a:cs typeface="Calibri" pitchFamily="34" charset="-120"/>
                        </a:rPr>
                        <a:t>Results with Wilks' Λ; outlier sensitivity</a:t>
                      </a:r>
                      <a:endParaRPr lang="en-US" sz="1150" dirty="0">
                        <a:latin typeface="Calibri" charset="0"/>
                        <a:ea typeface="Calibri" charset="0"/>
                        <a:cs typeface="Calibri" charset="0"/>
                      </a:endParaRPr>
                    </a:p>
                  </a:txBody>
                  <a:tcPr anchor="ctr">
                    <a:lnL w="6350" cap="flat" cmpd="sng" algn="ctr">
                      <a:solidFill>
                        <a:srgbClr val="DDE0F0"/>
                      </a:solidFill>
                      <a:prstDash val="solid"/>
                      <a:round/>
                      <a:headEnd type="none" w="med" len="med"/>
                      <a:tailEnd type="none" w="med" len="med"/>
                    </a:lnL>
                    <a:lnR w="6350" cap="flat" cmpd="sng" algn="ctr">
                      <a:solidFill>
                        <a:srgbClr val="DDE0F0"/>
                      </a:solidFill>
                      <a:prstDash val="solid"/>
                      <a:round/>
                      <a:headEnd type="none" w="med" len="med"/>
                      <a:tailEnd type="none" w="med" len="med"/>
                    </a:lnR>
                    <a:lnT w="6350" cap="flat" cmpd="sng" algn="ctr">
                      <a:solidFill>
                        <a:srgbClr val="DDE0F0"/>
                      </a:solidFill>
                      <a:prstDash val="solid"/>
                      <a:round/>
                      <a:headEnd type="none" w="med" len="med"/>
                      <a:tailEnd type="none" w="med" len="med"/>
                    </a:lnT>
                    <a:lnB w="6350" cap="flat" cmpd="sng" algn="ctr">
                      <a:solidFill>
                        <a:srgbClr val="DDE0F0"/>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26">
    <p:bg>
      <p:bgPr>
        <a:solidFill>
          <a:srgbClr val="023E5C"/>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2C39A"/>
          </a:solidFill>
          <a:ln/>
        </p:spPr>
        <p:txBody>
          <a:bodyPr/>
          <a:lstStyle/>
          <a:p>
            <a:endParaRPr lang="en-US"/>
          </a:p>
        </p:txBody>
      </p:sp>
      <p:sp>
        <p:nvSpPr>
          <p:cNvPr id="3" name="Shape 1"/>
          <p:cNvSpPr/>
          <p:nvPr/>
        </p:nvSpPr>
        <p:spPr>
          <a:xfrm>
            <a:off x="5943600" y="2286000"/>
            <a:ext cx="3657600" cy="3657600"/>
          </a:xfrm>
          <a:prstGeom prst="ellipse">
            <a:avLst/>
          </a:prstGeom>
          <a:solidFill>
            <a:srgbClr val="028090">
              <a:alpha val="25000"/>
            </a:srgbClr>
          </a:solidFill>
          <a:ln w="12700">
            <a:solidFill>
              <a:srgbClr val="028090">
                <a:alpha val="25000"/>
              </a:srgbClr>
            </a:solidFill>
            <a:prstDash val="solid"/>
          </a:ln>
        </p:spPr>
        <p:txBody>
          <a:bodyPr/>
          <a:lstStyle/>
          <a:p>
            <a:endParaRPr lang="en-US"/>
          </a:p>
        </p:txBody>
      </p:sp>
      <p:sp>
        <p:nvSpPr>
          <p:cNvPr id="4" name="Shape 2"/>
          <p:cNvSpPr/>
          <p:nvPr/>
        </p:nvSpPr>
        <p:spPr>
          <a:xfrm>
            <a:off x="-457200" y="-457200"/>
            <a:ext cx="2743200" cy="2743200"/>
          </a:xfrm>
          <a:prstGeom prst="ellipse">
            <a:avLst/>
          </a:prstGeom>
          <a:solidFill>
            <a:srgbClr val="00A896">
              <a:alpha val="20000"/>
            </a:srgbClr>
          </a:solidFill>
          <a:ln w="12700">
            <a:solidFill>
              <a:srgbClr val="00A896">
                <a:alpha val="20000"/>
              </a:srgbClr>
            </a:solidFill>
            <a:prstDash val="solid"/>
          </a:ln>
        </p:spPr>
        <p:txBody>
          <a:bodyPr/>
          <a:lstStyle/>
          <a:p>
            <a:endParaRPr lang="en-US"/>
          </a:p>
        </p:txBody>
      </p:sp>
      <p:sp>
        <p:nvSpPr>
          <p:cNvPr id="5" name="Text 3"/>
          <p:cNvSpPr/>
          <p:nvPr/>
        </p:nvSpPr>
        <p:spPr>
          <a:xfrm>
            <a:off x="365760" y="731520"/>
            <a:ext cx="8229600" cy="822960"/>
          </a:xfrm>
          <a:prstGeom prst="rect">
            <a:avLst/>
          </a:prstGeom>
          <a:noFill/>
          <a:ln/>
        </p:spPr>
        <p:txBody>
          <a:bodyPr wrap="square" rtlCol="0" anchor="ctr"/>
          <a:lstStyle/>
          <a:p>
            <a:pPr marL="0" indent="0" algn="ctr">
              <a:buNone/>
            </a:pPr>
            <a:r>
              <a:rPr lang="en-US" sz="3200" b="1" dirty="0">
                <a:solidFill>
                  <a:srgbClr val="FFFFFF"/>
                </a:solidFill>
                <a:latin typeface="Georgia" pitchFamily="34" charset="0"/>
                <a:ea typeface="Georgia" pitchFamily="34" charset="-122"/>
                <a:cs typeface="Georgia" pitchFamily="34" charset="-120"/>
              </a:rPr>
              <a:t>Questions &amp; Discussion</a:t>
            </a:r>
            <a:endParaRPr lang="en-US" sz="3200" dirty="0"/>
          </a:p>
        </p:txBody>
      </p:sp>
      <p:sp>
        <p:nvSpPr>
          <p:cNvPr id="6" name="Text 4"/>
          <p:cNvSpPr/>
          <p:nvPr/>
        </p:nvSpPr>
        <p:spPr>
          <a:xfrm>
            <a:off x="457200" y="1691640"/>
            <a:ext cx="7772400" cy="411480"/>
          </a:xfrm>
          <a:prstGeom prst="rect">
            <a:avLst/>
          </a:prstGeom>
          <a:noFill/>
          <a:ln/>
        </p:spPr>
        <p:txBody>
          <a:bodyPr wrap="square" rtlCol="0" anchor="ctr"/>
          <a:lstStyle/>
          <a:p>
            <a:pPr marL="0" indent="0" algn="ctr">
              <a:buNone/>
            </a:pPr>
            <a:r>
              <a:rPr lang="en-US" sz="1400" b="1" dirty="0">
                <a:solidFill>
                  <a:srgbClr val="02C39A"/>
                </a:solidFill>
                <a:latin typeface="Calibri" pitchFamily="34" charset="0"/>
                <a:ea typeface="Calibri" pitchFamily="34" charset="-122"/>
                <a:cs typeface="Calibri" pitchFamily="34" charset="-120"/>
              </a:rPr>
              <a:t>Recommended Resources</a:t>
            </a:r>
            <a:endParaRPr lang="en-US" sz="1400" dirty="0"/>
          </a:p>
        </p:txBody>
      </p:sp>
      <p:sp>
        <p:nvSpPr>
          <p:cNvPr id="7" name="Text 5"/>
          <p:cNvSpPr/>
          <p:nvPr/>
        </p:nvSpPr>
        <p:spPr>
          <a:xfrm>
            <a:off x="457200" y="2194560"/>
            <a:ext cx="8229600" cy="438912"/>
          </a:xfrm>
          <a:prstGeom prst="rect">
            <a:avLst/>
          </a:prstGeom>
          <a:noFill/>
          <a:ln/>
        </p:spPr>
        <p:txBody>
          <a:bodyPr wrap="square" rtlCol="0" anchor="ctr"/>
          <a:lstStyle/>
          <a:p>
            <a:pPr marL="0" indent="0">
              <a:buNone/>
            </a:pPr>
            <a:r>
              <a:rPr lang="en-US" sz="1200" dirty="0">
                <a:solidFill>
                  <a:srgbClr val="E8F4F5"/>
                </a:solidFill>
                <a:latin typeface="Calibri" pitchFamily="34" charset="0"/>
                <a:ea typeface="Calibri" pitchFamily="34" charset="-122"/>
                <a:cs typeface="Calibri" pitchFamily="34" charset="-120"/>
              </a:rPr>
              <a:t>• Vittinghoff E et al. Regression Methods in Biostatistics (2nd ed.)</a:t>
            </a:r>
            <a:endParaRPr lang="en-US" sz="1200" dirty="0"/>
          </a:p>
        </p:txBody>
      </p:sp>
      <p:sp>
        <p:nvSpPr>
          <p:cNvPr id="8" name="Text 6"/>
          <p:cNvSpPr/>
          <p:nvPr/>
        </p:nvSpPr>
        <p:spPr>
          <a:xfrm>
            <a:off x="457200" y="2670048"/>
            <a:ext cx="8229600" cy="438912"/>
          </a:xfrm>
          <a:prstGeom prst="rect">
            <a:avLst/>
          </a:prstGeom>
          <a:noFill/>
          <a:ln/>
        </p:spPr>
        <p:txBody>
          <a:bodyPr wrap="square" rtlCol="0" anchor="ctr"/>
          <a:lstStyle/>
          <a:p>
            <a:pPr marL="0" indent="0">
              <a:buNone/>
            </a:pPr>
            <a:r>
              <a:rPr lang="en-US" sz="1200" dirty="0">
                <a:solidFill>
                  <a:srgbClr val="E8F4F5"/>
                </a:solidFill>
                <a:latin typeface="Calibri" pitchFamily="34" charset="0"/>
                <a:ea typeface="Calibri" pitchFamily="34" charset="-122"/>
                <a:cs typeface="Calibri" pitchFamily="34" charset="-120"/>
              </a:rPr>
              <a:t>• Hosmer DW &amp; Lemeshow S. Applied Logistic Regression (3rd ed.)</a:t>
            </a:r>
            <a:endParaRPr lang="en-US" sz="1200" dirty="0"/>
          </a:p>
        </p:txBody>
      </p:sp>
      <p:sp>
        <p:nvSpPr>
          <p:cNvPr id="9" name="Text 7"/>
          <p:cNvSpPr/>
          <p:nvPr/>
        </p:nvSpPr>
        <p:spPr>
          <a:xfrm>
            <a:off x="457200" y="3145536"/>
            <a:ext cx="8229600" cy="438912"/>
          </a:xfrm>
          <a:prstGeom prst="rect">
            <a:avLst/>
          </a:prstGeom>
          <a:noFill/>
          <a:ln/>
        </p:spPr>
        <p:txBody>
          <a:bodyPr wrap="square" rtlCol="0" anchor="ctr"/>
          <a:lstStyle/>
          <a:p>
            <a:pPr marL="0" indent="0">
              <a:buNone/>
            </a:pPr>
            <a:r>
              <a:rPr lang="en-US" sz="1200" dirty="0">
                <a:solidFill>
                  <a:srgbClr val="E8F4F5"/>
                </a:solidFill>
                <a:latin typeface="Calibri" pitchFamily="34" charset="0"/>
                <a:ea typeface="Calibri" pitchFamily="34" charset="-122"/>
                <a:cs typeface="Calibri" pitchFamily="34" charset="-120"/>
              </a:rPr>
              <a:t>• Greenland S et al. Statistical tests, P values, confidence intervals. Eur J Epidemiol 2016</a:t>
            </a:r>
            <a:endParaRPr lang="en-US" sz="1200" dirty="0"/>
          </a:p>
        </p:txBody>
      </p:sp>
      <p:sp>
        <p:nvSpPr>
          <p:cNvPr id="10" name="Text 8"/>
          <p:cNvSpPr/>
          <p:nvPr/>
        </p:nvSpPr>
        <p:spPr>
          <a:xfrm>
            <a:off x="457200" y="3621024"/>
            <a:ext cx="8229600" cy="438912"/>
          </a:xfrm>
          <a:prstGeom prst="rect">
            <a:avLst/>
          </a:prstGeom>
          <a:noFill/>
          <a:ln/>
        </p:spPr>
        <p:txBody>
          <a:bodyPr wrap="square" rtlCol="0" anchor="ctr"/>
          <a:lstStyle/>
          <a:p>
            <a:pPr marL="0" indent="0">
              <a:buNone/>
            </a:pPr>
            <a:r>
              <a:rPr lang="en-US" sz="1200" dirty="0">
                <a:solidFill>
                  <a:srgbClr val="E8F4F5"/>
                </a:solidFill>
                <a:latin typeface="Calibri" pitchFamily="34" charset="0"/>
                <a:ea typeface="Calibri" pitchFamily="34" charset="-122"/>
                <a:cs typeface="Calibri" pitchFamily="34" charset="-120"/>
              </a:rPr>
              <a:t>• DAGitty: dagitty.net — Draw and analyze causal diagrams online</a:t>
            </a:r>
            <a:endParaRPr lang="en-US" sz="1200" dirty="0"/>
          </a:p>
        </p:txBody>
      </p:sp>
      <p:sp>
        <p:nvSpPr>
          <p:cNvPr id="11" name="Text 9"/>
          <p:cNvSpPr/>
          <p:nvPr/>
        </p:nvSpPr>
        <p:spPr>
          <a:xfrm>
            <a:off x="457200" y="4096512"/>
            <a:ext cx="8229600" cy="438912"/>
          </a:xfrm>
          <a:prstGeom prst="rect">
            <a:avLst/>
          </a:prstGeom>
          <a:noFill/>
          <a:ln/>
        </p:spPr>
        <p:txBody>
          <a:bodyPr wrap="square" rtlCol="0" anchor="ctr"/>
          <a:lstStyle/>
          <a:p>
            <a:pPr marL="0" indent="0">
              <a:buNone/>
            </a:pPr>
            <a:r>
              <a:rPr lang="en-US" sz="1200" dirty="0">
                <a:solidFill>
                  <a:srgbClr val="E8F4F5"/>
                </a:solidFill>
                <a:latin typeface="Calibri" pitchFamily="34" charset="0"/>
                <a:ea typeface="Calibri" pitchFamily="34" charset="-122"/>
                <a:cs typeface="Calibri" pitchFamily="34" charset="-120"/>
              </a:rPr>
              <a:t>• Kelley DL. STROBE Checklist — strengthening observational research reporting</a:t>
            </a:r>
            <a:endParaRPr lang="en-US" sz="1200" dirty="0"/>
          </a:p>
        </p:txBody>
      </p:sp>
      <p:sp>
        <p:nvSpPr>
          <p:cNvPr id="12" name="Text 10"/>
          <p:cNvSpPr/>
          <p:nvPr/>
        </p:nvSpPr>
        <p:spPr>
          <a:xfrm>
            <a:off x="274320" y="4754880"/>
            <a:ext cx="8595360" cy="274320"/>
          </a:xfrm>
          <a:prstGeom prst="rect">
            <a:avLst/>
          </a:prstGeom>
          <a:noFill/>
          <a:ln/>
        </p:spPr>
        <p:txBody>
          <a:bodyPr wrap="square" rtlCol="0" anchor="ctr"/>
          <a:lstStyle/>
          <a:p>
            <a:pPr marL="0" indent="0" algn="ctr">
              <a:buNone/>
            </a:pPr>
            <a:r>
              <a:rPr lang="en-US" sz="1100" i="1" dirty="0">
                <a:solidFill>
                  <a:srgbClr val="7BA7B0"/>
                </a:solidFill>
                <a:latin typeface="Calibri" pitchFamily="34" charset="0"/>
                <a:ea typeface="Calibri" pitchFamily="34" charset="-122"/>
                <a:cs typeface="Calibri" pitchFamily="34" charset="-120"/>
              </a:rPr>
              <a:t>Master of Public Health Program  •  Introduction to Multivariable Analysis</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312</TotalTime>
  <Words>9389</Words>
  <Application>Microsoft Macintosh PowerPoint</Application>
  <PresentationFormat>On-screen Show (16:9)</PresentationFormat>
  <Paragraphs>1349</Paragraphs>
  <Slides>83</Slides>
  <Notes>83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83</vt:i4>
      </vt:variant>
    </vt:vector>
  </HeadingPairs>
  <TitlesOfParts>
    <vt:vector size="88" baseType="lpstr">
      <vt:lpstr>Arial</vt:lpstr>
      <vt:lpstr>Calibri</vt:lpstr>
      <vt:lpstr>Cambria</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Multivariate and Multivariable Analysis</dc:title>
  <dc:subject>PptxGenJS Presentation</dc:subject>
  <dc:creator>MPH Program</dc:creator>
  <cp:lastModifiedBy>MUHAMMAD 'ADIL BIN ZAINAL ABIDIN</cp:lastModifiedBy>
  <cp:revision>7</cp:revision>
  <dcterms:created xsi:type="dcterms:W3CDTF">2026-03-03T03:38:05Z</dcterms:created>
  <dcterms:modified xsi:type="dcterms:W3CDTF">2026-03-04T00:59:20Z</dcterms:modified>
</cp:coreProperties>
</file>